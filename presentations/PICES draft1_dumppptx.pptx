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8"/>
  </p:notesMasterIdLst>
  <p:sldIdLst>
    <p:sldId id="258" r:id="rId2"/>
    <p:sldId id="498" r:id="rId3"/>
    <p:sldId id="522" r:id="rId4"/>
    <p:sldId id="487" r:id="rId5"/>
    <p:sldId id="499" r:id="rId6"/>
    <p:sldId id="514" r:id="rId7"/>
    <p:sldId id="491" r:id="rId8"/>
    <p:sldId id="489" r:id="rId9"/>
    <p:sldId id="502" r:id="rId10"/>
    <p:sldId id="506" r:id="rId11"/>
    <p:sldId id="288" r:id="rId12"/>
    <p:sldId id="504" r:id="rId13"/>
    <p:sldId id="510" r:id="rId14"/>
    <p:sldId id="512" r:id="rId15"/>
    <p:sldId id="515" r:id="rId16"/>
    <p:sldId id="503" r:id="rId17"/>
    <p:sldId id="513" r:id="rId18"/>
    <p:sldId id="508" r:id="rId19"/>
    <p:sldId id="524" r:id="rId20"/>
    <p:sldId id="523" r:id="rId21"/>
    <p:sldId id="509" r:id="rId22"/>
    <p:sldId id="511" r:id="rId23"/>
    <p:sldId id="516" r:id="rId24"/>
    <p:sldId id="521" r:id="rId25"/>
    <p:sldId id="517" r:id="rId26"/>
    <p:sldId id="518" r:id="rId27"/>
    <p:sldId id="519" r:id="rId28"/>
    <p:sldId id="520" r:id="rId29"/>
    <p:sldId id="507" r:id="rId30"/>
    <p:sldId id="505" r:id="rId31"/>
    <p:sldId id="500" r:id="rId32"/>
    <p:sldId id="294" r:id="rId33"/>
    <p:sldId id="468" r:id="rId34"/>
    <p:sldId id="488" r:id="rId35"/>
    <p:sldId id="469" r:id="rId36"/>
    <p:sldId id="284" r:id="rId37"/>
    <p:sldId id="479" r:id="rId38"/>
    <p:sldId id="473" r:id="rId39"/>
    <p:sldId id="298" r:id="rId40"/>
    <p:sldId id="287" r:id="rId41"/>
    <p:sldId id="476" r:id="rId42"/>
    <p:sldId id="470" r:id="rId43"/>
    <p:sldId id="290" r:id="rId44"/>
    <p:sldId id="291" r:id="rId45"/>
    <p:sldId id="490" r:id="rId46"/>
    <p:sldId id="481" r:id="rId47"/>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6549"/>
    <a:srgbClr val="5491D4"/>
    <a:srgbClr val="6299DB"/>
    <a:srgbClr val="546449"/>
    <a:srgbClr val="6DA7E7"/>
    <a:srgbClr val="10100F"/>
    <a:srgbClr val="23616A"/>
    <a:srgbClr val="82D9EA"/>
    <a:srgbClr val="92B5DB"/>
    <a:srgbClr val="758C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89060" autoAdjust="0"/>
  </p:normalViewPr>
  <p:slideViewPr>
    <p:cSldViewPr snapToGrid="0" showGuides="1">
      <p:cViewPr>
        <p:scale>
          <a:sx n="78" d="100"/>
          <a:sy n="78" d="100"/>
        </p:scale>
        <p:origin x="525" y="207"/>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647CE58-BFC0-43A2-B6B7-4EA8D5814997}" type="datetimeFigureOut">
              <a:rPr lang="en-US" smtClean="0"/>
              <a:t>10/22/2026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238A69B-B3AA-4E85-BB44-3077DBAF3170}" type="slidenum">
              <a:rPr lang="en-US" smtClean="0"/>
              <a:t>‹#›</a:t>
            </a:fld>
            <a:endParaRPr lang="en-US"/>
          </a:p>
        </p:txBody>
      </p:sp>
    </p:spTree>
    <p:extLst>
      <p:ext uri="{BB962C8B-B14F-4D97-AF65-F5344CB8AC3E}">
        <p14:creationId xmlns:p14="http://schemas.microsoft.com/office/powerpoint/2010/main" val="1928284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1</a:t>
            </a:fld>
            <a:endParaRPr lang="en-US"/>
          </a:p>
        </p:txBody>
      </p:sp>
    </p:spTree>
    <p:extLst>
      <p:ext uri="{BB962C8B-B14F-4D97-AF65-F5344CB8AC3E}">
        <p14:creationId xmlns:p14="http://schemas.microsoft.com/office/powerpoint/2010/main" val="1803748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p:cNvSpPr>
            <a:spLocks noGrp="1"/>
          </p:cNvSpPr>
          <p:nvPr>
            <p:ph type="sldNum" sz="quarter" idx="5"/>
          </p:nvPr>
        </p:nvSpPr>
        <p:spPr/>
        <p:txBody>
          <a:bodyPr/>
          <a:lstStyle/>
          <a:p>
            <a:fld id="{D238A69B-B3AA-4E85-BB44-3077DBAF3170}" type="slidenum">
              <a:rPr lang="en-US" smtClean="0"/>
              <a:t>8</a:t>
            </a:fld>
            <a:endParaRPr lang="en-US"/>
          </a:p>
        </p:txBody>
      </p:sp>
    </p:spTree>
    <p:extLst>
      <p:ext uri="{BB962C8B-B14F-4D97-AF65-F5344CB8AC3E}">
        <p14:creationId xmlns:p14="http://schemas.microsoft.com/office/powerpoint/2010/main" val="1671764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7494E-0B0C-D18C-45D4-CFD4407CF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9E44C-4179-3714-D55D-33720546A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E6368-504E-76A9-3786-4A0FE1EDBF24}"/>
              </a:ext>
            </a:extLst>
          </p:cNvPr>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a:extLst>
              <a:ext uri="{FF2B5EF4-FFF2-40B4-BE49-F238E27FC236}">
                <a16:creationId xmlns:a16="http://schemas.microsoft.com/office/drawing/2014/main" id="{82A4CF56-C02B-6EEF-04A6-0D2E5EB580D6}"/>
              </a:ext>
            </a:extLst>
          </p:cNvPr>
          <p:cNvSpPr>
            <a:spLocks noGrp="1"/>
          </p:cNvSpPr>
          <p:nvPr>
            <p:ph type="sldNum" sz="quarter" idx="5"/>
          </p:nvPr>
        </p:nvSpPr>
        <p:spPr/>
        <p:txBody>
          <a:bodyPr/>
          <a:lstStyle/>
          <a:p>
            <a:fld id="{D238A69B-B3AA-4E85-BB44-3077DBAF3170}" type="slidenum">
              <a:rPr lang="en-US" smtClean="0"/>
              <a:t>9</a:t>
            </a:fld>
            <a:endParaRPr lang="en-US"/>
          </a:p>
        </p:txBody>
      </p:sp>
    </p:spTree>
    <p:extLst>
      <p:ext uri="{BB962C8B-B14F-4D97-AF65-F5344CB8AC3E}">
        <p14:creationId xmlns:p14="http://schemas.microsoft.com/office/powerpoint/2010/main" val="1122496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16</a:t>
            </a:fld>
            <a:endParaRPr lang="en-US"/>
          </a:p>
        </p:txBody>
      </p:sp>
    </p:spTree>
    <p:extLst>
      <p:ext uri="{BB962C8B-B14F-4D97-AF65-F5344CB8AC3E}">
        <p14:creationId xmlns:p14="http://schemas.microsoft.com/office/powerpoint/2010/main" val="1393348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with that is that if the trends continue, these populations are sunk.</a:t>
            </a:r>
          </a:p>
          <a:p>
            <a:r>
              <a:rPr lang="en-US" dirty="0"/>
              <a:t>In order to answer these questions, we need a more mechanistic understanding of marine mortality</a:t>
            </a:r>
          </a:p>
        </p:txBody>
      </p:sp>
      <p:sp>
        <p:nvSpPr>
          <p:cNvPr id="4" name="Slide Number Placeholder 3"/>
          <p:cNvSpPr>
            <a:spLocks noGrp="1"/>
          </p:cNvSpPr>
          <p:nvPr>
            <p:ph type="sldNum" sz="quarter" idx="5"/>
          </p:nvPr>
        </p:nvSpPr>
        <p:spPr/>
        <p:txBody>
          <a:bodyPr/>
          <a:lstStyle/>
          <a:p>
            <a:fld id="{D238A69B-B3AA-4E85-BB44-3077DBAF3170}" type="slidenum">
              <a:rPr lang="en-US" smtClean="0"/>
              <a:t>32</a:t>
            </a:fld>
            <a:endParaRPr lang="en-US"/>
          </a:p>
        </p:txBody>
      </p:sp>
    </p:spTree>
    <p:extLst>
      <p:ext uri="{BB962C8B-B14F-4D97-AF65-F5344CB8AC3E}">
        <p14:creationId xmlns:p14="http://schemas.microsoft.com/office/powerpoint/2010/main" val="2885758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I’m working on this project is that compared to freshwater, we know very little about the actual mechanisms that determine survival in the ocean and what could be done to reduce that mortality</a:t>
            </a:r>
          </a:p>
        </p:txBody>
      </p:sp>
      <p:sp>
        <p:nvSpPr>
          <p:cNvPr id="4" name="Slide Number Placeholder 3"/>
          <p:cNvSpPr>
            <a:spLocks noGrp="1"/>
          </p:cNvSpPr>
          <p:nvPr>
            <p:ph type="sldNum" sz="quarter" idx="5"/>
          </p:nvPr>
        </p:nvSpPr>
        <p:spPr/>
        <p:txBody>
          <a:bodyPr/>
          <a:lstStyle/>
          <a:p>
            <a:fld id="{D238A69B-B3AA-4E85-BB44-3077DBAF3170}" type="slidenum">
              <a:rPr lang="en-US" smtClean="0"/>
              <a:t>33</a:t>
            </a:fld>
            <a:endParaRPr lang="en-US"/>
          </a:p>
        </p:txBody>
      </p:sp>
    </p:spTree>
    <p:extLst>
      <p:ext uri="{BB962C8B-B14F-4D97-AF65-F5344CB8AC3E}">
        <p14:creationId xmlns:p14="http://schemas.microsoft.com/office/powerpoint/2010/main" val="1393268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they spend half their lives there, you expect about half of all mortality to occur there. </a:t>
            </a:r>
          </a:p>
          <a:p>
            <a:r>
              <a:rPr lang="en-US" dirty="0"/>
              <a:t>And it does. If you add LGR smolt to Bon adult total mortality, it is about half of full life cycle averages.</a:t>
            </a:r>
          </a:p>
          <a:p>
            <a:r>
              <a:rPr lang="en-US" dirty="0"/>
              <a:t>However, the highest and most variable piece is this early marine stage</a:t>
            </a:r>
          </a:p>
        </p:txBody>
      </p:sp>
      <p:sp>
        <p:nvSpPr>
          <p:cNvPr id="4" name="Slide Number Placeholder 3"/>
          <p:cNvSpPr>
            <a:spLocks noGrp="1"/>
          </p:cNvSpPr>
          <p:nvPr>
            <p:ph type="sldNum" sz="quarter" idx="5"/>
          </p:nvPr>
        </p:nvSpPr>
        <p:spPr/>
        <p:txBody>
          <a:bodyPr/>
          <a:lstStyle/>
          <a:p>
            <a:fld id="{D238A69B-B3AA-4E85-BB44-3077DBAF3170}" type="slidenum">
              <a:rPr lang="en-US" smtClean="0"/>
              <a:t>34</a:t>
            </a:fld>
            <a:endParaRPr lang="en-US"/>
          </a:p>
        </p:txBody>
      </p:sp>
    </p:spTree>
    <p:extLst>
      <p:ext uri="{BB962C8B-B14F-4D97-AF65-F5344CB8AC3E}">
        <p14:creationId xmlns:p14="http://schemas.microsoft.com/office/powerpoint/2010/main" val="3798934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what we know about that is best characterized by actual experiments and acoustic tracking studies.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example, </a:t>
            </a:r>
            <a:r>
              <a:rPr lang="en-US" dirty="0" err="1"/>
              <a:t>Rechisky</a:t>
            </a:r>
            <a:r>
              <a:rPr lang="en-US" dirty="0"/>
              <a:t> et al tracked smolts from lower basin and upper basin populations and found identical patterns in which the highest mortality rates occurred in the CR plume and only about 3% of smolts make it to Vancouver Island.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Nonetheless, this variability is not necessarily correlated with temperature, whereas total SAR is strongly correlated with 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1,200 smolts from Snake River and Yakima River hatcheries were tracked 1100 km together from McNary Dam to Lippy Point, with the final detection array at Graves Harbor, AK</a:t>
            </a:r>
          </a:p>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35</a:t>
            </a:fld>
            <a:endParaRPr lang="en-US"/>
          </a:p>
        </p:txBody>
      </p:sp>
    </p:spTree>
    <p:extLst>
      <p:ext uri="{BB962C8B-B14F-4D97-AF65-F5344CB8AC3E}">
        <p14:creationId xmlns:p14="http://schemas.microsoft.com/office/powerpoint/2010/main" val="3894219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But that question is easier to ask than answer</a:t>
            </a:r>
          </a:p>
          <a:p>
            <a:pPr lvl="1"/>
            <a:r>
              <a:rPr lang="en-US" dirty="0"/>
              <a:t>We cannot pinpoint a single factor that causes any of those responses</a:t>
            </a:r>
          </a:p>
          <a:p>
            <a:pPr lvl="1"/>
            <a:r>
              <a:rPr lang="en-US" dirty="0"/>
              <a:t>The ocean always has more food and more optimal temperatures than FW</a:t>
            </a:r>
          </a:p>
          <a:p>
            <a:pPr lvl="1"/>
            <a:r>
              <a:rPr lang="en-US" dirty="0"/>
              <a:t>So it is some more complex feature of the ocean community that changes with temperature</a:t>
            </a:r>
          </a:p>
          <a:p>
            <a:pPr lvl="1"/>
            <a:endParaRPr lang="en-US" dirty="0"/>
          </a:p>
          <a:p>
            <a:pPr lvl="1"/>
            <a:endParaRPr lang="en-US" dirty="0"/>
          </a:p>
          <a:p>
            <a:pPr lvl="1"/>
            <a:endParaRPr lang="en-US" dirty="0"/>
          </a:p>
          <a:p>
            <a:pPr lvl="1"/>
            <a:r>
              <a:rPr lang="en-US" dirty="0"/>
              <a:t>In order to understand what’s </a:t>
            </a:r>
          </a:p>
          <a:p>
            <a:pPr lvl="1"/>
            <a:r>
              <a:rPr lang="en-US" dirty="0"/>
              <a:t>So what’s going on? </a:t>
            </a:r>
            <a:br>
              <a:rPr lang="en-US" dirty="0"/>
            </a:br>
            <a:r>
              <a:rPr lang="en-US" dirty="0"/>
              <a:t>Alternative hypotheses:</a:t>
            </a:r>
            <a:br>
              <a:rPr lang="en-US" dirty="0"/>
            </a:br>
            <a:r>
              <a:rPr lang="en-US" dirty="0"/>
              <a:t>Growth effects</a:t>
            </a:r>
          </a:p>
          <a:p>
            <a:pPr lvl="2"/>
            <a:r>
              <a:rPr lang="en-US" dirty="0"/>
              <a:t>Better growth leads to younger age at return (plastic response)</a:t>
            </a:r>
          </a:p>
          <a:p>
            <a:pPr lvl="3"/>
            <a:r>
              <a:rPr lang="en-US" dirty="0"/>
              <a:t>But this does not predict fewer salmon returning (should be more)</a:t>
            </a:r>
            <a:br>
              <a:rPr lang="en-US" dirty="0"/>
            </a:br>
            <a:endParaRPr lang="en-US" dirty="0"/>
          </a:p>
          <a:p>
            <a:pPr lvl="1"/>
            <a:r>
              <a:rPr lang="en-US" dirty="0"/>
              <a:t>Mortality pressure (predation or fishing)</a:t>
            </a:r>
          </a:p>
          <a:p>
            <a:pPr lvl="2"/>
            <a:r>
              <a:rPr lang="en-US" dirty="0"/>
              <a:t>Higher mortality in older fish </a:t>
            </a:r>
          </a:p>
          <a:p>
            <a:pPr lvl="2"/>
            <a:r>
              <a:rPr lang="en-US" dirty="0"/>
              <a:t>Higher mortality could occur at any ocean age</a:t>
            </a:r>
          </a:p>
          <a:p>
            <a:pPr lvl="3"/>
            <a:r>
              <a:rPr lang="en-US" dirty="0"/>
              <a:t>Very poor growth</a:t>
            </a:r>
          </a:p>
          <a:p>
            <a:pPr lvl="3"/>
            <a:r>
              <a:rPr lang="en-US" dirty="0"/>
              <a:t>Attraction of predators (</a:t>
            </a:r>
            <a:r>
              <a:rPr lang="en-US" dirty="0" err="1"/>
              <a:t>e.g</a:t>
            </a:r>
            <a:r>
              <a:rPr lang="en-US" dirty="0"/>
              <a:t>, hatchery fish releases, other salmon, forage fish) </a:t>
            </a:r>
            <a:br>
              <a:rPr lang="en-US" dirty="0"/>
            </a:br>
            <a:endParaRPr lang="en-US" dirty="0"/>
          </a:p>
          <a:p>
            <a:pPr lvl="1"/>
            <a:r>
              <a:rPr lang="en-US" dirty="0"/>
              <a:t>Freshwater conditions</a:t>
            </a:r>
          </a:p>
          <a:p>
            <a:pPr lvl="2"/>
            <a:r>
              <a:rPr lang="en-US" dirty="0"/>
              <a:t>Salmon are less fit coming out of freshwater</a:t>
            </a:r>
          </a:p>
          <a:p>
            <a:endParaRPr lang="en-US" dirty="0"/>
          </a:p>
        </p:txBody>
      </p:sp>
      <p:sp>
        <p:nvSpPr>
          <p:cNvPr id="4" name="Slide Number Placeholder 3"/>
          <p:cNvSpPr>
            <a:spLocks noGrp="1"/>
          </p:cNvSpPr>
          <p:nvPr>
            <p:ph type="sldNum" sz="quarter" idx="10"/>
          </p:nvPr>
        </p:nvSpPr>
        <p:spPr/>
        <p:txBody>
          <a:bodyPr/>
          <a:lstStyle/>
          <a:p>
            <a:fld id="{41D84940-AC09-0447-9D62-3721BC252152}" type="slidenum">
              <a:rPr lang="en-US" smtClean="0"/>
              <a:t>36</a:t>
            </a:fld>
            <a:endParaRPr lang="en-US"/>
          </a:p>
        </p:txBody>
      </p:sp>
    </p:spTree>
    <p:extLst>
      <p:ext uri="{BB962C8B-B14F-4D97-AF65-F5344CB8AC3E}">
        <p14:creationId xmlns:p14="http://schemas.microsoft.com/office/powerpoint/2010/main" val="3515003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uses of SEM – exploratory and confirmatory</a:t>
            </a:r>
          </a:p>
          <a:p>
            <a:r>
              <a:rPr lang="en-US" b="1" dirty="0"/>
              <a:t>Phase 1: Exploratory Analysis</a:t>
            </a:r>
          </a:p>
          <a:p>
            <a:pPr>
              <a:buFont typeface="Arial" panose="020B0604020202020204" pitchFamily="34" charset="0"/>
              <a:buChar char="•"/>
            </a:pPr>
            <a:r>
              <a:rPr lang="en-US" b="1" dirty="0"/>
              <a:t>Goal:</a:t>
            </a:r>
            <a:r>
              <a:rPr lang="en-US" dirty="0"/>
              <a:t> Variable reduction and rank ordering.</a:t>
            </a:r>
          </a:p>
          <a:p>
            <a:pPr>
              <a:buFont typeface="Arial" panose="020B0604020202020204" pitchFamily="34" charset="0"/>
              <a:buChar char="•"/>
            </a:pPr>
            <a:r>
              <a:rPr lang="en-US" b="1" dirty="0"/>
              <a:t>Process:</a:t>
            </a:r>
            <a:r>
              <a:rPr lang="en-US" dirty="0"/>
              <a:t> You are using </a:t>
            </a:r>
            <a:r>
              <a:rPr lang="en-US" b="1" dirty="0"/>
              <a:t>Exploratory Path Analysis</a:t>
            </a:r>
            <a:r>
              <a:rPr lang="en-US" dirty="0"/>
              <a:t> (since you have no latent variables yet). You are "letting the data speak" to identify which specific NCC and Alaskan indicators have the strongest relationships with salmon survival.</a:t>
            </a:r>
          </a:p>
          <a:p>
            <a:pPr>
              <a:buFont typeface="Arial" panose="020B0604020202020204" pitchFamily="34" charset="0"/>
              <a:buChar char="•"/>
            </a:pPr>
            <a:r>
              <a:rPr lang="en-US" b="1" dirty="0"/>
              <a:t>Presentation Terminology:</a:t>
            </a:r>
            <a:r>
              <a:rPr lang="en-US" dirty="0"/>
              <a:t> You might call this the </a:t>
            </a:r>
            <a:r>
              <a:rPr lang="en-US" b="1" dirty="0"/>
              <a:t>Model Generation</a:t>
            </a:r>
            <a:r>
              <a:rPr lang="en-US" dirty="0"/>
              <a:t> phase or </a:t>
            </a:r>
            <a:r>
              <a:rPr lang="en-US" b="1" dirty="0"/>
              <a:t>Specification Search</a:t>
            </a:r>
            <a:r>
              <a:rPr lang="en-US" dirty="0"/>
              <a:t>. You are identifying the "drivers" and pruning the "noise" to find a </a:t>
            </a:r>
            <a:r>
              <a:rPr lang="en-US" b="1" dirty="0"/>
              <a:t>Parsimonious</a:t>
            </a:r>
            <a:r>
              <a:rPr lang="en-US" dirty="0"/>
              <a:t> (simplest effective) set of indicators.</a:t>
            </a:r>
          </a:p>
          <a:p>
            <a:r>
              <a:rPr lang="en-US" b="1" dirty="0"/>
              <a:t>Phase 2: Confirmatory Analysis</a:t>
            </a:r>
          </a:p>
          <a:p>
            <a:pPr>
              <a:buFont typeface="Arial" panose="020B0604020202020204" pitchFamily="34" charset="0"/>
              <a:buChar char="•"/>
            </a:pPr>
            <a:r>
              <a:rPr lang="en-US" b="1" dirty="0"/>
              <a:t>Goal:</a:t>
            </a:r>
            <a:r>
              <a:rPr lang="en-US" dirty="0"/>
              <a:t> Testing a "longer" structural model, likely with </a:t>
            </a:r>
            <a:r>
              <a:rPr lang="en-US" b="1" dirty="0"/>
              <a:t>Latent Variables</a:t>
            </a:r>
            <a:r>
              <a:rPr lang="en-US" dirty="0"/>
              <a:t>, to see if it holds up against standard statistical criteria.</a:t>
            </a:r>
          </a:p>
          <a:p>
            <a:pPr>
              <a:buFont typeface="Arial" panose="020B0604020202020204" pitchFamily="34" charset="0"/>
              <a:buChar char="•"/>
            </a:pPr>
            <a:r>
              <a:rPr lang="en-US" b="1" dirty="0"/>
              <a:t>Process:</a:t>
            </a:r>
            <a:r>
              <a:rPr lang="en-US" dirty="0"/>
              <a:t> This is </a:t>
            </a:r>
            <a:r>
              <a:rPr lang="en-US" b="1" dirty="0"/>
              <a:t>Confirmatory Factor Analysis (CFA)</a:t>
            </a:r>
            <a:r>
              <a:rPr lang="en-US" dirty="0"/>
              <a:t> (for the measurement part) and </a:t>
            </a:r>
            <a:r>
              <a:rPr lang="en-US" b="1" dirty="0"/>
              <a:t>Structural Equation Modeling (SEM)</a:t>
            </a:r>
            <a:r>
              <a:rPr lang="en-US" dirty="0"/>
              <a:t> (for the structural paths). Here, you aren't just looking for what's important; you are testing a specific hypothesis about </a:t>
            </a:r>
            <a:r>
              <a:rPr lang="en-US" i="1" dirty="0"/>
              <a:t>how</a:t>
            </a:r>
            <a:r>
              <a:rPr lang="en-US" dirty="0"/>
              <a:t> those variables work together (e.g., "Alaskan climate indices represent a single latent 'Northern Environment' factor"). </a:t>
            </a:r>
          </a:p>
          <a:p>
            <a:pPr>
              <a:buFont typeface="Arial" panose="020B0604020202020204" pitchFamily="34" charset="0"/>
              <a:buChar char="•"/>
            </a:pPr>
            <a:r>
              <a:rPr lang="en-US" b="1" dirty="0"/>
              <a:t>Presentation Terminology:</a:t>
            </a:r>
            <a:r>
              <a:rPr lang="en-US" dirty="0"/>
              <a:t> This is the </a:t>
            </a:r>
            <a:r>
              <a:rPr lang="en-US" b="1" dirty="0"/>
              <a:t>Model Validation</a:t>
            </a:r>
            <a:r>
              <a:rPr lang="en-US" dirty="0"/>
              <a:t> or </a:t>
            </a:r>
            <a:r>
              <a:rPr lang="en-US" b="1" dirty="0"/>
              <a:t>Hypothesis Testing</a:t>
            </a:r>
            <a:r>
              <a:rPr lang="en-US" dirty="0"/>
              <a:t> phase. You are comparing </a:t>
            </a:r>
            <a:r>
              <a:rPr lang="en-US" b="1" dirty="0"/>
              <a:t>Competing Models</a:t>
            </a:r>
            <a:r>
              <a:rPr lang="en-US" dirty="0"/>
              <a:t> to see which one best fits the observed covariance in your data. </a:t>
            </a:r>
          </a:p>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38</a:t>
            </a:fld>
            <a:endParaRPr lang="en-US"/>
          </a:p>
        </p:txBody>
      </p:sp>
    </p:spTree>
    <p:extLst>
      <p:ext uri="{BB962C8B-B14F-4D97-AF65-F5344CB8AC3E}">
        <p14:creationId xmlns:p14="http://schemas.microsoft.com/office/powerpoint/2010/main" val="568662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Approach – use the correlations explicitly</a:t>
            </a:r>
          </a:p>
          <a:p>
            <a:endParaRPr lang="en-US" dirty="0"/>
          </a:p>
          <a:p>
            <a:r>
              <a:rPr lang="en-US" dirty="0"/>
              <a:t>Interview experts to ID data</a:t>
            </a:r>
          </a:p>
          <a:p>
            <a:r>
              <a:rPr lang="en-US" dirty="0"/>
              <a:t>Assemble over 300 relevant time series</a:t>
            </a:r>
          </a:p>
          <a:p>
            <a:r>
              <a:rPr lang="en-US" dirty="0"/>
              <a:t>Assign functional groups</a:t>
            </a:r>
          </a:p>
          <a:p>
            <a:r>
              <a:rPr lang="en-US" dirty="0"/>
              <a:t>Simulate SEM modeling process to identify a “fair test” approach – std # of parameters</a:t>
            </a:r>
          </a:p>
          <a:p>
            <a:r>
              <a:rPr lang="en-US" dirty="0"/>
              <a:t>Collapse potential latent variables into DFAs</a:t>
            </a:r>
          </a:p>
          <a:p>
            <a:r>
              <a:rPr lang="en-US" dirty="0"/>
              <a:t>Conduct variable selection (</a:t>
            </a:r>
            <a:r>
              <a:rPr lang="en-US" dirty="0" err="1"/>
              <a:t>aic</a:t>
            </a:r>
            <a:r>
              <a:rPr lang="en-US" dirty="0"/>
              <a:t>) on 6 model structures using path analysis</a:t>
            </a:r>
          </a:p>
          <a:p>
            <a:r>
              <a:rPr lang="en-US" dirty="0"/>
              <a:t>Explore latent relationships on a reduced landscape</a:t>
            </a:r>
          </a:p>
          <a:p>
            <a:endParaRPr lang="en-US" dirty="0"/>
          </a:p>
          <a:p>
            <a:endParaRPr lang="en-US" dirty="0"/>
          </a:p>
          <a:p>
            <a:r>
              <a:rPr lang="en-US" dirty="0"/>
              <a:t>Start w/ a few </a:t>
            </a:r>
            <a:r>
              <a:rPr lang="en-US" dirty="0" err="1"/>
              <a:t>spp</a:t>
            </a:r>
            <a:endParaRPr lang="en-US" dirty="0"/>
          </a:p>
          <a:p>
            <a:r>
              <a:rPr lang="en-US" dirty="0"/>
              <a:t>Add until animate the whole food web</a:t>
            </a:r>
          </a:p>
          <a:p>
            <a:r>
              <a:rPr lang="en-US" dirty="0"/>
              <a:t>Icons/</a:t>
            </a:r>
            <a:r>
              <a:rPr lang="en-US" dirty="0" err="1"/>
              <a:t>spp</a:t>
            </a:r>
            <a:r>
              <a:rPr lang="en-US" dirty="0"/>
              <a:t> vs ecosystem food web</a:t>
            </a:r>
          </a:p>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39</a:t>
            </a:fld>
            <a:endParaRPr lang="en-US"/>
          </a:p>
        </p:txBody>
      </p:sp>
    </p:spTree>
    <p:extLst>
      <p:ext uri="{BB962C8B-B14F-4D97-AF65-F5344CB8AC3E}">
        <p14:creationId xmlns:p14="http://schemas.microsoft.com/office/powerpoint/2010/main" val="4113506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p:cNvSpPr>
            <a:spLocks noGrp="1"/>
          </p:cNvSpPr>
          <p:nvPr>
            <p:ph type="sldNum" sz="quarter" idx="5"/>
          </p:nvPr>
        </p:nvSpPr>
        <p:spPr/>
        <p:txBody>
          <a:bodyPr/>
          <a:lstStyle/>
          <a:p>
            <a:fld id="{D238A69B-B3AA-4E85-BB44-3077DBAF3170}" type="slidenum">
              <a:rPr lang="en-US" smtClean="0"/>
              <a:t>40</a:t>
            </a:fld>
            <a:endParaRPr lang="en-US"/>
          </a:p>
        </p:txBody>
      </p:sp>
    </p:spTree>
    <p:extLst>
      <p:ext uri="{BB962C8B-B14F-4D97-AF65-F5344CB8AC3E}">
        <p14:creationId xmlns:p14="http://schemas.microsoft.com/office/powerpoint/2010/main" val="1478887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p:cNvSpPr>
            <a:spLocks noGrp="1"/>
          </p:cNvSpPr>
          <p:nvPr>
            <p:ph type="sldNum" sz="quarter" idx="5"/>
          </p:nvPr>
        </p:nvSpPr>
        <p:spPr/>
        <p:txBody>
          <a:bodyPr/>
          <a:lstStyle/>
          <a:p>
            <a:fld id="{D238A69B-B3AA-4E85-BB44-3077DBAF3170}" type="slidenum">
              <a:rPr lang="en-US" smtClean="0"/>
              <a:t>41</a:t>
            </a:fld>
            <a:endParaRPr lang="en-US"/>
          </a:p>
        </p:txBody>
      </p:sp>
    </p:spTree>
    <p:extLst>
      <p:ext uri="{BB962C8B-B14F-4D97-AF65-F5344CB8AC3E}">
        <p14:creationId xmlns:p14="http://schemas.microsoft.com/office/powerpoint/2010/main" val="34931641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Mg – understanding, better predictions, or manage</a:t>
            </a:r>
          </a:p>
        </p:txBody>
      </p:sp>
      <p:sp>
        <p:nvSpPr>
          <p:cNvPr id="4" name="Slide Number Placeholder 3"/>
          <p:cNvSpPr>
            <a:spLocks noGrp="1"/>
          </p:cNvSpPr>
          <p:nvPr>
            <p:ph type="sldNum" sz="quarter" idx="5"/>
          </p:nvPr>
        </p:nvSpPr>
        <p:spPr/>
        <p:txBody>
          <a:bodyPr/>
          <a:lstStyle/>
          <a:p>
            <a:fld id="{D238A69B-B3AA-4E85-BB44-3077DBAF3170}" type="slidenum">
              <a:rPr lang="en-US" smtClean="0"/>
              <a:t>43</a:t>
            </a:fld>
            <a:endParaRPr lang="en-US"/>
          </a:p>
        </p:txBody>
      </p:sp>
    </p:spTree>
    <p:extLst>
      <p:ext uri="{BB962C8B-B14F-4D97-AF65-F5344CB8AC3E}">
        <p14:creationId xmlns:p14="http://schemas.microsoft.com/office/powerpoint/2010/main" val="29547167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400"/>
              </a:spcAft>
            </a:pPr>
            <a:r>
              <a:rPr lang="en-US" sz="1800" b="1" i="0" u="none" strike="noStrike" dirty="0">
                <a:solidFill>
                  <a:srgbClr val="000000"/>
                </a:solidFill>
                <a:effectLst/>
                <a:latin typeface="Arial" panose="020B0604020202020204" pitchFamily="34" charset="0"/>
              </a:rPr>
              <a:t>1. What We Found: The "Top Winners" Identified</a:t>
            </a:r>
            <a:endParaRPr lang="en-US" b="0" dirty="0">
              <a:effectLst/>
            </a:endParaRPr>
          </a:p>
          <a:p>
            <a:pPr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Distilled Complexity:</a:t>
            </a:r>
            <a:r>
              <a:rPr lang="en-US" sz="1800" b="0" i="0" u="none" strike="noStrike" dirty="0">
                <a:solidFill>
                  <a:srgbClr val="000000"/>
                </a:solidFill>
                <a:effectLst/>
                <a:latin typeface="Arial" panose="020B0604020202020204" pitchFamily="34" charset="0"/>
              </a:rPr>
              <a:t> From 160+ biological indicators, we identified a parsimonious set of top-performing predictors for Smolt-to-Adult Return (SAR).</a:t>
            </a:r>
          </a:p>
          <a:p>
            <a:pPr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Key Indicators:</a:t>
            </a:r>
            <a:r>
              <a:rPr lang="en-US" sz="1800" b="0" i="0" u="none" strike="noStrike" dirty="0">
                <a:solidFill>
                  <a:srgbClr val="000000"/>
                </a:solidFill>
                <a:effectLst/>
                <a:latin typeface="Arial" panose="020B0604020202020204" pitchFamily="34" charset="0"/>
              </a:rPr>
              <a:t> Latent variables reflecting herring and sardine abundance predicted salmon growth, while latent variables reflecting hake and mackerel (pacific and jack mackerel) were highly informative for early marine survival. Zooplankton prey in Canada and seabird reproductive success in Alaska emerged as the most robust biological signals that improved estimates of adult salmon survival.</a:t>
            </a:r>
          </a:p>
          <a:p>
            <a:pPr rtl="0" fontAlgn="base">
              <a:spcBef>
                <a:spcPts val="0"/>
              </a:spcBef>
              <a:spcAft>
                <a:spcPts val="120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Synergistic Drivers:</a:t>
            </a:r>
            <a:r>
              <a:rPr lang="en-US" sz="1800" b="0" i="0" u="none" strike="noStrike" dirty="0">
                <a:solidFill>
                  <a:srgbClr val="000000"/>
                </a:solidFill>
                <a:effectLst/>
                <a:latin typeface="Arial" panose="020B0604020202020204" pitchFamily="34" charset="0"/>
              </a:rPr>
              <a:t> Survival is driven by a balance of growth potential (prey availability) and predation buffering.</a:t>
            </a:r>
          </a:p>
          <a:p>
            <a:pPr rtl="0">
              <a:spcBef>
                <a:spcPts val="0"/>
              </a:spcBef>
              <a:spcAft>
                <a:spcPts val="400"/>
              </a:spcAft>
            </a:pPr>
            <a:r>
              <a:rPr lang="en-US" sz="1800" b="1" i="0" u="none" strike="noStrike" dirty="0">
                <a:solidFill>
                  <a:srgbClr val="000000"/>
                </a:solidFill>
                <a:effectLst/>
                <a:latin typeface="Arial" panose="020B0604020202020204" pitchFamily="34" charset="0"/>
              </a:rPr>
              <a:t>2. What We Solved: Geographic Scope &amp; Predictive Power</a:t>
            </a:r>
            <a:endParaRPr lang="en-US" b="0" dirty="0">
              <a:effectLst/>
            </a:endParaRPr>
          </a:p>
          <a:p>
            <a:pPr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Beyond Local Metrics:</a:t>
            </a:r>
            <a:r>
              <a:rPr lang="en-US" sz="1800" b="0" i="0" u="none" strike="noStrike" dirty="0">
                <a:solidFill>
                  <a:srgbClr val="000000"/>
                </a:solidFill>
                <a:effectLst/>
                <a:latin typeface="Arial" panose="020B0604020202020204" pitchFamily="34" charset="0"/>
              </a:rPr>
              <a:t> Local survival is dictated by broad-scale oceanographic conditions: accuracy increased significantly when incorporating BC and Alaska productivity metrics.</a:t>
            </a:r>
          </a:p>
          <a:p>
            <a:pPr rtl="0" fontAlgn="base">
              <a:spcBef>
                <a:spcPts val="0"/>
              </a:spcBef>
              <a:spcAft>
                <a:spcPts val="120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High Model Performance:</a:t>
            </a:r>
            <a:r>
              <a:rPr lang="en-US" sz="1800" b="0" i="0" u="none" strike="noStrike" dirty="0">
                <a:solidFill>
                  <a:srgbClr val="000000"/>
                </a:solidFill>
                <a:effectLst/>
                <a:latin typeface="Arial" panose="020B0604020202020204" pitchFamily="34" charset="0"/>
              </a:rPr>
              <a:t> Integrating these expanded geographic indices into the SEM achieved an </a:t>
            </a:r>
            <a:r>
              <a:rPr lang="en-US" sz="1800" b="1" i="0" u="none" strike="noStrike" dirty="0">
                <a:solidFill>
                  <a:srgbClr val="000000"/>
                </a:solidFill>
                <a:effectLst/>
                <a:latin typeface="Arial" panose="020B0604020202020204" pitchFamily="34" charset="0"/>
              </a:rPr>
              <a:t>R^2 of 0.81–0.83</a:t>
            </a:r>
            <a:r>
              <a:rPr lang="en-US" sz="1800" b="0" i="0" u="none" strike="noStrike" dirty="0">
                <a:solidFill>
                  <a:srgbClr val="000000"/>
                </a:solidFill>
                <a:effectLst/>
                <a:latin typeface="Arial" panose="020B0604020202020204" pitchFamily="34" charset="0"/>
              </a:rPr>
              <a:t>, validating the model’s reach.</a:t>
            </a:r>
          </a:p>
          <a:p>
            <a:pPr rtl="0">
              <a:spcBef>
                <a:spcPts val="1400"/>
              </a:spcBef>
              <a:spcAft>
                <a:spcPts val="400"/>
              </a:spcAft>
            </a:pPr>
            <a:r>
              <a:rPr lang="en-US" sz="1800" b="1" i="0" u="none" strike="noStrike" dirty="0">
                <a:solidFill>
                  <a:srgbClr val="000000"/>
                </a:solidFill>
                <a:effectLst/>
                <a:latin typeface="Arial" panose="020B0604020202020204" pitchFamily="34" charset="0"/>
              </a:rPr>
              <a:t>3. The Hand-off: Mechanistic Links</a:t>
            </a:r>
            <a:endParaRPr lang="en-US" b="0" dirty="0">
              <a:effectLst/>
            </a:endParaRPr>
          </a:p>
          <a:p>
            <a:pPr rtl="0">
              <a:spcBef>
                <a:spcPts val="1200"/>
              </a:spcBef>
              <a:spcAft>
                <a:spcPts val="1200"/>
              </a:spcAft>
            </a:pPr>
            <a:r>
              <a:rPr lang="en-US" sz="1800" b="0" i="1" u="none" strike="noStrike" dirty="0">
                <a:solidFill>
                  <a:srgbClr val="000000"/>
                </a:solidFill>
                <a:effectLst/>
                <a:latin typeface="Arial" panose="020B0604020202020204" pitchFamily="34" charset="0"/>
              </a:rPr>
              <a:t>We have identified </a:t>
            </a:r>
            <a:r>
              <a:rPr lang="en-US" sz="1800" b="1" i="1" u="none" strike="noStrike" dirty="0">
                <a:solidFill>
                  <a:srgbClr val="000000"/>
                </a:solidFill>
                <a:effectLst/>
                <a:latin typeface="Arial" panose="020B0604020202020204" pitchFamily="34" charset="0"/>
              </a:rPr>
              <a:t>what</a:t>
            </a:r>
            <a:r>
              <a:rPr lang="en-US" sz="1800" b="0" i="1" u="none" strike="noStrike" dirty="0">
                <a:solidFill>
                  <a:srgbClr val="000000"/>
                </a:solidFill>
                <a:effectLst/>
                <a:latin typeface="Arial" panose="020B0604020202020204" pitchFamily="34" charset="0"/>
              </a:rPr>
              <a:t> is driving survival; the next talk defines </a:t>
            </a:r>
            <a:r>
              <a:rPr lang="en-US" sz="1800" b="1" i="1" u="none" strike="noStrike" dirty="0">
                <a:solidFill>
                  <a:srgbClr val="000000"/>
                </a:solidFill>
                <a:effectLst/>
                <a:latin typeface="Arial" panose="020B0604020202020204" pitchFamily="34" charset="0"/>
              </a:rPr>
              <a:t>how</a:t>
            </a:r>
            <a:r>
              <a:rPr lang="en-US" sz="1800" b="0" i="1" u="none" strike="noStrike" dirty="0">
                <a:solidFill>
                  <a:srgbClr val="000000"/>
                </a:solidFill>
                <a:effectLst/>
                <a:latin typeface="Arial" panose="020B0604020202020204" pitchFamily="34" charset="0"/>
              </a:rPr>
              <a:t> the physics dictates these outcomes:</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44</a:t>
            </a:fld>
            <a:endParaRPr lang="en-US"/>
          </a:p>
        </p:txBody>
      </p:sp>
    </p:spTree>
    <p:extLst>
      <p:ext uri="{BB962C8B-B14F-4D97-AF65-F5344CB8AC3E}">
        <p14:creationId xmlns:p14="http://schemas.microsoft.com/office/powerpoint/2010/main" val="1621793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46</a:t>
            </a:fld>
            <a:endParaRPr lang="en-US"/>
          </a:p>
        </p:txBody>
      </p:sp>
    </p:spTree>
    <p:extLst>
      <p:ext uri="{BB962C8B-B14F-4D97-AF65-F5344CB8AC3E}">
        <p14:creationId xmlns:p14="http://schemas.microsoft.com/office/powerpoint/2010/main" val="2396827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973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932768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B41216-06B6-451E-A456-C96686E36A47}"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681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B41216-06B6-451E-A456-C96686E36A47}"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488512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B41216-06B6-451E-A456-C96686E36A47}"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1546606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B41216-06B6-451E-A456-C96686E36A47}"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715058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62B41216-06B6-451E-A456-C96686E36A47}" type="datetimeFigureOut">
              <a:rPr lang="en-US" smtClean="0"/>
              <a:t>10/22/2026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3514483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B41216-06B6-451E-A456-C96686E36A47}" type="datetimeFigureOut">
              <a:rPr lang="en-US" smtClean="0"/>
              <a:t>10/22/2026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95C26A3-851B-425B-AF2D-A19E638A53F4}" type="slidenum">
              <a:rPr lang="en-US" smtClean="0"/>
              <a:t>‹#›</a:t>
            </a:fld>
            <a:endParaRPr lang="en-US"/>
          </a:p>
        </p:txBody>
      </p:sp>
    </p:spTree>
    <p:extLst>
      <p:ext uri="{BB962C8B-B14F-4D97-AF65-F5344CB8AC3E}">
        <p14:creationId xmlns:p14="http://schemas.microsoft.com/office/powerpoint/2010/main" val="3056763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B41216-06B6-451E-A456-C96686E36A47}"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67966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76523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789728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B41216-06B6-451E-A456-C96686E36A47}" type="datetimeFigureOut">
              <a:rPr lang="en-US" smtClean="0"/>
              <a:t>10/22/2026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95C26A3-851B-425B-AF2D-A19E638A53F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272269"/>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13.jpeg"/><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jpg"/><Relationship Id="rId7" Type="http://schemas.openxmlformats.org/officeDocument/2006/relationships/image" Target="../media/image18.jpg"/><Relationship Id="rId12" Type="http://schemas.openxmlformats.org/officeDocument/2006/relationships/image" Target="../media/image23.png"/><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jp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18.jpg"/><Relationship Id="rId13" Type="http://schemas.openxmlformats.org/officeDocument/2006/relationships/image" Target="../media/image23.png"/><Relationship Id="rId3" Type="http://schemas.openxmlformats.org/officeDocument/2006/relationships/image" Target="../media/image14.jpg"/><Relationship Id="rId7" Type="http://schemas.openxmlformats.org/officeDocument/2006/relationships/image" Target="../media/image25.png"/><Relationship Id="rId12" Type="http://schemas.openxmlformats.org/officeDocument/2006/relationships/image" Target="../media/image22.png"/><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jp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6.png"/><Relationship Id="rId7" Type="http://schemas.openxmlformats.org/officeDocument/2006/relationships/image" Target="../media/image21.png"/><Relationship Id="rId2" Type="http://schemas.openxmlformats.org/officeDocument/2006/relationships/slideLayout" Target="../slideLayouts/slideLayout6.xml"/><Relationship Id="rId1" Type="http://schemas.openxmlformats.org/officeDocument/2006/relationships/tags" Target="../tags/tag5.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6.png"/><Relationship Id="rId4" Type="http://schemas.openxmlformats.org/officeDocument/2006/relationships/image" Target="../media/image17.png"/><Relationship Id="rId9"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6.png"/><Relationship Id="rId7" Type="http://schemas.openxmlformats.org/officeDocument/2006/relationships/image" Target="../media/image21.png"/><Relationship Id="rId2" Type="http://schemas.openxmlformats.org/officeDocument/2006/relationships/slideLayout" Target="../slideLayouts/slideLayout6.xml"/><Relationship Id="rId1" Type="http://schemas.openxmlformats.org/officeDocument/2006/relationships/tags" Target="../tags/tag6.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35.png"/><Relationship Id="rId4" Type="http://schemas.openxmlformats.org/officeDocument/2006/relationships/image" Target="../media/image17.png"/><Relationship Id="rId9" Type="http://schemas.openxmlformats.org/officeDocument/2006/relationships/image" Target="../media/image23.png"/></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6.png"/><Relationship Id="rId7" Type="http://schemas.openxmlformats.org/officeDocument/2006/relationships/image" Target="../media/image21.png"/><Relationship Id="rId2" Type="http://schemas.openxmlformats.org/officeDocument/2006/relationships/slideLayout" Target="../slideLayouts/slideLayout6.xml"/><Relationship Id="rId1" Type="http://schemas.openxmlformats.org/officeDocument/2006/relationships/tags" Target="../tags/tag7.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36.png"/><Relationship Id="rId4" Type="http://schemas.openxmlformats.org/officeDocument/2006/relationships/image" Target="../media/image17.png"/><Relationship Id="rId9"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5.jpe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38.png"/><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emf"/></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15.jpg"/><Relationship Id="rId5" Type="http://schemas.openxmlformats.org/officeDocument/2006/relationships/image" Target="../media/image18.jpg"/><Relationship Id="rId4" Type="http://schemas.openxmlformats.org/officeDocument/2006/relationships/image" Target="../media/image14.jpg"/></Relationships>
</file>

<file path=ppt/slides/_rels/slide45.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2.xml"/><Relationship Id="rId4" Type="http://schemas.openxmlformats.org/officeDocument/2006/relationships/image" Target="../media/image46.jp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13.xml"/><Relationship Id="rId5" Type="http://schemas.openxmlformats.org/officeDocument/2006/relationships/image" Target="../media/image48.pn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27000">
              <a:srgbClr val="5491D4"/>
            </a:gs>
            <a:gs pos="2703">
              <a:srgbClr val="6299DB"/>
            </a:gs>
            <a:gs pos="55000">
              <a:srgbClr val="546449"/>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D8A10AD-C0CE-4DB9-AC0B-D6FA1B0FE803}"/>
              </a:ext>
            </a:extLst>
          </p:cNvPr>
          <p:cNvSpPr>
            <a:spLocks noGrp="1"/>
          </p:cNvSpPr>
          <p:nvPr>
            <p:ph type="ctrTitle"/>
          </p:nvPr>
        </p:nvSpPr>
        <p:spPr>
          <a:xfrm>
            <a:off x="320137" y="150749"/>
            <a:ext cx="9977535" cy="2603209"/>
          </a:xfrm>
        </p:spPr>
        <p:txBody>
          <a:bodyPr>
            <a:noAutofit/>
          </a:bodyPr>
          <a:lstStyle/>
          <a:p>
            <a:r>
              <a:rPr lang="en-US" sz="4400" dirty="0">
                <a:solidFill>
                  <a:schemeClr val="tx1"/>
                </a:solidFill>
                <a:effectLst/>
                <a:ea typeface="Times New Roman" panose="02020603050405020304" pitchFamily="18" charset="0"/>
                <a:cs typeface="Times New Roman" panose="02020603050405020304" pitchFamily="18" charset="0"/>
              </a:rPr>
              <a:t>Integrating US and CAN marine data to identify region-specific limiting factors across a transboundary salmon migration</a:t>
            </a:r>
            <a:br>
              <a:rPr lang="en-US" sz="4400" dirty="0">
                <a:solidFill>
                  <a:schemeClr val="tx1"/>
                </a:solidFill>
                <a:effectLst/>
                <a:ea typeface="Calibri" panose="020F0502020204030204" pitchFamily="34" charset="0"/>
                <a:cs typeface="Times New Roman" panose="02020603050405020304" pitchFamily="18" charset="0"/>
              </a:rPr>
            </a:br>
            <a:endParaRPr lang="en-US" sz="4400" dirty="0">
              <a:solidFill>
                <a:schemeClr val="tx1"/>
              </a:solidFill>
            </a:endParaRPr>
          </a:p>
        </p:txBody>
      </p:sp>
      <p:sp>
        <p:nvSpPr>
          <p:cNvPr id="8" name="Subtitle 7">
            <a:extLst>
              <a:ext uri="{FF2B5EF4-FFF2-40B4-BE49-F238E27FC236}">
                <a16:creationId xmlns:a16="http://schemas.microsoft.com/office/drawing/2014/main" id="{CCD2D1D4-3184-4CA7-B874-BC8E55070D43}"/>
              </a:ext>
            </a:extLst>
          </p:cNvPr>
          <p:cNvSpPr>
            <a:spLocks noGrp="1"/>
          </p:cNvSpPr>
          <p:nvPr>
            <p:ph type="subTitle" idx="1"/>
          </p:nvPr>
        </p:nvSpPr>
        <p:spPr>
          <a:xfrm>
            <a:off x="1114096" y="3193831"/>
            <a:ext cx="6642538" cy="1655762"/>
          </a:xfrm>
        </p:spPr>
        <p:txBody>
          <a:bodyPr>
            <a:normAutofit/>
          </a:bodyPr>
          <a:lstStyle/>
          <a:p>
            <a:r>
              <a:rPr lang="en-US" dirty="0">
                <a:solidFill>
                  <a:srgbClr val="FFC000"/>
                </a:solidFill>
              </a:rPr>
              <a:t>Lisa Crozier, Cameron Freshwater,</a:t>
            </a:r>
          </a:p>
          <a:p>
            <a:r>
              <a:rPr lang="en-US" dirty="0">
                <a:solidFill>
                  <a:srgbClr val="FFC000"/>
                </a:solidFill>
              </a:rPr>
              <a:t>Brian Burke, David Huff, Eric Ward, Doug Jackson and EVE Pugsley</a:t>
            </a:r>
          </a:p>
        </p:txBody>
      </p:sp>
      <p:sp>
        <p:nvSpPr>
          <p:cNvPr id="9" name="TextBox 8">
            <a:extLst>
              <a:ext uri="{FF2B5EF4-FFF2-40B4-BE49-F238E27FC236}">
                <a16:creationId xmlns:a16="http://schemas.microsoft.com/office/drawing/2014/main" id="{A597F322-CCFB-42F6-9B73-764311444C2E}"/>
              </a:ext>
            </a:extLst>
          </p:cNvPr>
          <p:cNvSpPr txBox="1"/>
          <p:nvPr/>
        </p:nvSpPr>
        <p:spPr>
          <a:xfrm>
            <a:off x="380946" y="5178061"/>
            <a:ext cx="8395191" cy="1477328"/>
          </a:xfrm>
          <a:prstGeom prst="rect">
            <a:avLst/>
          </a:prstGeom>
          <a:noFill/>
        </p:spPr>
        <p:txBody>
          <a:bodyPr wrap="square" rtlCol="0">
            <a:spAutoFit/>
          </a:bodyPr>
          <a:lstStyle/>
          <a:p>
            <a:r>
              <a:rPr lang="en-US" u="sng" dirty="0">
                <a:latin typeface="+mj-lt"/>
              </a:rPr>
              <a:t>PICES Annual Meeting 2026</a:t>
            </a:r>
          </a:p>
          <a:p>
            <a:r>
              <a:rPr lang="en-US" dirty="0">
                <a:latin typeface="+mj-lt"/>
              </a:rPr>
              <a:t>Topic Session S12: 	 Transboundary Science for a Changing North Pacific Ocean</a:t>
            </a:r>
          </a:p>
          <a:p>
            <a:r>
              <a:rPr lang="en-US" dirty="0">
                <a:latin typeface="+mj-lt"/>
              </a:rPr>
              <a:t>			</a:t>
            </a:r>
          </a:p>
          <a:p>
            <a:r>
              <a:rPr lang="en-US" dirty="0">
                <a:latin typeface="+mj-lt"/>
              </a:rPr>
              <a:t>Nanaimo, Canada </a:t>
            </a:r>
          </a:p>
          <a:p>
            <a:r>
              <a:rPr lang="en-US" dirty="0">
                <a:latin typeface="+mj-lt"/>
              </a:rPr>
              <a:t>Oct 29, 2026</a:t>
            </a:r>
          </a:p>
        </p:txBody>
      </p:sp>
      <p:pic>
        <p:nvPicPr>
          <p:cNvPr id="3" name="Picture 2">
            <a:extLst>
              <a:ext uri="{FF2B5EF4-FFF2-40B4-BE49-F238E27FC236}">
                <a16:creationId xmlns:a16="http://schemas.microsoft.com/office/drawing/2014/main" id="{C8004EC9-B064-4462-A0C0-68EBCB49698C}"/>
              </a:ext>
            </a:extLst>
          </p:cNvPr>
          <p:cNvPicPr>
            <a:picLocks noChangeAspect="1"/>
          </p:cNvPicPr>
          <p:nvPr/>
        </p:nvPicPr>
        <p:blipFill rotWithShape="1">
          <a:blip r:embed="rId3">
            <a:extLst>
              <a:ext uri="{28A0092B-C50C-407E-A947-70E740481C1C}">
                <a14:useLocalDpi xmlns:a14="http://schemas.microsoft.com/office/drawing/2010/main" val="0"/>
              </a:ext>
            </a:extLst>
          </a:blip>
          <a:srcRect l="12975" t="21215" r="12926" b="5738"/>
          <a:stretch/>
        </p:blipFill>
        <p:spPr>
          <a:xfrm>
            <a:off x="8460788" y="4088524"/>
            <a:ext cx="3731212" cy="2769476"/>
          </a:xfrm>
          <a:prstGeom prst="ellipse">
            <a:avLst/>
          </a:prstGeom>
        </p:spPr>
      </p:pic>
    </p:spTree>
    <p:extLst>
      <p:ext uri="{BB962C8B-B14F-4D97-AF65-F5344CB8AC3E}">
        <p14:creationId xmlns:p14="http://schemas.microsoft.com/office/powerpoint/2010/main" val="171201418"/>
      </p:ext>
    </p:extLst>
  </p:cSld>
  <p:clrMapOvr>
    <a:masterClrMapping/>
  </p:clrMapOvr>
  <mc:AlternateContent xmlns:mc="http://schemas.openxmlformats.org/markup-compatibility/2006" xmlns:p14="http://schemas.microsoft.com/office/powerpoint/2010/main">
    <mc:Choice Requires="p14">
      <p:transition spd="slow" p14:dur="2000" advTm="2230"/>
    </mc:Choice>
    <mc:Fallback xmlns="">
      <p:transition spd="slow" advTm="22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4645" y="150057"/>
            <a:ext cx="4076700" cy="1566201"/>
          </a:xfrm>
        </p:spPr>
        <p:txBody>
          <a:bodyPr>
            <a:noAutofit/>
          </a:bodyPr>
          <a:lstStyle/>
          <a:p>
            <a:r>
              <a:rPr lang="en-US" sz="2400" dirty="0"/>
              <a:t>Many species were already endangered, and climate change compounds threat – particularly the marine stage of spring Chinook salmon</a:t>
            </a:r>
          </a:p>
        </p:txBody>
      </p:sp>
      <p:sp>
        <p:nvSpPr>
          <p:cNvPr id="4" name="Rectangle 2"/>
          <p:cNvSpPr>
            <a:spLocks noChangeArrowheads="1"/>
          </p:cNvSpPr>
          <p:nvPr/>
        </p:nvSpPr>
        <p:spPr bwMode="auto">
          <a:xfrm>
            <a:off x="2057401" y="164223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400"/>
          </a:p>
        </p:txBody>
      </p:sp>
      <p:pic>
        <p:nvPicPr>
          <p:cNvPr id="6" name="Picture 5">
            <a:extLst>
              <a:ext uri="{FF2B5EF4-FFF2-40B4-BE49-F238E27FC236}">
                <a16:creationId xmlns:a16="http://schemas.microsoft.com/office/drawing/2014/main" id="{AFB30585-A00E-4EE1-8B9A-55C1E694325D}"/>
              </a:ext>
            </a:extLst>
          </p:cNvPr>
          <p:cNvPicPr>
            <a:picLocks noChangeAspect="1"/>
          </p:cNvPicPr>
          <p:nvPr/>
        </p:nvPicPr>
        <p:blipFill>
          <a:blip r:embed="rId2"/>
          <a:stretch>
            <a:fillRect/>
          </a:stretch>
        </p:blipFill>
        <p:spPr>
          <a:xfrm>
            <a:off x="0" y="133643"/>
            <a:ext cx="5776856" cy="5776856"/>
          </a:xfrm>
          <a:prstGeom prst="rect">
            <a:avLst/>
          </a:prstGeom>
        </p:spPr>
      </p:pic>
      <p:pic>
        <p:nvPicPr>
          <p:cNvPr id="8" name="Picture 7">
            <a:extLst>
              <a:ext uri="{FF2B5EF4-FFF2-40B4-BE49-F238E27FC236}">
                <a16:creationId xmlns:a16="http://schemas.microsoft.com/office/drawing/2014/main" id="{78E975DC-FB5D-B81D-5C6C-EB30378B9D6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355" t="1" r="72709" b="50635"/>
          <a:stretch/>
        </p:blipFill>
        <p:spPr>
          <a:xfrm>
            <a:off x="5843241" y="2444837"/>
            <a:ext cx="2482807" cy="3465662"/>
          </a:xfrm>
          <a:prstGeom prst="rect">
            <a:avLst/>
          </a:prstGeom>
        </p:spPr>
      </p:pic>
      <p:grpSp>
        <p:nvGrpSpPr>
          <p:cNvPr id="9" name="Group 8">
            <a:extLst>
              <a:ext uri="{FF2B5EF4-FFF2-40B4-BE49-F238E27FC236}">
                <a16:creationId xmlns:a16="http://schemas.microsoft.com/office/drawing/2014/main" id="{663D2D54-2197-A183-9819-7E88DAFB1729}"/>
              </a:ext>
            </a:extLst>
          </p:cNvPr>
          <p:cNvGrpSpPr/>
          <p:nvPr/>
        </p:nvGrpSpPr>
        <p:grpSpPr>
          <a:xfrm>
            <a:off x="8510954" y="2444837"/>
            <a:ext cx="3681046" cy="4185079"/>
            <a:chOff x="6315151" y="817103"/>
            <a:chExt cx="5299993" cy="6438652"/>
          </a:xfrm>
        </p:grpSpPr>
        <p:pic>
          <p:nvPicPr>
            <p:cNvPr id="10" name="Picture 9">
              <a:extLst>
                <a:ext uri="{FF2B5EF4-FFF2-40B4-BE49-F238E27FC236}">
                  <a16:creationId xmlns:a16="http://schemas.microsoft.com/office/drawing/2014/main" id="{7A6A896F-1F7C-B07D-F4A9-9039C8DBA0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5151" y="817103"/>
              <a:ext cx="5299993" cy="5299993"/>
            </a:xfrm>
            <a:prstGeom prst="rect">
              <a:avLst/>
            </a:prstGeom>
          </p:spPr>
        </p:pic>
        <p:sp>
          <p:nvSpPr>
            <p:cNvPr id="11" name="Rectangle 10">
              <a:extLst>
                <a:ext uri="{FF2B5EF4-FFF2-40B4-BE49-F238E27FC236}">
                  <a16:creationId xmlns:a16="http://schemas.microsoft.com/office/drawing/2014/main" id="{B9A78ED5-2A21-DDA0-F5A6-2114874B0D91}"/>
                </a:ext>
              </a:extLst>
            </p:cNvPr>
            <p:cNvSpPr/>
            <p:nvPr/>
          </p:nvSpPr>
          <p:spPr>
            <a:xfrm>
              <a:off x="6317428" y="6119337"/>
              <a:ext cx="5165124" cy="1136418"/>
            </a:xfrm>
            <a:prstGeom prst="rect">
              <a:avLst/>
            </a:prstGeom>
          </p:spPr>
          <p:txBody>
            <a:bodyPr wrap="square">
              <a:spAutoFit/>
            </a:bodyPr>
            <a:lstStyle/>
            <a:p>
              <a:r>
                <a:rPr lang="en-US" sz="1400" dirty="0">
                  <a:latin typeface="Segoe UI" panose="020B0502040204020203" pitchFamily="34" charset="0"/>
                </a:rPr>
                <a:t>Crozier, et al (2021) </a:t>
              </a:r>
              <a:r>
                <a:rPr lang="en-US" sz="1400" b="1" u="sng" dirty="0">
                  <a:latin typeface="Segoe UI" panose="020B0502040204020203" pitchFamily="34" charset="0"/>
                </a:rPr>
                <a:t>https://doi.org/210.1038/s42003-42021-01734-w </a:t>
              </a:r>
              <a:endParaRPr lang="en-US" sz="1400" dirty="0"/>
            </a:p>
          </p:txBody>
        </p:sp>
      </p:grpSp>
    </p:spTree>
    <p:extLst>
      <p:ext uri="{BB962C8B-B14F-4D97-AF65-F5344CB8AC3E}">
        <p14:creationId xmlns:p14="http://schemas.microsoft.com/office/powerpoint/2010/main" val="31834469"/>
      </p:ext>
    </p:extLst>
  </p:cSld>
  <p:clrMapOvr>
    <a:masterClrMapping/>
  </p:clrMapOvr>
  <mc:AlternateContent xmlns:mc="http://schemas.openxmlformats.org/markup-compatibility/2006" xmlns:p14="http://schemas.microsoft.com/office/powerpoint/2010/main">
    <mc:Choice Requires="p14">
      <p:transition spd="slow" p14:dur="2000" advTm="11327"/>
    </mc:Choice>
    <mc:Fallback xmlns="">
      <p:transition spd="slow" advTm="113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8E0C4-FA4B-5492-904E-6CA4C6AA2970}"/>
              </a:ext>
            </a:extLst>
          </p:cNvPr>
          <p:cNvSpPr>
            <a:spLocks noGrp="1"/>
          </p:cNvSpPr>
          <p:nvPr>
            <p:ph type="title"/>
          </p:nvPr>
        </p:nvSpPr>
        <p:spPr/>
        <p:txBody>
          <a:bodyPr/>
          <a:lstStyle/>
          <a:p>
            <a:r>
              <a:rPr lang="en-US" dirty="0"/>
              <a:t>Maybe show Jenn’s pretty picture of teleconnections?</a:t>
            </a:r>
          </a:p>
        </p:txBody>
      </p:sp>
    </p:spTree>
    <p:extLst>
      <p:ext uri="{BB962C8B-B14F-4D97-AF65-F5344CB8AC3E}">
        <p14:creationId xmlns:p14="http://schemas.microsoft.com/office/powerpoint/2010/main" val="3871176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4AA31-0780-42A6-8F3C-70DF89CD22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640080"/>
            <a:ext cx="6085840" cy="6085840"/>
          </a:xfrm>
          <a:prstGeom prst="rect">
            <a:avLst/>
          </a:prstGeom>
        </p:spPr>
      </p:pic>
      <p:pic>
        <p:nvPicPr>
          <p:cNvPr id="5" name="Picture 4">
            <a:extLst>
              <a:ext uri="{FF2B5EF4-FFF2-40B4-BE49-F238E27FC236}">
                <a16:creationId xmlns:a16="http://schemas.microsoft.com/office/drawing/2014/main" id="{CBC6A97B-3517-495F-9AAE-794CA41E5C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0080" y="640080"/>
            <a:ext cx="6096000" cy="6096000"/>
          </a:xfrm>
          <a:prstGeom prst="rect">
            <a:avLst/>
          </a:prstGeom>
        </p:spPr>
      </p:pic>
      <p:sp>
        <p:nvSpPr>
          <p:cNvPr id="6" name="Title 1">
            <a:extLst>
              <a:ext uri="{FF2B5EF4-FFF2-40B4-BE49-F238E27FC236}">
                <a16:creationId xmlns:a16="http://schemas.microsoft.com/office/drawing/2014/main" id="{6B19DAC7-D88E-4EF2-B93D-2B838D9816D2}"/>
              </a:ext>
            </a:extLst>
          </p:cNvPr>
          <p:cNvSpPr txBox="1">
            <a:spLocks/>
          </p:cNvSpPr>
          <p:nvPr/>
        </p:nvSpPr>
        <p:spPr>
          <a:xfrm>
            <a:off x="750824" y="-317500"/>
            <a:ext cx="1034897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Strong correlations within and between regions</a:t>
            </a:r>
          </a:p>
        </p:txBody>
      </p:sp>
    </p:spTree>
    <p:extLst>
      <p:ext uri="{BB962C8B-B14F-4D97-AF65-F5344CB8AC3E}">
        <p14:creationId xmlns:p14="http://schemas.microsoft.com/office/powerpoint/2010/main" val="1931274323"/>
      </p:ext>
    </p:extLst>
  </p:cSld>
  <p:clrMapOvr>
    <a:masterClrMapping/>
  </p:clrMapOvr>
  <mc:AlternateContent xmlns:mc="http://schemas.openxmlformats.org/markup-compatibility/2006" xmlns:p14="http://schemas.microsoft.com/office/powerpoint/2010/main">
    <mc:Choice Requires="p14">
      <p:transition spd="slow" p14:dur="2000" advTm="105284"/>
    </mc:Choice>
    <mc:Fallback xmlns="">
      <p:transition spd="slow" advTm="10528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51B68-0DDB-04F6-914B-9A0CB6220A4A}"/>
              </a:ext>
            </a:extLst>
          </p:cNvPr>
          <p:cNvSpPr>
            <a:spLocks noGrp="1"/>
          </p:cNvSpPr>
          <p:nvPr>
            <p:ph type="title"/>
          </p:nvPr>
        </p:nvSpPr>
        <p:spPr/>
        <p:txBody>
          <a:bodyPr/>
          <a:lstStyle/>
          <a:p>
            <a:r>
              <a:rPr lang="en-US" dirty="0"/>
              <a:t>Structural equation model approach</a:t>
            </a:r>
          </a:p>
        </p:txBody>
      </p:sp>
      <p:grpSp>
        <p:nvGrpSpPr>
          <p:cNvPr id="7" name="Group 6">
            <a:extLst>
              <a:ext uri="{FF2B5EF4-FFF2-40B4-BE49-F238E27FC236}">
                <a16:creationId xmlns:a16="http://schemas.microsoft.com/office/drawing/2014/main" id="{A49C9A5A-7AB7-FA71-46A7-98DC22BC5A1B}"/>
              </a:ext>
            </a:extLst>
          </p:cNvPr>
          <p:cNvGrpSpPr/>
          <p:nvPr/>
        </p:nvGrpSpPr>
        <p:grpSpPr>
          <a:xfrm>
            <a:off x="793949" y="2122390"/>
            <a:ext cx="11190070" cy="4127803"/>
            <a:chOff x="127000" y="3754497"/>
            <a:chExt cx="9893179" cy="3045170"/>
          </a:xfrm>
        </p:grpSpPr>
        <p:sp>
          <p:nvSpPr>
            <p:cNvPr id="8" name="Rectangle 7">
              <a:extLst>
                <a:ext uri="{FF2B5EF4-FFF2-40B4-BE49-F238E27FC236}">
                  <a16:creationId xmlns:a16="http://schemas.microsoft.com/office/drawing/2014/main" id="{6845B6FF-28F8-2C80-7864-98B372ABCE94}"/>
                </a:ext>
              </a:extLst>
            </p:cNvPr>
            <p:cNvSpPr/>
            <p:nvPr/>
          </p:nvSpPr>
          <p:spPr>
            <a:xfrm>
              <a:off x="127000" y="5391245"/>
              <a:ext cx="2702960" cy="749277"/>
            </a:xfrm>
            <a:prstGeom prst="rect">
              <a:avLst/>
            </a:prstGeom>
          </p:spPr>
          <p:txBody>
            <a:bodyPr wrap="square">
              <a:spAutoFit/>
            </a:bodyPr>
            <a:lstStyle/>
            <a:p>
              <a:pPr defTabSz="380985" eaLnBrk="1" fontAlgn="auto" hangingPunct="1">
                <a:spcBef>
                  <a:spcPts val="0"/>
                </a:spcBef>
                <a:spcAft>
                  <a:spcPts val="0"/>
                </a:spcAft>
                <a:defRPr/>
              </a:pPr>
              <a:r>
                <a:rPr lang="en-US" sz="2000" b="1" dirty="0">
                  <a:latin typeface="Calibri" panose="020F0502020204030204"/>
                </a:rPr>
                <a:t>More realistic food web -- Lots of species eat many interacting  prey</a:t>
              </a:r>
            </a:p>
          </p:txBody>
        </p:sp>
        <p:sp>
          <p:nvSpPr>
            <p:cNvPr id="9" name="Text Placeholder 3">
              <a:extLst>
                <a:ext uri="{FF2B5EF4-FFF2-40B4-BE49-F238E27FC236}">
                  <a16:creationId xmlns:a16="http://schemas.microsoft.com/office/drawing/2014/main" id="{0F800E38-6114-2827-4755-647A917C2AFA}"/>
                </a:ext>
              </a:extLst>
            </p:cNvPr>
            <p:cNvSpPr txBox="1">
              <a:spLocks/>
            </p:cNvSpPr>
            <p:nvPr/>
          </p:nvSpPr>
          <p:spPr>
            <a:xfrm>
              <a:off x="3509124" y="5472055"/>
              <a:ext cx="2651125" cy="399079"/>
            </a:xfrm>
            <a:prstGeom prst="rect">
              <a:avLst/>
            </a:prstGeom>
          </p:spPr>
          <p:txBody>
            <a:bodyPr vert="horz" lIns="76200" tIns="38100" rIns="76200" bIns="3810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61970" fontAlgn="auto">
                <a:spcBef>
                  <a:spcPts val="833"/>
                </a:spcBef>
                <a:spcAft>
                  <a:spcPts val="0"/>
                </a:spcAft>
                <a:buNone/>
                <a:defRPr/>
              </a:pPr>
              <a:r>
                <a:rPr lang="en-US" sz="2000" b="1" dirty="0">
                  <a:latin typeface="Calibri" panose="020F0502020204030204"/>
                </a:rPr>
                <a:t>Try to reduce the list to the most important ones</a:t>
              </a:r>
            </a:p>
          </p:txBody>
        </p:sp>
        <p:sp>
          <p:nvSpPr>
            <p:cNvPr id="10" name="Text Placeholder 5">
              <a:extLst>
                <a:ext uri="{FF2B5EF4-FFF2-40B4-BE49-F238E27FC236}">
                  <a16:creationId xmlns:a16="http://schemas.microsoft.com/office/drawing/2014/main" id="{918EB869-8DA8-C530-1E8F-89A7C2D7530B}"/>
                </a:ext>
              </a:extLst>
            </p:cNvPr>
            <p:cNvSpPr txBox="1">
              <a:spLocks/>
            </p:cNvSpPr>
            <p:nvPr/>
          </p:nvSpPr>
          <p:spPr>
            <a:xfrm>
              <a:off x="6972179" y="5416501"/>
              <a:ext cx="3048000" cy="1383166"/>
            </a:xfrm>
            <a:prstGeom prst="rect">
              <a:avLst/>
            </a:prstGeom>
          </p:spPr>
          <p:txBody>
            <a:bodyPr vert="horz" lIns="76200" tIns="38100" rIns="76200" bIns="38100" rtlCol="0" anchor="b">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defTabSz="761970" fontAlgn="auto">
                <a:spcBef>
                  <a:spcPts val="833"/>
                </a:spcBef>
                <a:spcAft>
                  <a:spcPts val="0"/>
                </a:spcAft>
                <a:defRPr/>
              </a:pPr>
              <a:r>
                <a:rPr lang="en-US" sz="2000" dirty="0">
                  <a:latin typeface="Calibri" panose="020F0502020204030204"/>
                </a:rPr>
                <a:t>SEM:</a:t>
              </a:r>
            </a:p>
            <a:p>
              <a:pPr defTabSz="761970" fontAlgn="auto">
                <a:spcBef>
                  <a:spcPts val="833"/>
                </a:spcBef>
                <a:spcAft>
                  <a:spcPts val="0"/>
                </a:spcAft>
                <a:defRPr/>
              </a:pPr>
              <a:r>
                <a:rPr lang="en-US" sz="2000" dirty="0">
                  <a:latin typeface="Calibri" panose="020F0502020204030204"/>
                </a:rPr>
                <a:t>Latent variables ~ sets of correlated species</a:t>
              </a:r>
            </a:p>
            <a:p>
              <a:pPr defTabSz="761970" fontAlgn="auto">
                <a:spcBef>
                  <a:spcPts val="833"/>
                </a:spcBef>
                <a:spcAft>
                  <a:spcPts val="0"/>
                </a:spcAft>
                <a:defRPr/>
              </a:pPr>
              <a:r>
                <a:rPr lang="en-US" sz="2000" dirty="0">
                  <a:latin typeface="Calibri" panose="020F0502020204030204"/>
                </a:rPr>
                <a:t>Path model ~ tests alternative hypothesized relationships amid covariance </a:t>
              </a:r>
            </a:p>
          </p:txBody>
        </p:sp>
        <p:pic>
          <p:nvPicPr>
            <p:cNvPr id="11" name="Picture 2" descr="https://lh6.googleusercontent.com/GZJMk9oSx0ywwRIU346p8h5R8GXxlHE7JUSom7m0BWBS6YZxuBMTecDw5cZIJdCkm2RKX2jaNh-IP-iPklb2gRl4tnAZ3TY2zVtePPggvNr7jtZaYm0_pWT6qYl-6acRfOqDNKlz">
              <a:extLst>
                <a:ext uri="{FF2B5EF4-FFF2-40B4-BE49-F238E27FC236}">
                  <a16:creationId xmlns:a16="http://schemas.microsoft.com/office/drawing/2014/main" id="{77009443-11CF-6DD7-1907-7B4369E765CE}"/>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6884818" y="3780044"/>
              <a:ext cx="3031242" cy="1646669"/>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1.png">
              <a:extLst>
                <a:ext uri="{FF2B5EF4-FFF2-40B4-BE49-F238E27FC236}">
                  <a16:creationId xmlns:a16="http://schemas.microsoft.com/office/drawing/2014/main" id="{B3AFC3F0-F28A-5474-1F98-43D279E82EF9}"/>
                </a:ext>
              </a:extLst>
            </p:cNvPr>
            <p:cNvPicPr>
              <a:picLocks/>
            </p:cNvPicPr>
            <p:nvPr/>
          </p:nvPicPr>
          <p:blipFill rotWithShape="1">
            <a:blip r:embed="rId3" cstate="print">
              <a:extLst>
                <a:ext uri="{28A0092B-C50C-407E-A947-70E740481C1C}">
                  <a14:useLocalDpi xmlns:a14="http://schemas.microsoft.com/office/drawing/2010/main"/>
                </a:ext>
              </a:extLst>
            </a:blip>
            <a:srcRect r="-235"/>
            <a:stretch/>
          </p:blipFill>
          <p:spPr>
            <a:xfrm>
              <a:off x="151220" y="3776085"/>
              <a:ext cx="2774683" cy="1650628"/>
            </a:xfrm>
            <a:prstGeom prst="rect">
              <a:avLst/>
            </a:prstGeom>
            <a:ln/>
          </p:spPr>
        </p:pic>
        <p:pic>
          <p:nvPicPr>
            <p:cNvPr id="13" name="Picture 12">
              <a:extLst>
                <a:ext uri="{FF2B5EF4-FFF2-40B4-BE49-F238E27FC236}">
                  <a16:creationId xmlns:a16="http://schemas.microsoft.com/office/drawing/2014/main" id="{7565B228-B329-4F5C-05E2-6168909E0E4B}"/>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3309663" y="3754497"/>
              <a:ext cx="2992701" cy="1693803"/>
            </a:xfrm>
            <a:prstGeom prst="rect">
              <a:avLst/>
            </a:prstGeom>
          </p:spPr>
        </p:pic>
      </p:grpSp>
    </p:spTree>
    <p:extLst>
      <p:ext uri="{BB962C8B-B14F-4D97-AF65-F5344CB8AC3E}">
        <p14:creationId xmlns:p14="http://schemas.microsoft.com/office/powerpoint/2010/main" val="3716805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501070-6CDA-5E8E-D51A-0F6F3C1B007A}"/>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6600" dirty="0">
                <a:solidFill>
                  <a:schemeClr val="tx1">
                    <a:lumMod val="85000"/>
                    <a:lumOff val="15000"/>
                  </a:schemeClr>
                </a:solidFill>
              </a:rPr>
              <a:t>NOT READY</a:t>
            </a:r>
          </a:p>
        </p:txBody>
      </p:sp>
      <p:pic>
        <p:nvPicPr>
          <p:cNvPr id="4" name="Picture 3">
            <a:extLst>
              <a:ext uri="{FF2B5EF4-FFF2-40B4-BE49-F238E27FC236}">
                <a16:creationId xmlns:a16="http://schemas.microsoft.com/office/drawing/2014/main" id="{8C7C1293-BB1A-6964-4CD2-89981AE6A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401" y="640081"/>
            <a:ext cx="6761412" cy="5054156"/>
          </a:xfrm>
          <a:prstGeom prst="rect">
            <a:avLst/>
          </a:prstGeom>
        </p:spPr>
      </p:pic>
      <p:cxnSp>
        <p:nvCxnSpPr>
          <p:cNvPr id="17" name="Straight Connector 1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80018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2628E-7308-674E-F9C3-3B8A4FA7182F}"/>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74B9103F-9616-1534-2122-85D9E23FCFCA}"/>
              </a:ext>
            </a:extLst>
          </p:cNvPr>
          <p:cNvSpPr>
            <a:spLocks noGrp="1"/>
          </p:cNvSpPr>
          <p:nvPr>
            <p:ph idx="1"/>
          </p:nvPr>
        </p:nvSpPr>
        <p:spPr/>
        <p:txBody>
          <a:bodyPr/>
          <a:lstStyle/>
          <a:p>
            <a:pPr marL="457200" indent="-457200">
              <a:buFont typeface="+mj-lt"/>
              <a:buAutoNum type="arabicPeriod"/>
            </a:pPr>
            <a:r>
              <a:rPr lang="en-US" dirty="0"/>
              <a:t>Identify viable models to reduce the number of candidate indices</a:t>
            </a:r>
          </a:p>
          <a:p>
            <a:pPr marL="457200" indent="-457200">
              <a:buFont typeface="+mj-lt"/>
              <a:buAutoNum type="arabicPeriod"/>
            </a:pPr>
            <a:endParaRPr lang="en-US" dirty="0"/>
          </a:p>
          <a:p>
            <a:pPr marL="457200" indent="-457200">
              <a:buFont typeface="+mj-lt"/>
              <a:buAutoNum type="arabicPeriod"/>
            </a:pPr>
            <a:r>
              <a:rPr lang="en-US" dirty="0"/>
              <a:t>Test hypotheses:</a:t>
            </a:r>
          </a:p>
          <a:p>
            <a:pPr marL="749808" lvl="1" indent="-457200">
              <a:buFont typeface="+mj-lt"/>
              <a:buAutoNum type="arabicPeriod"/>
            </a:pPr>
            <a:r>
              <a:rPr lang="en-US" dirty="0"/>
              <a:t>Bigger is better (bottom-up regulation)</a:t>
            </a:r>
          </a:p>
          <a:p>
            <a:pPr marL="749808" lvl="1" indent="-457200">
              <a:buFont typeface="+mj-lt"/>
              <a:buAutoNum type="arabicPeriod"/>
            </a:pPr>
            <a:r>
              <a:rPr lang="en-US" dirty="0"/>
              <a:t>Predator abundance is driving salmon survival (top-down regulation)</a:t>
            </a:r>
          </a:p>
          <a:p>
            <a:pPr marL="749808" lvl="1" indent="-457200">
              <a:buFont typeface="+mj-lt"/>
              <a:buAutoNum type="arabicPeriod"/>
            </a:pPr>
            <a:r>
              <a:rPr lang="en-US" dirty="0"/>
              <a:t>Predator impact is modulated by conditions (top-down modulated)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86395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0000">
              <a:srgbClr val="92B5DB"/>
            </a:gs>
            <a:gs pos="0">
              <a:srgbClr val="758CAA"/>
            </a:gs>
            <a:gs pos="100000">
              <a:schemeClr val="bg2">
                <a:shade val="80000"/>
              </a:schemeClr>
            </a:gs>
          </a:gsLst>
          <a:path path="rect">
            <a:fillToRect l="100000" b="100000"/>
          </a:path>
          <a:tileRect t="-100000" r="-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5F9E-3AA7-499D-AF93-4105F87B91CE}"/>
              </a:ext>
            </a:extLst>
          </p:cNvPr>
          <p:cNvSpPr>
            <a:spLocks noGrp="1"/>
          </p:cNvSpPr>
          <p:nvPr>
            <p:ph type="title"/>
          </p:nvPr>
        </p:nvSpPr>
        <p:spPr>
          <a:xfrm>
            <a:off x="262759" y="0"/>
            <a:ext cx="10058400" cy="848517"/>
          </a:xfrm>
        </p:spPr>
        <p:txBody>
          <a:bodyPr>
            <a:normAutofit/>
          </a:bodyPr>
          <a:lstStyle/>
          <a:p>
            <a:pPr algn="ctr"/>
            <a:r>
              <a:rPr lang="en-US" dirty="0"/>
              <a:t>Model structure</a:t>
            </a:r>
          </a:p>
        </p:txBody>
      </p:sp>
      <p:sp>
        <p:nvSpPr>
          <p:cNvPr id="3" name="TextBox 2">
            <a:extLst>
              <a:ext uri="{FF2B5EF4-FFF2-40B4-BE49-F238E27FC236}">
                <a16:creationId xmlns:a16="http://schemas.microsoft.com/office/drawing/2014/main" id="{C1C63137-F98B-414E-A941-5C0D461CB83A}"/>
              </a:ext>
            </a:extLst>
          </p:cNvPr>
          <p:cNvSpPr txBox="1"/>
          <p:nvPr/>
        </p:nvSpPr>
        <p:spPr>
          <a:xfrm>
            <a:off x="4313025" y="1533790"/>
            <a:ext cx="2840736" cy="923330"/>
          </a:xfrm>
          <a:prstGeom prst="rect">
            <a:avLst/>
          </a:prstGeom>
          <a:noFill/>
          <a:ln w="38100">
            <a:solidFill>
              <a:schemeClr val="accent1"/>
            </a:solidFill>
          </a:ln>
        </p:spPr>
        <p:txBody>
          <a:bodyPr wrap="square" rtlCol="0">
            <a:spAutoFit/>
          </a:bodyPr>
          <a:lstStyle/>
          <a:p>
            <a:pPr algn="ctr"/>
            <a:r>
              <a:rPr lang="en-US" dirty="0"/>
              <a:t>Marine Growth Rate</a:t>
            </a:r>
          </a:p>
          <a:p>
            <a:pPr algn="ctr"/>
            <a:r>
              <a:rPr lang="en-US" dirty="0"/>
              <a:t> (IGF + stomach fullness</a:t>
            </a:r>
          </a:p>
          <a:p>
            <a:pPr algn="ctr"/>
            <a:r>
              <a:rPr lang="en-US" dirty="0"/>
              <a:t> or fork length)</a:t>
            </a:r>
          </a:p>
        </p:txBody>
      </p:sp>
      <p:sp>
        <p:nvSpPr>
          <p:cNvPr id="12" name="TextBox 11">
            <a:extLst>
              <a:ext uri="{FF2B5EF4-FFF2-40B4-BE49-F238E27FC236}">
                <a16:creationId xmlns:a16="http://schemas.microsoft.com/office/drawing/2014/main" id="{B67CEEE4-33C4-473F-8859-103BE9439506}"/>
              </a:ext>
            </a:extLst>
          </p:cNvPr>
          <p:cNvSpPr txBox="1"/>
          <p:nvPr/>
        </p:nvSpPr>
        <p:spPr>
          <a:xfrm>
            <a:off x="4172817" y="2893198"/>
            <a:ext cx="3121152" cy="923330"/>
          </a:xfrm>
          <a:prstGeom prst="rect">
            <a:avLst/>
          </a:prstGeom>
          <a:noFill/>
          <a:ln w="38100">
            <a:solidFill>
              <a:schemeClr val="accent1"/>
            </a:solidFill>
          </a:ln>
        </p:spPr>
        <p:txBody>
          <a:bodyPr wrap="square" rtlCol="0">
            <a:spAutoFit/>
          </a:bodyPr>
          <a:lstStyle/>
          <a:p>
            <a:pPr algn="ctr"/>
            <a:r>
              <a:rPr lang="en-US" dirty="0"/>
              <a:t>Early Marine Survival </a:t>
            </a:r>
          </a:p>
          <a:p>
            <a:pPr algn="ctr"/>
            <a:r>
              <a:rPr lang="en-US" dirty="0"/>
              <a:t>(</a:t>
            </a:r>
            <a:r>
              <a:rPr lang="en-US" dirty="0" err="1"/>
              <a:t>cpue</a:t>
            </a:r>
            <a:r>
              <a:rPr lang="en-US" dirty="0"/>
              <a:t> June JSOES survey + </a:t>
            </a:r>
          </a:p>
          <a:p>
            <a:pPr algn="ctr"/>
            <a:r>
              <a:rPr lang="en-US" dirty="0" err="1"/>
              <a:t>sdmTMB</a:t>
            </a:r>
            <a:r>
              <a:rPr lang="en-US" dirty="0"/>
              <a:t> modeled abundance)</a:t>
            </a:r>
          </a:p>
        </p:txBody>
      </p:sp>
      <p:sp>
        <p:nvSpPr>
          <p:cNvPr id="17" name="TextBox 16">
            <a:extLst>
              <a:ext uri="{FF2B5EF4-FFF2-40B4-BE49-F238E27FC236}">
                <a16:creationId xmlns:a16="http://schemas.microsoft.com/office/drawing/2014/main" id="{74E4F46F-3B1E-4FBE-9E80-0479F51C8407}"/>
              </a:ext>
            </a:extLst>
          </p:cNvPr>
          <p:cNvSpPr txBox="1"/>
          <p:nvPr/>
        </p:nvSpPr>
        <p:spPr>
          <a:xfrm>
            <a:off x="5331057" y="96076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9D1255A3-9AF9-47FF-A07A-00C4F62385CB}"/>
              </a:ext>
            </a:extLst>
          </p:cNvPr>
          <p:cNvCxnSpPr>
            <a:cxnSpLocks/>
            <a:stCxn id="3" idx="2"/>
            <a:endCxn id="12" idx="0"/>
          </p:cNvCxnSpPr>
          <p:nvPr/>
        </p:nvCxnSpPr>
        <p:spPr>
          <a:xfrm>
            <a:off x="5733393" y="2457120"/>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80AF0B-31D4-4A3B-8707-EC8D349A4127}"/>
              </a:ext>
            </a:extLst>
          </p:cNvPr>
          <p:cNvCxnSpPr>
            <a:cxnSpLocks/>
            <a:stCxn id="12" idx="2"/>
            <a:endCxn id="13" idx="0"/>
          </p:cNvCxnSpPr>
          <p:nvPr/>
        </p:nvCxnSpPr>
        <p:spPr>
          <a:xfrm>
            <a:off x="5733393" y="3816528"/>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9A21F40-4387-4C85-9F22-FF84C4408674}"/>
              </a:ext>
            </a:extLst>
          </p:cNvPr>
          <p:cNvSpPr txBox="1"/>
          <p:nvPr/>
        </p:nvSpPr>
        <p:spPr>
          <a:xfrm>
            <a:off x="2343176" y="1810789"/>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099A16BF-A5F6-43B8-9F3D-6EA1E78B896B}"/>
              </a:ext>
            </a:extLst>
          </p:cNvPr>
          <p:cNvSpPr txBox="1"/>
          <p:nvPr/>
        </p:nvSpPr>
        <p:spPr>
          <a:xfrm>
            <a:off x="1970689" y="253835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EBCFC9B4-C319-41FF-9965-9471279914EC}"/>
              </a:ext>
            </a:extLst>
          </p:cNvPr>
          <p:cNvCxnSpPr>
            <a:cxnSpLocks/>
            <a:stCxn id="30" idx="3"/>
            <a:endCxn id="3" idx="1"/>
          </p:cNvCxnSpPr>
          <p:nvPr/>
        </p:nvCxnSpPr>
        <p:spPr>
          <a:xfrm>
            <a:off x="3337679" y="1995455"/>
            <a:ext cx="97534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7A7338C-55F9-4EF9-88EC-87A150E467A2}"/>
              </a:ext>
            </a:extLst>
          </p:cNvPr>
          <p:cNvCxnSpPr>
            <a:cxnSpLocks/>
            <a:stCxn id="31" idx="3"/>
            <a:endCxn id="12" idx="1"/>
          </p:cNvCxnSpPr>
          <p:nvPr/>
        </p:nvCxnSpPr>
        <p:spPr>
          <a:xfrm>
            <a:off x="3455263" y="2723016"/>
            <a:ext cx="717554" cy="6318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C76EEEC9-5DBF-4FED-A63A-74838D9CB1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5614" y="1163500"/>
            <a:ext cx="3815253" cy="2146080"/>
          </a:xfrm>
          <a:prstGeom prst="rect">
            <a:avLst/>
          </a:prstGeom>
        </p:spPr>
      </p:pic>
      <p:sp>
        <p:nvSpPr>
          <p:cNvPr id="39" name="TextBox 38">
            <a:extLst>
              <a:ext uri="{FF2B5EF4-FFF2-40B4-BE49-F238E27FC236}">
                <a16:creationId xmlns:a16="http://schemas.microsoft.com/office/drawing/2014/main" id="{B4C78EED-31F8-44D6-B40B-F279958F4AC5}"/>
              </a:ext>
            </a:extLst>
          </p:cNvPr>
          <p:cNvSpPr txBox="1"/>
          <p:nvPr/>
        </p:nvSpPr>
        <p:spPr>
          <a:xfrm>
            <a:off x="10622403" y="6581001"/>
            <a:ext cx="1569597" cy="276999"/>
          </a:xfrm>
          <a:prstGeom prst="rect">
            <a:avLst/>
          </a:prstGeom>
          <a:noFill/>
        </p:spPr>
        <p:txBody>
          <a:bodyPr wrap="none" rtlCol="0">
            <a:spAutoFit/>
          </a:bodyPr>
          <a:lstStyle/>
          <a:p>
            <a:r>
              <a:rPr lang="en-US" sz="1200" dirty="0"/>
              <a:t>Photo: usace.army.mil</a:t>
            </a:r>
          </a:p>
        </p:txBody>
      </p:sp>
      <p:sp>
        <p:nvSpPr>
          <p:cNvPr id="60" name="TextBox 59">
            <a:extLst>
              <a:ext uri="{FF2B5EF4-FFF2-40B4-BE49-F238E27FC236}">
                <a16:creationId xmlns:a16="http://schemas.microsoft.com/office/drawing/2014/main" id="{2D2B5100-E255-43CE-8E22-8311AD75DEA6}"/>
              </a:ext>
            </a:extLst>
          </p:cNvPr>
          <p:cNvSpPr txBox="1"/>
          <p:nvPr/>
        </p:nvSpPr>
        <p:spPr>
          <a:xfrm>
            <a:off x="8388883" y="3004490"/>
            <a:ext cx="1920077" cy="369332"/>
          </a:xfrm>
          <a:prstGeom prst="rect">
            <a:avLst/>
          </a:prstGeom>
          <a:noFill/>
        </p:spPr>
        <p:txBody>
          <a:bodyPr wrap="none" rtlCol="0">
            <a:spAutoFit/>
          </a:bodyPr>
          <a:lstStyle/>
          <a:p>
            <a:r>
              <a:rPr lang="en-US" dirty="0"/>
              <a:t>JSOES survey 2025</a:t>
            </a:r>
          </a:p>
        </p:txBody>
      </p:sp>
      <p:cxnSp>
        <p:nvCxnSpPr>
          <p:cNvPr id="49" name="Straight Connector 48">
            <a:extLst>
              <a:ext uri="{FF2B5EF4-FFF2-40B4-BE49-F238E27FC236}">
                <a16:creationId xmlns:a16="http://schemas.microsoft.com/office/drawing/2014/main" id="{1B1DEC9E-AF6F-4DAC-A890-9BBDF4615409}"/>
              </a:ext>
            </a:extLst>
          </p:cNvPr>
          <p:cNvCxnSpPr/>
          <p:nvPr/>
        </p:nvCxnSpPr>
        <p:spPr>
          <a:xfrm>
            <a:off x="1051034" y="3962400"/>
            <a:ext cx="6495394" cy="0"/>
          </a:xfrm>
          <a:prstGeom prst="line">
            <a:avLst/>
          </a:prstGeom>
          <a:ln>
            <a:solidFill>
              <a:schemeClr val="accent2">
                <a:lumMod val="75000"/>
              </a:schemeClr>
            </a:solidFill>
          </a:ln>
        </p:spPr>
        <p:style>
          <a:lnRef idx="3">
            <a:schemeClr val="accent1"/>
          </a:lnRef>
          <a:fillRef idx="0">
            <a:schemeClr val="accent1"/>
          </a:fillRef>
          <a:effectRef idx="2">
            <a:schemeClr val="accent1"/>
          </a:effectRef>
          <a:fontRef idx="minor">
            <a:schemeClr val="tx1"/>
          </a:fontRef>
        </p:style>
      </p:cxnSp>
      <p:sp>
        <p:nvSpPr>
          <p:cNvPr id="57" name="TextBox 56">
            <a:extLst>
              <a:ext uri="{FF2B5EF4-FFF2-40B4-BE49-F238E27FC236}">
                <a16:creationId xmlns:a16="http://schemas.microsoft.com/office/drawing/2014/main" id="{F3C79BC0-4D1C-4762-A7C3-EAE8A6F4C18C}"/>
              </a:ext>
            </a:extLst>
          </p:cNvPr>
          <p:cNvSpPr txBox="1"/>
          <p:nvPr/>
        </p:nvSpPr>
        <p:spPr>
          <a:xfrm>
            <a:off x="115613" y="1260829"/>
            <a:ext cx="2659117" cy="1292662"/>
          </a:xfrm>
          <a:prstGeom prst="rect">
            <a:avLst/>
          </a:prstGeom>
          <a:noFill/>
        </p:spPr>
        <p:txBody>
          <a:bodyPr wrap="square" rtlCol="0">
            <a:spAutoFit/>
          </a:bodyPr>
          <a:lstStyle/>
          <a:p>
            <a:r>
              <a:rPr lang="en-US" sz="2400" b="1" dirty="0"/>
              <a:t>Early marine stage:</a:t>
            </a:r>
          </a:p>
          <a:p>
            <a:r>
              <a:rPr lang="en-US" dirty="0"/>
              <a:t>&lt;June smolt </a:t>
            </a:r>
            <a:r>
              <a:rPr lang="en-US" dirty="0" err="1"/>
              <a:t>mig</a:t>
            </a:r>
            <a:r>
              <a:rPr lang="en-US" dirty="0"/>
              <a:t> </a:t>
            </a:r>
            <a:r>
              <a:rPr lang="en-US" dirty="0" err="1"/>
              <a:t>yr</a:t>
            </a:r>
            <a:endParaRPr lang="en-US" dirty="0"/>
          </a:p>
          <a:p>
            <a:r>
              <a:rPr lang="en-US" dirty="0"/>
              <a:t>Data from</a:t>
            </a:r>
          </a:p>
          <a:p>
            <a:r>
              <a:rPr lang="en-US" dirty="0"/>
              <a:t>JSOES survey</a:t>
            </a:r>
            <a:endParaRPr lang="en-US" b="1" dirty="0"/>
          </a:p>
        </p:txBody>
      </p:sp>
      <p:grpSp>
        <p:nvGrpSpPr>
          <p:cNvPr id="64" name="Group 63">
            <a:extLst>
              <a:ext uri="{FF2B5EF4-FFF2-40B4-BE49-F238E27FC236}">
                <a16:creationId xmlns:a16="http://schemas.microsoft.com/office/drawing/2014/main" id="{320473D0-B838-4AA9-8CE8-0A547BC39A71}"/>
              </a:ext>
            </a:extLst>
          </p:cNvPr>
          <p:cNvGrpSpPr/>
          <p:nvPr/>
        </p:nvGrpSpPr>
        <p:grpSpPr>
          <a:xfrm>
            <a:off x="236482" y="3446080"/>
            <a:ext cx="10978056" cy="3189890"/>
            <a:chOff x="236482" y="3446080"/>
            <a:chExt cx="10978056" cy="3189890"/>
          </a:xfrm>
        </p:grpSpPr>
        <p:sp>
          <p:nvSpPr>
            <p:cNvPr id="74" name="TextBox 73">
              <a:extLst>
                <a:ext uri="{FF2B5EF4-FFF2-40B4-BE49-F238E27FC236}">
                  <a16:creationId xmlns:a16="http://schemas.microsoft.com/office/drawing/2014/main" id="{B038F940-3859-43A8-8FDF-7553701F6E61}"/>
                </a:ext>
              </a:extLst>
            </p:cNvPr>
            <p:cNvSpPr txBox="1"/>
            <p:nvPr/>
          </p:nvSpPr>
          <p:spPr>
            <a:xfrm>
              <a:off x="236482" y="4461230"/>
              <a:ext cx="3400097" cy="1569660"/>
            </a:xfrm>
            <a:prstGeom prst="rect">
              <a:avLst/>
            </a:prstGeom>
            <a:noFill/>
          </p:spPr>
          <p:txBody>
            <a:bodyPr wrap="square" rtlCol="0">
              <a:spAutoFit/>
            </a:bodyPr>
            <a:lstStyle/>
            <a:p>
              <a:r>
                <a:rPr lang="en-US" sz="2400" b="1" dirty="0"/>
                <a:t>Late marine stage:</a:t>
              </a:r>
            </a:p>
            <a:p>
              <a:r>
                <a:rPr lang="en-US" dirty="0"/>
                <a:t>&gt;June smolt </a:t>
              </a:r>
              <a:r>
                <a:rPr lang="en-US" dirty="0" err="1"/>
                <a:t>mig</a:t>
              </a:r>
              <a:r>
                <a:rPr lang="en-US" dirty="0"/>
                <a:t> </a:t>
              </a:r>
              <a:r>
                <a:rPr lang="en-US" dirty="0" err="1"/>
                <a:t>yr</a:t>
              </a:r>
              <a:endParaRPr lang="en-US" dirty="0"/>
            </a:p>
            <a:p>
              <a:r>
                <a:rPr lang="en-US" dirty="0"/>
                <a:t>Data from</a:t>
              </a:r>
            </a:p>
            <a:p>
              <a:r>
                <a:rPr lang="en-US" dirty="0"/>
                <a:t>BC/AK surveys</a:t>
              </a:r>
            </a:p>
            <a:p>
              <a:r>
                <a:rPr lang="en-US" dirty="0"/>
                <a:t>Columbia River mammals</a:t>
              </a:r>
            </a:p>
          </p:txBody>
        </p:sp>
        <p:sp>
          <p:nvSpPr>
            <p:cNvPr id="13" name="TextBox 12">
              <a:extLst>
                <a:ext uri="{FF2B5EF4-FFF2-40B4-BE49-F238E27FC236}">
                  <a16:creationId xmlns:a16="http://schemas.microsoft.com/office/drawing/2014/main" id="{2D20AD81-CC00-4E0F-B5D0-C21A1AE93917}"/>
                </a:ext>
              </a:extLst>
            </p:cNvPr>
            <p:cNvSpPr txBox="1"/>
            <p:nvPr/>
          </p:nvSpPr>
          <p:spPr>
            <a:xfrm>
              <a:off x="4203297" y="4252606"/>
              <a:ext cx="3060192" cy="646331"/>
            </a:xfrm>
            <a:prstGeom prst="rect">
              <a:avLst/>
            </a:prstGeom>
            <a:noFill/>
            <a:ln w="38100">
              <a:solidFill>
                <a:schemeClr val="accent1"/>
              </a:solidFill>
            </a:ln>
          </p:spPr>
          <p:txBody>
            <a:bodyPr wrap="square" rtlCol="0">
              <a:spAutoFit/>
            </a:bodyPr>
            <a:lstStyle/>
            <a:p>
              <a:pPr algn="ctr"/>
              <a:r>
                <a:rPr lang="en-US" dirty="0"/>
                <a:t>Smolt to Adult Return </a:t>
              </a:r>
            </a:p>
            <a:p>
              <a:pPr algn="ctr"/>
              <a:r>
                <a:rPr lang="en-US" dirty="0"/>
                <a:t>(BON-BON, </a:t>
              </a:r>
              <a:r>
                <a:rPr lang="en-US" dirty="0" err="1"/>
                <a:t>pittagged</a:t>
              </a:r>
              <a:r>
                <a:rPr lang="en-US" dirty="0"/>
                <a:t> SR+UC)</a:t>
              </a:r>
            </a:p>
          </p:txBody>
        </p:sp>
        <p:sp>
          <p:nvSpPr>
            <p:cNvPr id="32" name="TextBox 31">
              <a:extLst>
                <a:ext uri="{FF2B5EF4-FFF2-40B4-BE49-F238E27FC236}">
                  <a16:creationId xmlns:a16="http://schemas.microsoft.com/office/drawing/2014/main" id="{CE983203-4B84-4846-BDE4-2723ABC07287}"/>
                </a:ext>
              </a:extLst>
            </p:cNvPr>
            <p:cNvSpPr txBox="1"/>
            <p:nvPr/>
          </p:nvSpPr>
          <p:spPr>
            <a:xfrm>
              <a:off x="2463835" y="5294268"/>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2B855D52-24C7-4943-B5FC-64EE52AF9766}"/>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5" name="Straight Arrow Connector 44">
              <a:extLst>
                <a:ext uri="{FF2B5EF4-FFF2-40B4-BE49-F238E27FC236}">
                  <a16:creationId xmlns:a16="http://schemas.microsoft.com/office/drawing/2014/main" id="{7D07D6EC-14D7-4B3A-B00A-F0ACA23A9BB3}"/>
                </a:ext>
              </a:extLst>
            </p:cNvPr>
            <p:cNvCxnSpPr>
              <a:cxnSpLocks/>
              <a:stCxn id="32" idx="3"/>
              <a:endCxn id="13" idx="1"/>
            </p:cNvCxnSpPr>
            <p:nvPr/>
          </p:nvCxnSpPr>
          <p:spPr>
            <a:xfrm flipV="1">
              <a:off x="3315671" y="4575772"/>
              <a:ext cx="887626" cy="9031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5BF4B97-4F66-4A82-A728-C93D879DDF8A}"/>
                </a:ext>
              </a:extLst>
            </p:cNvPr>
            <p:cNvCxnSpPr>
              <a:cxnSpLocks/>
              <a:stCxn id="33" idx="3"/>
              <a:endCxn id="13" idx="1"/>
            </p:cNvCxnSpPr>
            <p:nvPr/>
          </p:nvCxnSpPr>
          <p:spPr>
            <a:xfrm flipV="1">
              <a:off x="3391843" y="4575772"/>
              <a:ext cx="811454" cy="17222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D2D45C43-AD82-4FC7-BB4F-74CBAE49B21A}"/>
                </a:ext>
              </a:extLst>
            </p:cNvPr>
            <p:cNvPicPr>
              <a:picLocks noChangeAspect="1"/>
            </p:cNvPicPr>
            <p:nvPr/>
          </p:nvPicPr>
          <p:blipFill rotWithShape="1">
            <a:blip r:embed="rId5">
              <a:extLst>
                <a:ext uri="{28A0092B-C50C-407E-A947-70E740481C1C}">
                  <a14:useLocalDpi xmlns:a14="http://schemas.microsoft.com/office/drawing/2010/main" val="0"/>
                </a:ext>
              </a:extLst>
            </a:blip>
            <a:srcRect l="7439" r="2682"/>
            <a:stretch/>
          </p:blipFill>
          <p:spPr>
            <a:xfrm>
              <a:off x="7735614" y="3446080"/>
              <a:ext cx="3478924" cy="3189890"/>
            </a:xfrm>
            <a:prstGeom prst="rect">
              <a:avLst/>
            </a:prstGeom>
          </p:spPr>
        </p:pic>
      </p:grpSp>
    </p:spTree>
    <p:custDataLst>
      <p:tags r:id="rId1"/>
    </p:custDataLst>
    <p:extLst>
      <p:ext uri="{BB962C8B-B14F-4D97-AF65-F5344CB8AC3E}">
        <p14:creationId xmlns:p14="http://schemas.microsoft.com/office/powerpoint/2010/main" val="1288505209"/>
      </p:ext>
    </p:extLst>
  </p:cSld>
  <p:clrMapOvr>
    <a:masterClrMapping/>
  </p:clrMapOvr>
  <mc:AlternateContent xmlns:mc="http://schemas.openxmlformats.org/markup-compatibility/2006" xmlns:p14="http://schemas.microsoft.com/office/powerpoint/2010/main">
    <mc:Choice Requires="p14">
      <p:transition spd="slow" p14:dur="2000" advTm="87776"/>
    </mc:Choice>
    <mc:Fallback xmlns="">
      <p:transition spd="slow" advTm="877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0000">
              <a:srgbClr val="92B5DB"/>
            </a:gs>
            <a:gs pos="0">
              <a:srgbClr val="758CAA"/>
            </a:gs>
            <a:gs pos="100000">
              <a:schemeClr val="bg2">
                <a:shade val="80000"/>
              </a:schemeClr>
            </a:gs>
          </a:gsLst>
          <a:path path="rect">
            <a:fillToRect l="100000" b="100000"/>
          </a:path>
          <a:tileRect t="-100000" r="-100000"/>
        </a:gradFill>
        <a:effectLst/>
      </p:bgPr>
    </p:bg>
    <p:spTree>
      <p:nvGrpSpPr>
        <p:cNvPr id="1" name="">
          <a:extLst>
            <a:ext uri="{FF2B5EF4-FFF2-40B4-BE49-F238E27FC236}">
              <a16:creationId xmlns:a16="http://schemas.microsoft.com/office/drawing/2014/main" id="{F1737EE0-3187-C6F1-45A6-1889CB11F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4DD14-0E36-C313-B962-4C04F9A30BED}"/>
              </a:ext>
            </a:extLst>
          </p:cNvPr>
          <p:cNvSpPr>
            <a:spLocks noGrp="1"/>
          </p:cNvSpPr>
          <p:nvPr>
            <p:ph type="title"/>
          </p:nvPr>
        </p:nvSpPr>
        <p:spPr>
          <a:xfrm>
            <a:off x="262759" y="0"/>
            <a:ext cx="10058400" cy="848517"/>
          </a:xfrm>
        </p:spPr>
        <p:txBody>
          <a:bodyPr>
            <a:normAutofit/>
          </a:bodyPr>
          <a:lstStyle/>
          <a:p>
            <a:pPr algn="ctr"/>
            <a:r>
              <a:rPr lang="en-US" dirty="0"/>
              <a:t>Model structure</a:t>
            </a:r>
          </a:p>
        </p:txBody>
      </p:sp>
      <p:sp>
        <p:nvSpPr>
          <p:cNvPr id="3" name="TextBox 2">
            <a:extLst>
              <a:ext uri="{FF2B5EF4-FFF2-40B4-BE49-F238E27FC236}">
                <a16:creationId xmlns:a16="http://schemas.microsoft.com/office/drawing/2014/main" id="{E38EAC02-0DA3-ADB9-0AAB-CBF2F3DC0274}"/>
              </a:ext>
            </a:extLst>
          </p:cNvPr>
          <p:cNvSpPr txBox="1"/>
          <p:nvPr/>
        </p:nvSpPr>
        <p:spPr>
          <a:xfrm>
            <a:off x="4313025" y="1533790"/>
            <a:ext cx="284073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12" name="TextBox 11">
            <a:extLst>
              <a:ext uri="{FF2B5EF4-FFF2-40B4-BE49-F238E27FC236}">
                <a16:creationId xmlns:a16="http://schemas.microsoft.com/office/drawing/2014/main" id="{B09FE7DF-A425-2CA4-B536-D2BD092B70A1}"/>
              </a:ext>
            </a:extLst>
          </p:cNvPr>
          <p:cNvSpPr txBox="1"/>
          <p:nvPr/>
        </p:nvSpPr>
        <p:spPr>
          <a:xfrm>
            <a:off x="4172817" y="2893198"/>
            <a:ext cx="3121152" cy="369332"/>
          </a:xfrm>
          <a:prstGeom prst="rect">
            <a:avLst/>
          </a:prstGeom>
          <a:noFill/>
          <a:ln w="38100">
            <a:solidFill>
              <a:schemeClr val="accent1"/>
            </a:solidFill>
          </a:ln>
        </p:spPr>
        <p:txBody>
          <a:bodyPr wrap="square" rtlCol="0">
            <a:spAutoFit/>
          </a:bodyPr>
          <a:lstStyle/>
          <a:p>
            <a:pPr algn="ctr"/>
            <a:r>
              <a:rPr lang="en-US" dirty="0"/>
              <a:t>Early Marine Survival </a:t>
            </a:r>
          </a:p>
        </p:txBody>
      </p:sp>
      <p:sp>
        <p:nvSpPr>
          <p:cNvPr id="17" name="TextBox 16">
            <a:extLst>
              <a:ext uri="{FF2B5EF4-FFF2-40B4-BE49-F238E27FC236}">
                <a16:creationId xmlns:a16="http://schemas.microsoft.com/office/drawing/2014/main" id="{5861DCAF-5640-8C1C-456B-4E626FA6623C}"/>
              </a:ext>
            </a:extLst>
          </p:cNvPr>
          <p:cNvSpPr txBox="1"/>
          <p:nvPr/>
        </p:nvSpPr>
        <p:spPr>
          <a:xfrm>
            <a:off x="5331057" y="96076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32BF2CF6-D2AF-7802-5011-5EFF5397840E}"/>
              </a:ext>
            </a:extLst>
          </p:cNvPr>
          <p:cNvCxnSpPr>
            <a:cxnSpLocks/>
            <a:stCxn id="3" idx="2"/>
            <a:endCxn id="12" idx="0"/>
          </p:cNvCxnSpPr>
          <p:nvPr/>
        </p:nvCxnSpPr>
        <p:spPr>
          <a:xfrm>
            <a:off x="5733393" y="1903122"/>
            <a:ext cx="0"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AA85307-349D-D0F9-8E01-B4D2BA4113EC}"/>
              </a:ext>
            </a:extLst>
          </p:cNvPr>
          <p:cNvCxnSpPr>
            <a:cxnSpLocks/>
            <a:stCxn id="12" idx="2"/>
            <a:endCxn id="13" idx="0"/>
          </p:cNvCxnSpPr>
          <p:nvPr/>
        </p:nvCxnSpPr>
        <p:spPr>
          <a:xfrm>
            <a:off x="5733393" y="3262530"/>
            <a:ext cx="0"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823D427-8D18-5C7B-8992-37AC57BDC359}"/>
              </a:ext>
            </a:extLst>
          </p:cNvPr>
          <p:cNvSpPr txBox="1"/>
          <p:nvPr/>
        </p:nvSpPr>
        <p:spPr>
          <a:xfrm>
            <a:off x="2343176" y="1810789"/>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9C62FE04-ADAC-7A1D-D255-66A0D9F4841F}"/>
              </a:ext>
            </a:extLst>
          </p:cNvPr>
          <p:cNvSpPr txBox="1"/>
          <p:nvPr/>
        </p:nvSpPr>
        <p:spPr>
          <a:xfrm>
            <a:off x="1970689" y="253835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6DF93A68-219F-123A-9BE0-AC9C5480FA3C}"/>
              </a:ext>
            </a:extLst>
          </p:cNvPr>
          <p:cNvCxnSpPr>
            <a:cxnSpLocks/>
            <a:stCxn id="30" idx="3"/>
            <a:endCxn id="3" idx="1"/>
          </p:cNvCxnSpPr>
          <p:nvPr/>
        </p:nvCxnSpPr>
        <p:spPr>
          <a:xfrm flipV="1">
            <a:off x="3337679" y="1718456"/>
            <a:ext cx="975346" cy="276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FBB2D44-8B8F-4314-1B9F-85128501B615}"/>
              </a:ext>
            </a:extLst>
          </p:cNvPr>
          <p:cNvCxnSpPr>
            <a:cxnSpLocks/>
            <a:stCxn id="31" idx="3"/>
            <a:endCxn id="12" idx="1"/>
          </p:cNvCxnSpPr>
          <p:nvPr/>
        </p:nvCxnSpPr>
        <p:spPr>
          <a:xfrm>
            <a:off x="3455263" y="2723016"/>
            <a:ext cx="717554" cy="3548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5233E36-4142-73DD-E692-4690336676F2}"/>
              </a:ext>
            </a:extLst>
          </p:cNvPr>
          <p:cNvSpPr txBox="1"/>
          <p:nvPr/>
        </p:nvSpPr>
        <p:spPr>
          <a:xfrm>
            <a:off x="10622403" y="6581001"/>
            <a:ext cx="1569597" cy="276999"/>
          </a:xfrm>
          <a:prstGeom prst="rect">
            <a:avLst/>
          </a:prstGeom>
          <a:noFill/>
        </p:spPr>
        <p:txBody>
          <a:bodyPr wrap="none" rtlCol="0">
            <a:spAutoFit/>
          </a:bodyPr>
          <a:lstStyle/>
          <a:p>
            <a:r>
              <a:rPr lang="en-US" sz="1200" dirty="0"/>
              <a:t>Photo: usace.army.mil</a:t>
            </a:r>
          </a:p>
        </p:txBody>
      </p:sp>
      <p:cxnSp>
        <p:nvCxnSpPr>
          <p:cNvPr id="49" name="Straight Connector 48">
            <a:extLst>
              <a:ext uri="{FF2B5EF4-FFF2-40B4-BE49-F238E27FC236}">
                <a16:creationId xmlns:a16="http://schemas.microsoft.com/office/drawing/2014/main" id="{64AC1781-EFD3-4DA3-AE6C-0BB8BCEAFE67}"/>
              </a:ext>
            </a:extLst>
          </p:cNvPr>
          <p:cNvCxnSpPr>
            <a:cxnSpLocks/>
          </p:cNvCxnSpPr>
          <p:nvPr/>
        </p:nvCxnSpPr>
        <p:spPr>
          <a:xfrm>
            <a:off x="1051034" y="3962400"/>
            <a:ext cx="10631771" cy="82475"/>
          </a:xfrm>
          <a:prstGeom prst="line">
            <a:avLst/>
          </a:prstGeom>
          <a:ln>
            <a:solidFill>
              <a:schemeClr val="accent2">
                <a:lumMod val="75000"/>
              </a:schemeClr>
            </a:solidFill>
          </a:ln>
        </p:spPr>
        <p:style>
          <a:lnRef idx="3">
            <a:schemeClr val="accent1"/>
          </a:lnRef>
          <a:fillRef idx="0">
            <a:schemeClr val="accent1"/>
          </a:fillRef>
          <a:effectRef idx="2">
            <a:schemeClr val="accent1"/>
          </a:effectRef>
          <a:fontRef idx="minor">
            <a:schemeClr val="tx1"/>
          </a:fontRef>
        </p:style>
      </p:cxnSp>
      <p:sp>
        <p:nvSpPr>
          <p:cNvPr id="57" name="TextBox 56">
            <a:extLst>
              <a:ext uri="{FF2B5EF4-FFF2-40B4-BE49-F238E27FC236}">
                <a16:creationId xmlns:a16="http://schemas.microsoft.com/office/drawing/2014/main" id="{5DE56373-DA1F-20CC-89FA-07A7A606533F}"/>
              </a:ext>
            </a:extLst>
          </p:cNvPr>
          <p:cNvSpPr txBox="1"/>
          <p:nvPr/>
        </p:nvSpPr>
        <p:spPr>
          <a:xfrm>
            <a:off x="115613" y="1260829"/>
            <a:ext cx="2659117" cy="1292662"/>
          </a:xfrm>
          <a:prstGeom prst="rect">
            <a:avLst/>
          </a:prstGeom>
          <a:noFill/>
        </p:spPr>
        <p:txBody>
          <a:bodyPr wrap="square" rtlCol="0">
            <a:spAutoFit/>
          </a:bodyPr>
          <a:lstStyle/>
          <a:p>
            <a:r>
              <a:rPr lang="en-US" sz="2400" b="1" dirty="0"/>
              <a:t>Early marine stage:</a:t>
            </a:r>
          </a:p>
          <a:p>
            <a:r>
              <a:rPr lang="en-US" dirty="0"/>
              <a:t>&lt;June smolt </a:t>
            </a:r>
            <a:r>
              <a:rPr lang="en-US" dirty="0" err="1"/>
              <a:t>mig</a:t>
            </a:r>
            <a:r>
              <a:rPr lang="en-US" dirty="0"/>
              <a:t> </a:t>
            </a:r>
            <a:r>
              <a:rPr lang="en-US" dirty="0" err="1"/>
              <a:t>yr</a:t>
            </a:r>
            <a:endParaRPr lang="en-US" dirty="0"/>
          </a:p>
          <a:p>
            <a:r>
              <a:rPr lang="en-US" dirty="0"/>
              <a:t>Data from</a:t>
            </a:r>
          </a:p>
          <a:p>
            <a:r>
              <a:rPr lang="en-US" dirty="0"/>
              <a:t>JSOES survey</a:t>
            </a:r>
            <a:endParaRPr lang="en-US" b="1" dirty="0"/>
          </a:p>
        </p:txBody>
      </p:sp>
      <p:grpSp>
        <p:nvGrpSpPr>
          <p:cNvPr id="64" name="Group 63">
            <a:extLst>
              <a:ext uri="{FF2B5EF4-FFF2-40B4-BE49-F238E27FC236}">
                <a16:creationId xmlns:a16="http://schemas.microsoft.com/office/drawing/2014/main" id="{C69F19A4-2D8A-0626-4060-D7F3819F7EB8}"/>
              </a:ext>
            </a:extLst>
          </p:cNvPr>
          <p:cNvGrpSpPr/>
          <p:nvPr/>
        </p:nvGrpSpPr>
        <p:grpSpPr>
          <a:xfrm>
            <a:off x="236482" y="4252606"/>
            <a:ext cx="7027007" cy="2230065"/>
            <a:chOff x="236482" y="4252606"/>
            <a:chExt cx="7027007" cy="2230065"/>
          </a:xfrm>
        </p:grpSpPr>
        <p:sp>
          <p:nvSpPr>
            <p:cNvPr id="74" name="TextBox 73">
              <a:extLst>
                <a:ext uri="{FF2B5EF4-FFF2-40B4-BE49-F238E27FC236}">
                  <a16:creationId xmlns:a16="http://schemas.microsoft.com/office/drawing/2014/main" id="{D979F360-E9B6-D295-FC21-DD9539F3D44E}"/>
                </a:ext>
              </a:extLst>
            </p:cNvPr>
            <p:cNvSpPr txBox="1"/>
            <p:nvPr/>
          </p:nvSpPr>
          <p:spPr>
            <a:xfrm>
              <a:off x="236482" y="4461230"/>
              <a:ext cx="3400097" cy="1569660"/>
            </a:xfrm>
            <a:prstGeom prst="rect">
              <a:avLst/>
            </a:prstGeom>
            <a:noFill/>
          </p:spPr>
          <p:txBody>
            <a:bodyPr wrap="square" rtlCol="0">
              <a:spAutoFit/>
            </a:bodyPr>
            <a:lstStyle/>
            <a:p>
              <a:r>
                <a:rPr lang="en-US" sz="2400" b="1" dirty="0"/>
                <a:t>Late marine stage:</a:t>
              </a:r>
            </a:p>
            <a:p>
              <a:r>
                <a:rPr lang="en-US" dirty="0"/>
                <a:t>&gt;June smolt </a:t>
              </a:r>
              <a:r>
                <a:rPr lang="en-US" dirty="0" err="1"/>
                <a:t>mig</a:t>
              </a:r>
              <a:r>
                <a:rPr lang="en-US" dirty="0"/>
                <a:t> </a:t>
              </a:r>
              <a:r>
                <a:rPr lang="en-US" dirty="0" err="1"/>
                <a:t>yr</a:t>
              </a:r>
              <a:endParaRPr lang="en-US" dirty="0"/>
            </a:p>
            <a:p>
              <a:r>
                <a:rPr lang="en-US" dirty="0"/>
                <a:t>Data from</a:t>
              </a:r>
            </a:p>
            <a:p>
              <a:r>
                <a:rPr lang="en-US" dirty="0"/>
                <a:t>BC/AK surveys</a:t>
              </a:r>
            </a:p>
            <a:p>
              <a:r>
                <a:rPr lang="en-US" dirty="0"/>
                <a:t>Columbia River mammals</a:t>
              </a:r>
            </a:p>
          </p:txBody>
        </p:sp>
        <p:sp>
          <p:nvSpPr>
            <p:cNvPr id="13" name="TextBox 12">
              <a:extLst>
                <a:ext uri="{FF2B5EF4-FFF2-40B4-BE49-F238E27FC236}">
                  <a16:creationId xmlns:a16="http://schemas.microsoft.com/office/drawing/2014/main" id="{559B6CCA-CFAF-DB94-D53B-D3F9DF30AB8D}"/>
                </a:ext>
              </a:extLst>
            </p:cNvPr>
            <p:cNvSpPr txBox="1"/>
            <p:nvPr/>
          </p:nvSpPr>
          <p:spPr>
            <a:xfrm>
              <a:off x="4203297" y="4252606"/>
              <a:ext cx="306019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32" name="TextBox 31">
              <a:extLst>
                <a:ext uri="{FF2B5EF4-FFF2-40B4-BE49-F238E27FC236}">
                  <a16:creationId xmlns:a16="http://schemas.microsoft.com/office/drawing/2014/main" id="{AA9E2D7D-DE9F-7D4F-8054-0366F8C34AB7}"/>
                </a:ext>
              </a:extLst>
            </p:cNvPr>
            <p:cNvSpPr txBox="1"/>
            <p:nvPr/>
          </p:nvSpPr>
          <p:spPr>
            <a:xfrm>
              <a:off x="2463835" y="5294268"/>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3F891018-4706-5D27-32F1-79DC58546569}"/>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5" name="Straight Arrow Connector 44">
              <a:extLst>
                <a:ext uri="{FF2B5EF4-FFF2-40B4-BE49-F238E27FC236}">
                  <a16:creationId xmlns:a16="http://schemas.microsoft.com/office/drawing/2014/main" id="{7165AB89-C34D-880C-FDA9-1F3F7FC56FD0}"/>
                </a:ext>
              </a:extLst>
            </p:cNvPr>
            <p:cNvCxnSpPr>
              <a:cxnSpLocks/>
              <a:stCxn id="32" idx="3"/>
              <a:endCxn id="13" idx="1"/>
            </p:cNvCxnSpPr>
            <p:nvPr/>
          </p:nvCxnSpPr>
          <p:spPr>
            <a:xfrm flipV="1">
              <a:off x="3315671" y="4437272"/>
              <a:ext cx="887626" cy="1041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585C89F-D3BB-221E-D93D-D95385511C54}"/>
                </a:ext>
              </a:extLst>
            </p:cNvPr>
            <p:cNvCxnSpPr>
              <a:cxnSpLocks/>
              <a:stCxn id="33" idx="3"/>
              <a:endCxn id="13" idx="1"/>
            </p:cNvCxnSpPr>
            <p:nvPr/>
          </p:nvCxnSpPr>
          <p:spPr>
            <a:xfrm flipV="1">
              <a:off x="3391843" y="4437272"/>
              <a:ext cx="811454" cy="18607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4B6713BF-229B-DE9C-2021-94420D369642}"/>
              </a:ext>
            </a:extLst>
          </p:cNvPr>
          <p:cNvSpPr txBox="1"/>
          <p:nvPr/>
        </p:nvSpPr>
        <p:spPr>
          <a:xfrm>
            <a:off x="8197328" y="2387590"/>
            <a:ext cx="157061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5" name="TextBox 4">
            <a:extLst>
              <a:ext uri="{FF2B5EF4-FFF2-40B4-BE49-F238E27FC236}">
                <a16:creationId xmlns:a16="http://schemas.microsoft.com/office/drawing/2014/main" id="{E7DE98D4-C3B5-D49C-1640-887E00C06F79}"/>
              </a:ext>
            </a:extLst>
          </p:cNvPr>
          <p:cNvSpPr txBox="1"/>
          <p:nvPr/>
        </p:nvSpPr>
        <p:spPr>
          <a:xfrm>
            <a:off x="10229371" y="2387590"/>
            <a:ext cx="1582525" cy="369332"/>
          </a:xfrm>
          <a:prstGeom prst="rect">
            <a:avLst/>
          </a:prstGeom>
          <a:noFill/>
          <a:ln w="38100">
            <a:solidFill>
              <a:schemeClr val="accent1"/>
            </a:solidFill>
          </a:ln>
        </p:spPr>
        <p:txBody>
          <a:bodyPr wrap="square" rtlCol="0">
            <a:spAutoFit/>
          </a:bodyPr>
          <a:lstStyle/>
          <a:p>
            <a:pPr algn="ctr"/>
            <a:r>
              <a:rPr lang="en-US" dirty="0"/>
              <a:t>Early Survival </a:t>
            </a:r>
          </a:p>
        </p:txBody>
      </p:sp>
      <p:cxnSp>
        <p:nvCxnSpPr>
          <p:cNvPr id="6" name="Straight Arrow Connector 5">
            <a:extLst>
              <a:ext uri="{FF2B5EF4-FFF2-40B4-BE49-F238E27FC236}">
                <a16:creationId xmlns:a16="http://schemas.microsoft.com/office/drawing/2014/main" id="{5221BF3F-E68B-5AAD-263F-D52C1F81112D}"/>
              </a:ext>
            </a:extLst>
          </p:cNvPr>
          <p:cNvCxnSpPr>
            <a:cxnSpLocks/>
            <a:stCxn id="4" idx="2"/>
            <a:endCxn id="40" idx="0"/>
          </p:cNvCxnSpPr>
          <p:nvPr/>
        </p:nvCxnSpPr>
        <p:spPr>
          <a:xfrm>
            <a:off x="8982636" y="2756922"/>
            <a:ext cx="1301048"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777D0C7-3105-B023-0C77-DC9B299F944C}"/>
              </a:ext>
            </a:extLst>
          </p:cNvPr>
          <p:cNvCxnSpPr>
            <a:cxnSpLocks/>
            <a:stCxn id="5" idx="2"/>
            <a:endCxn id="40" idx="0"/>
          </p:cNvCxnSpPr>
          <p:nvPr/>
        </p:nvCxnSpPr>
        <p:spPr>
          <a:xfrm flipH="1">
            <a:off x="10283684" y="2756922"/>
            <a:ext cx="736950"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E26D02-6EEA-6C4D-4FBE-9840F1138941}"/>
              </a:ext>
            </a:extLst>
          </p:cNvPr>
          <p:cNvSpPr txBox="1"/>
          <p:nvPr/>
        </p:nvSpPr>
        <p:spPr>
          <a:xfrm>
            <a:off x="7794495" y="1703215"/>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9" name="TextBox 8">
            <a:extLst>
              <a:ext uri="{FF2B5EF4-FFF2-40B4-BE49-F238E27FC236}">
                <a16:creationId xmlns:a16="http://schemas.microsoft.com/office/drawing/2014/main" id="{FD80C2FF-5836-AC14-B64B-6F43636D91A5}"/>
              </a:ext>
            </a:extLst>
          </p:cNvPr>
          <p:cNvSpPr txBox="1"/>
          <p:nvPr/>
        </p:nvSpPr>
        <p:spPr>
          <a:xfrm>
            <a:off x="10555291" y="1688497"/>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10" name="Straight Arrow Connector 9">
            <a:extLst>
              <a:ext uri="{FF2B5EF4-FFF2-40B4-BE49-F238E27FC236}">
                <a16:creationId xmlns:a16="http://schemas.microsoft.com/office/drawing/2014/main" id="{5E17AF78-88AB-1F83-0417-2842A2843355}"/>
              </a:ext>
            </a:extLst>
          </p:cNvPr>
          <p:cNvCxnSpPr>
            <a:cxnSpLocks/>
            <a:stCxn id="8" idx="2"/>
            <a:endCxn id="4" idx="0"/>
          </p:cNvCxnSpPr>
          <p:nvPr/>
        </p:nvCxnSpPr>
        <p:spPr>
          <a:xfrm>
            <a:off x="8291747" y="2072547"/>
            <a:ext cx="690889" cy="31504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2676518-5565-A40C-183D-C0D909F19E55}"/>
              </a:ext>
            </a:extLst>
          </p:cNvPr>
          <p:cNvCxnSpPr>
            <a:cxnSpLocks/>
            <a:stCxn id="9" idx="2"/>
            <a:endCxn id="5" idx="0"/>
          </p:cNvCxnSpPr>
          <p:nvPr/>
        </p:nvCxnSpPr>
        <p:spPr>
          <a:xfrm flipH="1">
            <a:off x="11020634" y="2057829"/>
            <a:ext cx="276944" cy="3297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DBBE5D7E-4D14-3906-EEA6-C6DF874DAB86}"/>
              </a:ext>
            </a:extLst>
          </p:cNvPr>
          <p:cNvGrpSpPr/>
          <p:nvPr/>
        </p:nvGrpSpPr>
        <p:grpSpPr>
          <a:xfrm>
            <a:off x="7368988" y="4297429"/>
            <a:ext cx="4195483" cy="2230065"/>
            <a:chOff x="1930209" y="4252606"/>
            <a:chExt cx="5836740" cy="2230065"/>
          </a:xfrm>
        </p:grpSpPr>
        <p:sp>
          <p:nvSpPr>
            <p:cNvPr id="40" name="TextBox 39">
              <a:extLst>
                <a:ext uri="{FF2B5EF4-FFF2-40B4-BE49-F238E27FC236}">
                  <a16:creationId xmlns:a16="http://schemas.microsoft.com/office/drawing/2014/main" id="{10B2F974-2218-AA57-B49C-7F5E69BD5E97}"/>
                </a:ext>
              </a:extLst>
            </p:cNvPr>
            <p:cNvSpPr txBox="1"/>
            <p:nvPr/>
          </p:nvSpPr>
          <p:spPr>
            <a:xfrm>
              <a:off x="4203297" y="4252606"/>
              <a:ext cx="356365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41" name="TextBox 40">
              <a:extLst>
                <a:ext uri="{FF2B5EF4-FFF2-40B4-BE49-F238E27FC236}">
                  <a16:creationId xmlns:a16="http://schemas.microsoft.com/office/drawing/2014/main" id="{CD76664B-09DC-A93F-E412-C956D0207864}"/>
                </a:ext>
              </a:extLst>
            </p:cNvPr>
            <p:cNvSpPr txBox="1"/>
            <p:nvPr/>
          </p:nvSpPr>
          <p:spPr>
            <a:xfrm>
              <a:off x="1930209" y="5025327"/>
              <a:ext cx="1346941" cy="369332"/>
            </a:xfrm>
            <a:prstGeom prst="rect">
              <a:avLst/>
            </a:prstGeom>
            <a:noFill/>
          </p:spPr>
          <p:txBody>
            <a:bodyPr wrap="square" rtlCol="0">
              <a:spAutoFit/>
            </a:bodyPr>
            <a:lstStyle/>
            <a:p>
              <a:r>
                <a:rPr lang="en-US" dirty="0" err="1">
                  <a:highlight>
                    <a:srgbClr val="A5D197"/>
                  </a:highlight>
                </a:rPr>
                <a:t>PreyAK</a:t>
              </a:r>
              <a:endParaRPr lang="en-US" dirty="0">
                <a:highlight>
                  <a:srgbClr val="A5D197"/>
                </a:highlight>
              </a:endParaRPr>
            </a:p>
          </p:txBody>
        </p:sp>
        <p:sp>
          <p:nvSpPr>
            <p:cNvPr id="42" name="TextBox 41">
              <a:extLst>
                <a:ext uri="{FF2B5EF4-FFF2-40B4-BE49-F238E27FC236}">
                  <a16:creationId xmlns:a16="http://schemas.microsoft.com/office/drawing/2014/main" id="{AE278427-A3A3-CDB6-5BFC-B07ADA47B777}"/>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6" name="Straight Arrow Connector 45">
              <a:extLst>
                <a:ext uri="{FF2B5EF4-FFF2-40B4-BE49-F238E27FC236}">
                  <a16:creationId xmlns:a16="http://schemas.microsoft.com/office/drawing/2014/main" id="{207ECB7B-FF33-AE4D-D63A-C5D277441BF4}"/>
                </a:ext>
              </a:extLst>
            </p:cNvPr>
            <p:cNvCxnSpPr>
              <a:cxnSpLocks/>
              <a:stCxn id="41" idx="0"/>
              <a:endCxn id="40" idx="1"/>
            </p:cNvCxnSpPr>
            <p:nvPr/>
          </p:nvCxnSpPr>
          <p:spPr>
            <a:xfrm flipV="1">
              <a:off x="2603680" y="4437272"/>
              <a:ext cx="1599617" cy="5880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D7F7CC8-0C25-36A2-8F67-8C2E1154205A}"/>
                </a:ext>
              </a:extLst>
            </p:cNvPr>
            <p:cNvCxnSpPr>
              <a:cxnSpLocks/>
              <a:stCxn id="42" idx="0"/>
              <a:endCxn id="40" idx="1"/>
            </p:cNvCxnSpPr>
            <p:nvPr/>
          </p:nvCxnSpPr>
          <p:spPr>
            <a:xfrm flipV="1">
              <a:off x="2720890" y="4437272"/>
              <a:ext cx="1482407" cy="16760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54" name="TextBox 53">
            <a:extLst>
              <a:ext uri="{FF2B5EF4-FFF2-40B4-BE49-F238E27FC236}">
                <a16:creationId xmlns:a16="http://schemas.microsoft.com/office/drawing/2014/main" id="{FD3C0A71-C5E5-2622-81D1-30249A379A1E}"/>
              </a:ext>
            </a:extLst>
          </p:cNvPr>
          <p:cNvSpPr txBox="1"/>
          <p:nvPr/>
        </p:nvSpPr>
        <p:spPr>
          <a:xfrm>
            <a:off x="9259392" y="1005590"/>
            <a:ext cx="804672" cy="461665"/>
          </a:xfrm>
          <a:prstGeom prst="rect">
            <a:avLst/>
          </a:prstGeom>
          <a:noFill/>
        </p:spPr>
        <p:txBody>
          <a:bodyPr wrap="square" rtlCol="0">
            <a:spAutoFit/>
          </a:bodyPr>
          <a:lstStyle/>
          <a:p>
            <a:pPr algn="ctr"/>
            <a:r>
              <a:rPr lang="en-US" sz="2400" b="1" dirty="0"/>
              <a:t>H2</a:t>
            </a:r>
          </a:p>
        </p:txBody>
      </p:sp>
    </p:spTree>
    <p:custDataLst>
      <p:tags r:id="rId1"/>
    </p:custDataLst>
    <p:extLst>
      <p:ext uri="{BB962C8B-B14F-4D97-AF65-F5344CB8AC3E}">
        <p14:creationId xmlns:p14="http://schemas.microsoft.com/office/powerpoint/2010/main" val="115770348"/>
      </p:ext>
    </p:extLst>
  </p:cSld>
  <p:clrMapOvr>
    <a:masterClrMapping/>
  </p:clrMapOvr>
  <mc:AlternateContent xmlns:mc="http://schemas.openxmlformats.org/markup-compatibility/2006" xmlns:p14="http://schemas.microsoft.com/office/powerpoint/2010/main">
    <mc:Choice Requires="p14">
      <p:transition spd="slow" p14:dur="2000" advTm="87776"/>
    </mc:Choice>
    <mc:Fallback xmlns="">
      <p:transition spd="slow" advTm="877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D4045-9BD6-9E0E-C7BD-B4A76CE50DD4}"/>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60D32F26-AFE3-880B-49E9-9239F4E91CEA}"/>
              </a:ext>
            </a:extLst>
          </p:cNvPr>
          <p:cNvGrpSpPr/>
          <p:nvPr/>
        </p:nvGrpSpPr>
        <p:grpSpPr>
          <a:xfrm>
            <a:off x="7998372" y="2280006"/>
            <a:ext cx="4193628" cy="2795752"/>
            <a:chOff x="7998372" y="2354317"/>
            <a:chExt cx="4193628" cy="2795752"/>
          </a:xfrm>
        </p:grpSpPr>
        <p:pic>
          <p:nvPicPr>
            <p:cNvPr id="22" name="Picture 21">
              <a:extLst>
                <a:ext uri="{FF2B5EF4-FFF2-40B4-BE49-F238E27FC236}">
                  <a16:creationId xmlns:a16="http://schemas.microsoft.com/office/drawing/2014/main" id="{E6BE3A15-20B8-9CD3-668B-FBB3F9E403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8372" y="2354317"/>
              <a:ext cx="4193628" cy="2795752"/>
            </a:xfrm>
            <a:prstGeom prst="rect">
              <a:avLst/>
            </a:prstGeom>
          </p:spPr>
        </p:pic>
        <p:sp>
          <p:nvSpPr>
            <p:cNvPr id="27" name="TextBox 26">
              <a:extLst>
                <a:ext uri="{FF2B5EF4-FFF2-40B4-BE49-F238E27FC236}">
                  <a16:creationId xmlns:a16="http://schemas.microsoft.com/office/drawing/2014/main" id="{62C76073-E04C-D3ED-7F5F-C51A16E25778}"/>
                </a:ext>
              </a:extLst>
            </p:cNvPr>
            <p:cNvSpPr txBox="1"/>
            <p:nvPr/>
          </p:nvSpPr>
          <p:spPr>
            <a:xfrm>
              <a:off x="11249113" y="4277711"/>
              <a:ext cx="942887" cy="261610"/>
            </a:xfrm>
            <a:prstGeom prst="rect">
              <a:avLst/>
            </a:prstGeom>
            <a:noFill/>
          </p:spPr>
          <p:txBody>
            <a:bodyPr wrap="none" rtlCol="0">
              <a:spAutoFit/>
            </a:bodyPr>
            <a:lstStyle/>
            <a:p>
              <a:r>
                <a:rPr lang="en-US" sz="1100" dirty="0"/>
                <a:t>Photo: NOAA</a:t>
              </a:r>
            </a:p>
          </p:txBody>
        </p:sp>
      </p:grpSp>
      <p:grpSp>
        <p:nvGrpSpPr>
          <p:cNvPr id="43" name="Group 42">
            <a:extLst>
              <a:ext uri="{FF2B5EF4-FFF2-40B4-BE49-F238E27FC236}">
                <a16:creationId xmlns:a16="http://schemas.microsoft.com/office/drawing/2014/main" id="{FDCF3D61-09BB-8685-A42B-F1F72654402A}"/>
              </a:ext>
            </a:extLst>
          </p:cNvPr>
          <p:cNvGrpSpPr/>
          <p:nvPr/>
        </p:nvGrpSpPr>
        <p:grpSpPr>
          <a:xfrm>
            <a:off x="8019393" y="4394714"/>
            <a:ext cx="4235669" cy="2463286"/>
            <a:chOff x="8019393" y="4394714"/>
            <a:chExt cx="4235669" cy="2463286"/>
          </a:xfrm>
        </p:grpSpPr>
        <p:pic>
          <p:nvPicPr>
            <p:cNvPr id="38" name="Picture 37">
              <a:extLst>
                <a:ext uri="{FF2B5EF4-FFF2-40B4-BE49-F238E27FC236}">
                  <a16:creationId xmlns:a16="http://schemas.microsoft.com/office/drawing/2014/main" id="{AF380F7E-8346-1AFD-E352-FEA7C58CD6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9393" y="4394714"/>
              <a:ext cx="4172607" cy="2463285"/>
            </a:xfrm>
            <a:prstGeom prst="rect">
              <a:avLst/>
            </a:prstGeom>
          </p:spPr>
        </p:pic>
        <p:sp>
          <p:nvSpPr>
            <p:cNvPr id="39" name="TextBox 38">
              <a:extLst>
                <a:ext uri="{FF2B5EF4-FFF2-40B4-BE49-F238E27FC236}">
                  <a16:creationId xmlns:a16="http://schemas.microsoft.com/office/drawing/2014/main" id="{4E34CDE0-7B78-7F5F-0F06-7416FD71A503}"/>
                </a:ext>
              </a:extLst>
            </p:cNvPr>
            <p:cNvSpPr txBox="1"/>
            <p:nvPr/>
          </p:nvSpPr>
          <p:spPr>
            <a:xfrm>
              <a:off x="11312175" y="6596390"/>
              <a:ext cx="942887" cy="261610"/>
            </a:xfrm>
            <a:prstGeom prst="rect">
              <a:avLst/>
            </a:prstGeom>
            <a:noFill/>
          </p:spPr>
          <p:txBody>
            <a:bodyPr wrap="none" rtlCol="0">
              <a:spAutoFit/>
            </a:bodyPr>
            <a:lstStyle/>
            <a:p>
              <a:r>
                <a:rPr lang="en-US" sz="1100" dirty="0"/>
                <a:t>Photo: NOAA</a:t>
              </a:r>
            </a:p>
          </p:txBody>
        </p:sp>
      </p:grpSp>
      <p:pic>
        <p:nvPicPr>
          <p:cNvPr id="40" name="Picture 39">
            <a:extLst>
              <a:ext uri="{FF2B5EF4-FFF2-40B4-BE49-F238E27FC236}">
                <a16:creationId xmlns:a16="http://schemas.microsoft.com/office/drawing/2014/main" id="{B81278D8-BDE9-F1B9-2130-81E32440B5ED}"/>
              </a:ext>
            </a:extLst>
          </p:cNvPr>
          <p:cNvPicPr>
            <a:picLocks noChangeAspect="1"/>
          </p:cNvPicPr>
          <p:nvPr/>
        </p:nvPicPr>
        <p:blipFill rotWithShape="1">
          <a:blip r:embed="rId5">
            <a:extLst>
              <a:ext uri="{28A0092B-C50C-407E-A947-70E740481C1C}">
                <a14:useLocalDpi xmlns:a14="http://schemas.microsoft.com/office/drawing/2010/main" val="0"/>
              </a:ext>
            </a:extLst>
          </a:blip>
          <a:srcRect l="34828" t="54053" r="34827" b="8017"/>
          <a:stretch/>
        </p:blipFill>
        <p:spPr>
          <a:xfrm>
            <a:off x="0" y="92683"/>
            <a:ext cx="1629102" cy="1110751"/>
          </a:xfrm>
          <a:prstGeom prst="rect">
            <a:avLst/>
          </a:prstGeom>
        </p:spPr>
      </p:pic>
      <p:pic>
        <p:nvPicPr>
          <p:cNvPr id="19" name="Picture 18">
            <a:extLst>
              <a:ext uri="{FF2B5EF4-FFF2-40B4-BE49-F238E27FC236}">
                <a16:creationId xmlns:a16="http://schemas.microsoft.com/office/drawing/2014/main" id="{A27DCD30-DF8F-81A7-3C81-DBB1A9868F38}"/>
              </a:ext>
            </a:extLst>
          </p:cNvPr>
          <p:cNvPicPr>
            <a:picLocks noChangeAspect="1"/>
          </p:cNvPicPr>
          <p:nvPr/>
        </p:nvPicPr>
        <p:blipFill>
          <a:blip r:embed="rId6"/>
          <a:stretch>
            <a:fillRect/>
          </a:stretch>
        </p:blipFill>
        <p:spPr>
          <a:xfrm>
            <a:off x="1333162" y="4645277"/>
            <a:ext cx="127509" cy="45719"/>
          </a:xfrm>
          <a:prstGeom prst="rect">
            <a:avLst/>
          </a:prstGeom>
        </p:spPr>
      </p:pic>
      <p:grpSp>
        <p:nvGrpSpPr>
          <p:cNvPr id="45" name="Group 44">
            <a:extLst>
              <a:ext uri="{FF2B5EF4-FFF2-40B4-BE49-F238E27FC236}">
                <a16:creationId xmlns:a16="http://schemas.microsoft.com/office/drawing/2014/main" id="{966416CE-109C-771E-52A3-485F5867587C}"/>
              </a:ext>
            </a:extLst>
          </p:cNvPr>
          <p:cNvGrpSpPr/>
          <p:nvPr/>
        </p:nvGrpSpPr>
        <p:grpSpPr>
          <a:xfrm>
            <a:off x="7998372" y="599090"/>
            <a:ext cx="4193628" cy="2361051"/>
            <a:chOff x="7998372" y="599090"/>
            <a:chExt cx="4193628" cy="2361051"/>
          </a:xfrm>
        </p:grpSpPr>
        <p:pic>
          <p:nvPicPr>
            <p:cNvPr id="20" name="Picture 19">
              <a:extLst>
                <a:ext uri="{FF2B5EF4-FFF2-40B4-BE49-F238E27FC236}">
                  <a16:creationId xmlns:a16="http://schemas.microsoft.com/office/drawing/2014/main" id="{01E69ACC-ACCB-5B56-7A19-49589072EF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98372" y="599090"/>
              <a:ext cx="4193628" cy="2358916"/>
            </a:xfrm>
            <a:prstGeom prst="rect">
              <a:avLst/>
            </a:prstGeom>
          </p:spPr>
        </p:pic>
        <p:sp>
          <p:nvSpPr>
            <p:cNvPr id="28" name="TextBox 27">
              <a:extLst>
                <a:ext uri="{FF2B5EF4-FFF2-40B4-BE49-F238E27FC236}">
                  <a16:creationId xmlns:a16="http://schemas.microsoft.com/office/drawing/2014/main" id="{124F1A42-DE98-4D57-B9A6-6B62957B8527}"/>
                </a:ext>
              </a:extLst>
            </p:cNvPr>
            <p:cNvSpPr txBox="1"/>
            <p:nvPr/>
          </p:nvSpPr>
          <p:spPr>
            <a:xfrm>
              <a:off x="11255525" y="2698531"/>
              <a:ext cx="936475" cy="261610"/>
            </a:xfrm>
            <a:prstGeom prst="rect">
              <a:avLst/>
            </a:prstGeom>
            <a:noFill/>
          </p:spPr>
          <p:txBody>
            <a:bodyPr wrap="none" rtlCol="0">
              <a:spAutoFit/>
            </a:bodyPr>
            <a:lstStyle/>
            <a:p>
              <a:r>
                <a:rPr lang="en-US" sz="1100" dirty="0"/>
                <a:t>Getty images</a:t>
              </a:r>
            </a:p>
          </p:txBody>
        </p:sp>
      </p:grpSp>
      <p:sp>
        <p:nvSpPr>
          <p:cNvPr id="3" name="TextBox 2">
            <a:extLst>
              <a:ext uri="{FF2B5EF4-FFF2-40B4-BE49-F238E27FC236}">
                <a16:creationId xmlns:a16="http://schemas.microsoft.com/office/drawing/2014/main" id="{E2A83698-DDA2-F2D6-E74F-CDF68F95275F}"/>
              </a:ext>
            </a:extLst>
          </p:cNvPr>
          <p:cNvSpPr txBox="1"/>
          <p:nvPr/>
        </p:nvSpPr>
        <p:spPr>
          <a:xfrm>
            <a:off x="4741562" y="1666747"/>
            <a:ext cx="3986784" cy="5078313"/>
          </a:xfrm>
          <a:prstGeom prst="rect">
            <a:avLst/>
          </a:prstGeom>
          <a:noFill/>
        </p:spPr>
        <p:txBody>
          <a:bodyPr wrap="square" rtlCol="0">
            <a:spAutoFit/>
          </a:bodyPr>
          <a:lstStyle/>
          <a:p>
            <a:r>
              <a:rPr lang="en-US" dirty="0"/>
              <a:t>Winners within each SEM node:</a:t>
            </a:r>
          </a:p>
          <a:p>
            <a:r>
              <a:rPr lang="en-US" dirty="0"/>
              <a:t>Prey NCC: </a:t>
            </a:r>
          </a:p>
          <a:p>
            <a:pPr marL="342900" indent="-342900">
              <a:buAutoNum type="arabicParenR"/>
            </a:pPr>
            <a:r>
              <a:rPr lang="en-US" dirty="0"/>
              <a:t>Forage fish DFA </a:t>
            </a:r>
          </a:p>
          <a:p>
            <a:pPr marL="342900" indent="-342900">
              <a:buAutoNum type="arabicParenR"/>
            </a:pPr>
            <a:r>
              <a:rPr lang="en-US" dirty="0"/>
              <a:t>JSOES plankton</a:t>
            </a:r>
          </a:p>
          <a:p>
            <a:endParaRPr lang="en-US" dirty="0"/>
          </a:p>
          <a:p>
            <a:r>
              <a:rPr lang="en-US" dirty="0"/>
              <a:t>Predators NCC:</a:t>
            </a:r>
          </a:p>
          <a:p>
            <a:pPr marL="342900" indent="-342900">
              <a:buAutoNum type="arabicParenR"/>
            </a:pPr>
            <a:r>
              <a:rPr lang="en-US" dirty="0"/>
              <a:t>Hake and mackerel DFA</a:t>
            </a:r>
          </a:p>
          <a:p>
            <a:pPr marL="342900" indent="-342900">
              <a:buAutoNum type="arabicParenR"/>
            </a:pPr>
            <a:r>
              <a:rPr lang="en-US" dirty="0"/>
              <a:t>Common murre (proxy)</a:t>
            </a:r>
          </a:p>
          <a:p>
            <a:endParaRPr lang="en-US" dirty="0"/>
          </a:p>
          <a:p>
            <a:r>
              <a:rPr lang="en-US" dirty="0"/>
              <a:t>Prey AK: </a:t>
            </a:r>
          </a:p>
          <a:p>
            <a:pPr marL="342900" indent="-342900">
              <a:buAutoNum type="arabicParenR"/>
            </a:pPr>
            <a:r>
              <a:rPr lang="en-US" dirty="0"/>
              <a:t>Zooplankton prey (amphipods, euphausiids, decapods) and success of plankton-eating birds</a:t>
            </a:r>
          </a:p>
          <a:p>
            <a:endParaRPr lang="en-US" dirty="0"/>
          </a:p>
          <a:p>
            <a:r>
              <a:rPr lang="en-US" dirty="0"/>
              <a:t>Pred on Adults:</a:t>
            </a:r>
          </a:p>
          <a:p>
            <a:pPr marL="342900" indent="-342900">
              <a:buAutoNum type="arabicParenR"/>
            </a:pPr>
            <a:r>
              <a:rPr lang="en-US" dirty="0"/>
              <a:t>Mammals in and near the Columbia River were not consistent (proxy)</a:t>
            </a:r>
          </a:p>
          <a:p>
            <a:r>
              <a:rPr lang="en-US" dirty="0"/>
              <a:t> </a:t>
            </a:r>
          </a:p>
        </p:txBody>
      </p:sp>
      <p:grpSp>
        <p:nvGrpSpPr>
          <p:cNvPr id="13" name="Group 12">
            <a:extLst>
              <a:ext uri="{FF2B5EF4-FFF2-40B4-BE49-F238E27FC236}">
                <a16:creationId xmlns:a16="http://schemas.microsoft.com/office/drawing/2014/main" id="{AE9B9E82-7166-48E3-8A2C-08AE93D2C8FA}"/>
              </a:ext>
            </a:extLst>
          </p:cNvPr>
          <p:cNvGrpSpPr/>
          <p:nvPr/>
        </p:nvGrpSpPr>
        <p:grpSpPr>
          <a:xfrm>
            <a:off x="819664" y="1688997"/>
            <a:ext cx="1017582" cy="4532713"/>
            <a:chOff x="919863" y="1637145"/>
            <a:chExt cx="1017582" cy="4532713"/>
          </a:xfrm>
        </p:grpSpPr>
        <p:pic>
          <p:nvPicPr>
            <p:cNvPr id="5" name="Picture 4">
              <a:extLst>
                <a:ext uri="{FF2B5EF4-FFF2-40B4-BE49-F238E27FC236}">
                  <a16:creationId xmlns:a16="http://schemas.microsoft.com/office/drawing/2014/main" id="{14BE06B9-1A50-5A2B-65F7-440179C3B92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flipH="1">
              <a:off x="1385511" y="2936267"/>
              <a:ext cx="459404" cy="473307"/>
            </a:xfrm>
            <a:prstGeom prst="rect">
              <a:avLst/>
            </a:prstGeom>
          </p:spPr>
        </p:pic>
        <p:pic>
          <p:nvPicPr>
            <p:cNvPr id="6" name="Picture 5">
              <a:extLst>
                <a:ext uri="{FF2B5EF4-FFF2-40B4-BE49-F238E27FC236}">
                  <a16:creationId xmlns:a16="http://schemas.microsoft.com/office/drawing/2014/main" id="{378952DD-2A2C-7F43-C71D-5131249ED4EB}"/>
                </a:ext>
              </a:extLst>
            </p:cNvPr>
            <p:cNvPicPr>
              <a:picLocks noChangeAspect="1"/>
            </p:cNvPicPr>
            <p:nvPr/>
          </p:nvPicPr>
          <p:blipFill>
            <a:blip r:embed="rId9"/>
            <a:stretch>
              <a:fillRect/>
            </a:stretch>
          </p:blipFill>
          <p:spPr>
            <a:xfrm>
              <a:off x="919863" y="5560673"/>
              <a:ext cx="667319" cy="609185"/>
            </a:xfrm>
            <a:prstGeom prst="rect">
              <a:avLst/>
            </a:prstGeom>
          </p:spPr>
        </p:pic>
        <p:pic>
          <p:nvPicPr>
            <p:cNvPr id="7" name="Picture 6">
              <a:extLst>
                <a:ext uri="{FF2B5EF4-FFF2-40B4-BE49-F238E27FC236}">
                  <a16:creationId xmlns:a16="http://schemas.microsoft.com/office/drawing/2014/main" id="{424EB994-2E27-A5A7-A9ED-B845F093E934}"/>
                </a:ext>
              </a:extLst>
            </p:cNvPr>
            <p:cNvPicPr>
              <a:picLocks noChangeAspect="1"/>
            </p:cNvPicPr>
            <p:nvPr/>
          </p:nvPicPr>
          <p:blipFill>
            <a:blip r:embed="rId10"/>
            <a:stretch>
              <a:fillRect/>
            </a:stretch>
          </p:blipFill>
          <p:spPr>
            <a:xfrm>
              <a:off x="1194403" y="2617778"/>
              <a:ext cx="721686" cy="210206"/>
            </a:xfrm>
            <a:prstGeom prst="rect">
              <a:avLst/>
            </a:prstGeom>
          </p:spPr>
        </p:pic>
        <p:pic>
          <p:nvPicPr>
            <p:cNvPr id="8" name="Picture 7">
              <a:extLst>
                <a:ext uri="{FF2B5EF4-FFF2-40B4-BE49-F238E27FC236}">
                  <a16:creationId xmlns:a16="http://schemas.microsoft.com/office/drawing/2014/main" id="{17FB32E1-EF18-0A52-44E5-A9E5B84951DD}"/>
                </a:ext>
              </a:extLst>
            </p:cNvPr>
            <p:cNvPicPr>
              <a:picLocks noChangeAspect="1"/>
            </p:cNvPicPr>
            <p:nvPr/>
          </p:nvPicPr>
          <p:blipFill>
            <a:blip r:embed="rId11"/>
            <a:stretch>
              <a:fillRect/>
            </a:stretch>
          </p:blipFill>
          <p:spPr>
            <a:xfrm>
              <a:off x="1235316" y="1637145"/>
              <a:ext cx="702129" cy="381542"/>
            </a:xfrm>
            <a:prstGeom prst="rect">
              <a:avLst/>
            </a:prstGeom>
          </p:spPr>
        </p:pic>
        <p:pic>
          <p:nvPicPr>
            <p:cNvPr id="9" name="Picture 8">
              <a:extLst>
                <a:ext uri="{FF2B5EF4-FFF2-40B4-BE49-F238E27FC236}">
                  <a16:creationId xmlns:a16="http://schemas.microsoft.com/office/drawing/2014/main" id="{3FFECDF7-1CF3-905F-8848-6D99576DD3BF}"/>
                </a:ext>
              </a:extLst>
            </p:cNvPr>
            <p:cNvPicPr>
              <a:picLocks noChangeAspect="1"/>
            </p:cNvPicPr>
            <p:nvPr/>
          </p:nvPicPr>
          <p:blipFill>
            <a:blip r:embed="rId12"/>
            <a:stretch>
              <a:fillRect/>
            </a:stretch>
          </p:blipFill>
          <p:spPr>
            <a:xfrm>
              <a:off x="1416855" y="2094783"/>
              <a:ext cx="280501" cy="269543"/>
            </a:xfrm>
            <a:prstGeom prst="rect">
              <a:avLst/>
            </a:prstGeom>
          </p:spPr>
        </p:pic>
        <p:pic>
          <p:nvPicPr>
            <p:cNvPr id="10" name="Picture 9">
              <a:extLst>
                <a:ext uri="{FF2B5EF4-FFF2-40B4-BE49-F238E27FC236}">
                  <a16:creationId xmlns:a16="http://schemas.microsoft.com/office/drawing/2014/main" id="{C7B3056C-AD0C-ED45-5877-50918A05BB3C}"/>
                </a:ext>
              </a:extLst>
            </p:cNvPr>
            <p:cNvPicPr>
              <a:picLocks noChangeAspect="1"/>
            </p:cNvPicPr>
            <p:nvPr/>
          </p:nvPicPr>
          <p:blipFill>
            <a:blip r:embed="rId12"/>
            <a:stretch>
              <a:fillRect/>
            </a:stretch>
          </p:blipFill>
          <p:spPr>
            <a:xfrm>
              <a:off x="1381292" y="3446780"/>
              <a:ext cx="334936" cy="321850"/>
            </a:xfrm>
            <a:prstGeom prst="rect">
              <a:avLst/>
            </a:prstGeom>
          </p:spPr>
        </p:pic>
        <p:pic>
          <p:nvPicPr>
            <p:cNvPr id="11" name="Picture 10">
              <a:extLst>
                <a:ext uri="{FF2B5EF4-FFF2-40B4-BE49-F238E27FC236}">
                  <a16:creationId xmlns:a16="http://schemas.microsoft.com/office/drawing/2014/main" id="{65E5C45B-382E-A547-E6CF-A12E4A1D4802}"/>
                </a:ext>
              </a:extLst>
            </p:cNvPr>
            <p:cNvPicPr>
              <a:picLocks noChangeAspect="1"/>
            </p:cNvPicPr>
            <p:nvPr/>
          </p:nvPicPr>
          <p:blipFill>
            <a:blip r:embed="rId6"/>
            <a:stretch>
              <a:fillRect/>
            </a:stretch>
          </p:blipFill>
          <p:spPr>
            <a:xfrm>
              <a:off x="1407223" y="3883928"/>
              <a:ext cx="259174" cy="92928"/>
            </a:xfrm>
            <a:prstGeom prst="rect">
              <a:avLst/>
            </a:prstGeom>
          </p:spPr>
        </p:pic>
      </p:grpSp>
      <p:sp>
        <p:nvSpPr>
          <p:cNvPr id="15" name="Rectangle 14">
            <a:extLst>
              <a:ext uri="{FF2B5EF4-FFF2-40B4-BE49-F238E27FC236}">
                <a16:creationId xmlns:a16="http://schemas.microsoft.com/office/drawing/2014/main" id="{A2958D4D-8D3B-8944-4A51-66B4EE05B750}"/>
              </a:ext>
            </a:extLst>
          </p:cNvPr>
          <p:cNvSpPr/>
          <p:nvPr/>
        </p:nvSpPr>
        <p:spPr>
          <a:xfrm rot="16200000">
            <a:off x="509751" y="3987362"/>
            <a:ext cx="1208690" cy="1681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j-lt"/>
              </a:rPr>
              <a:t>Indicator</a:t>
            </a:r>
          </a:p>
        </p:txBody>
      </p:sp>
      <p:sp>
        <p:nvSpPr>
          <p:cNvPr id="2" name="Title 1">
            <a:extLst>
              <a:ext uri="{FF2B5EF4-FFF2-40B4-BE49-F238E27FC236}">
                <a16:creationId xmlns:a16="http://schemas.microsoft.com/office/drawing/2014/main" id="{862F3B84-FC50-EA04-3889-134814FD504E}"/>
              </a:ext>
            </a:extLst>
          </p:cNvPr>
          <p:cNvSpPr>
            <a:spLocks noGrp="1"/>
          </p:cNvSpPr>
          <p:nvPr>
            <p:ph type="title"/>
          </p:nvPr>
        </p:nvSpPr>
        <p:spPr>
          <a:xfrm>
            <a:off x="1660634" y="0"/>
            <a:ext cx="9693166" cy="1325563"/>
          </a:xfrm>
        </p:spPr>
        <p:txBody>
          <a:bodyPr>
            <a:normAutofit fontScale="90000"/>
          </a:bodyPr>
          <a:lstStyle/>
          <a:p>
            <a:r>
              <a:rPr lang="en-US" dirty="0"/>
              <a:t>&lt;10 indicators had very strong predictive power</a:t>
            </a:r>
          </a:p>
        </p:txBody>
      </p:sp>
      <p:pic>
        <p:nvPicPr>
          <p:cNvPr id="14" name="Picture 13">
            <a:extLst>
              <a:ext uri="{FF2B5EF4-FFF2-40B4-BE49-F238E27FC236}">
                <a16:creationId xmlns:a16="http://schemas.microsoft.com/office/drawing/2014/main" id="{29AFFE22-CED5-0EAF-7605-3D16EEB54F3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31446" y="1393532"/>
            <a:ext cx="5276850" cy="5270351"/>
          </a:xfrm>
          <a:prstGeom prst="rect">
            <a:avLst/>
          </a:prstGeom>
        </p:spPr>
      </p:pic>
    </p:spTree>
    <p:custDataLst>
      <p:tags r:id="rId1"/>
    </p:custDataLst>
    <p:extLst>
      <p:ext uri="{BB962C8B-B14F-4D97-AF65-F5344CB8AC3E}">
        <p14:creationId xmlns:p14="http://schemas.microsoft.com/office/powerpoint/2010/main" val="3495394220"/>
      </p:ext>
    </p:extLst>
  </p:cSld>
  <p:clrMapOvr>
    <a:masterClrMapping/>
  </p:clrMapOvr>
  <mc:AlternateContent xmlns:mc="http://schemas.openxmlformats.org/markup-compatibility/2006" xmlns:p14="http://schemas.microsoft.com/office/powerpoint/2010/main">
    <mc:Choice Requires="p14">
      <p:transition spd="slow" p14:dur="2000" advTm="78551"/>
    </mc:Choice>
    <mc:Fallback xmlns="">
      <p:transition spd="slow" advTm="785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95495">
              <a:srgbClr val="10100F"/>
            </a:gs>
            <a:gs pos="34000">
              <a:srgbClr val="23616A"/>
            </a:gs>
            <a:gs pos="0">
              <a:srgbClr val="82D9EA"/>
            </a:gs>
            <a:gs pos="57647">
              <a:srgbClr val="546449"/>
            </a:gs>
            <a:gs pos="42000">
              <a:srgbClr val="526549"/>
            </a:gs>
          </a:gsLst>
          <a:path path="rect">
            <a:fillToRect l="100000" b="100000"/>
          </a:path>
        </a:gra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9C6666FE-01B7-4D7C-8C4B-4B94E0BBB6BE}"/>
              </a:ext>
            </a:extLst>
          </p:cNvPr>
          <p:cNvGrpSpPr/>
          <p:nvPr/>
        </p:nvGrpSpPr>
        <p:grpSpPr>
          <a:xfrm>
            <a:off x="7998372" y="2280006"/>
            <a:ext cx="4193628" cy="2795752"/>
            <a:chOff x="7998372" y="2354317"/>
            <a:chExt cx="4193628" cy="2795752"/>
          </a:xfrm>
        </p:grpSpPr>
        <p:pic>
          <p:nvPicPr>
            <p:cNvPr id="22" name="Picture 21">
              <a:extLst>
                <a:ext uri="{FF2B5EF4-FFF2-40B4-BE49-F238E27FC236}">
                  <a16:creationId xmlns:a16="http://schemas.microsoft.com/office/drawing/2014/main" id="{B2AC819A-619E-43AF-BBB8-4150275187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8372" y="2354317"/>
              <a:ext cx="4193628" cy="2795752"/>
            </a:xfrm>
            <a:prstGeom prst="rect">
              <a:avLst/>
            </a:prstGeom>
          </p:spPr>
        </p:pic>
        <p:sp>
          <p:nvSpPr>
            <p:cNvPr id="27" name="TextBox 26">
              <a:extLst>
                <a:ext uri="{FF2B5EF4-FFF2-40B4-BE49-F238E27FC236}">
                  <a16:creationId xmlns:a16="http://schemas.microsoft.com/office/drawing/2014/main" id="{88BC3815-F100-44C5-81BD-A78AEEA2B71D}"/>
                </a:ext>
              </a:extLst>
            </p:cNvPr>
            <p:cNvSpPr txBox="1"/>
            <p:nvPr/>
          </p:nvSpPr>
          <p:spPr>
            <a:xfrm>
              <a:off x="11249113" y="4277711"/>
              <a:ext cx="942887" cy="261610"/>
            </a:xfrm>
            <a:prstGeom prst="rect">
              <a:avLst/>
            </a:prstGeom>
            <a:noFill/>
          </p:spPr>
          <p:txBody>
            <a:bodyPr wrap="none" rtlCol="0">
              <a:spAutoFit/>
            </a:bodyPr>
            <a:lstStyle/>
            <a:p>
              <a:r>
                <a:rPr lang="en-US" sz="1100" dirty="0"/>
                <a:t>Photo: NOAA</a:t>
              </a:r>
            </a:p>
          </p:txBody>
        </p:sp>
      </p:grpSp>
      <p:grpSp>
        <p:nvGrpSpPr>
          <p:cNvPr id="43" name="Group 42">
            <a:extLst>
              <a:ext uri="{FF2B5EF4-FFF2-40B4-BE49-F238E27FC236}">
                <a16:creationId xmlns:a16="http://schemas.microsoft.com/office/drawing/2014/main" id="{EBE0EDA9-2762-4FE5-AFA0-F143F9A27B04}"/>
              </a:ext>
            </a:extLst>
          </p:cNvPr>
          <p:cNvGrpSpPr/>
          <p:nvPr/>
        </p:nvGrpSpPr>
        <p:grpSpPr>
          <a:xfrm>
            <a:off x="8019393" y="4394714"/>
            <a:ext cx="4235669" cy="2463286"/>
            <a:chOff x="8019393" y="4394714"/>
            <a:chExt cx="4235669" cy="2463286"/>
          </a:xfrm>
        </p:grpSpPr>
        <p:pic>
          <p:nvPicPr>
            <p:cNvPr id="38" name="Picture 37">
              <a:extLst>
                <a:ext uri="{FF2B5EF4-FFF2-40B4-BE49-F238E27FC236}">
                  <a16:creationId xmlns:a16="http://schemas.microsoft.com/office/drawing/2014/main" id="{1FF2A283-3731-4C94-BA73-B6D72632E3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9393" y="4394714"/>
              <a:ext cx="4172607" cy="2463285"/>
            </a:xfrm>
            <a:prstGeom prst="rect">
              <a:avLst/>
            </a:prstGeom>
          </p:spPr>
        </p:pic>
        <p:sp>
          <p:nvSpPr>
            <p:cNvPr id="39" name="TextBox 38">
              <a:extLst>
                <a:ext uri="{FF2B5EF4-FFF2-40B4-BE49-F238E27FC236}">
                  <a16:creationId xmlns:a16="http://schemas.microsoft.com/office/drawing/2014/main" id="{7D58F5A3-1B98-449A-87D8-751721414112}"/>
                </a:ext>
              </a:extLst>
            </p:cNvPr>
            <p:cNvSpPr txBox="1"/>
            <p:nvPr/>
          </p:nvSpPr>
          <p:spPr>
            <a:xfrm>
              <a:off x="11312175" y="6596390"/>
              <a:ext cx="942887" cy="261610"/>
            </a:xfrm>
            <a:prstGeom prst="rect">
              <a:avLst/>
            </a:prstGeom>
            <a:noFill/>
          </p:spPr>
          <p:txBody>
            <a:bodyPr wrap="none" rtlCol="0">
              <a:spAutoFit/>
            </a:bodyPr>
            <a:lstStyle/>
            <a:p>
              <a:r>
                <a:rPr lang="en-US" sz="1100" dirty="0"/>
                <a:t>Photo: NOAA</a:t>
              </a:r>
            </a:p>
          </p:txBody>
        </p:sp>
      </p:grpSp>
      <p:pic>
        <p:nvPicPr>
          <p:cNvPr id="40" name="Picture 39">
            <a:extLst>
              <a:ext uri="{FF2B5EF4-FFF2-40B4-BE49-F238E27FC236}">
                <a16:creationId xmlns:a16="http://schemas.microsoft.com/office/drawing/2014/main" id="{880A7F5F-6516-45EC-BB13-5AA5D24AF924}"/>
              </a:ext>
            </a:extLst>
          </p:cNvPr>
          <p:cNvPicPr>
            <a:picLocks noChangeAspect="1"/>
          </p:cNvPicPr>
          <p:nvPr/>
        </p:nvPicPr>
        <p:blipFill rotWithShape="1">
          <a:blip r:embed="rId5">
            <a:extLst>
              <a:ext uri="{28A0092B-C50C-407E-A947-70E740481C1C}">
                <a14:useLocalDpi xmlns:a14="http://schemas.microsoft.com/office/drawing/2010/main" val="0"/>
              </a:ext>
            </a:extLst>
          </a:blip>
          <a:srcRect l="34828" t="54053" r="34827" b="8017"/>
          <a:stretch/>
        </p:blipFill>
        <p:spPr>
          <a:xfrm>
            <a:off x="0" y="92683"/>
            <a:ext cx="1629102" cy="1110751"/>
          </a:xfrm>
          <a:prstGeom prst="rect">
            <a:avLst/>
          </a:prstGeom>
        </p:spPr>
      </p:pic>
      <p:pic>
        <p:nvPicPr>
          <p:cNvPr id="19" name="Picture 18">
            <a:extLst>
              <a:ext uri="{FF2B5EF4-FFF2-40B4-BE49-F238E27FC236}">
                <a16:creationId xmlns:a16="http://schemas.microsoft.com/office/drawing/2014/main" id="{5C415D1A-9795-43A7-AD85-4358CD4737F9}"/>
              </a:ext>
            </a:extLst>
          </p:cNvPr>
          <p:cNvPicPr>
            <a:picLocks noChangeAspect="1"/>
          </p:cNvPicPr>
          <p:nvPr/>
        </p:nvPicPr>
        <p:blipFill>
          <a:blip r:embed="rId6"/>
          <a:stretch>
            <a:fillRect/>
          </a:stretch>
        </p:blipFill>
        <p:spPr>
          <a:xfrm>
            <a:off x="1333162" y="4645277"/>
            <a:ext cx="127509" cy="45719"/>
          </a:xfrm>
          <a:prstGeom prst="rect">
            <a:avLst/>
          </a:prstGeom>
        </p:spPr>
      </p:pic>
      <p:pic>
        <p:nvPicPr>
          <p:cNvPr id="12" name="Picture 11">
            <a:extLst>
              <a:ext uri="{FF2B5EF4-FFF2-40B4-BE49-F238E27FC236}">
                <a16:creationId xmlns:a16="http://schemas.microsoft.com/office/drawing/2014/main" id="{A9C4ED63-01A2-4140-A14A-437D73978224}"/>
              </a:ext>
            </a:extLst>
          </p:cNvPr>
          <p:cNvPicPr>
            <a:picLocks noChangeAspect="1"/>
          </p:cNvPicPr>
          <p:nvPr/>
        </p:nvPicPr>
        <p:blipFill rotWithShape="1">
          <a:blip r:embed="rId7">
            <a:extLst>
              <a:ext uri="{28A0092B-C50C-407E-A947-70E740481C1C}">
                <a14:useLocalDpi xmlns:a14="http://schemas.microsoft.com/office/drawing/2010/main" val="0"/>
              </a:ext>
            </a:extLst>
          </a:blip>
          <a:srcRect l="-1" r="-1201"/>
          <a:stretch/>
        </p:blipFill>
        <p:spPr>
          <a:xfrm>
            <a:off x="990600" y="1282788"/>
            <a:ext cx="3708400" cy="5496560"/>
          </a:xfrm>
          <a:prstGeom prst="rect">
            <a:avLst/>
          </a:prstGeom>
        </p:spPr>
      </p:pic>
      <p:grpSp>
        <p:nvGrpSpPr>
          <p:cNvPr id="45" name="Group 44">
            <a:extLst>
              <a:ext uri="{FF2B5EF4-FFF2-40B4-BE49-F238E27FC236}">
                <a16:creationId xmlns:a16="http://schemas.microsoft.com/office/drawing/2014/main" id="{1C323308-ED70-4AA1-9D78-54EF227E6378}"/>
              </a:ext>
            </a:extLst>
          </p:cNvPr>
          <p:cNvGrpSpPr/>
          <p:nvPr/>
        </p:nvGrpSpPr>
        <p:grpSpPr>
          <a:xfrm>
            <a:off x="7998372" y="599090"/>
            <a:ext cx="4193628" cy="2361051"/>
            <a:chOff x="7998372" y="599090"/>
            <a:chExt cx="4193628" cy="2361051"/>
          </a:xfrm>
        </p:grpSpPr>
        <p:pic>
          <p:nvPicPr>
            <p:cNvPr id="20" name="Picture 19">
              <a:extLst>
                <a:ext uri="{FF2B5EF4-FFF2-40B4-BE49-F238E27FC236}">
                  <a16:creationId xmlns:a16="http://schemas.microsoft.com/office/drawing/2014/main" id="{1DDE01B4-4F4E-4F2A-8A09-0B8E3B07F09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98372" y="599090"/>
              <a:ext cx="4193628" cy="2358916"/>
            </a:xfrm>
            <a:prstGeom prst="rect">
              <a:avLst/>
            </a:prstGeom>
          </p:spPr>
        </p:pic>
        <p:sp>
          <p:nvSpPr>
            <p:cNvPr id="28" name="TextBox 27">
              <a:extLst>
                <a:ext uri="{FF2B5EF4-FFF2-40B4-BE49-F238E27FC236}">
                  <a16:creationId xmlns:a16="http://schemas.microsoft.com/office/drawing/2014/main" id="{35F10F18-7EC6-4E11-B0A0-38BE864B9599}"/>
                </a:ext>
              </a:extLst>
            </p:cNvPr>
            <p:cNvSpPr txBox="1"/>
            <p:nvPr/>
          </p:nvSpPr>
          <p:spPr>
            <a:xfrm>
              <a:off x="11255525" y="2698531"/>
              <a:ext cx="936475" cy="261610"/>
            </a:xfrm>
            <a:prstGeom prst="rect">
              <a:avLst/>
            </a:prstGeom>
            <a:noFill/>
          </p:spPr>
          <p:txBody>
            <a:bodyPr wrap="none" rtlCol="0">
              <a:spAutoFit/>
            </a:bodyPr>
            <a:lstStyle/>
            <a:p>
              <a:r>
                <a:rPr lang="en-US" sz="1100" dirty="0"/>
                <a:t>Getty images</a:t>
              </a:r>
            </a:p>
          </p:txBody>
        </p:sp>
      </p:grpSp>
      <p:sp>
        <p:nvSpPr>
          <p:cNvPr id="3" name="TextBox 2">
            <a:extLst>
              <a:ext uri="{FF2B5EF4-FFF2-40B4-BE49-F238E27FC236}">
                <a16:creationId xmlns:a16="http://schemas.microsoft.com/office/drawing/2014/main" id="{5C852667-427A-4F3A-820C-619945151FE1}"/>
              </a:ext>
            </a:extLst>
          </p:cNvPr>
          <p:cNvSpPr txBox="1"/>
          <p:nvPr/>
        </p:nvSpPr>
        <p:spPr>
          <a:xfrm>
            <a:off x="4741562" y="1666747"/>
            <a:ext cx="3986784" cy="5078313"/>
          </a:xfrm>
          <a:prstGeom prst="rect">
            <a:avLst/>
          </a:prstGeom>
          <a:noFill/>
        </p:spPr>
        <p:txBody>
          <a:bodyPr wrap="square" rtlCol="0">
            <a:spAutoFit/>
          </a:bodyPr>
          <a:lstStyle/>
          <a:p>
            <a:r>
              <a:rPr lang="en-US" dirty="0"/>
              <a:t>Winners within each SEM node:</a:t>
            </a:r>
          </a:p>
          <a:p>
            <a:r>
              <a:rPr lang="en-US" dirty="0"/>
              <a:t>Prey NCC: </a:t>
            </a:r>
          </a:p>
          <a:p>
            <a:pPr marL="342900" indent="-342900">
              <a:buAutoNum type="arabicParenR"/>
            </a:pPr>
            <a:r>
              <a:rPr lang="en-US" dirty="0"/>
              <a:t>Forage fish DFA </a:t>
            </a:r>
          </a:p>
          <a:p>
            <a:pPr marL="342900" indent="-342900">
              <a:buAutoNum type="arabicParenR"/>
            </a:pPr>
            <a:r>
              <a:rPr lang="en-US" dirty="0"/>
              <a:t>JSOES plankton</a:t>
            </a:r>
          </a:p>
          <a:p>
            <a:endParaRPr lang="en-US" dirty="0"/>
          </a:p>
          <a:p>
            <a:r>
              <a:rPr lang="en-US" dirty="0"/>
              <a:t>Predators NCC:</a:t>
            </a:r>
          </a:p>
          <a:p>
            <a:pPr marL="342900" indent="-342900">
              <a:buAutoNum type="arabicParenR"/>
            </a:pPr>
            <a:r>
              <a:rPr lang="en-US" dirty="0"/>
              <a:t>Hake and mackerel DFA</a:t>
            </a:r>
          </a:p>
          <a:p>
            <a:pPr marL="342900" indent="-342900">
              <a:buAutoNum type="arabicParenR"/>
            </a:pPr>
            <a:r>
              <a:rPr lang="en-US" dirty="0"/>
              <a:t>Common murre (proxy)</a:t>
            </a:r>
          </a:p>
          <a:p>
            <a:endParaRPr lang="en-US" dirty="0"/>
          </a:p>
          <a:p>
            <a:r>
              <a:rPr lang="en-US" dirty="0"/>
              <a:t>Prey AK: </a:t>
            </a:r>
          </a:p>
          <a:p>
            <a:pPr marL="342900" indent="-342900">
              <a:buAutoNum type="arabicParenR"/>
            </a:pPr>
            <a:r>
              <a:rPr lang="en-US" dirty="0"/>
              <a:t>Zooplankton prey (amphipods, euphausiids, decapods) and success of plankton-eating birds</a:t>
            </a:r>
          </a:p>
          <a:p>
            <a:endParaRPr lang="en-US" dirty="0"/>
          </a:p>
          <a:p>
            <a:r>
              <a:rPr lang="en-US" dirty="0"/>
              <a:t>Pred on Adults:</a:t>
            </a:r>
          </a:p>
          <a:p>
            <a:pPr marL="342900" indent="-342900">
              <a:buAutoNum type="arabicParenR"/>
            </a:pPr>
            <a:r>
              <a:rPr lang="en-US" dirty="0"/>
              <a:t>Mammals in and near the Columbia River were not consistent (proxy)</a:t>
            </a:r>
          </a:p>
          <a:p>
            <a:r>
              <a:rPr lang="en-US" dirty="0"/>
              <a:t> </a:t>
            </a:r>
          </a:p>
        </p:txBody>
      </p:sp>
      <p:grpSp>
        <p:nvGrpSpPr>
          <p:cNvPr id="13" name="Group 12">
            <a:extLst>
              <a:ext uri="{FF2B5EF4-FFF2-40B4-BE49-F238E27FC236}">
                <a16:creationId xmlns:a16="http://schemas.microsoft.com/office/drawing/2014/main" id="{FBEAECCF-937D-4EDA-B243-FA6247182937}"/>
              </a:ext>
            </a:extLst>
          </p:cNvPr>
          <p:cNvGrpSpPr/>
          <p:nvPr/>
        </p:nvGrpSpPr>
        <p:grpSpPr>
          <a:xfrm>
            <a:off x="819664" y="1688997"/>
            <a:ext cx="1017582" cy="4532713"/>
            <a:chOff x="919863" y="1637145"/>
            <a:chExt cx="1017582" cy="4532713"/>
          </a:xfrm>
        </p:grpSpPr>
        <p:pic>
          <p:nvPicPr>
            <p:cNvPr id="5" name="Picture 4">
              <a:extLst>
                <a:ext uri="{FF2B5EF4-FFF2-40B4-BE49-F238E27FC236}">
                  <a16:creationId xmlns:a16="http://schemas.microsoft.com/office/drawing/2014/main" id="{74116F8D-199D-43BB-87B6-8F28BC608B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flipH="1">
              <a:off x="1385511" y="2936267"/>
              <a:ext cx="459404" cy="473307"/>
            </a:xfrm>
            <a:prstGeom prst="rect">
              <a:avLst/>
            </a:prstGeom>
          </p:spPr>
        </p:pic>
        <p:pic>
          <p:nvPicPr>
            <p:cNvPr id="6" name="Picture 5">
              <a:extLst>
                <a:ext uri="{FF2B5EF4-FFF2-40B4-BE49-F238E27FC236}">
                  <a16:creationId xmlns:a16="http://schemas.microsoft.com/office/drawing/2014/main" id="{7851AA9A-CD26-491F-88F1-9720275AE565}"/>
                </a:ext>
              </a:extLst>
            </p:cNvPr>
            <p:cNvPicPr>
              <a:picLocks noChangeAspect="1"/>
            </p:cNvPicPr>
            <p:nvPr/>
          </p:nvPicPr>
          <p:blipFill>
            <a:blip r:embed="rId10"/>
            <a:stretch>
              <a:fillRect/>
            </a:stretch>
          </p:blipFill>
          <p:spPr>
            <a:xfrm>
              <a:off x="919863" y="5560673"/>
              <a:ext cx="667319" cy="609185"/>
            </a:xfrm>
            <a:prstGeom prst="rect">
              <a:avLst/>
            </a:prstGeom>
          </p:spPr>
        </p:pic>
        <p:pic>
          <p:nvPicPr>
            <p:cNvPr id="7" name="Picture 6">
              <a:extLst>
                <a:ext uri="{FF2B5EF4-FFF2-40B4-BE49-F238E27FC236}">
                  <a16:creationId xmlns:a16="http://schemas.microsoft.com/office/drawing/2014/main" id="{F47D0C2C-34AB-4E5A-A797-C29B58190FAA}"/>
                </a:ext>
              </a:extLst>
            </p:cNvPr>
            <p:cNvPicPr>
              <a:picLocks noChangeAspect="1"/>
            </p:cNvPicPr>
            <p:nvPr/>
          </p:nvPicPr>
          <p:blipFill>
            <a:blip r:embed="rId11"/>
            <a:stretch>
              <a:fillRect/>
            </a:stretch>
          </p:blipFill>
          <p:spPr>
            <a:xfrm>
              <a:off x="1194403" y="2617778"/>
              <a:ext cx="721686" cy="210206"/>
            </a:xfrm>
            <a:prstGeom prst="rect">
              <a:avLst/>
            </a:prstGeom>
          </p:spPr>
        </p:pic>
        <p:pic>
          <p:nvPicPr>
            <p:cNvPr id="8" name="Picture 7">
              <a:extLst>
                <a:ext uri="{FF2B5EF4-FFF2-40B4-BE49-F238E27FC236}">
                  <a16:creationId xmlns:a16="http://schemas.microsoft.com/office/drawing/2014/main" id="{AC0FF0C4-7D7F-4721-A157-BDBD0E6A0429}"/>
                </a:ext>
              </a:extLst>
            </p:cNvPr>
            <p:cNvPicPr>
              <a:picLocks noChangeAspect="1"/>
            </p:cNvPicPr>
            <p:nvPr/>
          </p:nvPicPr>
          <p:blipFill>
            <a:blip r:embed="rId12"/>
            <a:stretch>
              <a:fillRect/>
            </a:stretch>
          </p:blipFill>
          <p:spPr>
            <a:xfrm>
              <a:off x="1235316" y="1637145"/>
              <a:ext cx="702129" cy="381542"/>
            </a:xfrm>
            <a:prstGeom prst="rect">
              <a:avLst/>
            </a:prstGeom>
          </p:spPr>
        </p:pic>
        <p:pic>
          <p:nvPicPr>
            <p:cNvPr id="9" name="Picture 8">
              <a:extLst>
                <a:ext uri="{FF2B5EF4-FFF2-40B4-BE49-F238E27FC236}">
                  <a16:creationId xmlns:a16="http://schemas.microsoft.com/office/drawing/2014/main" id="{3C170048-6EF3-44B9-94C3-BCDB2592ADCA}"/>
                </a:ext>
              </a:extLst>
            </p:cNvPr>
            <p:cNvPicPr>
              <a:picLocks noChangeAspect="1"/>
            </p:cNvPicPr>
            <p:nvPr/>
          </p:nvPicPr>
          <p:blipFill>
            <a:blip r:embed="rId13"/>
            <a:stretch>
              <a:fillRect/>
            </a:stretch>
          </p:blipFill>
          <p:spPr>
            <a:xfrm>
              <a:off x="1416855" y="2094783"/>
              <a:ext cx="280501" cy="269543"/>
            </a:xfrm>
            <a:prstGeom prst="rect">
              <a:avLst/>
            </a:prstGeom>
          </p:spPr>
        </p:pic>
        <p:pic>
          <p:nvPicPr>
            <p:cNvPr id="10" name="Picture 9">
              <a:extLst>
                <a:ext uri="{FF2B5EF4-FFF2-40B4-BE49-F238E27FC236}">
                  <a16:creationId xmlns:a16="http://schemas.microsoft.com/office/drawing/2014/main" id="{29508B99-5FA8-4C1A-8024-6A9B12A3C3B2}"/>
                </a:ext>
              </a:extLst>
            </p:cNvPr>
            <p:cNvPicPr>
              <a:picLocks noChangeAspect="1"/>
            </p:cNvPicPr>
            <p:nvPr/>
          </p:nvPicPr>
          <p:blipFill>
            <a:blip r:embed="rId13"/>
            <a:stretch>
              <a:fillRect/>
            </a:stretch>
          </p:blipFill>
          <p:spPr>
            <a:xfrm>
              <a:off x="1381292" y="3446780"/>
              <a:ext cx="334936" cy="321850"/>
            </a:xfrm>
            <a:prstGeom prst="rect">
              <a:avLst/>
            </a:prstGeom>
          </p:spPr>
        </p:pic>
        <p:pic>
          <p:nvPicPr>
            <p:cNvPr id="11" name="Picture 10">
              <a:extLst>
                <a:ext uri="{FF2B5EF4-FFF2-40B4-BE49-F238E27FC236}">
                  <a16:creationId xmlns:a16="http://schemas.microsoft.com/office/drawing/2014/main" id="{EA61789E-50A3-4292-B5CB-9CA2FECEDD8C}"/>
                </a:ext>
              </a:extLst>
            </p:cNvPr>
            <p:cNvPicPr>
              <a:picLocks noChangeAspect="1"/>
            </p:cNvPicPr>
            <p:nvPr/>
          </p:nvPicPr>
          <p:blipFill>
            <a:blip r:embed="rId6"/>
            <a:stretch>
              <a:fillRect/>
            </a:stretch>
          </p:blipFill>
          <p:spPr>
            <a:xfrm>
              <a:off x="1407223" y="3883928"/>
              <a:ext cx="259174" cy="92928"/>
            </a:xfrm>
            <a:prstGeom prst="rect">
              <a:avLst/>
            </a:prstGeom>
          </p:spPr>
        </p:pic>
      </p:grpSp>
      <p:sp>
        <p:nvSpPr>
          <p:cNvPr id="15" name="Rectangle 14">
            <a:extLst>
              <a:ext uri="{FF2B5EF4-FFF2-40B4-BE49-F238E27FC236}">
                <a16:creationId xmlns:a16="http://schemas.microsoft.com/office/drawing/2014/main" id="{1B8BDF29-246A-4F6A-95BD-4DC224C5675E}"/>
              </a:ext>
            </a:extLst>
          </p:cNvPr>
          <p:cNvSpPr/>
          <p:nvPr/>
        </p:nvSpPr>
        <p:spPr>
          <a:xfrm rot="16200000">
            <a:off x="509751" y="3987362"/>
            <a:ext cx="1208690" cy="1681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j-lt"/>
              </a:rPr>
              <a:t>Indicator</a:t>
            </a:r>
          </a:p>
        </p:txBody>
      </p:sp>
      <p:sp>
        <p:nvSpPr>
          <p:cNvPr id="2" name="Title 1">
            <a:extLst>
              <a:ext uri="{FF2B5EF4-FFF2-40B4-BE49-F238E27FC236}">
                <a16:creationId xmlns:a16="http://schemas.microsoft.com/office/drawing/2014/main" id="{83E652FF-83F7-4276-8A21-9C33D9E837CE}"/>
              </a:ext>
            </a:extLst>
          </p:cNvPr>
          <p:cNvSpPr>
            <a:spLocks noGrp="1"/>
          </p:cNvSpPr>
          <p:nvPr>
            <p:ph type="title"/>
          </p:nvPr>
        </p:nvSpPr>
        <p:spPr>
          <a:xfrm>
            <a:off x="1660634" y="0"/>
            <a:ext cx="9693166" cy="1325563"/>
          </a:xfrm>
        </p:spPr>
        <p:txBody>
          <a:bodyPr>
            <a:normAutofit fontScale="90000"/>
          </a:bodyPr>
          <a:lstStyle/>
          <a:p>
            <a:r>
              <a:rPr lang="en-US" dirty="0"/>
              <a:t>&lt;10 indicators had very strong predictive power</a:t>
            </a:r>
          </a:p>
        </p:txBody>
      </p:sp>
    </p:spTree>
    <p:custDataLst>
      <p:tags r:id="rId1"/>
    </p:custDataLst>
    <p:extLst>
      <p:ext uri="{BB962C8B-B14F-4D97-AF65-F5344CB8AC3E}">
        <p14:creationId xmlns:p14="http://schemas.microsoft.com/office/powerpoint/2010/main" val="928801895"/>
      </p:ext>
    </p:extLst>
  </p:cSld>
  <p:clrMapOvr>
    <a:masterClrMapping/>
  </p:clrMapOvr>
  <mc:AlternateContent xmlns:mc="http://schemas.openxmlformats.org/markup-compatibility/2006" xmlns:p14="http://schemas.microsoft.com/office/powerpoint/2010/main">
    <mc:Choice Requires="p14">
      <p:transition spd="slow" p14:dur="2000" advTm="78551"/>
    </mc:Choice>
    <mc:Fallback xmlns="">
      <p:transition spd="slow" advTm="785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95495">
              <a:srgbClr val="10100F"/>
            </a:gs>
            <a:gs pos="34000">
              <a:srgbClr val="23616A"/>
            </a:gs>
            <a:gs pos="0">
              <a:srgbClr val="82D9EA"/>
            </a:gs>
            <a:gs pos="57647">
              <a:srgbClr val="546449"/>
            </a:gs>
            <a:gs pos="42000">
              <a:srgbClr val="526549"/>
            </a:gs>
          </a:gsLst>
          <a:path path="rect">
            <a:fillToRect l="100000" b="100000"/>
          </a:path>
        </a:gradFill>
        <a:effectLst/>
      </p:bgPr>
    </p:bg>
    <p:spTree>
      <p:nvGrpSpPr>
        <p:cNvPr id="1" name="">
          <a:extLst>
            <a:ext uri="{FF2B5EF4-FFF2-40B4-BE49-F238E27FC236}">
              <a16:creationId xmlns:a16="http://schemas.microsoft.com/office/drawing/2014/main" id="{1375866D-E649-113D-E93A-A08D3FE6D2F9}"/>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7192E1B1-DA61-E258-CA52-D30D6359CA36}"/>
              </a:ext>
            </a:extLst>
          </p:cNvPr>
          <p:cNvPicPr>
            <a:picLocks noChangeAspect="1"/>
          </p:cNvPicPr>
          <p:nvPr/>
        </p:nvPicPr>
        <p:blipFill rotWithShape="1">
          <a:blip r:embed="rId3">
            <a:extLst>
              <a:ext uri="{28A0092B-C50C-407E-A947-70E740481C1C}">
                <a14:useLocalDpi xmlns:a14="http://schemas.microsoft.com/office/drawing/2010/main" val="0"/>
              </a:ext>
            </a:extLst>
          </a:blip>
          <a:srcRect l="34828" t="54053" r="34827" b="8017"/>
          <a:stretch/>
        </p:blipFill>
        <p:spPr>
          <a:xfrm>
            <a:off x="0" y="92683"/>
            <a:ext cx="1629102" cy="1110751"/>
          </a:xfrm>
          <a:prstGeom prst="rect">
            <a:avLst/>
          </a:prstGeom>
        </p:spPr>
      </p:pic>
      <p:pic>
        <p:nvPicPr>
          <p:cNvPr id="19" name="Picture 18">
            <a:extLst>
              <a:ext uri="{FF2B5EF4-FFF2-40B4-BE49-F238E27FC236}">
                <a16:creationId xmlns:a16="http://schemas.microsoft.com/office/drawing/2014/main" id="{265A2560-BB37-E9C0-8ED5-CE3B876E7FE4}"/>
              </a:ext>
            </a:extLst>
          </p:cNvPr>
          <p:cNvPicPr>
            <a:picLocks noChangeAspect="1"/>
          </p:cNvPicPr>
          <p:nvPr/>
        </p:nvPicPr>
        <p:blipFill>
          <a:blip r:embed="rId4"/>
          <a:stretch>
            <a:fillRect/>
          </a:stretch>
        </p:blipFill>
        <p:spPr>
          <a:xfrm>
            <a:off x="1333162" y="4645277"/>
            <a:ext cx="127509" cy="45719"/>
          </a:xfrm>
          <a:prstGeom prst="rect">
            <a:avLst/>
          </a:prstGeom>
        </p:spPr>
      </p:pic>
      <p:grpSp>
        <p:nvGrpSpPr>
          <p:cNvPr id="13" name="Group 12">
            <a:extLst>
              <a:ext uri="{FF2B5EF4-FFF2-40B4-BE49-F238E27FC236}">
                <a16:creationId xmlns:a16="http://schemas.microsoft.com/office/drawing/2014/main" id="{C0AB4A22-8286-313B-9227-0C199D473F8C}"/>
              </a:ext>
            </a:extLst>
          </p:cNvPr>
          <p:cNvGrpSpPr/>
          <p:nvPr/>
        </p:nvGrpSpPr>
        <p:grpSpPr>
          <a:xfrm>
            <a:off x="819664" y="1688997"/>
            <a:ext cx="1017582" cy="4532713"/>
            <a:chOff x="919863" y="1637145"/>
            <a:chExt cx="1017582" cy="4532713"/>
          </a:xfrm>
        </p:grpSpPr>
        <p:pic>
          <p:nvPicPr>
            <p:cNvPr id="5" name="Picture 4">
              <a:extLst>
                <a:ext uri="{FF2B5EF4-FFF2-40B4-BE49-F238E27FC236}">
                  <a16:creationId xmlns:a16="http://schemas.microsoft.com/office/drawing/2014/main" id="{B9134AE4-7109-AE0F-88BB-F061A08BE73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1385511" y="2936267"/>
              <a:ext cx="459404" cy="473307"/>
            </a:xfrm>
            <a:prstGeom prst="rect">
              <a:avLst/>
            </a:prstGeom>
          </p:spPr>
        </p:pic>
        <p:pic>
          <p:nvPicPr>
            <p:cNvPr id="6" name="Picture 5">
              <a:extLst>
                <a:ext uri="{FF2B5EF4-FFF2-40B4-BE49-F238E27FC236}">
                  <a16:creationId xmlns:a16="http://schemas.microsoft.com/office/drawing/2014/main" id="{57188D98-6C75-9A13-44D2-1D98E5812E0F}"/>
                </a:ext>
              </a:extLst>
            </p:cNvPr>
            <p:cNvPicPr>
              <a:picLocks noChangeAspect="1"/>
            </p:cNvPicPr>
            <p:nvPr/>
          </p:nvPicPr>
          <p:blipFill>
            <a:blip r:embed="rId6"/>
            <a:stretch>
              <a:fillRect/>
            </a:stretch>
          </p:blipFill>
          <p:spPr>
            <a:xfrm>
              <a:off x="919863" y="5560673"/>
              <a:ext cx="667319" cy="609185"/>
            </a:xfrm>
            <a:prstGeom prst="rect">
              <a:avLst/>
            </a:prstGeom>
          </p:spPr>
        </p:pic>
        <p:pic>
          <p:nvPicPr>
            <p:cNvPr id="7" name="Picture 6">
              <a:extLst>
                <a:ext uri="{FF2B5EF4-FFF2-40B4-BE49-F238E27FC236}">
                  <a16:creationId xmlns:a16="http://schemas.microsoft.com/office/drawing/2014/main" id="{68D72450-7518-AFFF-9891-FB483FBAE16F}"/>
                </a:ext>
              </a:extLst>
            </p:cNvPr>
            <p:cNvPicPr>
              <a:picLocks noChangeAspect="1"/>
            </p:cNvPicPr>
            <p:nvPr/>
          </p:nvPicPr>
          <p:blipFill>
            <a:blip r:embed="rId7"/>
            <a:stretch>
              <a:fillRect/>
            </a:stretch>
          </p:blipFill>
          <p:spPr>
            <a:xfrm>
              <a:off x="1194403" y="2617778"/>
              <a:ext cx="721686" cy="210206"/>
            </a:xfrm>
            <a:prstGeom prst="rect">
              <a:avLst/>
            </a:prstGeom>
          </p:spPr>
        </p:pic>
        <p:pic>
          <p:nvPicPr>
            <p:cNvPr id="8" name="Picture 7">
              <a:extLst>
                <a:ext uri="{FF2B5EF4-FFF2-40B4-BE49-F238E27FC236}">
                  <a16:creationId xmlns:a16="http://schemas.microsoft.com/office/drawing/2014/main" id="{FB337E23-14F5-CCD7-AC60-ED86840F0994}"/>
                </a:ext>
              </a:extLst>
            </p:cNvPr>
            <p:cNvPicPr>
              <a:picLocks noChangeAspect="1"/>
            </p:cNvPicPr>
            <p:nvPr/>
          </p:nvPicPr>
          <p:blipFill>
            <a:blip r:embed="rId8"/>
            <a:stretch>
              <a:fillRect/>
            </a:stretch>
          </p:blipFill>
          <p:spPr>
            <a:xfrm>
              <a:off x="1235316" y="1637145"/>
              <a:ext cx="702129" cy="381542"/>
            </a:xfrm>
            <a:prstGeom prst="rect">
              <a:avLst/>
            </a:prstGeom>
          </p:spPr>
        </p:pic>
        <p:pic>
          <p:nvPicPr>
            <p:cNvPr id="9" name="Picture 8">
              <a:extLst>
                <a:ext uri="{FF2B5EF4-FFF2-40B4-BE49-F238E27FC236}">
                  <a16:creationId xmlns:a16="http://schemas.microsoft.com/office/drawing/2014/main" id="{98AA226E-F695-2F80-4908-12693F7FE1F8}"/>
                </a:ext>
              </a:extLst>
            </p:cNvPr>
            <p:cNvPicPr>
              <a:picLocks noChangeAspect="1"/>
            </p:cNvPicPr>
            <p:nvPr/>
          </p:nvPicPr>
          <p:blipFill>
            <a:blip r:embed="rId9"/>
            <a:stretch>
              <a:fillRect/>
            </a:stretch>
          </p:blipFill>
          <p:spPr>
            <a:xfrm>
              <a:off x="1416855" y="2094783"/>
              <a:ext cx="280501" cy="269543"/>
            </a:xfrm>
            <a:prstGeom prst="rect">
              <a:avLst/>
            </a:prstGeom>
          </p:spPr>
        </p:pic>
        <p:pic>
          <p:nvPicPr>
            <p:cNvPr id="10" name="Picture 9">
              <a:extLst>
                <a:ext uri="{FF2B5EF4-FFF2-40B4-BE49-F238E27FC236}">
                  <a16:creationId xmlns:a16="http://schemas.microsoft.com/office/drawing/2014/main" id="{E2FFA850-9A25-9ABC-65F0-8EB59EB83B57}"/>
                </a:ext>
              </a:extLst>
            </p:cNvPr>
            <p:cNvPicPr>
              <a:picLocks noChangeAspect="1"/>
            </p:cNvPicPr>
            <p:nvPr/>
          </p:nvPicPr>
          <p:blipFill>
            <a:blip r:embed="rId9"/>
            <a:stretch>
              <a:fillRect/>
            </a:stretch>
          </p:blipFill>
          <p:spPr>
            <a:xfrm>
              <a:off x="1381292" y="3446780"/>
              <a:ext cx="334936" cy="321850"/>
            </a:xfrm>
            <a:prstGeom prst="rect">
              <a:avLst/>
            </a:prstGeom>
          </p:spPr>
        </p:pic>
        <p:pic>
          <p:nvPicPr>
            <p:cNvPr id="11" name="Picture 10">
              <a:extLst>
                <a:ext uri="{FF2B5EF4-FFF2-40B4-BE49-F238E27FC236}">
                  <a16:creationId xmlns:a16="http://schemas.microsoft.com/office/drawing/2014/main" id="{6FA698BC-0128-C5B3-CC27-C30A6FFB698A}"/>
                </a:ext>
              </a:extLst>
            </p:cNvPr>
            <p:cNvPicPr>
              <a:picLocks noChangeAspect="1"/>
            </p:cNvPicPr>
            <p:nvPr/>
          </p:nvPicPr>
          <p:blipFill>
            <a:blip r:embed="rId4"/>
            <a:stretch>
              <a:fillRect/>
            </a:stretch>
          </p:blipFill>
          <p:spPr>
            <a:xfrm>
              <a:off x="1407223" y="3883928"/>
              <a:ext cx="259174" cy="92928"/>
            </a:xfrm>
            <a:prstGeom prst="rect">
              <a:avLst/>
            </a:prstGeom>
          </p:spPr>
        </p:pic>
      </p:grpSp>
      <p:sp>
        <p:nvSpPr>
          <p:cNvPr id="2" name="Title 1">
            <a:extLst>
              <a:ext uri="{FF2B5EF4-FFF2-40B4-BE49-F238E27FC236}">
                <a16:creationId xmlns:a16="http://schemas.microsoft.com/office/drawing/2014/main" id="{F0EAED07-F282-9A24-B6CE-F4D0DCB7879E}"/>
              </a:ext>
            </a:extLst>
          </p:cNvPr>
          <p:cNvSpPr>
            <a:spLocks noGrp="1"/>
          </p:cNvSpPr>
          <p:nvPr>
            <p:ph type="title"/>
          </p:nvPr>
        </p:nvSpPr>
        <p:spPr>
          <a:xfrm>
            <a:off x="1660634" y="0"/>
            <a:ext cx="9693166" cy="1325563"/>
          </a:xfrm>
        </p:spPr>
        <p:txBody>
          <a:bodyPr>
            <a:normAutofit/>
          </a:bodyPr>
          <a:lstStyle/>
          <a:p>
            <a:r>
              <a:rPr lang="en-US" dirty="0"/>
              <a:t>Hypotheses 1 &amp; 2 mostly supported</a:t>
            </a:r>
          </a:p>
        </p:txBody>
      </p:sp>
      <p:sp>
        <p:nvSpPr>
          <p:cNvPr id="25" name="TextBox 24">
            <a:extLst>
              <a:ext uri="{FF2B5EF4-FFF2-40B4-BE49-F238E27FC236}">
                <a16:creationId xmlns:a16="http://schemas.microsoft.com/office/drawing/2014/main" id="{C6558BC0-8D63-48D3-C3CC-5084720B3ED9}"/>
              </a:ext>
            </a:extLst>
          </p:cNvPr>
          <p:cNvSpPr txBox="1"/>
          <p:nvPr/>
        </p:nvSpPr>
        <p:spPr>
          <a:xfrm>
            <a:off x="8459311" y="5219250"/>
            <a:ext cx="2888611" cy="646331"/>
          </a:xfrm>
          <a:prstGeom prst="rect">
            <a:avLst/>
          </a:prstGeom>
          <a:noFill/>
        </p:spPr>
        <p:txBody>
          <a:bodyPr wrap="none" rtlCol="0">
            <a:spAutoFit/>
          </a:bodyPr>
          <a:lstStyle/>
          <a:p>
            <a:r>
              <a:rPr lang="en-US" dirty="0"/>
              <a:t>Pollock and sablefish are +</a:t>
            </a:r>
          </a:p>
          <a:p>
            <a:r>
              <a:rPr lang="en-US" dirty="0"/>
              <a:t>Harbor seals </a:t>
            </a:r>
            <a:r>
              <a:rPr lang="en-US"/>
              <a:t>and sharks are -</a:t>
            </a:r>
            <a:endParaRPr lang="en-US" dirty="0"/>
          </a:p>
        </p:txBody>
      </p:sp>
      <p:pic>
        <p:nvPicPr>
          <p:cNvPr id="14" name="Picture 13">
            <a:extLst>
              <a:ext uri="{FF2B5EF4-FFF2-40B4-BE49-F238E27FC236}">
                <a16:creationId xmlns:a16="http://schemas.microsoft.com/office/drawing/2014/main" id="{9CAFE6C1-FD16-CEAA-09CF-6C7CD990752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07310" y="1413080"/>
            <a:ext cx="7322773" cy="5398994"/>
          </a:xfrm>
          <a:prstGeom prst="rect">
            <a:avLst/>
          </a:prstGeom>
        </p:spPr>
      </p:pic>
      <p:sp>
        <p:nvSpPr>
          <p:cNvPr id="15" name="TextBox 14">
            <a:extLst>
              <a:ext uri="{FF2B5EF4-FFF2-40B4-BE49-F238E27FC236}">
                <a16:creationId xmlns:a16="http://schemas.microsoft.com/office/drawing/2014/main" id="{249F2440-F02F-79EB-2461-8536045A405A}"/>
              </a:ext>
            </a:extLst>
          </p:cNvPr>
          <p:cNvSpPr txBox="1"/>
          <p:nvPr/>
        </p:nvSpPr>
        <p:spPr>
          <a:xfrm>
            <a:off x="8717729" y="3040106"/>
            <a:ext cx="3127138" cy="1477328"/>
          </a:xfrm>
          <a:prstGeom prst="rect">
            <a:avLst/>
          </a:prstGeom>
          <a:noFill/>
        </p:spPr>
        <p:txBody>
          <a:bodyPr wrap="none" rtlCol="0">
            <a:spAutoFit/>
          </a:bodyPr>
          <a:lstStyle/>
          <a:p>
            <a:r>
              <a:rPr lang="en-US" dirty="0"/>
              <a:t>Market squid, pink salmon and </a:t>
            </a:r>
          </a:p>
          <a:p>
            <a:r>
              <a:rPr lang="en-US" dirty="0"/>
              <a:t>WGOA </a:t>
            </a:r>
            <a:r>
              <a:rPr lang="en-US" dirty="0" err="1"/>
              <a:t>midtrophic</a:t>
            </a:r>
            <a:r>
              <a:rPr lang="en-US" dirty="0"/>
              <a:t> (forage fish)</a:t>
            </a:r>
          </a:p>
          <a:p>
            <a:r>
              <a:rPr lang="en-US" dirty="0"/>
              <a:t>(+ when I expected -)</a:t>
            </a:r>
          </a:p>
          <a:p>
            <a:r>
              <a:rPr lang="en-US" dirty="0"/>
              <a:t>Plankton +</a:t>
            </a:r>
          </a:p>
          <a:p>
            <a:r>
              <a:rPr lang="en-US" dirty="0"/>
              <a:t>Krill and </a:t>
            </a:r>
            <a:r>
              <a:rPr lang="en-US" dirty="0" err="1"/>
              <a:t>lowertrophic</a:t>
            </a:r>
            <a:r>
              <a:rPr lang="en-US" dirty="0"/>
              <a:t> -</a:t>
            </a:r>
          </a:p>
        </p:txBody>
      </p:sp>
    </p:spTree>
    <p:custDataLst>
      <p:tags r:id="rId1"/>
    </p:custDataLst>
    <p:extLst>
      <p:ext uri="{BB962C8B-B14F-4D97-AF65-F5344CB8AC3E}">
        <p14:creationId xmlns:p14="http://schemas.microsoft.com/office/powerpoint/2010/main" val="1854160753"/>
      </p:ext>
    </p:extLst>
  </p:cSld>
  <p:clrMapOvr>
    <a:masterClrMapping/>
  </p:clrMapOvr>
  <mc:AlternateContent xmlns:mc="http://schemas.openxmlformats.org/markup-compatibility/2006" xmlns:p14="http://schemas.microsoft.com/office/powerpoint/2010/main">
    <mc:Choice Requires="p14">
      <p:transition spd="slow" p14:dur="2000" advTm="78551"/>
    </mc:Choice>
    <mc:Fallback xmlns="">
      <p:transition spd="slow" advTm="7855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0" name="Straight Connector 29">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2" name="Rectangle 31">
            <a:extLst>
              <a:ext uri="{FF2B5EF4-FFF2-40B4-BE49-F238E27FC236}">
                <a16:creationId xmlns:a16="http://schemas.microsoft.com/office/drawing/2014/main" id="{5A1B47C8-47A0-4A88-8830-6DEA3B5DE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6E6DA66-0036-E0F7-9FE6-9813AE1B81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9140" y="640080"/>
            <a:ext cx="4685385" cy="5577840"/>
          </a:xfrm>
          <a:prstGeom prst="rect">
            <a:avLst/>
          </a:prstGeom>
        </p:spPr>
      </p:pic>
      <p:sp>
        <p:nvSpPr>
          <p:cNvPr id="34" name="Rectangle 33">
            <a:extLst>
              <a:ext uri="{FF2B5EF4-FFF2-40B4-BE49-F238E27FC236}">
                <a16:creationId xmlns:a16="http://schemas.microsoft.com/office/drawing/2014/main" id="{984BBFDD-E720-4805-A9C8-129FBBF6D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1348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61F06AE-0E0A-8106-3350-99C5208DA826}"/>
              </a:ext>
            </a:extLst>
          </p:cNvPr>
          <p:cNvSpPr>
            <a:spLocks noGrp="1"/>
          </p:cNvSpPr>
          <p:nvPr>
            <p:ph type="title"/>
          </p:nvPr>
        </p:nvSpPr>
        <p:spPr>
          <a:xfrm>
            <a:off x="8096885" y="640080"/>
            <a:ext cx="3659246" cy="2926080"/>
          </a:xfrm>
        </p:spPr>
        <p:txBody>
          <a:bodyPr vert="horz" lIns="91440" tIns="45720" rIns="91440" bIns="45720" rtlCol="0" anchor="b">
            <a:normAutofit fontScale="90000"/>
          </a:bodyPr>
          <a:lstStyle/>
          <a:p>
            <a:r>
              <a:rPr lang="en-US" sz="4100" dirty="0">
                <a:solidFill>
                  <a:srgbClr val="FFFFFF"/>
                </a:solidFill>
              </a:rPr>
              <a:t>However, some indicators had the opposite impacts compared with those expected</a:t>
            </a:r>
            <a:br>
              <a:rPr lang="en-US" sz="4100" dirty="0">
                <a:solidFill>
                  <a:srgbClr val="FFFFFF"/>
                </a:solidFill>
              </a:rPr>
            </a:br>
            <a:r>
              <a:rPr lang="en-US" sz="4100" dirty="0">
                <a:solidFill>
                  <a:srgbClr val="FFFFFF"/>
                </a:solidFill>
              </a:rPr>
              <a:t>“flipped sign”</a:t>
            </a:r>
          </a:p>
        </p:txBody>
      </p:sp>
      <p:sp>
        <p:nvSpPr>
          <p:cNvPr id="36" name="Rectangle 35">
            <a:extLst>
              <a:ext uri="{FF2B5EF4-FFF2-40B4-BE49-F238E27FC236}">
                <a16:creationId xmlns:a16="http://schemas.microsoft.com/office/drawing/2014/main" id="{5AC4BE46-4A77-42FE-9D15-065CDB2F8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07237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6" name="Straight Connector 25">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8" name="Rectangle 27">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0F2FF-6AC8-2024-D30E-F4DA216A3D43}"/>
              </a:ext>
            </a:extLst>
          </p:cNvPr>
          <p:cNvSpPr>
            <a:spLocks noGrp="1"/>
          </p:cNvSpPr>
          <p:nvPr>
            <p:ph type="title"/>
          </p:nvPr>
        </p:nvSpPr>
        <p:spPr>
          <a:xfrm>
            <a:off x="5289754" y="639097"/>
            <a:ext cx="6253317" cy="3686015"/>
          </a:xfrm>
        </p:spPr>
        <p:txBody>
          <a:bodyPr vert="horz" lIns="91440" tIns="45720" rIns="91440" bIns="45720" rtlCol="0" anchor="b">
            <a:normAutofit/>
          </a:bodyPr>
          <a:lstStyle/>
          <a:p>
            <a:r>
              <a:rPr lang="en-US" sz="3800">
                <a:solidFill>
                  <a:schemeClr val="tx1">
                    <a:lumMod val="85000"/>
                    <a:lumOff val="15000"/>
                  </a:schemeClr>
                </a:solidFill>
              </a:rPr>
              <a:t>Hypothesis 3: Predator impact is modulated by the abundance of alternative prey and temperature-driven spatial overlap between predators and salmon (top-down modulated)</a:t>
            </a:r>
          </a:p>
        </p:txBody>
      </p:sp>
      <p:pic>
        <p:nvPicPr>
          <p:cNvPr id="4" name="Picture 3">
            <a:extLst>
              <a:ext uri="{FF2B5EF4-FFF2-40B4-BE49-F238E27FC236}">
                <a16:creationId xmlns:a16="http://schemas.microsoft.com/office/drawing/2014/main" id="{CDE76265-AAC7-082C-116B-B051C2CE421D}"/>
              </a:ext>
            </a:extLst>
          </p:cNvPr>
          <p:cNvPicPr>
            <a:picLocks noChangeAspect="1"/>
          </p:cNvPicPr>
          <p:nvPr/>
        </p:nvPicPr>
        <p:blipFill>
          <a:blip r:embed="rId2">
            <a:extLst>
              <a:ext uri="{28A0092B-C50C-407E-A947-70E740481C1C}">
                <a14:useLocalDpi xmlns:a14="http://schemas.microsoft.com/office/drawing/2010/main" val="0"/>
              </a:ext>
            </a:extLst>
          </a:blip>
          <a:srcRect l="1912" r="3557"/>
          <a:stretch>
            <a:fillRect/>
          </a:stretch>
        </p:blipFill>
        <p:spPr>
          <a:xfrm>
            <a:off x="-1" y="10"/>
            <a:ext cx="4635315" cy="6857989"/>
          </a:xfrm>
          <a:prstGeom prst="rect">
            <a:avLst/>
          </a:prstGeom>
        </p:spPr>
      </p:pic>
      <p:cxnSp>
        <p:nvCxnSpPr>
          <p:cNvPr id="30" name="Straight Connector 29">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57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FC4513-9951-2061-D473-42B186592DB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E70005-3E3E-01A7-62C7-390EDA2C66A5}"/>
              </a:ext>
            </a:extLst>
          </p:cNvPr>
          <p:cNvSpPr>
            <a:spLocks noGrp="1"/>
          </p:cNvSpPr>
          <p:nvPr>
            <p:ph type="title"/>
          </p:nvPr>
        </p:nvSpPr>
        <p:spPr>
          <a:xfrm>
            <a:off x="8141110" y="639097"/>
            <a:ext cx="3401961" cy="3686015"/>
          </a:xfrm>
        </p:spPr>
        <p:txBody>
          <a:bodyPr vert="horz" lIns="91440" tIns="45720" rIns="91440" bIns="45720" rtlCol="0" anchor="b">
            <a:noAutofit/>
          </a:bodyPr>
          <a:lstStyle/>
          <a:p>
            <a:r>
              <a:rPr lang="en-US" sz="2800" dirty="0">
                <a:solidFill>
                  <a:schemeClr val="tx1">
                    <a:lumMod val="85000"/>
                    <a:lumOff val="15000"/>
                  </a:schemeClr>
                </a:solidFill>
              </a:rPr>
              <a:t>THERE WILL BE A “GOOD OCEAN” AND “BAD OCEAN” PANEL W/ PREDATORS OVERLAPPING MORE AND FEWER ALTERNATIVE PREY IN BAD OCEAN</a:t>
            </a:r>
          </a:p>
        </p:txBody>
      </p:sp>
      <p:pic>
        <p:nvPicPr>
          <p:cNvPr id="4" name="Picture 3">
            <a:extLst>
              <a:ext uri="{FF2B5EF4-FFF2-40B4-BE49-F238E27FC236}">
                <a16:creationId xmlns:a16="http://schemas.microsoft.com/office/drawing/2014/main" id="{E413FE81-2A7A-F411-68C3-8FCC2296A9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401" y="640081"/>
            <a:ext cx="6761412" cy="5054156"/>
          </a:xfrm>
          <a:prstGeom prst="rect">
            <a:avLst/>
          </a:prstGeom>
        </p:spPr>
      </p:pic>
      <p:cxnSp>
        <p:nvCxnSpPr>
          <p:cNvPr id="17" name="Straight Connector 1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00937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3" name="Rectangle 32">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2D5AB8FB-E42C-035C-AFB1-F79DE010DF5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t="6635" b="876"/>
          <a:stretch>
            <a:fillRect/>
          </a:stretch>
        </p:blipFill>
        <p:spPr>
          <a:xfrm>
            <a:off x="1632236" y="662940"/>
            <a:ext cx="8959531" cy="5282721"/>
          </a:xfrm>
          <a:prstGeom prst="rect">
            <a:avLst/>
          </a:prstGeom>
        </p:spPr>
      </p:pic>
    </p:spTree>
    <p:extLst>
      <p:ext uri="{BB962C8B-B14F-4D97-AF65-F5344CB8AC3E}">
        <p14:creationId xmlns:p14="http://schemas.microsoft.com/office/powerpoint/2010/main" val="3244378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B8CF7-EBAC-466D-E78F-312C08256443}"/>
              </a:ext>
            </a:extLst>
          </p:cNvPr>
          <p:cNvSpPr>
            <a:spLocks noGrp="1"/>
          </p:cNvSpPr>
          <p:nvPr>
            <p:ph type="title"/>
          </p:nvPr>
        </p:nvSpPr>
        <p:spPr>
          <a:xfrm>
            <a:off x="1097280" y="286604"/>
            <a:ext cx="10058400" cy="854706"/>
          </a:xfrm>
        </p:spPr>
        <p:txBody>
          <a:bodyPr/>
          <a:lstStyle/>
          <a:p>
            <a:r>
              <a:rPr lang="en-US" dirty="0"/>
              <a:t>Predator weighting function</a:t>
            </a:r>
          </a:p>
        </p:txBody>
      </p:sp>
      <p:graphicFrame>
        <p:nvGraphicFramePr>
          <p:cNvPr id="8" name="Table 7">
            <a:extLst>
              <a:ext uri="{FF2B5EF4-FFF2-40B4-BE49-F238E27FC236}">
                <a16:creationId xmlns:a16="http://schemas.microsoft.com/office/drawing/2014/main" id="{EFEF28F8-075F-FFB3-4BF1-FA5245C640DD}"/>
              </a:ext>
            </a:extLst>
          </p:cNvPr>
          <p:cNvGraphicFramePr>
            <a:graphicFrameLocks noGrp="1"/>
          </p:cNvGraphicFramePr>
          <p:nvPr>
            <p:extLst>
              <p:ext uri="{D42A27DB-BD31-4B8C-83A1-F6EECF244321}">
                <p14:modId xmlns:p14="http://schemas.microsoft.com/office/powerpoint/2010/main" val="4238860364"/>
              </p:ext>
            </p:extLst>
          </p:nvPr>
        </p:nvGraphicFramePr>
        <p:xfrm>
          <a:off x="7040591" y="3851180"/>
          <a:ext cx="4914900" cy="2809875"/>
        </p:xfrm>
        <a:graphic>
          <a:graphicData uri="http://schemas.openxmlformats.org/drawingml/2006/table">
            <a:tbl>
              <a:tblPr>
                <a:tableStyleId>{5C22544A-7EE6-4342-B048-85BDC9FD1C3A}</a:tableStyleId>
              </a:tblPr>
              <a:tblGrid>
                <a:gridCol w="2919114">
                  <a:extLst>
                    <a:ext uri="{9D8B030D-6E8A-4147-A177-3AD203B41FA5}">
                      <a16:colId xmlns:a16="http://schemas.microsoft.com/office/drawing/2014/main" val="1768206789"/>
                    </a:ext>
                  </a:extLst>
                </a:gridCol>
                <a:gridCol w="1167646">
                  <a:extLst>
                    <a:ext uri="{9D8B030D-6E8A-4147-A177-3AD203B41FA5}">
                      <a16:colId xmlns:a16="http://schemas.microsoft.com/office/drawing/2014/main" val="2098641568"/>
                    </a:ext>
                  </a:extLst>
                </a:gridCol>
                <a:gridCol w="828140">
                  <a:extLst>
                    <a:ext uri="{9D8B030D-6E8A-4147-A177-3AD203B41FA5}">
                      <a16:colId xmlns:a16="http://schemas.microsoft.com/office/drawing/2014/main" val="3175026407"/>
                    </a:ext>
                  </a:extLst>
                </a:gridCol>
              </a:tblGrid>
              <a:tr h="0">
                <a:tc>
                  <a:txBody>
                    <a:bodyPr/>
                    <a:lstStyle/>
                    <a:p>
                      <a:pPr algn="l" fontAlgn="b">
                        <a:buNone/>
                      </a:pPr>
                      <a:r>
                        <a:rPr lang="en-US" sz="1100" u="none" strike="noStrike">
                          <a:effectLst/>
                        </a:rPr>
                        <a:t>predator</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abs_variant_type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100" u="none" strike="noStrike">
                          <a:effectLst/>
                        </a:rPr>
                        <a:t>abs_weight_w</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39643266"/>
                  </a:ext>
                </a:extLst>
              </a:tr>
              <a:tr h="180975">
                <a:tc>
                  <a:txBody>
                    <a:bodyPr/>
                    <a:lstStyle/>
                    <a:p>
                      <a:pPr algn="l" fontAlgn="b">
                        <a:buNone/>
                      </a:pPr>
                      <a:r>
                        <a:rPr lang="en-US" sz="1100" u="none" strike="noStrike">
                          <a:effectLst/>
                        </a:rPr>
                        <a:t>X10_harbour_seal_DFO_Coastwide_smoltyr</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Joint SST + 1 AltPrey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100" u="none" strike="noStrike">
                          <a:effectLst/>
                        </a:rPr>
                        <a:t>0.5</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66103554"/>
                  </a:ext>
                </a:extLst>
              </a:tr>
              <a:tr h="180975">
                <a:tc>
                  <a:txBody>
                    <a:bodyPr/>
                    <a:lstStyle/>
                    <a:p>
                      <a:pPr algn="l" fontAlgn="b">
                        <a:buNone/>
                      </a:pPr>
                      <a:r>
                        <a:rPr lang="en-US" sz="1100" u="none" strike="noStrike">
                          <a:effectLst/>
                        </a:rPr>
                        <a:t>X15_DFA_sleeperSharkBSAI_predAK_smoltyr</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Joint SST + 1 AltPrey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92124635"/>
                  </a:ext>
                </a:extLst>
              </a:tr>
              <a:tr h="180975">
                <a:tc>
                  <a:txBody>
                    <a:bodyPr/>
                    <a:lstStyle/>
                    <a:p>
                      <a:pPr algn="l" fontAlgn="b">
                        <a:buNone/>
                      </a:pPr>
                      <a:r>
                        <a:rPr lang="en-US" sz="1100" u="none" strike="noStrike">
                          <a:effectLst/>
                        </a:rPr>
                        <a:t>X15_sablefishAK_biomass4plus_smoltyr</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Joint SST + 1 AltPrey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38391604"/>
                  </a:ext>
                </a:extLst>
              </a:tr>
              <a:tr h="180975">
                <a:tc>
                  <a:txBody>
                    <a:bodyPr/>
                    <a:lstStyle/>
                    <a:p>
                      <a:pPr algn="l" fontAlgn="b">
                        <a:buNone/>
                      </a:pPr>
                      <a:r>
                        <a:rPr lang="en-US" sz="1100" u="none" strike="noStrike" dirty="0">
                          <a:effectLst/>
                        </a:rPr>
                        <a:t>X15_sablefishAK_biomass3plus_smoltyr</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Joint SST + 2 AltPrey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49260967"/>
                  </a:ext>
                </a:extLst>
              </a:tr>
              <a:tr h="180975">
                <a:tc>
                  <a:txBody>
                    <a:bodyPr/>
                    <a:lstStyle/>
                    <a:p>
                      <a:pPr algn="l" fontAlgn="b">
                        <a:buNone/>
                      </a:pPr>
                      <a:r>
                        <a:rPr lang="en-US" sz="1100" u="none" strike="noStrike">
                          <a:effectLst/>
                        </a:rPr>
                        <a:t>X10_harbour_seal_DFO_WCVI_smoltyr</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AltPrey Only (2 Prey)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64095056"/>
                  </a:ext>
                </a:extLst>
              </a:tr>
              <a:tr h="180975">
                <a:tc>
                  <a:txBody>
                    <a:bodyPr/>
                    <a:lstStyle/>
                    <a:p>
                      <a:pPr algn="l" fontAlgn="b">
                        <a:buNone/>
                      </a:pPr>
                      <a:r>
                        <a:rPr lang="en-US" sz="1100" u="none" strike="noStrike">
                          <a:effectLst/>
                        </a:rPr>
                        <a:t>X15_pollockGOA_SSB_lag1_smoltyr</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dirty="0" err="1">
                          <a:effectLst/>
                        </a:rPr>
                        <a:t>AltPrey</a:t>
                      </a:r>
                      <a:r>
                        <a:rPr lang="en-US" sz="1100" u="none" strike="noStrike" dirty="0">
                          <a:effectLst/>
                        </a:rPr>
                        <a:t> Only (1 Prey)</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100" u="none" strike="noStrike" dirty="0">
                          <a:effectLst/>
                        </a:rPr>
                        <a:t>0.8</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689435429"/>
                  </a:ext>
                </a:extLst>
              </a:tr>
              <a:tr h="180975">
                <a:tc>
                  <a:txBody>
                    <a:bodyPr/>
                    <a:lstStyle/>
                    <a:p>
                      <a:pPr algn="l" fontAlgn="b">
                        <a:buNone/>
                      </a:pPr>
                      <a:r>
                        <a:rPr lang="en-US" sz="1100" u="none" strike="noStrike">
                          <a:effectLst/>
                        </a:rPr>
                        <a:t>X15_DFA_halibutBiomassAge8plus_predAK_adultyr</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Joint SST + 1 AltPrey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100" u="none" strike="noStrike">
                          <a:effectLst/>
                        </a:rPr>
                        <a:t>0.6</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59034867"/>
                  </a:ext>
                </a:extLst>
              </a:tr>
              <a:tr h="180975">
                <a:tc>
                  <a:txBody>
                    <a:bodyPr/>
                    <a:lstStyle/>
                    <a:p>
                      <a:pPr algn="l" fontAlgn="b">
                        <a:buNone/>
                      </a:pPr>
                      <a:r>
                        <a:rPr lang="en-US" sz="1100" u="none" strike="noStrike">
                          <a:effectLst/>
                        </a:rPr>
                        <a:t>X11_ssl_seak_pup_pred_smoltyr</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Joint SST + 2 AltPrey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037838751"/>
                  </a:ext>
                </a:extLst>
              </a:tr>
              <a:tr h="180975">
                <a:tc>
                  <a:txBody>
                    <a:bodyPr/>
                    <a:lstStyle/>
                    <a:p>
                      <a:pPr algn="l" fontAlgn="b">
                        <a:buNone/>
                      </a:pPr>
                      <a:r>
                        <a:rPr lang="en-US" sz="1100" u="none" strike="noStrike">
                          <a:effectLst/>
                        </a:rPr>
                        <a:t>X15_pollockGOA_SSB_smoltyr</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AltPrey Only (1 Prey)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100" u="none" strike="noStrike">
                          <a:effectLst/>
                        </a:rPr>
                        <a:t>0.7</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36962243"/>
                  </a:ext>
                </a:extLst>
              </a:tr>
              <a:tr h="180975">
                <a:tc>
                  <a:txBody>
                    <a:bodyPr/>
                    <a:lstStyle/>
                    <a:p>
                      <a:pPr algn="l" fontAlgn="b">
                        <a:buNone/>
                      </a:pPr>
                      <a:r>
                        <a:rPr lang="en-US" sz="1100" u="none" strike="noStrike">
                          <a:effectLst/>
                        </a:rPr>
                        <a:t>X15_salmonSharkGoA_predAK_smoltyr</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Joint SST + 2 AltPrey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100" u="none" strike="noStrike" dirty="0">
                          <a:effectLst/>
                        </a:rPr>
                        <a:t>1</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16358637"/>
                  </a:ext>
                </a:extLst>
              </a:tr>
            </a:tbl>
          </a:graphicData>
        </a:graphic>
      </p:graphicFrame>
      <p:pic>
        <p:nvPicPr>
          <p:cNvPr id="10" name="Picture 9">
            <a:extLst>
              <a:ext uri="{FF2B5EF4-FFF2-40B4-BE49-F238E27FC236}">
                <a16:creationId xmlns:a16="http://schemas.microsoft.com/office/drawing/2014/main" id="{D30969F6-32C9-A04F-DBD9-0040C95F7D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5605" y="2104946"/>
            <a:ext cx="7315215" cy="4114808"/>
          </a:xfrm>
          <a:prstGeom prst="rect">
            <a:avLst/>
          </a:prstGeom>
        </p:spPr>
      </p:pic>
    </p:spTree>
    <p:extLst>
      <p:ext uri="{BB962C8B-B14F-4D97-AF65-F5344CB8AC3E}">
        <p14:creationId xmlns:p14="http://schemas.microsoft.com/office/powerpoint/2010/main" val="2297292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B7466BF-FA3A-DE10-0C7A-144B689FFBF7}"/>
              </a:ext>
            </a:extLst>
          </p:cNvPr>
          <p:cNvPicPr>
            <a:picLocks noChangeAspect="1"/>
          </p:cNvPicPr>
          <p:nvPr/>
        </p:nvPicPr>
        <p:blipFill>
          <a:blip r:embed="rId2">
            <a:extLst>
              <a:ext uri="{28A0092B-C50C-407E-A947-70E740481C1C}">
                <a14:useLocalDpi xmlns:a14="http://schemas.microsoft.com/office/drawing/2010/main" val="0"/>
              </a:ext>
            </a:extLst>
          </a:blip>
          <a:srcRect t="51898" r="49390"/>
          <a:stretch>
            <a:fillRect/>
          </a:stretch>
        </p:blipFill>
        <p:spPr>
          <a:xfrm>
            <a:off x="2403970" y="905933"/>
            <a:ext cx="7416063" cy="5039728"/>
          </a:xfrm>
          <a:prstGeom prst="rect">
            <a:avLst/>
          </a:prstGeom>
        </p:spPr>
      </p:pic>
    </p:spTree>
    <p:extLst>
      <p:ext uri="{BB962C8B-B14F-4D97-AF65-F5344CB8AC3E}">
        <p14:creationId xmlns:p14="http://schemas.microsoft.com/office/powerpoint/2010/main" val="518417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494260-1137-F036-7F80-BB21B9581AC7}"/>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C839845-922B-7DE7-2328-B96B8CE2DA97}"/>
              </a:ext>
            </a:extLst>
          </p:cNvPr>
          <p:cNvPicPr>
            <a:picLocks noChangeAspect="1"/>
          </p:cNvPicPr>
          <p:nvPr/>
        </p:nvPicPr>
        <p:blipFill>
          <a:blip r:embed="rId2">
            <a:extLst>
              <a:ext uri="{28A0092B-C50C-407E-A947-70E740481C1C}">
                <a14:useLocalDpi xmlns:a14="http://schemas.microsoft.com/office/drawing/2010/main" val="0"/>
              </a:ext>
            </a:extLst>
          </a:blip>
          <a:srcRect l="49561" t="236" r="71" b="48022"/>
          <a:stretch>
            <a:fillRect/>
          </a:stretch>
        </p:blipFill>
        <p:spPr>
          <a:xfrm>
            <a:off x="2405742" y="521208"/>
            <a:ext cx="7380515" cy="5421086"/>
          </a:xfrm>
          <a:prstGeom prst="rect">
            <a:avLst/>
          </a:prstGeom>
        </p:spPr>
      </p:pic>
    </p:spTree>
    <p:extLst>
      <p:ext uri="{BB962C8B-B14F-4D97-AF65-F5344CB8AC3E}">
        <p14:creationId xmlns:p14="http://schemas.microsoft.com/office/powerpoint/2010/main" val="2337624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4A240-7067-4BDB-1044-74296BF09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5376F-59BC-22F0-E219-A63141F812E9}"/>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DE093E3E-E047-E442-91CD-D662782A26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0"/>
            <a:ext cx="9601200" cy="6858000"/>
          </a:xfrm>
          <a:prstGeom prst="rect">
            <a:avLst/>
          </a:prstGeom>
        </p:spPr>
      </p:pic>
    </p:spTree>
    <p:extLst>
      <p:ext uri="{BB962C8B-B14F-4D97-AF65-F5344CB8AC3E}">
        <p14:creationId xmlns:p14="http://schemas.microsoft.com/office/powerpoint/2010/main" val="3317938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2" name="Straight Connector 21">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5A1B47C8-47A0-4A88-8830-6DEA3B5DE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736833E-989A-E552-0C30-499A453671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999" y="738307"/>
            <a:ext cx="6275667" cy="5381385"/>
          </a:xfrm>
          <a:prstGeom prst="rect">
            <a:avLst/>
          </a:prstGeom>
        </p:spPr>
      </p:pic>
      <p:sp>
        <p:nvSpPr>
          <p:cNvPr id="24" name="Rectangle 23">
            <a:extLst>
              <a:ext uri="{FF2B5EF4-FFF2-40B4-BE49-F238E27FC236}">
                <a16:creationId xmlns:a16="http://schemas.microsoft.com/office/drawing/2014/main" id="{984BBFDD-E720-4805-A9C8-129FBBF6D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1348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DE564C0-3172-2A2A-D6AA-03BE08C7993A}"/>
              </a:ext>
            </a:extLst>
          </p:cNvPr>
          <p:cNvSpPr>
            <a:spLocks noGrp="1"/>
          </p:cNvSpPr>
          <p:nvPr>
            <p:ph type="title"/>
          </p:nvPr>
        </p:nvSpPr>
        <p:spPr>
          <a:xfrm>
            <a:off x="8096885" y="640080"/>
            <a:ext cx="3659246" cy="2926080"/>
          </a:xfrm>
        </p:spPr>
        <p:txBody>
          <a:bodyPr vert="horz" lIns="91440" tIns="45720" rIns="91440" bIns="45720" rtlCol="0" anchor="b">
            <a:normAutofit/>
          </a:bodyPr>
          <a:lstStyle/>
          <a:p>
            <a:endParaRPr lang="en-US" sz="4400">
              <a:solidFill>
                <a:srgbClr val="FFFFFF"/>
              </a:solidFill>
            </a:endParaRPr>
          </a:p>
        </p:txBody>
      </p:sp>
      <p:sp>
        <p:nvSpPr>
          <p:cNvPr id="19" name="Rectangle 18">
            <a:extLst>
              <a:ext uri="{FF2B5EF4-FFF2-40B4-BE49-F238E27FC236}">
                <a16:creationId xmlns:a16="http://schemas.microsoft.com/office/drawing/2014/main" id="{5AC4BE46-4A77-42FE-9D15-065CDB2F8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06879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7C10-BA3C-1ADF-C6E5-7B940EA5C9BA}"/>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D7C2CD88-BF7D-3FDE-1EFF-0F1A2C7FA9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 y="91908"/>
            <a:ext cx="12192000" cy="3734035"/>
          </a:xfrm>
          <a:prstGeom prst="rect">
            <a:avLst/>
          </a:prstGeom>
        </p:spPr>
      </p:pic>
      <p:pic>
        <p:nvPicPr>
          <p:cNvPr id="8" name="Picture 7">
            <a:extLst>
              <a:ext uri="{FF2B5EF4-FFF2-40B4-BE49-F238E27FC236}">
                <a16:creationId xmlns:a16="http://schemas.microsoft.com/office/drawing/2014/main" id="{A8EF653E-EA81-F919-2A4B-D9E4A37ACC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020638"/>
            <a:ext cx="12192000" cy="4786582"/>
          </a:xfrm>
          <a:prstGeom prst="rect">
            <a:avLst/>
          </a:prstGeom>
        </p:spPr>
      </p:pic>
    </p:spTree>
    <p:extLst>
      <p:ext uri="{BB962C8B-B14F-4D97-AF65-F5344CB8AC3E}">
        <p14:creationId xmlns:p14="http://schemas.microsoft.com/office/powerpoint/2010/main" val="1518099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617AC9-916C-74EE-2455-780F37B8289F}"/>
              </a:ext>
            </a:extLst>
          </p:cNvPr>
          <p:cNvSpPr>
            <a:spLocks noGrp="1"/>
          </p:cNvSpPr>
          <p:nvPr>
            <p:ph type="title"/>
          </p:nvPr>
        </p:nvSpPr>
        <p:spPr/>
        <p:txBody>
          <a:bodyPr/>
          <a:lstStyle/>
          <a:p>
            <a:r>
              <a:rPr lang="en-US" dirty="0"/>
              <a:t>CONCLUSIONS</a:t>
            </a:r>
          </a:p>
        </p:txBody>
      </p:sp>
      <p:sp>
        <p:nvSpPr>
          <p:cNvPr id="5" name="Content Placeholder 4">
            <a:extLst>
              <a:ext uri="{FF2B5EF4-FFF2-40B4-BE49-F238E27FC236}">
                <a16:creationId xmlns:a16="http://schemas.microsoft.com/office/drawing/2014/main" id="{115BA28D-A21E-BA7A-1966-40A791FA2CD1}"/>
              </a:ext>
            </a:extLst>
          </p:cNvPr>
          <p:cNvSpPr>
            <a:spLocks noGrp="1"/>
          </p:cNvSpPr>
          <p:nvPr>
            <p:ph idx="1"/>
          </p:nvPr>
        </p:nvSpPr>
        <p:spPr/>
        <p:txBody>
          <a:bodyPr/>
          <a:lstStyle/>
          <a:p>
            <a:pPr marL="0" indent="0">
              <a:buNone/>
            </a:pPr>
            <a:r>
              <a:rPr lang="en-US" dirty="0"/>
              <a:t>BENEFITS OF REGIONAL SURVEYS</a:t>
            </a:r>
          </a:p>
          <a:p>
            <a:pPr marL="0" indent="0">
              <a:buNone/>
            </a:pPr>
            <a:r>
              <a:rPr lang="en-US" dirty="0"/>
              <a:t>	Allows characterization of WA coast, WCVI, BC coast, and AK species interactions</a:t>
            </a:r>
          </a:p>
          <a:p>
            <a:pPr marL="0" indent="0">
              <a:buNone/>
            </a:pPr>
            <a:r>
              <a:rPr lang="en-US" dirty="0"/>
              <a:t>	Improved “limiting factor” identification, despite regional correlations	</a:t>
            </a:r>
          </a:p>
          <a:p>
            <a:pPr marL="0" indent="0">
              <a:buNone/>
            </a:pPr>
            <a:r>
              <a:rPr lang="en-US" dirty="0"/>
              <a:t>	DFAs often combine data from different regions </a:t>
            </a:r>
          </a:p>
          <a:p>
            <a:pPr marL="0" indent="0">
              <a:buNone/>
            </a:pPr>
            <a:r>
              <a:rPr lang="en-US" dirty="0"/>
              <a:t>		that were positively and negatively correlated – more questions!!!</a:t>
            </a:r>
          </a:p>
          <a:p>
            <a:pPr marL="0" indent="0">
              <a:buNone/>
            </a:pPr>
            <a:r>
              <a:rPr lang="en-US" dirty="0"/>
              <a:t>PREDATORS AS DRIVER OR PROXY?</a:t>
            </a:r>
          </a:p>
          <a:p>
            <a:pPr lvl="1"/>
            <a:r>
              <a:rPr lang="en-US" dirty="0"/>
              <a:t>Experiments needed to tell, but both direct effects and modulated impacts were consistent with the data for a number of predators</a:t>
            </a:r>
          </a:p>
          <a:p>
            <a:pPr lvl="1"/>
            <a:r>
              <a:rPr lang="en-US" dirty="0"/>
              <a:t>DFAs useful for dimension reduction here, but next step is traditional SEM – Eve!!!</a:t>
            </a:r>
          </a:p>
          <a:p>
            <a:pPr lvl="1"/>
            <a:r>
              <a:rPr lang="en-US" dirty="0"/>
              <a:t>AK predation effects could explain much of the unexplained variation in survival </a:t>
            </a:r>
          </a:p>
          <a:p>
            <a:pPr lvl="1"/>
            <a:endParaRPr lang="en-US" dirty="0"/>
          </a:p>
        </p:txBody>
      </p:sp>
    </p:spTree>
    <p:extLst>
      <p:ext uri="{BB962C8B-B14F-4D97-AF65-F5344CB8AC3E}">
        <p14:creationId xmlns:p14="http://schemas.microsoft.com/office/powerpoint/2010/main" val="1549161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7F91501-D9E7-A636-653A-4E78EA79F2AF}"/>
              </a:ext>
            </a:extLst>
          </p:cNvPr>
          <p:cNvSpPr>
            <a:spLocks noGrp="1"/>
          </p:cNvSpPr>
          <p:nvPr>
            <p:ph type="title"/>
          </p:nvPr>
        </p:nvSpPr>
        <p:spPr>
          <a:xfrm>
            <a:off x="492370" y="605896"/>
            <a:ext cx="3084844" cy="5646208"/>
          </a:xfrm>
        </p:spPr>
        <p:txBody>
          <a:bodyPr anchor="ctr">
            <a:normAutofit/>
          </a:bodyPr>
          <a:lstStyle/>
          <a:p>
            <a:r>
              <a:rPr lang="en-US" sz="3600">
                <a:solidFill>
                  <a:srgbClr val="FFFFFF"/>
                </a:solidFill>
              </a:rPr>
              <a:t>Thank you, questions?</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DA887F4-CC25-6C3B-B684-F5A3717283E4}"/>
              </a:ext>
            </a:extLst>
          </p:cNvPr>
          <p:cNvSpPr>
            <a:spLocks noGrp="1"/>
          </p:cNvSpPr>
          <p:nvPr>
            <p:ph idx="1"/>
          </p:nvPr>
        </p:nvSpPr>
        <p:spPr>
          <a:xfrm>
            <a:off x="4742016" y="605896"/>
            <a:ext cx="6413663" cy="5646208"/>
          </a:xfrm>
        </p:spPr>
        <p:txBody>
          <a:bodyPr anchor="ctr">
            <a:normAutofit/>
          </a:bodyPr>
          <a:lstStyle/>
          <a:p>
            <a:r>
              <a:rPr lang="en-US" dirty="0"/>
              <a:t>acknowledgements</a:t>
            </a:r>
          </a:p>
        </p:txBody>
      </p:sp>
    </p:spTree>
    <p:extLst>
      <p:ext uri="{BB962C8B-B14F-4D97-AF65-F5344CB8AC3E}">
        <p14:creationId xmlns:p14="http://schemas.microsoft.com/office/powerpoint/2010/main" val="421396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7B7F1-1B51-9FD2-D781-56F41C02F9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8A0831-3220-EBA3-D482-28AC285708D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67724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61334-F466-5E90-DF8A-5A97832D91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82BA68-3147-D635-D4D3-5575754CEDD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34876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0EB9-FC2D-73DE-C429-870F690307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8748D4-3923-740F-703A-EC928F3042C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99181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21B2F-530B-5EA0-772A-B7E1D9C517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F9509C-5CCF-D483-7775-A43B0A714C0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45076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gradFill>
          <a:gsLst>
            <a:gs pos="95495">
              <a:srgbClr val="10100F"/>
            </a:gs>
            <a:gs pos="34000">
              <a:srgbClr val="23616A"/>
            </a:gs>
            <a:gs pos="0">
              <a:srgbClr val="82D9EA"/>
            </a:gs>
            <a:gs pos="57647">
              <a:srgbClr val="546449"/>
            </a:gs>
            <a:gs pos="42000">
              <a:srgbClr val="526549"/>
            </a:gs>
          </a:gsLst>
          <a:path path="rect">
            <a:fillToRect l="100000" b="100000"/>
          </a:path>
        </a:gradFill>
        <a:effectLst/>
      </p:bgPr>
    </p:bg>
    <p:spTree>
      <p:nvGrpSpPr>
        <p:cNvPr id="1" name="">
          <a:extLst>
            <a:ext uri="{FF2B5EF4-FFF2-40B4-BE49-F238E27FC236}">
              <a16:creationId xmlns:a16="http://schemas.microsoft.com/office/drawing/2014/main" id="{850E2ECE-D118-65ED-13EE-BF87C8F7A374}"/>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0A0AEB03-F5D0-D8B5-142E-826D9C2229FA}"/>
              </a:ext>
            </a:extLst>
          </p:cNvPr>
          <p:cNvPicPr>
            <a:picLocks noChangeAspect="1"/>
          </p:cNvPicPr>
          <p:nvPr/>
        </p:nvPicPr>
        <p:blipFill rotWithShape="1">
          <a:blip r:embed="rId3">
            <a:extLst>
              <a:ext uri="{28A0092B-C50C-407E-A947-70E740481C1C}">
                <a14:useLocalDpi xmlns:a14="http://schemas.microsoft.com/office/drawing/2010/main" val="0"/>
              </a:ext>
            </a:extLst>
          </a:blip>
          <a:srcRect l="34828" t="54053" r="34827" b="8017"/>
          <a:stretch/>
        </p:blipFill>
        <p:spPr>
          <a:xfrm>
            <a:off x="0" y="92683"/>
            <a:ext cx="1629102" cy="1110751"/>
          </a:xfrm>
          <a:prstGeom prst="rect">
            <a:avLst/>
          </a:prstGeom>
        </p:spPr>
      </p:pic>
      <p:pic>
        <p:nvPicPr>
          <p:cNvPr id="19" name="Picture 18">
            <a:extLst>
              <a:ext uri="{FF2B5EF4-FFF2-40B4-BE49-F238E27FC236}">
                <a16:creationId xmlns:a16="http://schemas.microsoft.com/office/drawing/2014/main" id="{499BC254-78FC-303B-55F0-2953488A2AD7}"/>
              </a:ext>
            </a:extLst>
          </p:cNvPr>
          <p:cNvPicPr>
            <a:picLocks noChangeAspect="1"/>
          </p:cNvPicPr>
          <p:nvPr/>
        </p:nvPicPr>
        <p:blipFill>
          <a:blip r:embed="rId4"/>
          <a:stretch>
            <a:fillRect/>
          </a:stretch>
        </p:blipFill>
        <p:spPr>
          <a:xfrm>
            <a:off x="1333162" y="4645277"/>
            <a:ext cx="127509" cy="45719"/>
          </a:xfrm>
          <a:prstGeom prst="rect">
            <a:avLst/>
          </a:prstGeom>
        </p:spPr>
      </p:pic>
      <p:grpSp>
        <p:nvGrpSpPr>
          <p:cNvPr id="13" name="Group 12">
            <a:extLst>
              <a:ext uri="{FF2B5EF4-FFF2-40B4-BE49-F238E27FC236}">
                <a16:creationId xmlns:a16="http://schemas.microsoft.com/office/drawing/2014/main" id="{58BF1042-25D8-CA9A-31AE-4D018D75AB40}"/>
              </a:ext>
            </a:extLst>
          </p:cNvPr>
          <p:cNvGrpSpPr/>
          <p:nvPr/>
        </p:nvGrpSpPr>
        <p:grpSpPr>
          <a:xfrm>
            <a:off x="819664" y="1688997"/>
            <a:ext cx="1017582" cy="4532713"/>
            <a:chOff x="919863" y="1637145"/>
            <a:chExt cx="1017582" cy="4532713"/>
          </a:xfrm>
        </p:grpSpPr>
        <p:pic>
          <p:nvPicPr>
            <p:cNvPr id="5" name="Picture 4">
              <a:extLst>
                <a:ext uri="{FF2B5EF4-FFF2-40B4-BE49-F238E27FC236}">
                  <a16:creationId xmlns:a16="http://schemas.microsoft.com/office/drawing/2014/main" id="{D5784095-143C-9506-04C4-315907EE1D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1385511" y="2936267"/>
              <a:ext cx="459404" cy="473307"/>
            </a:xfrm>
            <a:prstGeom prst="rect">
              <a:avLst/>
            </a:prstGeom>
          </p:spPr>
        </p:pic>
        <p:pic>
          <p:nvPicPr>
            <p:cNvPr id="6" name="Picture 5">
              <a:extLst>
                <a:ext uri="{FF2B5EF4-FFF2-40B4-BE49-F238E27FC236}">
                  <a16:creationId xmlns:a16="http://schemas.microsoft.com/office/drawing/2014/main" id="{D0FEFEE2-349F-59B8-7DD6-EBE1A41D764F}"/>
                </a:ext>
              </a:extLst>
            </p:cNvPr>
            <p:cNvPicPr>
              <a:picLocks noChangeAspect="1"/>
            </p:cNvPicPr>
            <p:nvPr/>
          </p:nvPicPr>
          <p:blipFill>
            <a:blip r:embed="rId6"/>
            <a:stretch>
              <a:fillRect/>
            </a:stretch>
          </p:blipFill>
          <p:spPr>
            <a:xfrm>
              <a:off x="919863" y="5560673"/>
              <a:ext cx="667319" cy="609185"/>
            </a:xfrm>
            <a:prstGeom prst="rect">
              <a:avLst/>
            </a:prstGeom>
          </p:spPr>
        </p:pic>
        <p:pic>
          <p:nvPicPr>
            <p:cNvPr id="7" name="Picture 6">
              <a:extLst>
                <a:ext uri="{FF2B5EF4-FFF2-40B4-BE49-F238E27FC236}">
                  <a16:creationId xmlns:a16="http://schemas.microsoft.com/office/drawing/2014/main" id="{2E401EC3-CE5E-B8BE-B854-C7D674D49F70}"/>
                </a:ext>
              </a:extLst>
            </p:cNvPr>
            <p:cNvPicPr>
              <a:picLocks noChangeAspect="1"/>
            </p:cNvPicPr>
            <p:nvPr/>
          </p:nvPicPr>
          <p:blipFill>
            <a:blip r:embed="rId7"/>
            <a:stretch>
              <a:fillRect/>
            </a:stretch>
          </p:blipFill>
          <p:spPr>
            <a:xfrm>
              <a:off x="1194403" y="2617778"/>
              <a:ext cx="721686" cy="210206"/>
            </a:xfrm>
            <a:prstGeom prst="rect">
              <a:avLst/>
            </a:prstGeom>
          </p:spPr>
        </p:pic>
        <p:pic>
          <p:nvPicPr>
            <p:cNvPr id="8" name="Picture 7">
              <a:extLst>
                <a:ext uri="{FF2B5EF4-FFF2-40B4-BE49-F238E27FC236}">
                  <a16:creationId xmlns:a16="http://schemas.microsoft.com/office/drawing/2014/main" id="{89FE26EB-788D-3585-AC33-0299E2BB8B92}"/>
                </a:ext>
              </a:extLst>
            </p:cNvPr>
            <p:cNvPicPr>
              <a:picLocks noChangeAspect="1"/>
            </p:cNvPicPr>
            <p:nvPr/>
          </p:nvPicPr>
          <p:blipFill>
            <a:blip r:embed="rId8"/>
            <a:stretch>
              <a:fillRect/>
            </a:stretch>
          </p:blipFill>
          <p:spPr>
            <a:xfrm>
              <a:off x="1235316" y="1637145"/>
              <a:ext cx="702129" cy="381542"/>
            </a:xfrm>
            <a:prstGeom prst="rect">
              <a:avLst/>
            </a:prstGeom>
          </p:spPr>
        </p:pic>
        <p:pic>
          <p:nvPicPr>
            <p:cNvPr id="9" name="Picture 8">
              <a:extLst>
                <a:ext uri="{FF2B5EF4-FFF2-40B4-BE49-F238E27FC236}">
                  <a16:creationId xmlns:a16="http://schemas.microsoft.com/office/drawing/2014/main" id="{2915B9C6-2FC9-121D-D6F1-8537A7B9827A}"/>
                </a:ext>
              </a:extLst>
            </p:cNvPr>
            <p:cNvPicPr>
              <a:picLocks noChangeAspect="1"/>
            </p:cNvPicPr>
            <p:nvPr/>
          </p:nvPicPr>
          <p:blipFill>
            <a:blip r:embed="rId9"/>
            <a:stretch>
              <a:fillRect/>
            </a:stretch>
          </p:blipFill>
          <p:spPr>
            <a:xfrm>
              <a:off x="1416855" y="2094783"/>
              <a:ext cx="280501" cy="269543"/>
            </a:xfrm>
            <a:prstGeom prst="rect">
              <a:avLst/>
            </a:prstGeom>
          </p:spPr>
        </p:pic>
        <p:pic>
          <p:nvPicPr>
            <p:cNvPr id="10" name="Picture 9">
              <a:extLst>
                <a:ext uri="{FF2B5EF4-FFF2-40B4-BE49-F238E27FC236}">
                  <a16:creationId xmlns:a16="http://schemas.microsoft.com/office/drawing/2014/main" id="{DC5B970C-6269-39F5-E4F9-5B93BD675E07}"/>
                </a:ext>
              </a:extLst>
            </p:cNvPr>
            <p:cNvPicPr>
              <a:picLocks noChangeAspect="1"/>
            </p:cNvPicPr>
            <p:nvPr/>
          </p:nvPicPr>
          <p:blipFill>
            <a:blip r:embed="rId9"/>
            <a:stretch>
              <a:fillRect/>
            </a:stretch>
          </p:blipFill>
          <p:spPr>
            <a:xfrm>
              <a:off x="1381292" y="3446780"/>
              <a:ext cx="334936" cy="321850"/>
            </a:xfrm>
            <a:prstGeom prst="rect">
              <a:avLst/>
            </a:prstGeom>
          </p:spPr>
        </p:pic>
        <p:pic>
          <p:nvPicPr>
            <p:cNvPr id="11" name="Picture 10">
              <a:extLst>
                <a:ext uri="{FF2B5EF4-FFF2-40B4-BE49-F238E27FC236}">
                  <a16:creationId xmlns:a16="http://schemas.microsoft.com/office/drawing/2014/main" id="{CC8BDEB2-A3B3-21A6-91AF-50B833D01534}"/>
                </a:ext>
              </a:extLst>
            </p:cNvPr>
            <p:cNvPicPr>
              <a:picLocks noChangeAspect="1"/>
            </p:cNvPicPr>
            <p:nvPr/>
          </p:nvPicPr>
          <p:blipFill>
            <a:blip r:embed="rId4"/>
            <a:stretch>
              <a:fillRect/>
            </a:stretch>
          </p:blipFill>
          <p:spPr>
            <a:xfrm>
              <a:off x="1407223" y="3883928"/>
              <a:ext cx="259174" cy="92928"/>
            </a:xfrm>
            <a:prstGeom prst="rect">
              <a:avLst/>
            </a:prstGeom>
          </p:spPr>
        </p:pic>
      </p:grpSp>
      <p:sp>
        <p:nvSpPr>
          <p:cNvPr id="2" name="Title 1">
            <a:extLst>
              <a:ext uri="{FF2B5EF4-FFF2-40B4-BE49-F238E27FC236}">
                <a16:creationId xmlns:a16="http://schemas.microsoft.com/office/drawing/2014/main" id="{D31AB841-58C0-91DF-1607-A33E4E46EBB7}"/>
              </a:ext>
            </a:extLst>
          </p:cNvPr>
          <p:cNvSpPr>
            <a:spLocks noGrp="1"/>
          </p:cNvSpPr>
          <p:nvPr>
            <p:ph type="title"/>
          </p:nvPr>
        </p:nvSpPr>
        <p:spPr>
          <a:xfrm>
            <a:off x="1660634" y="0"/>
            <a:ext cx="9693166" cy="1325563"/>
          </a:xfrm>
        </p:spPr>
        <p:txBody>
          <a:bodyPr>
            <a:normAutofit/>
          </a:bodyPr>
          <a:lstStyle/>
          <a:p>
            <a:r>
              <a:rPr lang="en-US" dirty="0"/>
              <a:t>Hypotheses 1 &amp; 2 not supported</a:t>
            </a:r>
          </a:p>
        </p:txBody>
      </p:sp>
      <p:pic>
        <p:nvPicPr>
          <p:cNvPr id="21" name="Picture 20">
            <a:extLst>
              <a:ext uri="{FF2B5EF4-FFF2-40B4-BE49-F238E27FC236}">
                <a16:creationId xmlns:a16="http://schemas.microsoft.com/office/drawing/2014/main" id="{1A26C4EE-65CF-746D-919E-D16543EEE20E}"/>
              </a:ext>
            </a:extLst>
          </p:cNvPr>
          <p:cNvPicPr>
            <a:picLocks noChangeAspect="1"/>
          </p:cNvPicPr>
          <p:nvPr/>
        </p:nvPicPr>
        <p:blipFill>
          <a:blip r:embed="rId10">
            <a:extLst>
              <a:ext uri="{28A0092B-C50C-407E-A947-70E740481C1C}">
                <a14:useLocalDpi xmlns:a14="http://schemas.microsoft.com/office/drawing/2010/main" val="0"/>
              </a:ext>
            </a:extLst>
          </a:blip>
          <a:srcRect b="9482"/>
          <a:stretch>
            <a:fillRect/>
          </a:stretch>
        </p:blipFill>
        <p:spPr>
          <a:xfrm>
            <a:off x="900953" y="1538344"/>
            <a:ext cx="7214436" cy="4980790"/>
          </a:xfrm>
          <a:prstGeom prst="rect">
            <a:avLst/>
          </a:prstGeom>
        </p:spPr>
      </p:pic>
      <p:sp>
        <p:nvSpPr>
          <p:cNvPr id="23" name="TextBox 22">
            <a:extLst>
              <a:ext uri="{FF2B5EF4-FFF2-40B4-BE49-F238E27FC236}">
                <a16:creationId xmlns:a16="http://schemas.microsoft.com/office/drawing/2014/main" id="{00D06026-7774-E250-37DD-C9B739AD7BDC}"/>
              </a:ext>
            </a:extLst>
          </p:cNvPr>
          <p:cNvSpPr txBox="1"/>
          <p:nvPr/>
        </p:nvSpPr>
        <p:spPr>
          <a:xfrm>
            <a:off x="8509298" y="3410174"/>
            <a:ext cx="2887650" cy="923330"/>
          </a:xfrm>
          <a:prstGeom prst="rect">
            <a:avLst/>
          </a:prstGeom>
          <a:noFill/>
        </p:spPr>
        <p:txBody>
          <a:bodyPr wrap="none" rtlCol="0">
            <a:spAutoFit/>
          </a:bodyPr>
          <a:lstStyle/>
          <a:p>
            <a:r>
              <a:rPr lang="en-US" dirty="0"/>
              <a:t>Prey fields drive growth, but </a:t>
            </a:r>
          </a:p>
          <a:p>
            <a:r>
              <a:rPr lang="en-US" dirty="0"/>
              <a:t>better growth/productivity</a:t>
            </a:r>
          </a:p>
          <a:p>
            <a:r>
              <a:rPr lang="en-US" dirty="0"/>
              <a:t>does not increase survival</a:t>
            </a:r>
          </a:p>
        </p:txBody>
      </p:sp>
      <p:sp>
        <p:nvSpPr>
          <p:cNvPr id="25" name="TextBox 24">
            <a:extLst>
              <a:ext uri="{FF2B5EF4-FFF2-40B4-BE49-F238E27FC236}">
                <a16:creationId xmlns:a16="http://schemas.microsoft.com/office/drawing/2014/main" id="{7183EB75-2377-2DDC-0F23-6F69688BBB46}"/>
              </a:ext>
            </a:extLst>
          </p:cNvPr>
          <p:cNvSpPr txBox="1"/>
          <p:nvPr/>
        </p:nvSpPr>
        <p:spPr>
          <a:xfrm>
            <a:off x="8459311" y="5219250"/>
            <a:ext cx="3732689" cy="1477328"/>
          </a:xfrm>
          <a:prstGeom prst="rect">
            <a:avLst/>
          </a:prstGeom>
          <a:noFill/>
        </p:spPr>
        <p:txBody>
          <a:bodyPr wrap="none" rtlCol="0">
            <a:spAutoFit/>
          </a:bodyPr>
          <a:lstStyle/>
          <a:p>
            <a:r>
              <a:rPr lang="en-US" dirty="0"/>
              <a:t>Some predators were negatively</a:t>
            </a:r>
            <a:br>
              <a:rPr lang="en-US" dirty="0"/>
            </a:br>
            <a:r>
              <a:rPr lang="en-US" dirty="0"/>
              <a:t>correlated with survival (as expected)</a:t>
            </a:r>
          </a:p>
          <a:p>
            <a:r>
              <a:rPr lang="en-US" dirty="0"/>
              <a:t>But other predators were proxies</a:t>
            </a:r>
          </a:p>
          <a:p>
            <a:r>
              <a:rPr lang="en-US" dirty="0"/>
              <a:t>for something else </a:t>
            </a:r>
          </a:p>
          <a:p>
            <a:r>
              <a:rPr lang="en-US" dirty="0"/>
              <a:t>(opposite sign from that expected)</a:t>
            </a:r>
          </a:p>
        </p:txBody>
      </p:sp>
    </p:spTree>
    <p:custDataLst>
      <p:tags r:id="rId1"/>
    </p:custDataLst>
    <p:extLst>
      <p:ext uri="{BB962C8B-B14F-4D97-AF65-F5344CB8AC3E}">
        <p14:creationId xmlns:p14="http://schemas.microsoft.com/office/powerpoint/2010/main" val="3763057036"/>
      </p:ext>
    </p:extLst>
  </p:cSld>
  <p:clrMapOvr>
    <a:masterClrMapping/>
  </p:clrMapOvr>
  <mc:AlternateContent xmlns:mc="http://schemas.openxmlformats.org/markup-compatibility/2006" xmlns:p14="http://schemas.microsoft.com/office/powerpoint/2010/main">
    <mc:Choice Requires="p14">
      <p:transition spd="slow" p14:dur="2000" advTm="78551"/>
    </mc:Choice>
    <mc:Fallback xmlns="">
      <p:transition spd="slow" advTm="78551"/>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bg>
      <p:bgPr>
        <a:gradFill>
          <a:gsLst>
            <a:gs pos="95495">
              <a:srgbClr val="10100F"/>
            </a:gs>
            <a:gs pos="34000">
              <a:srgbClr val="23616A"/>
            </a:gs>
            <a:gs pos="0">
              <a:srgbClr val="82D9EA"/>
            </a:gs>
            <a:gs pos="57647">
              <a:srgbClr val="546449"/>
            </a:gs>
            <a:gs pos="42000">
              <a:srgbClr val="526549"/>
            </a:gs>
          </a:gsLst>
          <a:path path="rect">
            <a:fillToRect l="100000" b="100000"/>
          </a:path>
        </a:gradFill>
        <a:effectLst/>
      </p:bgPr>
    </p:bg>
    <p:spTree>
      <p:nvGrpSpPr>
        <p:cNvPr id="1" name="">
          <a:extLst>
            <a:ext uri="{FF2B5EF4-FFF2-40B4-BE49-F238E27FC236}">
              <a16:creationId xmlns:a16="http://schemas.microsoft.com/office/drawing/2014/main" id="{77026807-C9CD-6977-99B9-6E1007DB2C92}"/>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9A3FCE7C-1401-9CD4-BEC4-D8E16C946C69}"/>
              </a:ext>
            </a:extLst>
          </p:cNvPr>
          <p:cNvPicPr>
            <a:picLocks noChangeAspect="1"/>
          </p:cNvPicPr>
          <p:nvPr/>
        </p:nvPicPr>
        <p:blipFill rotWithShape="1">
          <a:blip r:embed="rId3">
            <a:extLst>
              <a:ext uri="{28A0092B-C50C-407E-A947-70E740481C1C}">
                <a14:useLocalDpi xmlns:a14="http://schemas.microsoft.com/office/drawing/2010/main" val="0"/>
              </a:ext>
            </a:extLst>
          </a:blip>
          <a:srcRect l="34828" t="54053" r="34827" b="8017"/>
          <a:stretch/>
        </p:blipFill>
        <p:spPr>
          <a:xfrm>
            <a:off x="0" y="92683"/>
            <a:ext cx="1629102" cy="1110751"/>
          </a:xfrm>
          <a:prstGeom prst="rect">
            <a:avLst/>
          </a:prstGeom>
        </p:spPr>
      </p:pic>
      <p:pic>
        <p:nvPicPr>
          <p:cNvPr id="19" name="Picture 18">
            <a:extLst>
              <a:ext uri="{FF2B5EF4-FFF2-40B4-BE49-F238E27FC236}">
                <a16:creationId xmlns:a16="http://schemas.microsoft.com/office/drawing/2014/main" id="{A9E886B0-4764-C32C-8347-61849B09E6A9}"/>
              </a:ext>
            </a:extLst>
          </p:cNvPr>
          <p:cNvPicPr>
            <a:picLocks noChangeAspect="1"/>
          </p:cNvPicPr>
          <p:nvPr/>
        </p:nvPicPr>
        <p:blipFill>
          <a:blip r:embed="rId4"/>
          <a:stretch>
            <a:fillRect/>
          </a:stretch>
        </p:blipFill>
        <p:spPr>
          <a:xfrm>
            <a:off x="1333162" y="4645277"/>
            <a:ext cx="127509" cy="45719"/>
          </a:xfrm>
          <a:prstGeom prst="rect">
            <a:avLst/>
          </a:prstGeom>
        </p:spPr>
      </p:pic>
      <p:grpSp>
        <p:nvGrpSpPr>
          <p:cNvPr id="13" name="Group 12">
            <a:extLst>
              <a:ext uri="{FF2B5EF4-FFF2-40B4-BE49-F238E27FC236}">
                <a16:creationId xmlns:a16="http://schemas.microsoft.com/office/drawing/2014/main" id="{B59B1CB2-E9C6-671C-6F32-29371870C3BA}"/>
              </a:ext>
            </a:extLst>
          </p:cNvPr>
          <p:cNvGrpSpPr/>
          <p:nvPr/>
        </p:nvGrpSpPr>
        <p:grpSpPr>
          <a:xfrm>
            <a:off x="819664" y="1688997"/>
            <a:ext cx="1017582" cy="4532713"/>
            <a:chOff x="919863" y="1637145"/>
            <a:chExt cx="1017582" cy="4532713"/>
          </a:xfrm>
        </p:grpSpPr>
        <p:pic>
          <p:nvPicPr>
            <p:cNvPr id="5" name="Picture 4">
              <a:extLst>
                <a:ext uri="{FF2B5EF4-FFF2-40B4-BE49-F238E27FC236}">
                  <a16:creationId xmlns:a16="http://schemas.microsoft.com/office/drawing/2014/main" id="{F6D31216-0529-8654-F44C-EE2AE955B55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1385511" y="2936267"/>
              <a:ext cx="459404" cy="473307"/>
            </a:xfrm>
            <a:prstGeom prst="rect">
              <a:avLst/>
            </a:prstGeom>
          </p:spPr>
        </p:pic>
        <p:pic>
          <p:nvPicPr>
            <p:cNvPr id="6" name="Picture 5">
              <a:extLst>
                <a:ext uri="{FF2B5EF4-FFF2-40B4-BE49-F238E27FC236}">
                  <a16:creationId xmlns:a16="http://schemas.microsoft.com/office/drawing/2014/main" id="{82D0BB87-C3A4-F53B-23C3-AAE8F2D97191}"/>
                </a:ext>
              </a:extLst>
            </p:cNvPr>
            <p:cNvPicPr>
              <a:picLocks noChangeAspect="1"/>
            </p:cNvPicPr>
            <p:nvPr/>
          </p:nvPicPr>
          <p:blipFill>
            <a:blip r:embed="rId6"/>
            <a:stretch>
              <a:fillRect/>
            </a:stretch>
          </p:blipFill>
          <p:spPr>
            <a:xfrm>
              <a:off x="919863" y="5560673"/>
              <a:ext cx="667319" cy="609185"/>
            </a:xfrm>
            <a:prstGeom prst="rect">
              <a:avLst/>
            </a:prstGeom>
          </p:spPr>
        </p:pic>
        <p:pic>
          <p:nvPicPr>
            <p:cNvPr id="7" name="Picture 6">
              <a:extLst>
                <a:ext uri="{FF2B5EF4-FFF2-40B4-BE49-F238E27FC236}">
                  <a16:creationId xmlns:a16="http://schemas.microsoft.com/office/drawing/2014/main" id="{5E0E9ADF-505F-D15E-BCAA-A0A2ACEF4B30}"/>
                </a:ext>
              </a:extLst>
            </p:cNvPr>
            <p:cNvPicPr>
              <a:picLocks noChangeAspect="1"/>
            </p:cNvPicPr>
            <p:nvPr/>
          </p:nvPicPr>
          <p:blipFill>
            <a:blip r:embed="rId7"/>
            <a:stretch>
              <a:fillRect/>
            </a:stretch>
          </p:blipFill>
          <p:spPr>
            <a:xfrm>
              <a:off x="1194403" y="2617778"/>
              <a:ext cx="721686" cy="210206"/>
            </a:xfrm>
            <a:prstGeom prst="rect">
              <a:avLst/>
            </a:prstGeom>
          </p:spPr>
        </p:pic>
        <p:pic>
          <p:nvPicPr>
            <p:cNvPr id="8" name="Picture 7">
              <a:extLst>
                <a:ext uri="{FF2B5EF4-FFF2-40B4-BE49-F238E27FC236}">
                  <a16:creationId xmlns:a16="http://schemas.microsoft.com/office/drawing/2014/main" id="{FD142C14-7707-0F7D-93D0-9B224AB1370D}"/>
                </a:ext>
              </a:extLst>
            </p:cNvPr>
            <p:cNvPicPr>
              <a:picLocks noChangeAspect="1"/>
            </p:cNvPicPr>
            <p:nvPr/>
          </p:nvPicPr>
          <p:blipFill>
            <a:blip r:embed="rId8"/>
            <a:stretch>
              <a:fillRect/>
            </a:stretch>
          </p:blipFill>
          <p:spPr>
            <a:xfrm>
              <a:off x="1235316" y="1637145"/>
              <a:ext cx="702129" cy="381542"/>
            </a:xfrm>
            <a:prstGeom prst="rect">
              <a:avLst/>
            </a:prstGeom>
          </p:spPr>
        </p:pic>
        <p:pic>
          <p:nvPicPr>
            <p:cNvPr id="9" name="Picture 8">
              <a:extLst>
                <a:ext uri="{FF2B5EF4-FFF2-40B4-BE49-F238E27FC236}">
                  <a16:creationId xmlns:a16="http://schemas.microsoft.com/office/drawing/2014/main" id="{8B4AF22C-623D-16D2-13DA-6CAF02DC7C40}"/>
                </a:ext>
              </a:extLst>
            </p:cNvPr>
            <p:cNvPicPr>
              <a:picLocks noChangeAspect="1"/>
            </p:cNvPicPr>
            <p:nvPr/>
          </p:nvPicPr>
          <p:blipFill>
            <a:blip r:embed="rId9"/>
            <a:stretch>
              <a:fillRect/>
            </a:stretch>
          </p:blipFill>
          <p:spPr>
            <a:xfrm>
              <a:off x="1416855" y="2094783"/>
              <a:ext cx="280501" cy="269543"/>
            </a:xfrm>
            <a:prstGeom prst="rect">
              <a:avLst/>
            </a:prstGeom>
          </p:spPr>
        </p:pic>
        <p:pic>
          <p:nvPicPr>
            <p:cNvPr id="10" name="Picture 9">
              <a:extLst>
                <a:ext uri="{FF2B5EF4-FFF2-40B4-BE49-F238E27FC236}">
                  <a16:creationId xmlns:a16="http://schemas.microsoft.com/office/drawing/2014/main" id="{FA6EE585-307E-00DD-C192-E2C9C0F76DCA}"/>
                </a:ext>
              </a:extLst>
            </p:cNvPr>
            <p:cNvPicPr>
              <a:picLocks noChangeAspect="1"/>
            </p:cNvPicPr>
            <p:nvPr/>
          </p:nvPicPr>
          <p:blipFill>
            <a:blip r:embed="rId9"/>
            <a:stretch>
              <a:fillRect/>
            </a:stretch>
          </p:blipFill>
          <p:spPr>
            <a:xfrm>
              <a:off x="1381292" y="3446780"/>
              <a:ext cx="334936" cy="321850"/>
            </a:xfrm>
            <a:prstGeom prst="rect">
              <a:avLst/>
            </a:prstGeom>
          </p:spPr>
        </p:pic>
        <p:pic>
          <p:nvPicPr>
            <p:cNvPr id="11" name="Picture 10">
              <a:extLst>
                <a:ext uri="{FF2B5EF4-FFF2-40B4-BE49-F238E27FC236}">
                  <a16:creationId xmlns:a16="http://schemas.microsoft.com/office/drawing/2014/main" id="{B05BE18D-C3F9-3F26-924D-496175004F9D}"/>
                </a:ext>
              </a:extLst>
            </p:cNvPr>
            <p:cNvPicPr>
              <a:picLocks noChangeAspect="1"/>
            </p:cNvPicPr>
            <p:nvPr/>
          </p:nvPicPr>
          <p:blipFill>
            <a:blip r:embed="rId4"/>
            <a:stretch>
              <a:fillRect/>
            </a:stretch>
          </p:blipFill>
          <p:spPr>
            <a:xfrm>
              <a:off x="1407223" y="3883928"/>
              <a:ext cx="259174" cy="92928"/>
            </a:xfrm>
            <a:prstGeom prst="rect">
              <a:avLst/>
            </a:prstGeom>
          </p:spPr>
        </p:pic>
      </p:grpSp>
      <p:sp>
        <p:nvSpPr>
          <p:cNvPr id="2" name="Title 1">
            <a:extLst>
              <a:ext uri="{FF2B5EF4-FFF2-40B4-BE49-F238E27FC236}">
                <a16:creationId xmlns:a16="http://schemas.microsoft.com/office/drawing/2014/main" id="{F68F5BA0-A607-B60B-A1DE-BFBE684D77FA}"/>
              </a:ext>
            </a:extLst>
          </p:cNvPr>
          <p:cNvSpPr>
            <a:spLocks noGrp="1"/>
          </p:cNvSpPr>
          <p:nvPr>
            <p:ph type="title"/>
          </p:nvPr>
        </p:nvSpPr>
        <p:spPr>
          <a:xfrm>
            <a:off x="1660634" y="0"/>
            <a:ext cx="9693166" cy="1325563"/>
          </a:xfrm>
        </p:spPr>
        <p:txBody>
          <a:bodyPr>
            <a:normAutofit fontScale="90000"/>
          </a:bodyPr>
          <a:lstStyle/>
          <a:p>
            <a:r>
              <a:rPr lang="en-US" dirty="0"/>
              <a:t>Hypothesis 3: SST or alternate prey control predator impact</a:t>
            </a:r>
          </a:p>
        </p:txBody>
      </p:sp>
      <p:sp>
        <p:nvSpPr>
          <p:cNvPr id="23" name="TextBox 22">
            <a:extLst>
              <a:ext uri="{FF2B5EF4-FFF2-40B4-BE49-F238E27FC236}">
                <a16:creationId xmlns:a16="http://schemas.microsoft.com/office/drawing/2014/main" id="{B5F14CB6-C844-43DE-CC3B-0B243A33CA03}"/>
              </a:ext>
            </a:extLst>
          </p:cNvPr>
          <p:cNvSpPr txBox="1"/>
          <p:nvPr/>
        </p:nvSpPr>
        <p:spPr>
          <a:xfrm>
            <a:off x="8509298" y="3410174"/>
            <a:ext cx="2887650" cy="92333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Prey fields drive growth, but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better growth/productivity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does not increase survival</a:t>
            </a:r>
          </a:p>
        </p:txBody>
      </p:sp>
      <p:sp>
        <p:nvSpPr>
          <p:cNvPr id="25" name="TextBox 24">
            <a:extLst>
              <a:ext uri="{FF2B5EF4-FFF2-40B4-BE49-F238E27FC236}">
                <a16:creationId xmlns:a16="http://schemas.microsoft.com/office/drawing/2014/main" id="{377B1206-2792-A88C-54DD-BC84AC31058C}"/>
              </a:ext>
            </a:extLst>
          </p:cNvPr>
          <p:cNvSpPr txBox="1"/>
          <p:nvPr/>
        </p:nvSpPr>
        <p:spPr>
          <a:xfrm>
            <a:off x="8459311" y="5219250"/>
            <a:ext cx="3732689" cy="1477328"/>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Some predators were negatively</a:t>
            </a:r>
            <a:b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correlated with survival (as expected)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But other predators were proxies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for something else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(opposite sign from that expected)</a:t>
            </a:r>
          </a:p>
        </p:txBody>
      </p:sp>
      <p:pic>
        <p:nvPicPr>
          <p:cNvPr id="4" name="Picture 3">
            <a:extLst>
              <a:ext uri="{FF2B5EF4-FFF2-40B4-BE49-F238E27FC236}">
                <a16:creationId xmlns:a16="http://schemas.microsoft.com/office/drawing/2014/main" id="{28F69CFA-77A9-C798-089B-3CA1F9DC10E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23990" y="685794"/>
            <a:ext cx="9144019" cy="5486411"/>
          </a:xfrm>
          <a:prstGeom prst="rect">
            <a:avLst/>
          </a:prstGeom>
        </p:spPr>
      </p:pic>
    </p:spTree>
    <p:custDataLst>
      <p:tags r:id="rId1"/>
    </p:custDataLst>
    <p:extLst>
      <p:ext uri="{BB962C8B-B14F-4D97-AF65-F5344CB8AC3E}">
        <p14:creationId xmlns:p14="http://schemas.microsoft.com/office/powerpoint/2010/main" val="3204378135"/>
      </p:ext>
    </p:extLst>
  </p:cSld>
  <p:clrMapOvr>
    <a:masterClrMapping/>
  </p:clrMapOvr>
  <mc:AlternateContent xmlns:mc="http://schemas.openxmlformats.org/markup-compatibility/2006" xmlns:p14="http://schemas.microsoft.com/office/powerpoint/2010/main">
    <mc:Choice Requires="p14">
      <p:transition spd="slow" p14:dur="2000" advTm="78551"/>
    </mc:Choice>
    <mc:Fallback xmlns="">
      <p:transition spd="slow" advTm="78551"/>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6" name="Straight Connector 25">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7" name="Rectangle 26">
            <a:extLst>
              <a:ext uri="{FF2B5EF4-FFF2-40B4-BE49-F238E27FC236}">
                <a16:creationId xmlns:a16="http://schemas.microsoft.com/office/drawing/2014/main" id="{EB1836F0-F9E0-4D93-9BDD-7EEC6EA05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D75AD0-1AF1-B71A-B648-FA274BC72DF5}"/>
              </a:ext>
            </a:extLst>
          </p:cNvPr>
          <p:cNvSpPr>
            <a:spLocks noGrp="1"/>
          </p:cNvSpPr>
          <p:nvPr>
            <p:ph type="title"/>
          </p:nvPr>
        </p:nvSpPr>
        <p:spPr>
          <a:xfrm>
            <a:off x="825331" y="639097"/>
            <a:ext cx="6253317" cy="3686015"/>
          </a:xfrm>
        </p:spPr>
        <p:txBody>
          <a:bodyPr vert="horz" lIns="91440" tIns="45720" rIns="91440" bIns="45720" rtlCol="0" anchor="b">
            <a:normAutofit/>
          </a:bodyPr>
          <a:lstStyle/>
          <a:p>
            <a:r>
              <a:rPr lang="en-US" sz="8000" dirty="0">
                <a:solidFill>
                  <a:schemeClr val="tx1">
                    <a:lumMod val="85000"/>
                    <a:lumOff val="15000"/>
                  </a:schemeClr>
                </a:solidFill>
              </a:rPr>
              <a:t>Digraphs </a:t>
            </a:r>
            <a:br>
              <a:rPr lang="en-US" sz="8000" dirty="0">
                <a:solidFill>
                  <a:schemeClr val="tx1">
                    <a:lumMod val="85000"/>
                    <a:lumOff val="15000"/>
                  </a:schemeClr>
                </a:solidFill>
              </a:rPr>
            </a:br>
            <a:r>
              <a:rPr lang="en-US" sz="8000" dirty="0">
                <a:solidFill>
                  <a:schemeClr val="tx1">
                    <a:lumMod val="85000"/>
                    <a:lumOff val="15000"/>
                  </a:schemeClr>
                </a:solidFill>
              </a:rPr>
              <a:t>(path models) tested</a:t>
            </a:r>
          </a:p>
        </p:txBody>
      </p:sp>
      <p:pic>
        <p:nvPicPr>
          <p:cNvPr id="5" name="Content Placeholder 4">
            <a:extLst>
              <a:ext uri="{FF2B5EF4-FFF2-40B4-BE49-F238E27FC236}">
                <a16:creationId xmlns:a16="http://schemas.microsoft.com/office/drawing/2014/main" id="{8D06D0D8-1CB7-6814-783F-19C350967B1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065"/>
          <a:stretch>
            <a:fillRect/>
          </a:stretch>
        </p:blipFill>
        <p:spPr>
          <a:xfrm>
            <a:off x="6978099" y="118335"/>
            <a:ext cx="4586372" cy="6217919"/>
          </a:xfrm>
          <a:prstGeom prst="rect">
            <a:avLst/>
          </a:prstGeom>
        </p:spPr>
      </p:pic>
      <p:cxnSp>
        <p:nvCxnSpPr>
          <p:cNvPr id="28" name="Straight Connector 27">
            <a:extLst>
              <a:ext uri="{FF2B5EF4-FFF2-40B4-BE49-F238E27FC236}">
                <a16:creationId xmlns:a16="http://schemas.microsoft.com/office/drawing/2014/main" id="{7A49EFD3-A806-4D59-99F1-AA9AFAE4EF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D2F28D1-82F9-40FE-935C-85ECF7660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4B670E93-2F53-48FC-AB6C-E99E22D17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13569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726" y="1082565"/>
            <a:ext cx="5357326" cy="2648607"/>
          </a:xfrm>
        </p:spPr>
        <p:txBody>
          <a:bodyPr anchor="ctr">
            <a:normAutofit/>
          </a:bodyPr>
          <a:lstStyle/>
          <a:p>
            <a:pPr marL="0" indent="0">
              <a:buNone/>
            </a:pPr>
            <a:endParaRPr lang="en-US" sz="3200" dirty="0"/>
          </a:p>
          <a:p>
            <a:pPr marL="0" indent="0">
              <a:buNone/>
            </a:pPr>
            <a:r>
              <a:rPr lang="en-US" sz="3200" dirty="0"/>
              <a:t>Will these trends continue, driving many pops extinct? </a:t>
            </a:r>
          </a:p>
          <a:p>
            <a:pPr marL="0" indent="0">
              <a:buNone/>
            </a:pPr>
            <a:endParaRPr lang="en-US" sz="3200" dirty="0"/>
          </a:p>
        </p:txBody>
      </p:sp>
      <p:grpSp>
        <p:nvGrpSpPr>
          <p:cNvPr id="5" name="Group 4">
            <a:extLst>
              <a:ext uri="{FF2B5EF4-FFF2-40B4-BE49-F238E27FC236}">
                <a16:creationId xmlns:a16="http://schemas.microsoft.com/office/drawing/2014/main" id="{0E8E2F40-C4FB-4058-9B6D-BCC62A78C11C}"/>
              </a:ext>
            </a:extLst>
          </p:cNvPr>
          <p:cNvGrpSpPr/>
          <p:nvPr/>
        </p:nvGrpSpPr>
        <p:grpSpPr>
          <a:xfrm>
            <a:off x="6315151" y="817103"/>
            <a:ext cx="5299993" cy="6040897"/>
            <a:chOff x="6315151" y="817103"/>
            <a:chExt cx="5299993" cy="6040897"/>
          </a:xfrm>
        </p:grpSpPr>
        <p:pic>
          <p:nvPicPr>
            <p:cNvPr id="24" name="Picture 23">
              <a:extLst>
                <a:ext uri="{FF2B5EF4-FFF2-40B4-BE49-F238E27FC236}">
                  <a16:creationId xmlns:a16="http://schemas.microsoft.com/office/drawing/2014/main" id="{F3A0E609-1F9B-491F-8F61-73FF49414B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5151" y="817103"/>
              <a:ext cx="5299993" cy="5299993"/>
            </a:xfrm>
            <a:prstGeom prst="rect">
              <a:avLst/>
            </a:prstGeom>
          </p:spPr>
        </p:pic>
        <p:sp>
          <p:nvSpPr>
            <p:cNvPr id="25" name="Rectangle 24">
              <a:extLst>
                <a:ext uri="{FF2B5EF4-FFF2-40B4-BE49-F238E27FC236}">
                  <a16:creationId xmlns:a16="http://schemas.microsoft.com/office/drawing/2014/main" id="{5F721F09-62D9-4064-A126-F6432EDBF359}"/>
                </a:ext>
              </a:extLst>
            </p:cNvPr>
            <p:cNvSpPr/>
            <p:nvPr/>
          </p:nvSpPr>
          <p:spPr>
            <a:xfrm>
              <a:off x="6317428" y="6119336"/>
              <a:ext cx="5165124" cy="738664"/>
            </a:xfrm>
            <a:prstGeom prst="rect">
              <a:avLst/>
            </a:prstGeom>
          </p:spPr>
          <p:txBody>
            <a:bodyPr wrap="square">
              <a:spAutoFit/>
            </a:bodyPr>
            <a:lstStyle/>
            <a:p>
              <a:r>
                <a:rPr lang="en-US" sz="1400" dirty="0">
                  <a:latin typeface="Segoe UI" panose="020B0502040204020203" pitchFamily="34" charset="0"/>
                </a:rPr>
                <a:t>Crozier, et al (2021). "Climate change threatens Chinook salmon throughout their life cycle." </a:t>
              </a:r>
              <a:r>
                <a:rPr lang="en-US" sz="1400" u="sng" dirty="0">
                  <a:latin typeface="Segoe UI" panose="020B0502040204020203" pitchFamily="34" charset="0"/>
                </a:rPr>
                <a:t>Communications Biology </a:t>
              </a:r>
              <a:r>
                <a:rPr lang="en-US" sz="1400" b="1" u="sng" dirty="0">
                  <a:latin typeface="Segoe UI" panose="020B0502040204020203" pitchFamily="34" charset="0"/>
                </a:rPr>
                <a:t>4: 222. https://doi.org/210.1038/s42003-42021-01734-w </a:t>
              </a:r>
              <a:endParaRPr lang="en-US" sz="1400" dirty="0"/>
            </a:p>
          </p:txBody>
        </p:sp>
      </p:grpSp>
      <p:sp>
        <p:nvSpPr>
          <p:cNvPr id="6" name="TextBox 5">
            <a:extLst>
              <a:ext uri="{FF2B5EF4-FFF2-40B4-BE49-F238E27FC236}">
                <a16:creationId xmlns:a16="http://schemas.microsoft.com/office/drawing/2014/main" id="{FED394BC-46AE-4F60-95DD-B4AFC2516E4E}"/>
              </a:ext>
            </a:extLst>
          </p:cNvPr>
          <p:cNvSpPr txBox="1"/>
          <p:nvPr/>
        </p:nvSpPr>
        <p:spPr>
          <a:xfrm>
            <a:off x="704193" y="204215"/>
            <a:ext cx="4960884" cy="1077218"/>
          </a:xfrm>
          <a:prstGeom prst="rect">
            <a:avLst/>
          </a:prstGeom>
          <a:noFill/>
        </p:spPr>
        <p:txBody>
          <a:bodyPr wrap="square">
            <a:spAutoFit/>
          </a:bodyPr>
          <a:lstStyle/>
          <a:p>
            <a:pPr marL="0" indent="0">
              <a:buNone/>
            </a:pPr>
            <a:r>
              <a:rPr lang="en-US" sz="3200" dirty="0"/>
              <a:t>Ocean temperature does a very good job predicting SAR </a:t>
            </a:r>
          </a:p>
        </p:txBody>
      </p:sp>
      <p:sp>
        <p:nvSpPr>
          <p:cNvPr id="8" name="TextBox 7">
            <a:extLst>
              <a:ext uri="{FF2B5EF4-FFF2-40B4-BE49-F238E27FC236}">
                <a16:creationId xmlns:a16="http://schemas.microsoft.com/office/drawing/2014/main" id="{44A078E7-8756-47D2-A780-F8C1723F27F6}"/>
              </a:ext>
            </a:extLst>
          </p:cNvPr>
          <p:cNvSpPr txBox="1"/>
          <p:nvPr/>
        </p:nvSpPr>
        <p:spPr>
          <a:xfrm>
            <a:off x="525519" y="3586683"/>
            <a:ext cx="6096000" cy="1569660"/>
          </a:xfrm>
          <a:prstGeom prst="rect">
            <a:avLst/>
          </a:prstGeom>
          <a:noFill/>
        </p:spPr>
        <p:txBody>
          <a:bodyPr wrap="square">
            <a:spAutoFit/>
          </a:bodyPr>
          <a:lstStyle/>
          <a:p>
            <a:pPr marL="0" indent="0">
              <a:buNone/>
            </a:pPr>
            <a:r>
              <a:rPr lang="en-US" sz="3200" dirty="0"/>
              <a:t>Is there any management action that would improve marine survival?</a:t>
            </a:r>
          </a:p>
        </p:txBody>
      </p:sp>
    </p:spTree>
    <p:custDataLst>
      <p:tags r:id="rId1"/>
    </p:custDataLst>
    <p:extLst>
      <p:ext uri="{BB962C8B-B14F-4D97-AF65-F5344CB8AC3E}">
        <p14:creationId xmlns:p14="http://schemas.microsoft.com/office/powerpoint/2010/main" val="4207723364"/>
      </p:ext>
    </p:extLst>
  </p:cSld>
  <p:clrMapOvr>
    <a:masterClrMapping/>
  </p:clrMapOvr>
  <mc:AlternateContent xmlns:mc="http://schemas.openxmlformats.org/markup-compatibility/2006" xmlns:p14="http://schemas.microsoft.com/office/powerpoint/2010/main">
    <mc:Choice Requires="p14">
      <p:transition spd="slow" p14:dur="2000" advTm="62637"/>
    </mc:Choice>
    <mc:Fallback xmlns="">
      <p:transition spd="slow" advTm="626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bg>
      <p:bgPr shadeToTitle="1">
        <a:gradFill flip="none" rotWithShape="1">
          <a:gsLst>
            <a:gs pos="50000">
              <a:srgbClr val="4691AD"/>
            </a:gs>
            <a:gs pos="0">
              <a:srgbClr val="197DB5"/>
            </a:gs>
            <a:gs pos="100000">
              <a:schemeClr val="bg2">
                <a:shade val="80000"/>
              </a:schemeClr>
            </a:gs>
          </a:gsLst>
          <a:path path="shape">
            <a:fillToRect l="50000" t="50000" r="50000" b="50000"/>
          </a:path>
          <a:tileRect/>
        </a:gra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EC99875-4717-4C8E-9ADF-D2FB066E449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4183117" y="352096"/>
            <a:ext cx="7020910" cy="3510455"/>
          </a:xfrm>
          <a:prstGeom prst="rect">
            <a:avLst/>
          </a:prstGeom>
        </p:spPr>
      </p:pic>
      <p:sp>
        <p:nvSpPr>
          <p:cNvPr id="2" name="Title 1">
            <a:extLst>
              <a:ext uri="{FF2B5EF4-FFF2-40B4-BE49-F238E27FC236}">
                <a16:creationId xmlns:a16="http://schemas.microsoft.com/office/drawing/2014/main" id="{38BE2B1C-548F-4F72-A03A-5E0033003869}"/>
              </a:ext>
            </a:extLst>
          </p:cNvPr>
          <p:cNvSpPr>
            <a:spLocks noGrp="1"/>
          </p:cNvSpPr>
          <p:nvPr>
            <p:ph type="title"/>
          </p:nvPr>
        </p:nvSpPr>
        <p:spPr>
          <a:xfrm>
            <a:off x="838199" y="365126"/>
            <a:ext cx="10899531" cy="862784"/>
          </a:xfrm>
        </p:spPr>
        <p:txBody>
          <a:bodyPr>
            <a:normAutofit/>
          </a:bodyPr>
          <a:lstStyle/>
          <a:p>
            <a:r>
              <a:rPr lang="en-US" sz="4000" dirty="0"/>
              <a:t>Spring Chinook spend ~ half their lives in the ocean</a:t>
            </a:r>
          </a:p>
        </p:txBody>
      </p:sp>
      <p:grpSp>
        <p:nvGrpSpPr>
          <p:cNvPr id="22" name="Group 21">
            <a:extLst>
              <a:ext uri="{FF2B5EF4-FFF2-40B4-BE49-F238E27FC236}">
                <a16:creationId xmlns:a16="http://schemas.microsoft.com/office/drawing/2014/main" id="{9DF02FC5-9664-4681-B064-6A618AFAD835}"/>
              </a:ext>
            </a:extLst>
          </p:cNvPr>
          <p:cNvGrpSpPr/>
          <p:nvPr/>
        </p:nvGrpSpPr>
        <p:grpSpPr>
          <a:xfrm>
            <a:off x="1153956" y="1852745"/>
            <a:ext cx="5836925" cy="4878981"/>
            <a:chOff x="1174977" y="1526925"/>
            <a:chExt cx="5836925" cy="4878981"/>
          </a:xfrm>
        </p:grpSpPr>
        <p:pic>
          <p:nvPicPr>
            <p:cNvPr id="5" name="Picture 4">
              <a:extLst>
                <a:ext uri="{FF2B5EF4-FFF2-40B4-BE49-F238E27FC236}">
                  <a16:creationId xmlns:a16="http://schemas.microsoft.com/office/drawing/2014/main" id="{70027D6F-0906-4679-8B8A-710E17FA8AFA}"/>
                </a:ext>
              </a:extLst>
            </p:cNvPr>
            <p:cNvPicPr>
              <a:picLocks noChangeAspect="1"/>
            </p:cNvPicPr>
            <p:nvPr/>
          </p:nvPicPr>
          <p:blipFill rotWithShape="1">
            <a:blip r:embed="rId5">
              <a:extLst>
                <a:ext uri="{28A0092B-C50C-407E-A947-70E740481C1C}">
                  <a14:useLocalDpi xmlns:a14="http://schemas.microsoft.com/office/drawing/2010/main" val="0"/>
                </a:ext>
              </a:extLst>
            </a:blip>
            <a:srcRect r="40183"/>
            <a:stretch/>
          </p:blipFill>
          <p:spPr>
            <a:xfrm>
              <a:off x="1174977" y="1526925"/>
              <a:ext cx="5836925" cy="4878981"/>
            </a:xfrm>
            <a:prstGeom prst="rect">
              <a:avLst/>
            </a:prstGeom>
          </p:spPr>
        </p:pic>
        <p:sp>
          <p:nvSpPr>
            <p:cNvPr id="6" name="TextBox 5">
              <a:extLst>
                <a:ext uri="{FF2B5EF4-FFF2-40B4-BE49-F238E27FC236}">
                  <a16:creationId xmlns:a16="http://schemas.microsoft.com/office/drawing/2014/main" id="{D12A7926-7E7A-4056-9A80-0621EF9B7F7F}"/>
                </a:ext>
              </a:extLst>
            </p:cNvPr>
            <p:cNvSpPr txBox="1"/>
            <p:nvPr/>
          </p:nvSpPr>
          <p:spPr>
            <a:xfrm>
              <a:off x="1741105" y="3964402"/>
              <a:ext cx="847924" cy="369332"/>
            </a:xfrm>
            <a:prstGeom prst="rect">
              <a:avLst/>
            </a:prstGeom>
            <a:noFill/>
          </p:spPr>
          <p:txBody>
            <a:bodyPr wrap="none" rtlCol="0">
              <a:spAutoFit/>
            </a:bodyPr>
            <a:lstStyle/>
            <a:p>
              <a:r>
                <a:rPr lang="en-US" dirty="0"/>
                <a:t>2 years</a:t>
              </a:r>
            </a:p>
          </p:txBody>
        </p:sp>
        <p:sp>
          <p:nvSpPr>
            <p:cNvPr id="7" name="TextBox 6">
              <a:extLst>
                <a:ext uri="{FF2B5EF4-FFF2-40B4-BE49-F238E27FC236}">
                  <a16:creationId xmlns:a16="http://schemas.microsoft.com/office/drawing/2014/main" id="{EF9B3DC6-2B16-455A-8185-9761C44F6F9C}"/>
                </a:ext>
              </a:extLst>
            </p:cNvPr>
            <p:cNvSpPr txBox="1"/>
            <p:nvPr/>
          </p:nvSpPr>
          <p:spPr>
            <a:xfrm>
              <a:off x="3476573" y="3097768"/>
              <a:ext cx="762132" cy="369332"/>
            </a:xfrm>
            <a:prstGeom prst="rect">
              <a:avLst/>
            </a:prstGeom>
            <a:noFill/>
          </p:spPr>
          <p:txBody>
            <a:bodyPr wrap="none" rtlCol="0">
              <a:spAutoFit/>
            </a:bodyPr>
            <a:lstStyle/>
            <a:p>
              <a:r>
                <a:rPr lang="en-US" dirty="0">
                  <a:solidFill>
                    <a:schemeClr val="bg1"/>
                  </a:solidFill>
                </a:rPr>
                <a:t>1 year</a:t>
              </a:r>
            </a:p>
          </p:txBody>
        </p:sp>
        <p:sp>
          <p:nvSpPr>
            <p:cNvPr id="8" name="TextBox 7">
              <a:extLst>
                <a:ext uri="{FF2B5EF4-FFF2-40B4-BE49-F238E27FC236}">
                  <a16:creationId xmlns:a16="http://schemas.microsoft.com/office/drawing/2014/main" id="{D586358F-AF89-4CD0-937C-48B704EDAE3C}"/>
                </a:ext>
              </a:extLst>
            </p:cNvPr>
            <p:cNvSpPr txBox="1"/>
            <p:nvPr/>
          </p:nvSpPr>
          <p:spPr>
            <a:xfrm>
              <a:off x="2795178" y="6008177"/>
              <a:ext cx="940322" cy="369332"/>
            </a:xfrm>
            <a:prstGeom prst="rect">
              <a:avLst/>
            </a:prstGeom>
            <a:noFill/>
          </p:spPr>
          <p:txBody>
            <a:bodyPr wrap="none" rtlCol="0">
              <a:spAutoFit/>
            </a:bodyPr>
            <a:lstStyle/>
            <a:p>
              <a:r>
                <a:rPr lang="en-US" dirty="0"/>
                <a:t>4 weeks</a:t>
              </a:r>
            </a:p>
          </p:txBody>
        </p:sp>
        <p:sp>
          <p:nvSpPr>
            <p:cNvPr id="9" name="TextBox 8">
              <a:extLst>
                <a:ext uri="{FF2B5EF4-FFF2-40B4-BE49-F238E27FC236}">
                  <a16:creationId xmlns:a16="http://schemas.microsoft.com/office/drawing/2014/main" id="{02FDEC23-0337-4730-A8A6-B6073AF60EEE}"/>
                </a:ext>
              </a:extLst>
            </p:cNvPr>
            <p:cNvSpPr txBox="1"/>
            <p:nvPr/>
          </p:nvSpPr>
          <p:spPr>
            <a:xfrm>
              <a:off x="3474171" y="4511860"/>
              <a:ext cx="762132" cy="369332"/>
            </a:xfrm>
            <a:prstGeom prst="rect">
              <a:avLst/>
            </a:prstGeom>
            <a:noFill/>
          </p:spPr>
          <p:txBody>
            <a:bodyPr wrap="none" rtlCol="0">
              <a:spAutoFit/>
            </a:bodyPr>
            <a:lstStyle/>
            <a:p>
              <a:r>
                <a:rPr lang="en-US" dirty="0">
                  <a:solidFill>
                    <a:schemeClr val="bg1"/>
                  </a:solidFill>
                </a:rPr>
                <a:t>1 year</a:t>
              </a:r>
            </a:p>
          </p:txBody>
        </p:sp>
        <p:sp>
          <p:nvSpPr>
            <p:cNvPr id="10" name="TextBox 9">
              <a:extLst>
                <a:ext uri="{FF2B5EF4-FFF2-40B4-BE49-F238E27FC236}">
                  <a16:creationId xmlns:a16="http://schemas.microsoft.com/office/drawing/2014/main" id="{B89E406D-ABA5-4F94-8DD1-BDDDB507FE2B}"/>
                </a:ext>
              </a:extLst>
            </p:cNvPr>
            <p:cNvSpPr txBox="1"/>
            <p:nvPr/>
          </p:nvSpPr>
          <p:spPr>
            <a:xfrm>
              <a:off x="2686321" y="2202531"/>
              <a:ext cx="940322" cy="369332"/>
            </a:xfrm>
            <a:prstGeom prst="rect">
              <a:avLst/>
            </a:prstGeom>
            <a:noFill/>
          </p:spPr>
          <p:txBody>
            <a:bodyPr wrap="none" rtlCol="0">
              <a:spAutoFit/>
            </a:bodyPr>
            <a:lstStyle/>
            <a:p>
              <a:r>
                <a:rPr lang="en-US" dirty="0"/>
                <a:t>4 weeks</a:t>
              </a:r>
            </a:p>
          </p:txBody>
        </p:sp>
        <p:cxnSp>
          <p:nvCxnSpPr>
            <p:cNvPr id="12" name="Straight Connector 11">
              <a:extLst>
                <a:ext uri="{FF2B5EF4-FFF2-40B4-BE49-F238E27FC236}">
                  <a16:creationId xmlns:a16="http://schemas.microsoft.com/office/drawing/2014/main" id="{FC9372D6-90EC-42AF-8CB1-D0D706F72A03}"/>
                </a:ext>
              </a:extLst>
            </p:cNvPr>
            <p:cNvCxnSpPr>
              <a:cxnSpLocks/>
              <a:stCxn id="8" idx="0"/>
            </p:cNvCxnSpPr>
            <p:nvPr/>
          </p:nvCxnSpPr>
          <p:spPr>
            <a:xfrm flipH="1" flipV="1">
              <a:off x="3148149" y="5839097"/>
              <a:ext cx="117190" cy="169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0540C9-6712-4778-AAE8-B1BA015B2569}"/>
                </a:ext>
              </a:extLst>
            </p:cNvPr>
            <p:cNvCxnSpPr>
              <a:cxnSpLocks/>
              <a:stCxn id="8" idx="0"/>
            </p:cNvCxnSpPr>
            <p:nvPr/>
          </p:nvCxnSpPr>
          <p:spPr>
            <a:xfrm flipV="1">
              <a:off x="3265339" y="5839097"/>
              <a:ext cx="91815" cy="16908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44A470F5-B252-4893-A9D9-29C7BBD06793}"/>
              </a:ext>
            </a:extLst>
          </p:cNvPr>
          <p:cNvSpPr txBox="1"/>
          <p:nvPr/>
        </p:nvSpPr>
        <p:spPr>
          <a:xfrm>
            <a:off x="6537434" y="6488668"/>
            <a:ext cx="6096000" cy="261610"/>
          </a:xfrm>
          <a:prstGeom prst="rect">
            <a:avLst/>
          </a:prstGeom>
          <a:noFill/>
        </p:spPr>
        <p:txBody>
          <a:bodyPr wrap="square">
            <a:spAutoFit/>
          </a:bodyPr>
          <a:lstStyle/>
          <a:p>
            <a:r>
              <a:rPr lang="en-US" sz="1100" dirty="0"/>
              <a:t>Photo: https://endlessocean.fandom.com/wiki/Chinook_Salmon</a:t>
            </a:r>
          </a:p>
        </p:txBody>
      </p:sp>
    </p:spTree>
    <p:extLst>
      <p:ext uri="{BB962C8B-B14F-4D97-AF65-F5344CB8AC3E}">
        <p14:creationId xmlns:p14="http://schemas.microsoft.com/office/powerpoint/2010/main" val="110937859"/>
      </p:ext>
    </p:extLst>
  </p:cSld>
  <p:clrMapOvr>
    <a:masterClrMapping/>
  </p:clrMapOvr>
  <mc:AlternateContent xmlns:mc="http://schemas.openxmlformats.org/markup-compatibility/2006" xmlns:p14="http://schemas.microsoft.com/office/powerpoint/2010/main">
    <mc:Choice Requires="p14">
      <p:transition spd="slow" p14:dur="2000" advTm="4167"/>
    </mc:Choice>
    <mc:Fallback xmlns="">
      <p:transition spd="slow" advTm="4167"/>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bg>
      <p:bgPr shadeToTitle="1">
        <a:gradFill flip="none" rotWithShape="1">
          <a:gsLst>
            <a:gs pos="50000">
              <a:srgbClr val="4691AD"/>
            </a:gs>
            <a:gs pos="0">
              <a:srgbClr val="197DB5"/>
            </a:gs>
            <a:gs pos="100000">
              <a:schemeClr val="bg2">
                <a:shade val="80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FC6AED-AF93-4C82-856C-BD3201575A70}"/>
              </a:ext>
            </a:extLst>
          </p:cNvPr>
          <p:cNvSpPr>
            <a:spLocks noGrp="1"/>
          </p:cNvSpPr>
          <p:nvPr>
            <p:ph type="title"/>
          </p:nvPr>
        </p:nvSpPr>
        <p:spPr/>
        <p:txBody>
          <a:bodyPr>
            <a:normAutofit/>
          </a:bodyPr>
          <a:lstStyle/>
          <a:p>
            <a:r>
              <a:rPr lang="en-US" sz="4800" dirty="0"/>
              <a:t>31% of life time mortality occurs during </a:t>
            </a:r>
            <a:br>
              <a:rPr lang="en-US" sz="4800" dirty="0"/>
            </a:br>
            <a:r>
              <a:rPr lang="en-US" sz="4800" dirty="0"/>
              <a:t>2% of their life cycle in early-ocean stage</a:t>
            </a:r>
            <a:endParaRPr lang="en-US" dirty="0"/>
          </a:p>
        </p:txBody>
      </p:sp>
      <p:pic>
        <p:nvPicPr>
          <p:cNvPr id="15" name="Picture 14">
            <a:extLst>
              <a:ext uri="{FF2B5EF4-FFF2-40B4-BE49-F238E27FC236}">
                <a16:creationId xmlns:a16="http://schemas.microsoft.com/office/drawing/2014/main" id="{894D58B7-FBE1-45A1-9276-BBD07481B1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7018" y="1547945"/>
            <a:ext cx="9757963" cy="4878981"/>
          </a:xfrm>
          <a:prstGeom prst="rect">
            <a:avLst/>
          </a:prstGeom>
        </p:spPr>
      </p:pic>
      <p:sp>
        <p:nvSpPr>
          <p:cNvPr id="16" name="Title 1">
            <a:extLst>
              <a:ext uri="{FF2B5EF4-FFF2-40B4-BE49-F238E27FC236}">
                <a16:creationId xmlns:a16="http://schemas.microsoft.com/office/drawing/2014/main" id="{9E472832-299C-4624-BA4A-6C426BF833EE}"/>
              </a:ext>
            </a:extLst>
          </p:cNvPr>
          <p:cNvSpPr txBox="1">
            <a:spLocks/>
          </p:cNvSpPr>
          <p:nvPr/>
        </p:nvSpPr>
        <p:spPr>
          <a:xfrm>
            <a:off x="838199" y="365125"/>
            <a:ext cx="10899531" cy="1325563"/>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sz="4000" dirty="0"/>
          </a:p>
        </p:txBody>
      </p:sp>
      <p:sp>
        <p:nvSpPr>
          <p:cNvPr id="17" name="TextBox 16">
            <a:extLst>
              <a:ext uri="{FF2B5EF4-FFF2-40B4-BE49-F238E27FC236}">
                <a16:creationId xmlns:a16="http://schemas.microsoft.com/office/drawing/2014/main" id="{F0342257-91FA-4A28-9F30-33D15DC88CD2}"/>
              </a:ext>
            </a:extLst>
          </p:cNvPr>
          <p:cNvSpPr txBox="1"/>
          <p:nvPr/>
        </p:nvSpPr>
        <p:spPr>
          <a:xfrm>
            <a:off x="1741105" y="3964402"/>
            <a:ext cx="847924" cy="369332"/>
          </a:xfrm>
          <a:prstGeom prst="rect">
            <a:avLst/>
          </a:prstGeom>
          <a:noFill/>
        </p:spPr>
        <p:txBody>
          <a:bodyPr wrap="none" rtlCol="0">
            <a:spAutoFit/>
          </a:bodyPr>
          <a:lstStyle/>
          <a:p>
            <a:r>
              <a:rPr lang="en-US" dirty="0"/>
              <a:t>2 years</a:t>
            </a:r>
          </a:p>
        </p:txBody>
      </p:sp>
      <p:sp>
        <p:nvSpPr>
          <p:cNvPr id="18" name="TextBox 17">
            <a:extLst>
              <a:ext uri="{FF2B5EF4-FFF2-40B4-BE49-F238E27FC236}">
                <a16:creationId xmlns:a16="http://schemas.microsoft.com/office/drawing/2014/main" id="{31191482-1AF7-4D28-84D0-EE6C6C10EA63}"/>
              </a:ext>
            </a:extLst>
          </p:cNvPr>
          <p:cNvSpPr txBox="1"/>
          <p:nvPr/>
        </p:nvSpPr>
        <p:spPr>
          <a:xfrm>
            <a:off x="3476573" y="3097768"/>
            <a:ext cx="762132" cy="369332"/>
          </a:xfrm>
          <a:prstGeom prst="rect">
            <a:avLst/>
          </a:prstGeom>
          <a:noFill/>
        </p:spPr>
        <p:txBody>
          <a:bodyPr wrap="none" rtlCol="0">
            <a:spAutoFit/>
          </a:bodyPr>
          <a:lstStyle/>
          <a:p>
            <a:r>
              <a:rPr lang="en-US" dirty="0">
                <a:solidFill>
                  <a:schemeClr val="bg1"/>
                </a:solidFill>
              </a:rPr>
              <a:t>1 year</a:t>
            </a:r>
          </a:p>
        </p:txBody>
      </p:sp>
      <p:sp>
        <p:nvSpPr>
          <p:cNvPr id="19" name="TextBox 18">
            <a:extLst>
              <a:ext uri="{FF2B5EF4-FFF2-40B4-BE49-F238E27FC236}">
                <a16:creationId xmlns:a16="http://schemas.microsoft.com/office/drawing/2014/main" id="{9C85A328-65F9-4F95-9860-31139072B547}"/>
              </a:ext>
            </a:extLst>
          </p:cNvPr>
          <p:cNvSpPr txBox="1"/>
          <p:nvPr/>
        </p:nvSpPr>
        <p:spPr>
          <a:xfrm>
            <a:off x="2795178" y="6008177"/>
            <a:ext cx="940322" cy="369332"/>
          </a:xfrm>
          <a:prstGeom prst="rect">
            <a:avLst/>
          </a:prstGeom>
          <a:noFill/>
        </p:spPr>
        <p:txBody>
          <a:bodyPr wrap="none" rtlCol="0">
            <a:spAutoFit/>
          </a:bodyPr>
          <a:lstStyle/>
          <a:p>
            <a:r>
              <a:rPr lang="en-US" dirty="0"/>
              <a:t>4 weeks</a:t>
            </a:r>
          </a:p>
        </p:txBody>
      </p:sp>
      <p:sp>
        <p:nvSpPr>
          <p:cNvPr id="21" name="TextBox 20">
            <a:extLst>
              <a:ext uri="{FF2B5EF4-FFF2-40B4-BE49-F238E27FC236}">
                <a16:creationId xmlns:a16="http://schemas.microsoft.com/office/drawing/2014/main" id="{83F69527-BEF2-4F47-8F83-69CB61661604}"/>
              </a:ext>
            </a:extLst>
          </p:cNvPr>
          <p:cNvSpPr txBox="1"/>
          <p:nvPr/>
        </p:nvSpPr>
        <p:spPr>
          <a:xfrm>
            <a:off x="3589785" y="4543391"/>
            <a:ext cx="762132" cy="369332"/>
          </a:xfrm>
          <a:prstGeom prst="rect">
            <a:avLst/>
          </a:prstGeom>
          <a:noFill/>
        </p:spPr>
        <p:txBody>
          <a:bodyPr wrap="none" rtlCol="0">
            <a:spAutoFit/>
          </a:bodyPr>
          <a:lstStyle/>
          <a:p>
            <a:r>
              <a:rPr lang="en-US" dirty="0">
                <a:solidFill>
                  <a:schemeClr val="bg1"/>
                </a:solidFill>
              </a:rPr>
              <a:t>1 year</a:t>
            </a:r>
          </a:p>
        </p:txBody>
      </p:sp>
      <p:sp>
        <p:nvSpPr>
          <p:cNvPr id="23" name="TextBox 22">
            <a:extLst>
              <a:ext uri="{FF2B5EF4-FFF2-40B4-BE49-F238E27FC236}">
                <a16:creationId xmlns:a16="http://schemas.microsoft.com/office/drawing/2014/main" id="{4B91E264-4DB6-4B5F-9C29-6455307E4238}"/>
              </a:ext>
            </a:extLst>
          </p:cNvPr>
          <p:cNvSpPr txBox="1"/>
          <p:nvPr/>
        </p:nvSpPr>
        <p:spPr>
          <a:xfrm>
            <a:off x="2686321" y="2202531"/>
            <a:ext cx="940322" cy="369332"/>
          </a:xfrm>
          <a:prstGeom prst="rect">
            <a:avLst/>
          </a:prstGeom>
          <a:noFill/>
        </p:spPr>
        <p:txBody>
          <a:bodyPr wrap="none" rtlCol="0">
            <a:spAutoFit/>
          </a:bodyPr>
          <a:lstStyle/>
          <a:p>
            <a:r>
              <a:rPr lang="en-US" dirty="0"/>
              <a:t>4 weeks</a:t>
            </a:r>
          </a:p>
        </p:txBody>
      </p:sp>
      <p:cxnSp>
        <p:nvCxnSpPr>
          <p:cNvPr id="24" name="Straight Connector 23">
            <a:extLst>
              <a:ext uri="{FF2B5EF4-FFF2-40B4-BE49-F238E27FC236}">
                <a16:creationId xmlns:a16="http://schemas.microsoft.com/office/drawing/2014/main" id="{D104FEA2-DAAA-46E3-ABC3-B29A2E5DCC92}"/>
              </a:ext>
            </a:extLst>
          </p:cNvPr>
          <p:cNvCxnSpPr>
            <a:cxnSpLocks/>
            <a:stCxn id="19" idx="0"/>
          </p:cNvCxnSpPr>
          <p:nvPr/>
        </p:nvCxnSpPr>
        <p:spPr>
          <a:xfrm flipH="1" flipV="1">
            <a:off x="3148149" y="5839097"/>
            <a:ext cx="117190" cy="169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3E6618F-3F05-46B0-9502-00BE79D2FD96}"/>
              </a:ext>
            </a:extLst>
          </p:cNvPr>
          <p:cNvCxnSpPr>
            <a:cxnSpLocks/>
            <a:stCxn id="19" idx="0"/>
          </p:cNvCxnSpPr>
          <p:nvPr/>
        </p:nvCxnSpPr>
        <p:spPr>
          <a:xfrm flipV="1">
            <a:off x="3265339" y="5839097"/>
            <a:ext cx="91815" cy="169080"/>
          </a:xfrm>
          <a:prstGeom prst="line">
            <a:avLst/>
          </a:prstGeom>
        </p:spPr>
        <p:style>
          <a:lnRef idx="1">
            <a:schemeClr val="accent1"/>
          </a:lnRef>
          <a:fillRef idx="0">
            <a:schemeClr val="accent1"/>
          </a:fillRef>
          <a:effectRef idx="0">
            <a:schemeClr val="accent1"/>
          </a:effectRef>
          <a:fontRef idx="minor">
            <a:schemeClr val="tx1"/>
          </a:fontRef>
        </p:style>
      </p:cxnSp>
      <p:sp>
        <p:nvSpPr>
          <p:cNvPr id="26" name="Freeform: Shape 25">
            <a:extLst>
              <a:ext uri="{FF2B5EF4-FFF2-40B4-BE49-F238E27FC236}">
                <a16:creationId xmlns:a16="http://schemas.microsoft.com/office/drawing/2014/main" id="{EEACEB0C-761B-4507-9007-3F192124779A}"/>
              </a:ext>
            </a:extLst>
          </p:cNvPr>
          <p:cNvSpPr/>
          <p:nvPr/>
        </p:nvSpPr>
        <p:spPr>
          <a:xfrm>
            <a:off x="3103265" y="5356515"/>
            <a:ext cx="4671497" cy="1153687"/>
          </a:xfrm>
          <a:custGeom>
            <a:avLst/>
            <a:gdLst>
              <a:gd name="connsiteX0" fmla="*/ 0 w 4635336"/>
              <a:gd name="connsiteY0" fmla="*/ 469108 h 1083665"/>
              <a:gd name="connsiteX1" fmla="*/ 1791093 w 4635336"/>
              <a:gd name="connsiteY1" fmla="*/ 1062996 h 1083665"/>
              <a:gd name="connsiteX2" fmla="*/ 3591613 w 4635336"/>
              <a:gd name="connsiteY2" fmla="*/ 865033 h 1083665"/>
              <a:gd name="connsiteX3" fmla="*/ 4543720 w 4635336"/>
              <a:gd name="connsiteY3" fmla="*/ 73182 h 1083665"/>
              <a:gd name="connsiteX4" fmla="*/ 4543720 w 4635336"/>
              <a:gd name="connsiteY4" fmla="*/ 82609 h 1083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5336" h="1083665">
                <a:moveTo>
                  <a:pt x="0" y="469108"/>
                </a:moveTo>
                <a:cubicBezTo>
                  <a:pt x="596245" y="733058"/>
                  <a:pt x="1192491" y="997008"/>
                  <a:pt x="1791093" y="1062996"/>
                </a:cubicBezTo>
                <a:cubicBezTo>
                  <a:pt x="2389695" y="1128984"/>
                  <a:pt x="3132842" y="1030002"/>
                  <a:pt x="3591613" y="865033"/>
                </a:cubicBezTo>
                <a:cubicBezTo>
                  <a:pt x="4050384" y="700064"/>
                  <a:pt x="4385035" y="203586"/>
                  <a:pt x="4543720" y="73182"/>
                </a:cubicBezTo>
                <a:cubicBezTo>
                  <a:pt x="4702405" y="-57222"/>
                  <a:pt x="4623062" y="12693"/>
                  <a:pt x="4543720" y="82609"/>
                </a:cubicBezTo>
              </a:path>
            </a:pathLst>
          </a:custGeom>
          <a:noFill/>
          <a:ln w="85725">
            <a:solidFill>
              <a:schemeClr val="accent1"/>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7632753"/>
      </p:ext>
    </p:extLst>
  </p:cSld>
  <p:clrMapOvr>
    <a:masterClrMapping/>
  </p:clrMapOvr>
  <mc:AlternateContent xmlns:mc="http://schemas.openxmlformats.org/markup-compatibility/2006" xmlns:p14="http://schemas.microsoft.com/office/powerpoint/2010/main">
    <mc:Choice Requires="p14">
      <p:transition spd="slow" p14:dur="2000" advTm="23484"/>
    </mc:Choice>
    <mc:Fallback xmlns="">
      <p:transition spd="slow" advTm="23484"/>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bg>
      <p:bgPr>
        <a:gradFill>
          <a:gsLst>
            <a:gs pos="50000">
              <a:srgbClr val="4691AD"/>
            </a:gs>
            <a:gs pos="0">
              <a:srgbClr val="197DB5"/>
            </a:gs>
            <a:gs pos="100000">
              <a:schemeClr val="bg2">
                <a:shade val="80000"/>
              </a:schemeClr>
            </a:gs>
          </a:gsLst>
          <a:path path="shap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7704-A238-4BAE-9AFF-5389CD8F39B3}"/>
              </a:ext>
            </a:extLst>
          </p:cNvPr>
          <p:cNvSpPr>
            <a:spLocks noGrp="1"/>
          </p:cNvSpPr>
          <p:nvPr>
            <p:ph type="title"/>
          </p:nvPr>
        </p:nvSpPr>
        <p:spPr>
          <a:xfrm>
            <a:off x="838200" y="133477"/>
            <a:ext cx="10515600" cy="1325563"/>
          </a:xfrm>
        </p:spPr>
        <p:txBody>
          <a:bodyPr>
            <a:normAutofit fontScale="90000"/>
          </a:bodyPr>
          <a:lstStyle/>
          <a:p>
            <a:r>
              <a:rPr lang="en-US" dirty="0"/>
              <a:t>Mortality is especially high through the plume and the Northern California Current</a:t>
            </a:r>
          </a:p>
        </p:txBody>
      </p:sp>
      <p:pic>
        <p:nvPicPr>
          <p:cNvPr id="9" name="Picture 8">
            <a:extLst>
              <a:ext uri="{FF2B5EF4-FFF2-40B4-BE49-F238E27FC236}">
                <a16:creationId xmlns:a16="http://schemas.microsoft.com/office/drawing/2014/main" id="{954BD8A8-351F-4B9F-8FC9-A03E6DC592CE}"/>
              </a:ext>
            </a:extLst>
          </p:cNvPr>
          <p:cNvPicPr>
            <a:picLocks noChangeAspect="1"/>
          </p:cNvPicPr>
          <p:nvPr/>
        </p:nvPicPr>
        <p:blipFill>
          <a:blip r:embed="rId3"/>
          <a:stretch>
            <a:fillRect/>
          </a:stretch>
        </p:blipFill>
        <p:spPr>
          <a:xfrm>
            <a:off x="1039677" y="1450421"/>
            <a:ext cx="3999568" cy="4566758"/>
          </a:xfrm>
          <a:prstGeom prst="rect">
            <a:avLst/>
          </a:prstGeom>
        </p:spPr>
      </p:pic>
      <p:sp>
        <p:nvSpPr>
          <p:cNvPr id="4" name="TextBox 3">
            <a:extLst>
              <a:ext uri="{FF2B5EF4-FFF2-40B4-BE49-F238E27FC236}">
                <a16:creationId xmlns:a16="http://schemas.microsoft.com/office/drawing/2014/main" id="{1716D636-F9A6-4027-9BE7-343532DED8E1}"/>
              </a:ext>
            </a:extLst>
          </p:cNvPr>
          <p:cNvSpPr txBox="1"/>
          <p:nvPr/>
        </p:nvSpPr>
        <p:spPr>
          <a:xfrm>
            <a:off x="326136" y="6211669"/>
            <a:ext cx="5242560" cy="646331"/>
          </a:xfrm>
          <a:prstGeom prst="rect">
            <a:avLst/>
          </a:prstGeom>
          <a:noFill/>
        </p:spPr>
        <p:txBody>
          <a:bodyPr wrap="square" rtlCol="0">
            <a:spAutoFit/>
          </a:bodyPr>
          <a:lstStyle/>
          <a:p>
            <a:pPr algn="ctr"/>
            <a:r>
              <a:rPr lang="en-US" dirty="0"/>
              <a:t>Acoustic telemetry study of 1200 smolts:</a:t>
            </a:r>
          </a:p>
          <a:p>
            <a:pPr algn="ctr"/>
            <a:r>
              <a:rPr lang="en-US" dirty="0" err="1"/>
              <a:t>Rechisky</a:t>
            </a:r>
            <a:r>
              <a:rPr lang="en-US" dirty="0"/>
              <a:t> et al 2013</a:t>
            </a:r>
          </a:p>
        </p:txBody>
      </p:sp>
      <p:pic>
        <p:nvPicPr>
          <p:cNvPr id="6" name="Picture 5">
            <a:extLst>
              <a:ext uri="{FF2B5EF4-FFF2-40B4-BE49-F238E27FC236}">
                <a16:creationId xmlns:a16="http://schemas.microsoft.com/office/drawing/2014/main" id="{41418559-6430-462F-A2F5-35754D22B011}"/>
              </a:ext>
            </a:extLst>
          </p:cNvPr>
          <p:cNvPicPr>
            <a:picLocks noChangeAspect="1"/>
          </p:cNvPicPr>
          <p:nvPr/>
        </p:nvPicPr>
        <p:blipFill>
          <a:blip r:embed="rId4"/>
          <a:stretch>
            <a:fillRect/>
          </a:stretch>
        </p:blipFill>
        <p:spPr>
          <a:xfrm>
            <a:off x="7414583" y="1642945"/>
            <a:ext cx="4372979" cy="3056227"/>
          </a:xfrm>
          <a:prstGeom prst="rect">
            <a:avLst/>
          </a:prstGeom>
        </p:spPr>
      </p:pic>
      <p:sp>
        <p:nvSpPr>
          <p:cNvPr id="7" name="TextBox 6">
            <a:extLst>
              <a:ext uri="{FF2B5EF4-FFF2-40B4-BE49-F238E27FC236}">
                <a16:creationId xmlns:a16="http://schemas.microsoft.com/office/drawing/2014/main" id="{0824C4F0-882D-47F9-81B0-D14C68D23423}"/>
              </a:ext>
            </a:extLst>
          </p:cNvPr>
          <p:cNvSpPr txBox="1"/>
          <p:nvPr/>
        </p:nvSpPr>
        <p:spPr>
          <a:xfrm>
            <a:off x="5334863" y="2597834"/>
            <a:ext cx="1873911" cy="2308324"/>
          </a:xfrm>
          <a:prstGeom prst="rect">
            <a:avLst/>
          </a:prstGeom>
          <a:noFill/>
        </p:spPr>
        <p:txBody>
          <a:bodyPr wrap="none" rtlCol="0">
            <a:spAutoFit/>
          </a:bodyPr>
          <a:lstStyle/>
          <a:p>
            <a:pPr algn="ctr"/>
            <a:r>
              <a:rPr lang="en-US" sz="3600" dirty="0">
                <a:latin typeface="+mj-lt"/>
              </a:rPr>
              <a:t>97% </a:t>
            </a:r>
          </a:p>
          <a:p>
            <a:pPr algn="ctr"/>
            <a:r>
              <a:rPr lang="en-US" sz="3600" dirty="0">
                <a:latin typeface="+mj-lt"/>
              </a:rPr>
              <a:t>mortality</a:t>
            </a:r>
          </a:p>
          <a:p>
            <a:pPr algn="ctr"/>
            <a:r>
              <a:rPr lang="en-US" sz="3600" dirty="0">
                <a:latin typeface="+mj-lt"/>
              </a:rPr>
              <a:t>Bon -</a:t>
            </a:r>
          </a:p>
          <a:p>
            <a:pPr algn="ctr"/>
            <a:r>
              <a:rPr lang="en-US" sz="3600" dirty="0" err="1">
                <a:latin typeface="+mj-lt"/>
              </a:rPr>
              <a:t>Vanc</a:t>
            </a:r>
            <a:r>
              <a:rPr lang="en-US" sz="3600" dirty="0">
                <a:latin typeface="+mj-lt"/>
              </a:rPr>
              <a:t> </a:t>
            </a:r>
            <a:r>
              <a:rPr lang="en-US" sz="3600" dirty="0" err="1">
                <a:latin typeface="+mj-lt"/>
              </a:rPr>
              <a:t>Isl</a:t>
            </a:r>
            <a:endParaRPr lang="en-US" sz="3600" dirty="0">
              <a:latin typeface="+mj-lt"/>
            </a:endParaRPr>
          </a:p>
        </p:txBody>
      </p:sp>
      <p:pic>
        <p:nvPicPr>
          <p:cNvPr id="8" name="Picture 7">
            <a:extLst>
              <a:ext uri="{FF2B5EF4-FFF2-40B4-BE49-F238E27FC236}">
                <a16:creationId xmlns:a16="http://schemas.microsoft.com/office/drawing/2014/main" id="{2BC971F9-F731-4E85-A1D4-AE8DE70D7392}"/>
              </a:ext>
            </a:extLst>
          </p:cNvPr>
          <p:cNvPicPr>
            <a:picLocks noChangeAspect="1"/>
          </p:cNvPicPr>
          <p:nvPr/>
        </p:nvPicPr>
        <p:blipFill rotWithShape="1">
          <a:blip r:embed="rId5">
            <a:extLst>
              <a:ext uri="{28A0092B-C50C-407E-A947-70E740481C1C}">
                <a14:useLocalDpi xmlns:a14="http://schemas.microsoft.com/office/drawing/2010/main" val="0"/>
              </a:ext>
            </a:extLst>
          </a:blip>
          <a:srcRect l="3581" r="25022" b="3811"/>
          <a:stretch/>
        </p:blipFill>
        <p:spPr>
          <a:xfrm>
            <a:off x="8502815" y="5023944"/>
            <a:ext cx="2259777" cy="1744717"/>
          </a:xfrm>
          <a:prstGeom prst="rect">
            <a:avLst/>
          </a:prstGeom>
        </p:spPr>
      </p:pic>
    </p:spTree>
    <p:extLst>
      <p:ext uri="{BB962C8B-B14F-4D97-AF65-F5344CB8AC3E}">
        <p14:creationId xmlns:p14="http://schemas.microsoft.com/office/powerpoint/2010/main" val="98321964"/>
      </p:ext>
    </p:extLst>
  </p:cSld>
  <p:clrMapOvr>
    <a:masterClrMapping/>
  </p:clrMapOvr>
  <mc:AlternateContent xmlns:mc="http://schemas.openxmlformats.org/markup-compatibility/2006" xmlns:p14="http://schemas.microsoft.com/office/powerpoint/2010/main">
    <mc:Choice Requires="p14">
      <p:transition spd="slow" p14:dur="2000" advTm="87055"/>
    </mc:Choice>
    <mc:Fallback xmlns="">
      <p:transition spd="slow" advTm="87055"/>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Tree>
    <p:extLst>
      <p:ext uri="{BB962C8B-B14F-4D97-AF65-F5344CB8AC3E}">
        <p14:creationId xmlns:p14="http://schemas.microsoft.com/office/powerpoint/2010/main" val="927964780"/>
      </p:ext>
    </p:extLst>
  </p:cSld>
  <p:clrMapOvr>
    <a:masterClrMapping/>
  </p:clrMapOvr>
  <mc:AlternateContent xmlns:mc="http://schemas.openxmlformats.org/markup-compatibility/2006" xmlns:p14="http://schemas.microsoft.com/office/powerpoint/2010/main">
    <mc:Choice Requires="p14">
      <p:transition spd="slow" p14:dur="2000" advTm="34981"/>
    </mc:Choice>
    <mc:Fallback xmlns="">
      <p:transition spd="slow" advTm="34981"/>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E3E17-01B4-4969-BA6B-2B57C615088E}"/>
              </a:ext>
            </a:extLst>
          </p:cNvPr>
          <p:cNvSpPr>
            <a:spLocks noGrp="1"/>
          </p:cNvSpPr>
          <p:nvPr>
            <p:ph type="title"/>
          </p:nvPr>
        </p:nvSpPr>
        <p:spPr>
          <a:xfrm>
            <a:off x="1066800" y="0"/>
            <a:ext cx="10058400" cy="1045029"/>
          </a:xfrm>
        </p:spPr>
        <p:txBody>
          <a:bodyPr/>
          <a:lstStyle/>
          <a:p>
            <a:r>
              <a:rPr lang="en-US" dirty="0"/>
              <a:t>Modeling goals</a:t>
            </a:r>
          </a:p>
        </p:txBody>
      </p:sp>
      <p:sp>
        <p:nvSpPr>
          <p:cNvPr id="3" name="Content Placeholder 2">
            <a:extLst>
              <a:ext uri="{FF2B5EF4-FFF2-40B4-BE49-F238E27FC236}">
                <a16:creationId xmlns:a16="http://schemas.microsoft.com/office/drawing/2014/main" id="{D8E3F2D7-C6FE-49DE-AAD2-24ABE9B3B0DD}"/>
              </a:ext>
            </a:extLst>
          </p:cNvPr>
          <p:cNvSpPr>
            <a:spLocks noGrp="1"/>
          </p:cNvSpPr>
          <p:nvPr>
            <p:ph idx="1"/>
          </p:nvPr>
        </p:nvSpPr>
        <p:spPr>
          <a:xfrm>
            <a:off x="849086" y="1702043"/>
            <a:ext cx="10058400" cy="4023360"/>
          </a:xfrm>
        </p:spPr>
        <p:txBody>
          <a:bodyPr>
            <a:noAutofit/>
          </a:bodyPr>
          <a:lstStyle/>
          <a:p>
            <a:r>
              <a:rPr lang="en-US" sz="2800" b="1" dirty="0">
                <a:latin typeface="+mj-lt"/>
              </a:rPr>
              <a:t>Step 1: Exploratory SEM (</a:t>
            </a:r>
            <a:r>
              <a:rPr lang="en-US" sz="2800" dirty="0"/>
              <a:t>structural equation modeling </a:t>
            </a:r>
            <a:r>
              <a:rPr lang="en-US" sz="2800" b="1" dirty="0">
                <a:latin typeface="+mj-lt"/>
              </a:rPr>
              <a:t>)</a:t>
            </a:r>
          </a:p>
          <a:p>
            <a:pPr lvl="2"/>
            <a:r>
              <a:rPr lang="en-US" sz="2400" dirty="0">
                <a:latin typeface="+mj-lt"/>
              </a:rPr>
              <a:t>Variable Reduction: Rank-order indices to find the most robust predictors</a:t>
            </a:r>
          </a:p>
          <a:p>
            <a:pPr lvl="2"/>
            <a:r>
              <a:rPr lang="en-US" sz="2400" dirty="0">
                <a:latin typeface="+mj-lt"/>
              </a:rPr>
              <a:t>Signal Detection: Identify trophic pathways consistent with salmon survival</a:t>
            </a:r>
          </a:p>
          <a:p>
            <a:pPr lvl="2"/>
            <a:r>
              <a:rPr lang="en-US" sz="2400" dirty="0">
                <a:latin typeface="+mj-lt"/>
              </a:rPr>
              <a:t>Scientific Rigor: Ground all selections in </a:t>
            </a:r>
            <a:r>
              <a:rPr lang="en-US" sz="2400" i="1" dirty="0">
                <a:latin typeface="+mj-lt"/>
              </a:rPr>
              <a:t>a priori</a:t>
            </a:r>
            <a:r>
              <a:rPr lang="en-US" sz="2400" dirty="0">
                <a:latin typeface="+mj-lt"/>
              </a:rPr>
              <a:t> ecological theory</a:t>
            </a:r>
          </a:p>
          <a:p>
            <a:pPr lvl="2"/>
            <a:endParaRPr lang="en-US" sz="2400" dirty="0">
              <a:latin typeface="+mj-lt"/>
            </a:endParaRPr>
          </a:p>
          <a:p>
            <a:r>
              <a:rPr lang="en-US" sz="2800" b="1" dirty="0">
                <a:latin typeface="+mj-lt"/>
              </a:rPr>
              <a:t>Step 2: Confirmatory SEM</a:t>
            </a:r>
          </a:p>
          <a:p>
            <a:pPr lvl="2"/>
            <a:r>
              <a:rPr lang="en-US" sz="2400" dirty="0">
                <a:latin typeface="+mj-lt"/>
              </a:rPr>
              <a:t>Latent Variables: Group similar indices into functional clusters (CFA)</a:t>
            </a:r>
          </a:p>
          <a:p>
            <a:pPr lvl="2"/>
            <a:r>
              <a:rPr lang="en-US" sz="2400" dirty="0">
                <a:latin typeface="+mj-lt"/>
              </a:rPr>
              <a:t>Structural Paths: Test and refine hypothesized mechanistic regressions</a:t>
            </a:r>
          </a:p>
          <a:p>
            <a:pPr lvl="2"/>
            <a:r>
              <a:rPr lang="en-US" sz="2400" dirty="0">
                <a:latin typeface="+mj-lt"/>
              </a:rPr>
              <a:t>Model Validation: Statistically verify the strength of ecosystem links</a:t>
            </a:r>
          </a:p>
          <a:p>
            <a:pPr marL="457200" lvl="1" indent="0">
              <a:buNone/>
            </a:pPr>
            <a:endParaRPr lang="en-US" sz="2000" dirty="0">
              <a:latin typeface="+mj-lt"/>
            </a:endParaRPr>
          </a:p>
        </p:txBody>
      </p:sp>
    </p:spTree>
    <p:custDataLst>
      <p:tags r:id="rId1"/>
    </p:custDataLst>
    <p:extLst>
      <p:ext uri="{BB962C8B-B14F-4D97-AF65-F5344CB8AC3E}">
        <p14:creationId xmlns:p14="http://schemas.microsoft.com/office/powerpoint/2010/main" val="892732129"/>
      </p:ext>
    </p:extLst>
  </p:cSld>
  <p:clrMapOvr>
    <a:masterClrMapping/>
  </p:clrMapOvr>
  <mc:AlternateContent xmlns:mc="http://schemas.openxmlformats.org/markup-compatibility/2006" xmlns:p14="http://schemas.microsoft.com/office/powerpoint/2010/main">
    <mc:Choice Requires="p14">
      <p:transition spd="slow" p14:dur="2000" advTm="104951"/>
    </mc:Choice>
    <mc:Fallback xmlns="">
      <p:transition spd="slow" advTm="1049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D0CDD1B-81DC-4C3E-81F8-BF4556764AE8}"/>
              </a:ext>
            </a:extLst>
          </p:cNvPr>
          <p:cNvGrpSpPr/>
          <p:nvPr/>
        </p:nvGrpSpPr>
        <p:grpSpPr>
          <a:xfrm>
            <a:off x="199697" y="189185"/>
            <a:ext cx="11803118" cy="6478315"/>
            <a:chOff x="0" y="189185"/>
            <a:chExt cx="12192000" cy="6478315"/>
          </a:xfrm>
          <a:solidFill>
            <a:schemeClr val="tx1"/>
          </a:solidFill>
        </p:grpSpPr>
        <p:pic>
          <p:nvPicPr>
            <p:cNvPr id="13" name="Picture 12">
              <a:extLst>
                <a:ext uri="{FF2B5EF4-FFF2-40B4-BE49-F238E27FC236}">
                  <a16:creationId xmlns:a16="http://schemas.microsoft.com/office/drawing/2014/main" id="{5B0CE37B-BCF4-42FE-B6CB-390B2CD95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9185"/>
              <a:ext cx="12192000" cy="6453353"/>
            </a:xfrm>
            <a:prstGeom prst="rect">
              <a:avLst/>
            </a:prstGeom>
            <a:grpFill/>
          </p:spPr>
        </p:pic>
        <p:sp>
          <p:nvSpPr>
            <p:cNvPr id="14" name="Rectangle 13">
              <a:extLst>
                <a:ext uri="{FF2B5EF4-FFF2-40B4-BE49-F238E27FC236}">
                  <a16:creationId xmlns:a16="http://schemas.microsoft.com/office/drawing/2014/main" id="{C6756217-1F90-4BB4-8E23-F61DEBD4EEA4}"/>
                </a:ext>
              </a:extLst>
            </p:cNvPr>
            <p:cNvSpPr/>
            <p:nvPr/>
          </p:nvSpPr>
          <p:spPr>
            <a:xfrm>
              <a:off x="8967579" y="570738"/>
              <a:ext cx="3118902" cy="30601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8325196-E017-41C9-89C1-A73C68F29428}"/>
                </a:ext>
              </a:extLst>
            </p:cNvPr>
            <p:cNvSpPr/>
            <p:nvPr/>
          </p:nvSpPr>
          <p:spPr>
            <a:xfrm>
              <a:off x="91440" y="3505200"/>
              <a:ext cx="12100560" cy="3162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Content Placeholder 3">
            <a:extLst>
              <a:ext uri="{FF2B5EF4-FFF2-40B4-BE49-F238E27FC236}">
                <a16:creationId xmlns:a16="http://schemas.microsoft.com/office/drawing/2014/main" id="{43DFCCCF-BB94-4808-9BC6-2287EB22F41E}"/>
              </a:ext>
            </a:extLst>
          </p:cNvPr>
          <p:cNvSpPr>
            <a:spLocks noGrp="1"/>
          </p:cNvSpPr>
          <p:nvPr>
            <p:ph idx="4294967295"/>
          </p:nvPr>
        </p:nvSpPr>
        <p:spPr>
          <a:xfrm>
            <a:off x="357352" y="3550253"/>
            <a:ext cx="5257800" cy="3128962"/>
          </a:xfrm>
        </p:spPr>
        <p:txBody>
          <a:bodyPr>
            <a:normAutofit fontScale="85000" lnSpcReduction="10000"/>
          </a:bodyPr>
          <a:lstStyle/>
          <a:p>
            <a:r>
              <a:rPr lang="en-US" sz="2600" u="sng" dirty="0">
                <a:solidFill>
                  <a:schemeClr val="bg2"/>
                </a:solidFill>
              </a:rPr>
              <a:t>Data sources</a:t>
            </a:r>
            <a:r>
              <a:rPr lang="en-US" sz="2000" dirty="0">
                <a:solidFill>
                  <a:schemeClr val="bg2"/>
                </a:solidFill>
              </a:rPr>
              <a:t> </a:t>
            </a:r>
          </a:p>
          <a:p>
            <a:r>
              <a:rPr lang="en-US" sz="2000" dirty="0">
                <a:solidFill>
                  <a:schemeClr val="bg2"/>
                </a:solidFill>
              </a:rPr>
              <a:t>NCC: </a:t>
            </a:r>
            <a:r>
              <a:rPr lang="en-US" dirty="0">
                <a:solidFill>
                  <a:schemeClr val="bg2"/>
                </a:solidFill>
              </a:rPr>
              <a:t>Newport Hydrographic Line, Juvenile </a:t>
            </a:r>
            <a:r>
              <a:rPr lang="en-US" sz="2000" dirty="0">
                <a:solidFill>
                  <a:schemeClr val="bg2"/>
                </a:solidFill>
              </a:rPr>
              <a:t>Salmon Ocean and Ecosystem</a:t>
            </a:r>
            <a:r>
              <a:rPr lang="en-US" dirty="0">
                <a:solidFill>
                  <a:schemeClr val="bg2"/>
                </a:solidFill>
              </a:rPr>
              <a:t>; Coastal Pelagic; Joint </a:t>
            </a:r>
            <a:r>
              <a:rPr lang="en-US" sz="2000" dirty="0">
                <a:solidFill>
                  <a:schemeClr val="bg2"/>
                </a:solidFill>
              </a:rPr>
              <a:t>US-CA Hake Acoustic Trawl; West Coast </a:t>
            </a:r>
            <a:r>
              <a:rPr lang="en-US" dirty="0">
                <a:solidFill>
                  <a:schemeClr val="bg2"/>
                </a:solidFill>
              </a:rPr>
              <a:t>Bottom Trawl; Seabird Colony Monitoring Program; </a:t>
            </a:r>
            <a:r>
              <a:rPr lang="en-US" sz="2000" dirty="0">
                <a:solidFill>
                  <a:schemeClr val="bg2"/>
                </a:solidFill>
              </a:rPr>
              <a:t>Westport Bird and Mammal Survey</a:t>
            </a:r>
          </a:p>
          <a:p>
            <a:r>
              <a:rPr lang="en-US" sz="2000" dirty="0">
                <a:solidFill>
                  <a:schemeClr val="bg2"/>
                </a:solidFill>
              </a:rPr>
              <a:t>WCVI (DFO): </a:t>
            </a:r>
            <a:r>
              <a:rPr lang="en-US" dirty="0">
                <a:solidFill>
                  <a:schemeClr val="bg2"/>
                </a:solidFill>
              </a:rPr>
              <a:t>Zooplankton Monitoring Program, La Perouse Bank, Line P Monitoring Program, Integrated </a:t>
            </a:r>
            <a:r>
              <a:rPr lang="en-US" sz="2000" dirty="0">
                <a:solidFill>
                  <a:schemeClr val="bg2"/>
                </a:solidFill>
              </a:rPr>
              <a:t>Pelagic Ecosystem, Bottom </a:t>
            </a:r>
            <a:r>
              <a:rPr lang="en-US" dirty="0">
                <a:solidFill>
                  <a:schemeClr val="bg2"/>
                </a:solidFill>
              </a:rPr>
              <a:t>T</a:t>
            </a:r>
            <a:r>
              <a:rPr lang="en-US" sz="2000" dirty="0">
                <a:solidFill>
                  <a:schemeClr val="bg2"/>
                </a:solidFill>
              </a:rPr>
              <a:t>rawl</a:t>
            </a:r>
            <a:r>
              <a:rPr lang="en-US" dirty="0">
                <a:solidFill>
                  <a:schemeClr val="bg2"/>
                </a:solidFill>
              </a:rPr>
              <a:t>, Seabirds at Sea, Seabird Colony Monitoring Program, Cetacean Research Program</a:t>
            </a:r>
            <a:endParaRPr lang="en-US" sz="2000" dirty="0">
              <a:solidFill>
                <a:schemeClr val="bg2"/>
              </a:solidFill>
            </a:endParaRPr>
          </a:p>
          <a:p>
            <a:r>
              <a:rPr lang="en-US" sz="2000" dirty="0">
                <a:solidFill>
                  <a:schemeClr val="bg2"/>
                </a:solidFill>
              </a:rPr>
              <a:t>AK</a:t>
            </a:r>
            <a:r>
              <a:rPr lang="en-US" dirty="0">
                <a:solidFill>
                  <a:schemeClr val="bg2"/>
                </a:solidFill>
              </a:rPr>
              <a:t>: Plankton and Larval; Bottom </a:t>
            </a:r>
            <a:r>
              <a:rPr lang="en-US" sz="2000" dirty="0">
                <a:solidFill>
                  <a:schemeClr val="bg2"/>
                </a:solidFill>
              </a:rPr>
              <a:t>Trawl (GOA</a:t>
            </a:r>
            <a:r>
              <a:rPr lang="en-US" dirty="0">
                <a:solidFill>
                  <a:schemeClr val="bg2"/>
                </a:solidFill>
              </a:rPr>
              <a:t>, </a:t>
            </a:r>
            <a:r>
              <a:rPr lang="en-US" sz="2000" dirty="0">
                <a:solidFill>
                  <a:schemeClr val="bg2"/>
                </a:solidFill>
              </a:rPr>
              <a:t>Aleutian Islands)</a:t>
            </a:r>
            <a:r>
              <a:rPr lang="en-US" dirty="0">
                <a:solidFill>
                  <a:schemeClr val="bg2"/>
                </a:solidFill>
              </a:rPr>
              <a:t>; Coordinated Seabird Studies; Marine Mammal</a:t>
            </a:r>
            <a:endParaRPr lang="en-US" sz="2000" dirty="0">
              <a:solidFill>
                <a:schemeClr val="bg2"/>
              </a:solidFill>
            </a:endParaRPr>
          </a:p>
          <a:p>
            <a:endParaRPr lang="en-US" sz="2000" dirty="0">
              <a:solidFill>
                <a:schemeClr val="bg2"/>
              </a:solidFill>
            </a:endParaRPr>
          </a:p>
        </p:txBody>
      </p:sp>
      <p:graphicFrame>
        <p:nvGraphicFramePr>
          <p:cNvPr id="5" name="Table 4">
            <a:extLst>
              <a:ext uri="{FF2B5EF4-FFF2-40B4-BE49-F238E27FC236}">
                <a16:creationId xmlns:a16="http://schemas.microsoft.com/office/drawing/2014/main" id="{AC1F4527-69C7-4362-AA65-AA114A34496E}"/>
              </a:ext>
            </a:extLst>
          </p:cNvPr>
          <p:cNvGraphicFramePr>
            <a:graphicFrameLocks noGrp="1"/>
          </p:cNvGraphicFramePr>
          <p:nvPr>
            <p:extLst>
              <p:ext uri="{D42A27DB-BD31-4B8C-83A1-F6EECF244321}">
                <p14:modId xmlns:p14="http://schemas.microsoft.com/office/powerpoint/2010/main" val="2253163696"/>
              </p:ext>
            </p:extLst>
          </p:nvPr>
        </p:nvGraphicFramePr>
        <p:xfrm>
          <a:off x="6716014" y="3677366"/>
          <a:ext cx="4744466" cy="2429982"/>
        </p:xfrm>
        <a:graphic>
          <a:graphicData uri="http://schemas.openxmlformats.org/drawingml/2006/table">
            <a:tbl>
              <a:tblPr/>
              <a:tblGrid>
                <a:gridCol w="654409">
                  <a:extLst>
                    <a:ext uri="{9D8B030D-6E8A-4147-A177-3AD203B41FA5}">
                      <a16:colId xmlns:a16="http://schemas.microsoft.com/office/drawing/2014/main" val="1379268525"/>
                    </a:ext>
                  </a:extLst>
                </a:gridCol>
                <a:gridCol w="803138">
                  <a:extLst>
                    <a:ext uri="{9D8B030D-6E8A-4147-A177-3AD203B41FA5}">
                      <a16:colId xmlns:a16="http://schemas.microsoft.com/office/drawing/2014/main" val="220243742"/>
                    </a:ext>
                  </a:extLst>
                </a:gridCol>
                <a:gridCol w="565171">
                  <a:extLst>
                    <a:ext uri="{9D8B030D-6E8A-4147-A177-3AD203B41FA5}">
                      <a16:colId xmlns:a16="http://schemas.microsoft.com/office/drawing/2014/main" val="3317772537"/>
                    </a:ext>
                  </a:extLst>
                </a:gridCol>
                <a:gridCol w="327205">
                  <a:extLst>
                    <a:ext uri="{9D8B030D-6E8A-4147-A177-3AD203B41FA5}">
                      <a16:colId xmlns:a16="http://schemas.microsoft.com/office/drawing/2014/main" val="1089819539"/>
                    </a:ext>
                  </a:extLst>
                </a:gridCol>
                <a:gridCol w="654409">
                  <a:extLst>
                    <a:ext uri="{9D8B030D-6E8A-4147-A177-3AD203B41FA5}">
                      <a16:colId xmlns:a16="http://schemas.microsoft.com/office/drawing/2014/main" val="1687071831"/>
                    </a:ext>
                  </a:extLst>
                </a:gridCol>
                <a:gridCol w="654409">
                  <a:extLst>
                    <a:ext uri="{9D8B030D-6E8A-4147-A177-3AD203B41FA5}">
                      <a16:colId xmlns:a16="http://schemas.microsoft.com/office/drawing/2014/main" val="540359571"/>
                    </a:ext>
                  </a:extLst>
                </a:gridCol>
                <a:gridCol w="535426">
                  <a:extLst>
                    <a:ext uri="{9D8B030D-6E8A-4147-A177-3AD203B41FA5}">
                      <a16:colId xmlns:a16="http://schemas.microsoft.com/office/drawing/2014/main" val="1876953046"/>
                    </a:ext>
                  </a:extLst>
                </a:gridCol>
                <a:gridCol w="550299">
                  <a:extLst>
                    <a:ext uri="{9D8B030D-6E8A-4147-A177-3AD203B41FA5}">
                      <a16:colId xmlns:a16="http://schemas.microsoft.com/office/drawing/2014/main" val="519579353"/>
                    </a:ext>
                  </a:extLst>
                </a:gridCol>
              </a:tblGrid>
              <a:tr h="269998">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Abundance</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Growth</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SAR</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PreyNCC</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err="1">
                          <a:solidFill>
                            <a:srgbClr val="000000"/>
                          </a:solidFill>
                          <a:effectLst/>
                          <a:latin typeface="Calibri" panose="020F0502020204030204" pitchFamily="34" charset="0"/>
                        </a:rPr>
                        <a:t>PredNCC</a:t>
                      </a: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PreyAK</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err="1">
                          <a:solidFill>
                            <a:srgbClr val="000000"/>
                          </a:solidFill>
                          <a:effectLst/>
                          <a:latin typeface="Calibri" panose="020F0502020204030204" pitchFamily="34" charset="0"/>
                        </a:rPr>
                        <a:t>PredAK</a:t>
                      </a: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2061858"/>
                  </a:ext>
                </a:extLst>
              </a:tr>
              <a:tr h="269998">
                <a:tc>
                  <a:txBody>
                    <a:bodyPr/>
                    <a:lstStyle/>
                    <a:p>
                      <a:pPr algn="l" fontAlgn="b"/>
                      <a:r>
                        <a:rPr lang="en-US" sz="1100" b="0" i="0" u="none" strike="noStrike">
                          <a:solidFill>
                            <a:srgbClr val="000000"/>
                          </a:solidFill>
                          <a:effectLst/>
                          <a:latin typeface="Calibri" panose="020F0502020204030204" pitchFamily="34" charset="0"/>
                        </a:rPr>
                        <a:t>Salmon</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708574006"/>
                  </a:ext>
                </a:extLst>
              </a:tr>
              <a:tr h="269998">
                <a:tc>
                  <a:txBody>
                    <a:bodyPr/>
                    <a:lstStyle/>
                    <a:p>
                      <a:pPr algn="l" fontAlgn="b"/>
                      <a:r>
                        <a:rPr lang="en-US" sz="1100" b="0" i="0" u="none" strike="noStrike">
                          <a:solidFill>
                            <a:srgbClr val="000000"/>
                          </a:solidFill>
                          <a:effectLst/>
                          <a:latin typeface="Calibri" panose="020F0502020204030204" pitchFamily="34" charset="0"/>
                        </a:rPr>
                        <a:t>Plankton</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525777944"/>
                  </a:ext>
                </a:extLst>
              </a:tr>
              <a:tr h="269998">
                <a:tc>
                  <a:txBody>
                    <a:bodyPr/>
                    <a:lstStyle/>
                    <a:p>
                      <a:pPr algn="l" fontAlgn="b"/>
                      <a:r>
                        <a:rPr lang="en-US" sz="1100" b="0" i="0" u="none" strike="noStrike">
                          <a:solidFill>
                            <a:srgbClr val="000000"/>
                          </a:solidFill>
                          <a:effectLst/>
                          <a:latin typeface="Calibri" panose="020F0502020204030204" pitchFamily="34" charset="0"/>
                        </a:rPr>
                        <a:t>Bird Diet</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599710261"/>
                  </a:ext>
                </a:extLst>
              </a:tr>
              <a:tr h="269998">
                <a:tc>
                  <a:txBody>
                    <a:bodyPr/>
                    <a:lstStyle/>
                    <a:p>
                      <a:pPr algn="l" fontAlgn="b"/>
                      <a:r>
                        <a:rPr lang="en-US" sz="1100" b="0" i="0" u="none" strike="noStrike">
                          <a:solidFill>
                            <a:srgbClr val="000000"/>
                          </a:solidFill>
                          <a:effectLst/>
                          <a:latin typeface="Calibri" panose="020F0502020204030204" pitchFamily="34" charset="0"/>
                        </a:rPr>
                        <a:t>Jellyfish</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944989433"/>
                  </a:ext>
                </a:extLst>
              </a:tr>
              <a:tr h="269998">
                <a:tc>
                  <a:txBody>
                    <a:bodyPr/>
                    <a:lstStyle/>
                    <a:p>
                      <a:pPr algn="l" fontAlgn="b"/>
                      <a:r>
                        <a:rPr lang="en-US" sz="1100" b="0" i="0" u="none" strike="noStrike">
                          <a:solidFill>
                            <a:srgbClr val="000000"/>
                          </a:solidFill>
                          <a:effectLst/>
                          <a:latin typeface="Calibri" panose="020F0502020204030204" pitchFamily="34" charset="0"/>
                        </a:rPr>
                        <a:t>Squid</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070689822"/>
                  </a:ext>
                </a:extLst>
              </a:tr>
              <a:tr h="269998">
                <a:tc>
                  <a:txBody>
                    <a:bodyPr/>
                    <a:lstStyle/>
                    <a:p>
                      <a:pPr algn="l" fontAlgn="b"/>
                      <a:r>
                        <a:rPr lang="en-US" sz="1100" b="0" i="0" u="none" strike="noStrike">
                          <a:solidFill>
                            <a:srgbClr val="000000"/>
                          </a:solidFill>
                          <a:effectLst/>
                          <a:latin typeface="Calibri" panose="020F0502020204030204" pitchFamily="34" charset="0"/>
                        </a:rPr>
                        <a:t>Fish</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tcPr>
                </a:tc>
                <a:extLst>
                  <a:ext uri="{0D108BD9-81ED-4DB2-BD59-A6C34878D82A}">
                    <a16:rowId xmlns:a16="http://schemas.microsoft.com/office/drawing/2014/main" val="4269324417"/>
                  </a:ext>
                </a:extLst>
              </a:tr>
              <a:tr h="269998">
                <a:tc>
                  <a:txBody>
                    <a:bodyPr/>
                    <a:lstStyle/>
                    <a:p>
                      <a:pPr algn="l" fontAlgn="b"/>
                      <a:r>
                        <a:rPr lang="en-US" sz="1100" b="0" i="0" u="none" strike="noStrike">
                          <a:solidFill>
                            <a:srgbClr val="000000"/>
                          </a:solidFill>
                          <a:effectLst/>
                          <a:latin typeface="Calibri" panose="020F0502020204030204" pitchFamily="34" charset="0"/>
                        </a:rPr>
                        <a:t>Bird</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36</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982898132"/>
                  </a:ext>
                </a:extLst>
              </a:tr>
              <a:tr h="269998">
                <a:tc>
                  <a:txBody>
                    <a:bodyPr/>
                    <a:lstStyle/>
                    <a:p>
                      <a:pPr algn="l" fontAlgn="b"/>
                      <a:r>
                        <a:rPr lang="en-US" sz="1100" b="0" i="0" u="none" strike="noStrike">
                          <a:solidFill>
                            <a:srgbClr val="000000"/>
                          </a:solidFill>
                          <a:effectLst/>
                          <a:latin typeface="Calibri" panose="020F0502020204030204" pitchFamily="34" charset="0"/>
                        </a:rPr>
                        <a:t>Mammal</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506426782"/>
                  </a:ext>
                </a:extLst>
              </a:tr>
            </a:tbl>
          </a:graphicData>
        </a:graphic>
      </p:graphicFrame>
      <p:sp>
        <p:nvSpPr>
          <p:cNvPr id="9" name="TextBox 8">
            <a:extLst>
              <a:ext uri="{FF2B5EF4-FFF2-40B4-BE49-F238E27FC236}">
                <a16:creationId xmlns:a16="http://schemas.microsoft.com/office/drawing/2014/main" id="{1B9BA64C-9A0E-4CFE-8B6E-48C56FA69345}"/>
              </a:ext>
            </a:extLst>
          </p:cNvPr>
          <p:cNvSpPr txBox="1"/>
          <p:nvPr/>
        </p:nvSpPr>
        <p:spPr>
          <a:xfrm>
            <a:off x="7837774" y="6117077"/>
            <a:ext cx="3550524" cy="646331"/>
          </a:xfrm>
          <a:prstGeom prst="rect">
            <a:avLst/>
          </a:prstGeom>
          <a:noFill/>
        </p:spPr>
        <p:txBody>
          <a:bodyPr wrap="none" rtlCol="0">
            <a:spAutoFit/>
          </a:bodyPr>
          <a:lstStyle/>
          <a:p>
            <a:r>
              <a:rPr lang="en-US" dirty="0">
                <a:solidFill>
                  <a:srgbClr val="526549"/>
                </a:solidFill>
              </a:rPr>
              <a:t>Count of raw time series in each bin</a:t>
            </a:r>
          </a:p>
          <a:p>
            <a:pPr algn="ctr"/>
            <a:r>
              <a:rPr lang="en-US" dirty="0">
                <a:solidFill>
                  <a:srgbClr val="526549"/>
                </a:solidFill>
              </a:rPr>
              <a:t>Prior to dimension reduction</a:t>
            </a:r>
          </a:p>
        </p:txBody>
      </p:sp>
      <p:sp>
        <p:nvSpPr>
          <p:cNvPr id="10" name="TextBox 9">
            <a:extLst>
              <a:ext uri="{FF2B5EF4-FFF2-40B4-BE49-F238E27FC236}">
                <a16:creationId xmlns:a16="http://schemas.microsoft.com/office/drawing/2014/main" id="{1CD0A099-F904-4F74-A0FD-D8D859A0C45F}"/>
              </a:ext>
            </a:extLst>
          </p:cNvPr>
          <p:cNvSpPr txBox="1"/>
          <p:nvPr/>
        </p:nvSpPr>
        <p:spPr>
          <a:xfrm>
            <a:off x="8577072" y="3446448"/>
            <a:ext cx="1160895" cy="369332"/>
          </a:xfrm>
          <a:prstGeom prst="rect">
            <a:avLst/>
          </a:prstGeom>
          <a:noFill/>
        </p:spPr>
        <p:txBody>
          <a:bodyPr wrap="none" rtlCol="0">
            <a:spAutoFit/>
          </a:bodyPr>
          <a:lstStyle/>
          <a:p>
            <a:r>
              <a:rPr lang="en-US" dirty="0">
                <a:solidFill>
                  <a:srgbClr val="526549"/>
                </a:solidFill>
              </a:rPr>
              <a:t>SEM Node</a:t>
            </a:r>
          </a:p>
        </p:txBody>
      </p:sp>
      <p:sp>
        <p:nvSpPr>
          <p:cNvPr id="11" name="TextBox 10">
            <a:extLst>
              <a:ext uri="{FF2B5EF4-FFF2-40B4-BE49-F238E27FC236}">
                <a16:creationId xmlns:a16="http://schemas.microsoft.com/office/drawing/2014/main" id="{A91D0AA7-90E4-4B24-96B2-22F4AEF25A61}"/>
              </a:ext>
            </a:extLst>
          </p:cNvPr>
          <p:cNvSpPr txBox="1"/>
          <p:nvPr/>
        </p:nvSpPr>
        <p:spPr>
          <a:xfrm rot="16200000">
            <a:off x="5657088" y="4988736"/>
            <a:ext cx="1567609" cy="369332"/>
          </a:xfrm>
          <a:prstGeom prst="rect">
            <a:avLst/>
          </a:prstGeom>
          <a:noFill/>
        </p:spPr>
        <p:txBody>
          <a:bodyPr wrap="none" rtlCol="0">
            <a:spAutoFit/>
          </a:bodyPr>
          <a:lstStyle/>
          <a:p>
            <a:r>
              <a:rPr lang="en-US" dirty="0">
                <a:solidFill>
                  <a:srgbClr val="526549"/>
                </a:solidFill>
              </a:rPr>
              <a:t>Trophic groups</a:t>
            </a:r>
          </a:p>
        </p:txBody>
      </p:sp>
      <p:sp>
        <p:nvSpPr>
          <p:cNvPr id="2" name="TextBox 1">
            <a:extLst>
              <a:ext uri="{FF2B5EF4-FFF2-40B4-BE49-F238E27FC236}">
                <a16:creationId xmlns:a16="http://schemas.microsoft.com/office/drawing/2014/main" id="{5A206CCA-D294-49B4-A588-5E0870C136E1}"/>
              </a:ext>
            </a:extLst>
          </p:cNvPr>
          <p:cNvSpPr txBox="1"/>
          <p:nvPr/>
        </p:nvSpPr>
        <p:spPr>
          <a:xfrm>
            <a:off x="11288113" y="5896311"/>
            <a:ext cx="253596" cy="253916"/>
          </a:xfrm>
          <a:prstGeom prst="rect">
            <a:avLst/>
          </a:prstGeom>
          <a:noFill/>
        </p:spPr>
        <p:txBody>
          <a:bodyPr wrap="none" rtlCol="0">
            <a:spAutoFit/>
          </a:bodyPr>
          <a:lstStyle/>
          <a:p>
            <a:r>
              <a:rPr lang="en-US" sz="1050" dirty="0">
                <a:solidFill>
                  <a:schemeClr val="bg1"/>
                </a:solidFill>
              </a:rPr>
              <a:t>3</a:t>
            </a:r>
          </a:p>
        </p:txBody>
      </p:sp>
    </p:spTree>
    <p:extLst>
      <p:ext uri="{BB962C8B-B14F-4D97-AF65-F5344CB8AC3E}">
        <p14:creationId xmlns:p14="http://schemas.microsoft.com/office/powerpoint/2010/main" val="3036777189"/>
      </p:ext>
    </p:extLst>
  </p:cSld>
  <p:clrMapOvr>
    <a:masterClrMapping/>
  </p:clrMapOvr>
  <mc:AlternateContent xmlns:mc="http://schemas.openxmlformats.org/markup-compatibility/2006" xmlns:p14="http://schemas.microsoft.com/office/powerpoint/2010/main">
    <mc:Choice Requires="p14">
      <p:transition spd="slow" p14:dur="2000" advTm="107518"/>
    </mc:Choice>
    <mc:Fallback xmlns="">
      <p:transition spd="slow" advTm="107518"/>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0DAF291-F1B2-4DC5-8B62-0E82DBE1FA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650182"/>
          </a:xfrm>
          <a:prstGeom prst="rect">
            <a:avLst/>
          </a:prstGeom>
        </p:spPr>
      </p:pic>
      <p:sp>
        <p:nvSpPr>
          <p:cNvPr id="6" name="Rectangle 5">
            <a:extLst>
              <a:ext uri="{FF2B5EF4-FFF2-40B4-BE49-F238E27FC236}">
                <a16:creationId xmlns:a16="http://schemas.microsoft.com/office/drawing/2014/main" id="{AA08DBBC-54E1-43BB-818D-FC08916FCBA3}"/>
              </a:ext>
            </a:extLst>
          </p:cNvPr>
          <p:cNvSpPr/>
          <p:nvPr/>
        </p:nvSpPr>
        <p:spPr>
          <a:xfrm>
            <a:off x="7975600" y="3576320"/>
            <a:ext cx="4101723" cy="3068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694772"/>
      </p:ext>
    </p:extLst>
  </p:cSld>
  <p:clrMapOvr>
    <a:masterClrMapping/>
  </p:clrMapOvr>
  <mc:AlternateContent xmlns:mc="http://schemas.openxmlformats.org/markup-compatibility/2006" xmlns:p14="http://schemas.microsoft.com/office/powerpoint/2010/main">
    <mc:Choice Requires="p14">
      <p:transition spd="slow" p14:dur="2000" advTm="51550"/>
    </mc:Choice>
    <mc:Fallback xmlns="">
      <p:transition spd="slow" advTm="51550"/>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5F9E-3AA7-499D-AF93-4105F87B91CE}"/>
              </a:ext>
            </a:extLst>
          </p:cNvPr>
          <p:cNvSpPr>
            <a:spLocks noGrp="1"/>
          </p:cNvSpPr>
          <p:nvPr>
            <p:ph type="title"/>
          </p:nvPr>
        </p:nvSpPr>
        <p:spPr>
          <a:xfrm>
            <a:off x="1066800" y="465276"/>
            <a:ext cx="10058400" cy="1450757"/>
          </a:xfrm>
        </p:spPr>
        <p:txBody>
          <a:bodyPr>
            <a:normAutofit fontScale="90000"/>
          </a:bodyPr>
          <a:lstStyle/>
          <a:p>
            <a:pPr algn="ctr"/>
            <a:r>
              <a:rPr lang="en-US" u="sng" dirty="0"/>
              <a:t>Question 1</a:t>
            </a:r>
            <a:br>
              <a:rPr lang="en-US" dirty="0"/>
            </a:br>
            <a:r>
              <a:rPr lang="en-US" dirty="0"/>
              <a:t>Do better growth conditions in the ocean </a:t>
            </a:r>
            <a:br>
              <a:rPr lang="en-US" dirty="0"/>
            </a:br>
            <a:r>
              <a:rPr lang="en-US" dirty="0"/>
              <a:t>lead to higher survival?</a:t>
            </a:r>
          </a:p>
        </p:txBody>
      </p:sp>
      <p:sp>
        <p:nvSpPr>
          <p:cNvPr id="9" name="Rectangle 8">
            <a:extLst>
              <a:ext uri="{FF2B5EF4-FFF2-40B4-BE49-F238E27FC236}">
                <a16:creationId xmlns:a16="http://schemas.microsoft.com/office/drawing/2014/main" id="{368A4DFD-64AA-4225-9691-31DAB45159BB}"/>
              </a:ext>
            </a:extLst>
          </p:cNvPr>
          <p:cNvSpPr/>
          <p:nvPr/>
        </p:nvSpPr>
        <p:spPr>
          <a:xfrm>
            <a:off x="9068554" y="2515300"/>
            <a:ext cx="2562131" cy="1475716"/>
          </a:xfrm>
          <a:prstGeom prst="rect">
            <a:avLst/>
          </a:prstGeom>
          <a:solidFill>
            <a:srgbClr val="7D89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5964622-2A32-4748-98CA-D07F6880FB80}"/>
              </a:ext>
            </a:extLst>
          </p:cNvPr>
          <p:cNvSpPr/>
          <p:nvPr/>
        </p:nvSpPr>
        <p:spPr>
          <a:xfrm>
            <a:off x="9080938" y="5535566"/>
            <a:ext cx="1946287" cy="994373"/>
          </a:xfrm>
          <a:prstGeom prst="rect">
            <a:avLst/>
          </a:prstGeom>
          <a:solidFill>
            <a:srgbClr val="7D89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roup 65">
            <a:extLst>
              <a:ext uri="{FF2B5EF4-FFF2-40B4-BE49-F238E27FC236}">
                <a16:creationId xmlns:a16="http://schemas.microsoft.com/office/drawing/2014/main" id="{EBEE0047-881C-45CC-A5F2-E8390414AA1B}"/>
              </a:ext>
            </a:extLst>
          </p:cNvPr>
          <p:cNvGrpSpPr/>
          <p:nvPr/>
        </p:nvGrpSpPr>
        <p:grpSpPr>
          <a:xfrm>
            <a:off x="1733997" y="2140744"/>
            <a:ext cx="3121152" cy="3938171"/>
            <a:chOff x="1481328" y="1865376"/>
            <a:chExt cx="3121152" cy="3938171"/>
          </a:xfrm>
        </p:grpSpPr>
        <p:sp>
          <p:nvSpPr>
            <p:cNvPr id="3" name="TextBox 2">
              <a:extLst>
                <a:ext uri="{FF2B5EF4-FFF2-40B4-BE49-F238E27FC236}">
                  <a16:creationId xmlns:a16="http://schemas.microsoft.com/office/drawing/2014/main" id="{C1C63137-F98B-414E-A941-5C0D461CB83A}"/>
                </a:ext>
              </a:extLst>
            </p:cNvPr>
            <p:cNvSpPr txBox="1"/>
            <p:nvPr/>
          </p:nvSpPr>
          <p:spPr>
            <a:xfrm>
              <a:off x="1621536" y="2438400"/>
              <a:ext cx="2840736" cy="923330"/>
            </a:xfrm>
            <a:prstGeom prst="rect">
              <a:avLst/>
            </a:prstGeom>
            <a:noFill/>
            <a:ln w="38100">
              <a:solidFill>
                <a:schemeClr val="accent1"/>
              </a:solidFill>
            </a:ln>
          </p:spPr>
          <p:txBody>
            <a:bodyPr wrap="square" rtlCol="0">
              <a:spAutoFit/>
            </a:bodyPr>
            <a:lstStyle/>
            <a:p>
              <a:pPr algn="ctr"/>
              <a:r>
                <a:rPr lang="en-US" dirty="0"/>
                <a:t>Marine Growth Rate</a:t>
              </a:r>
            </a:p>
            <a:p>
              <a:pPr algn="ctr"/>
              <a:r>
                <a:rPr lang="en-US" dirty="0"/>
                <a:t> (IGF + stomach fullness</a:t>
              </a:r>
            </a:p>
            <a:p>
              <a:pPr algn="ctr"/>
              <a:r>
                <a:rPr lang="en-US" dirty="0"/>
                <a:t> or fork length)</a:t>
              </a:r>
            </a:p>
          </p:txBody>
        </p:sp>
        <p:sp>
          <p:nvSpPr>
            <p:cNvPr id="12" name="TextBox 11">
              <a:extLst>
                <a:ext uri="{FF2B5EF4-FFF2-40B4-BE49-F238E27FC236}">
                  <a16:creationId xmlns:a16="http://schemas.microsoft.com/office/drawing/2014/main" id="{B67CEEE4-33C4-473F-8859-103BE9439506}"/>
                </a:ext>
              </a:extLst>
            </p:cNvPr>
            <p:cNvSpPr txBox="1"/>
            <p:nvPr/>
          </p:nvSpPr>
          <p:spPr>
            <a:xfrm>
              <a:off x="1481328" y="3797808"/>
              <a:ext cx="3121152" cy="923330"/>
            </a:xfrm>
            <a:prstGeom prst="rect">
              <a:avLst/>
            </a:prstGeom>
            <a:noFill/>
            <a:ln w="38100">
              <a:solidFill>
                <a:schemeClr val="accent1"/>
              </a:solidFill>
            </a:ln>
          </p:spPr>
          <p:txBody>
            <a:bodyPr wrap="square" rtlCol="0">
              <a:spAutoFit/>
            </a:bodyPr>
            <a:lstStyle/>
            <a:p>
              <a:pPr algn="ctr"/>
              <a:r>
                <a:rPr lang="en-US" dirty="0"/>
                <a:t>Early Marine Survival </a:t>
              </a:r>
            </a:p>
            <a:p>
              <a:pPr algn="ctr"/>
              <a:r>
                <a:rPr lang="en-US" dirty="0"/>
                <a:t>(</a:t>
              </a:r>
              <a:r>
                <a:rPr lang="en-US" dirty="0" err="1"/>
                <a:t>cpue</a:t>
              </a:r>
              <a:r>
                <a:rPr lang="en-US" dirty="0"/>
                <a:t> June JSOES survey + </a:t>
              </a:r>
            </a:p>
            <a:p>
              <a:pPr algn="ctr"/>
              <a:r>
                <a:rPr lang="en-US" dirty="0" err="1"/>
                <a:t>sdmTMB</a:t>
              </a:r>
              <a:r>
                <a:rPr lang="en-US" dirty="0"/>
                <a:t> modeled abundance)</a:t>
              </a:r>
            </a:p>
          </p:txBody>
        </p:sp>
        <p:sp>
          <p:nvSpPr>
            <p:cNvPr id="13" name="TextBox 12">
              <a:extLst>
                <a:ext uri="{FF2B5EF4-FFF2-40B4-BE49-F238E27FC236}">
                  <a16:creationId xmlns:a16="http://schemas.microsoft.com/office/drawing/2014/main" id="{2D20AD81-CC00-4E0F-B5D0-C21A1AE93917}"/>
                </a:ext>
              </a:extLst>
            </p:cNvPr>
            <p:cNvSpPr txBox="1"/>
            <p:nvPr/>
          </p:nvSpPr>
          <p:spPr>
            <a:xfrm>
              <a:off x="1511808" y="5157216"/>
              <a:ext cx="3060192" cy="646331"/>
            </a:xfrm>
            <a:prstGeom prst="rect">
              <a:avLst/>
            </a:prstGeom>
            <a:noFill/>
            <a:ln w="38100">
              <a:solidFill>
                <a:schemeClr val="accent1"/>
              </a:solidFill>
            </a:ln>
          </p:spPr>
          <p:txBody>
            <a:bodyPr wrap="square" rtlCol="0">
              <a:spAutoFit/>
            </a:bodyPr>
            <a:lstStyle/>
            <a:p>
              <a:pPr algn="ctr"/>
              <a:r>
                <a:rPr lang="en-US" dirty="0"/>
                <a:t>Smolt to Adult Return </a:t>
              </a:r>
            </a:p>
            <a:p>
              <a:pPr algn="ctr"/>
              <a:r>
                <a:rPr lang="en-US" dirty="0"/>
                <a:t>(BON-BON, </a:t>
              </a:r>
              <a:r>
                <a:rPr lang="en-US" dirty="0" err="1"/>
                <a:t>pittagged</a:t>
              </a:r>
              <a:r>
                <a:rPr lang="en-US" dirty="0"/>
                <a:t> SR+UC)</a:t>
              </a:r>
            </a:p>
          </p:txBody>
        </p:sp>
        <p:sp>
          <p:nvSpPr>
            <p:cNvPr id="17" name="TextBox 16">
              <a:extLst>
                <a:ext uri="{FF2B5EF4-FFF2-40B4-BE49-F238E27FC236}">
                  <a16:creationId xmlns:a16="http://schemas.microsoft.com/office/drawing/2014/main" id="{74E4F46F-3B1E-4FBE-9E80-0479F51C8407}"/>
                </a:ext>
              </a:extLst>
            </p:cNvPr>
            <p:cNvSpPr txBox="1"/>
            <p:nvPr/>
          </p:nvSpPr>
          <p:spPr>
            <a:xfrm>
              <a:off x="2639568" y="186537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9D1255A3-9AF9-47FF-A07A-00C4F62385CB}"/>
                </a:ext>
              </a:extLst>
            </p:cNvPr>
            <p:cNvCxnSpPr>
              <a:cxnSpLocks/>
              <a:stCxn id="3" idx="2"/>
              <a:endCxn id="12" idx="0"/>
            </p:cNvCxnSpPr>
            <p:nvPr/>
          </p:nvCxnSpPr>
          <p:spPr>
            <a:xfrm>
              <a:off x="3041904" y="3361730"/>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80AF0B-31D4-4A3B-8707-EC8D349A4127}"/>
                </a:ext>
              </a:extLst>
            </p:cNvPr>
            <p:cNvCxnSpPr>
              <a:cxnSpLocks/>
              <a:stCxn id="12" idx="2"/>
              <a:endCxn id="13" idx="0"/>
            </p:cNvCxnSpPr>
            <p:nvPr/>
          </p:nvCxnSpPr>
          <p:spPr>
            <a:xfrm>
              <a:off x="3041904" y="4721138"/>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D11EF082-1ACA-446D-BA6C-B69A8C462E25}"/>
              </a:ext>
            </a:extLst>
          </p:cNvPr>
          <p:cNvGrpSpPr/>
          <p:nvPr/>
        </p:nvGrpSpPr>
        <p:grpSpPr>
          <a:xfrm>
            <a:off x="6211824" y="2150204"/>
            <a:ext cx="5742432" cy="3740420"/>
            <a:chOff x="6211824" y="1834896"/>
            <a:chExt cx="5742432" cy="3740420"/>
          </a:xfrm>
        </p:grpSpPr>
        <p:sp>
          <p:nvSpPr>
            <p:cNvPr id="22" name="TextBox 21">
              <a:extLst>
                <a:ext uri="{FF2B5EF4-FFF2-40B4-BE49-F238E27FC236}">
                  <a16:creationId xmlns:a16="http://schemas.microsoft.com/office/drawing/2014/main" id="{EEA0667E-E780-4A4A-B824-DCAFC02FEF07}"/>
                </a:ext>
              </a:extLst>
            </p:cNvPr>
            <p:cNvSpPr txBox="1"/>
            <p:nvPr/>
          </p:nvSpPr>
          <p:spPr>
            <a:xfrm>
              <a:off x="6224016" y="2420112"/>
              <a:ext cx="2840736" cy="369332"/>
            </a:xfrm>
            <a:prstGeom prst="rect">
              <a:avLst/>
            </a:prstGeom>
            <a:noFill/>
            <a:ln w="38100">
              <a:solidFill>
                <a:schemeClr val="accent1"/>
              </a:solidFill>
            </a:ln>
          </p:spPr>
          <p:txBody>
            <a:bodyPr wrap="square" rtlCol="0">
              <a:spAutoFit/>
            </a:bodyPr>
            <a:lstStyle/>
            <a:p>
              <a:pPr algn="ctr"/>
              <a:r>
                <a:rPr lang="en-US" dirty="0"/>
                <a:t>Growth</a:t>
              </a:r>
            </a:p>
          </p:txBody>
        </p:sp>
        <p:sp>
          <p:nvSpPr>
            <p:cNvPr id="23" name="TextBox 22">
              <a:extLst>
                <a:ext uri="{FF2B5EF4-FFF2-40B4-BE49-F238E27FC236}">
                  <a16:creationId xmlns:a16="http://schemas.microsoft.com/office/drawing/2014/main" id="{22087EEA-B3EE-417A-AD47-1E7BADCA5A63}"/>
                </a:ext>
              </a:extLst>
            </p:cNvPr>
            <p:cNvSpPr txBox="1"/>
            <p:nvPr/>
          </p:nvSpPr>
          <p:spPr>
            <a:xfrm>
              <a:off x="6211824" y="5205984"/>
              <a:ext cx="2840736" cy="369332"/>
            </a:xfrm>
            <a:prstGeom prst="rect">
              <a:avLst/>
            </a:prstGeom>
            <a:noFill/>
            <a:ln w="38100">
              <a:solidFill>
                <a:schemeClr val="accent1"/>
              </a:solidFill>
            </a:ln>
          </p:spPr>
          <p:txBody>
            <a:bodyPr wrap="square" rtlCol="0">
              <a:spAutoFit/>
            </a:bodyPr>
            <a:lstStyle/>
            <a:p>
              <a:pPr algn="ctr"/>
              <a:r>
                <a:rPr lang="en-US" dirty="0"/>
                <a:t>Early Marine Survival </a:t>
              </a:r>
            </a:p>
          </p:txBody>
        </p:sp>
        <p:sp>
          <p:nvSpPr>
            <p:cNvPr id="24" name="TextBox 23">
              <a:extLst>
                <a:ext uri="{FF2B5EF4-FFF2-40B4-BE49-F238E27FC236}">
                  <a16:creationId xmlns:a16="http://schemas.microsoft.com/office/drawing/2014/main" id="{D9932C5B-40FC-47AC-83F6-F6726D06D0E0}"/>
                </a:ext>
              </a:extLst>
            </p:cNvPr>
            <p:cNvSpPr txBox="1"/>
            <p:nvPr/>
          </p:nvSpPr>
          <p:spPr>
            <a:xfrm>
              <a:off x="8894064" y="3858768"/>
              <a:ext cx="3060192" cy="369332"/>
            </a:xfrm>
            <a:prstGeom prst="rect">
              <a:avLst/>
            </a:prstGeom>
            <a:noFill/>
            <a:ln w="38100">
              <a:solidFill>
                <a:schemeClr val="accent1"/>
              </a:solidFill>
            </a:ln>
          </p:spPr>
          <p:txBody>
            <a:bodyPr wrap="square" rtlCol="0">
              <a:spAutoFit/>
            </a:bodyPr>
            <a:lstStyle/>
            <a:p>
              <a:pPr algn="ctr"/>
              <a:r>
                <a:rPr lang="en-US" dirty="0"/>
                <a:t>SAR</a:t>
              </a:r>
            </a:p>
          </p:txBody>
        </p:sp>
        <p:sp>
          <p:nvSpPr>
            <p:cNvPr id="25" name="TextBox 24">
              <a:extLst>
                <a:ext uri="{FF2B5EF4-FFF2-40B4-BE49-F238E27FC236}">
                  <a16:creationId xmlns:a16="http://schemas.microsoft.com/office/drawing/2014/main" id="{A1F6CC30-5FC0-46AF-B139-3FCD474034CA}"/>
                </a:ext>
              </a:extLst>
            </p:cNvPr>
            <p:cNvSpPr txBox="1"/>
            <p:nvPr/>
          </p:nvSpPr>
          <p:spPr>
            <a:xfrm>
              <a:off x="8741664" y="1834896"/>
              <a:ext cx="804672" cy="461665"/>
            </a:xfrm>
            <a:prstGeom prst="rect">
              <a:avLst/>
            </a:prstGeom>
            <a:noFill/>
          </p:spPr>
          <p:txBody>
            <a:bodyPr wrap="square" rtlCol="0">
              <a:spAutoFit/>
            </a:bodyPr>
            <a:lstStyle/>
            <a:p>
              <a:pPr algn="ctr"/>
              <a:r>
                <a:rPr lang="en-US" sz="2400" b="1" dirty="0"/>
                <a:t>H2</a:t>
              </a:r>
            </a:p>
          </p:txBody>
        </p:sp>
        <p:cxnSp>
          <p:nvCxnSpPr>
            <p:cNvPr id="27" name="Straight Arrow Connector 26">
              <a:extLst>
                <a:ext uri="{FF2B5EF4-FFF2-40B4-BE49-F238E27FC236}">
                  <a16:creationId xmlns:a16="http://schemas.microsoft.com/office/drawing/2014/main" id="{733976A9-744D-4A42-A3A3-E286AAD81BD7}"/>
                </a:ext>
              </a:extLst>
            </p:cNvPr>
            <p:cNvCxnSpPr>
              <a:stCxn id="22" idx="2"/>
              <a:endCxn id="24" idx="0"/>
            </p:cNvCxnSpPr>
            <p:nvPr/>
          </p:nvCxnSpPr>
          <p:spPr>
            <a:xfrm>
              <a:off x="7644384" y="2789444"/>
              <a:ext cx="2779776" cy="10693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0099ADC-C29A-4B2B-8880-804ADC316CB5}"/>
                </a:ext>
              </a:extLst>
            </p:cNvPr>
            <p:cNvCxnSpPr>
              <a:stCxn id="23" idx="0"/>
              <a:endCxn id="24" idx="2"/>
            </p:cNvCxnSpPr>
            <p:nvPr/>
          </p:nvCxnSpPr>
          <p:spPr>
            <a:xfrm flipV="1">
              <a:off x="7632192" y="4228100"/>
              <a:ext cx="2791968" cy="97788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04C6B7C6-24DC-45F7-BF1E-F00676BB3DCB}"/>
              </a:ext>
            </a:extLst>
          </p:cNvPr>
          <p:cNvGrpSpPr/>
          <p:nvPr/>
        </p:nvGrpSpPr>
        <p:grpSpPr>
          <a:xfrm>
            <a:off x="0" y="2790284"/>
            <a:ext cx="12037210" cy="3536204"/>
            <a:chOff x="0" y="2474976"/>
            <a:chExt cx="12037210" cy="3536204"/>
          </a:xfrm>
        </p:grpSpPr>
        <p:grpSp>
          <p:nvGrpSpPr>
            <p:cNvPr id="62" name="Group 61">
              <a:extLst>
                <a:ext uri="{FF2B5EF4-FFF2-40B4-BE49-F238E27FC236}">
                  <a16:creationId xmlns:a16="http://schemas.microsoft.com/office/drawing/2014/main" id="{65EFEA41-A7C0-4A42-BF89-8C79A01ACCCD}"/>
                </a:ext>
              </a:extLst>
            </p:cNvPr>
            <p:cNvGrpSpPr/>
            <p:nvPr/>
          </p:nvGrpSpPr>
          <p:grpSpPr>
            <a:xfrm>
              <a:off x="0" y="2474976"/>
              <a:ext cx="1764477" cy="3536204"/>
              <a:chOff x="0" y="2474976"/>
              <a:chExt cx="1764477" cy="3536204"/>
            </a:xfrm>
          </p:grpSpPr>
          <p:sp>
            <p:nvSpPr>
              <p:cNvPr id="30" name="TextBox 29">
                <a:extLst>
                  <a:ext uri="{FF2B5EF4-FFF2-40B4-BE49-F238E27FC236}">
                    <a16:creationId xmlns:a16="http://schemas.microsoft.com/office/drawing/2014/main" id="{89A21F40-4387-4C85-9F22-FF84C4408674}"/>
                  </a:ext>
                </a:extLst>
              </p:cNvPr>
              <p:cNvSpPr txBox="1"/>
              <p:nvPr/>
            </p:nvSpPr>
            <p:spPr>
              <a:xfrm>
                <a:off x="414528" y="2474976"/>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099A16BF-A5F6-43B8-9F3D-6EA1E78B896B}"/>
                  </a:ext>
                </a:extLst>
              </p:cNvPr>
              <p:cNvSpPr txBox="1"/>
              <p:nvPr/>
            </p:nvSpPr>
            <p:spPr>
              <a:xfrm>
                <a:off x="0" y="391668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sp>
            <p:nvSpPr>
              <p:cNvPr id="32" name="TextBox 31">
                <a:extLst>
                  <a:ext uri="{FF2B5EF4-FFF2-40B4-BE49-F238E27FC236}">
                    <a16:creationId xmlns:a16="http://schemas.microsoft.com/office/drawing/2014/main" id="{CE983203-4B84-4846-BDE4-2723ABC07287}"/>
                  </a:ext>
                </a:extLst>
              </p:cNvPr>
              <p:cNvSpPr txBox="1"/>
              <p:nvPr/>
            </p:nvSpPr>
            <p:spPr>
              <a:xfrm>
                <a:off x="371856" y="4980432"/>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2B855D52-24C7-4943-B5FC-64EE52AF9766}"/>
                  </a:ext>
                </a:extLst>
              </p:cNvPr>
              <p:cNvSpPr txBox="1"/>
              <p:nvPr/>
            </p:nvSpPr>
            <p:spPr>
              <a:xfrm>
                <a:off x="0" y="5641848"/>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EBCFC9B4-C319-41FF-9965-9471279914EC}"/>
                  </a:ext>
                </a:extLst>
              </p:cNvPr>
              <p:cNvCxnSpPr>
                <a:stCxn id="30" idx="3"/>
              </p:cNvCxnSpPr>
              <p:nvPr/>
            </p:nvCxnSpPr>
            <p:spPr>
              <a:xfrm flipV="1">
                <a:off x="1409031" y="2657856"/>
                <a:ext cx="21250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7A7338C-55F9-4EF9-88EC-87A150E467A2}"/>
                  </a:ext>
                </a:extLst>
              </p:cNvPr>
              <p:cNvCxnSpPr/>
              <p:nvPr/>
            </p:nvCxnSpPr>
            <p:spPr>
              <a:xfrm flipV="1">
                <a:off x="1415127" y="4114800"/>
                <a:ext cx="21250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D07D6EC-14D7-4B3A-B00A-F0ACA23A9BB3}"/>
                  </a:ext>
                </a:extLst>
              </p:cNvPr>
              <p:cNvCxnSpPr>
                <a:cxnSpLocks/>
                <a:stCxn id="32" idx="3"/>
                <a:endCxn id="13" idx="1"/>
              </p:cNvCxnSpPr>
              <p:nvPr/>
            </p:nvCxnSpPr>
            <p:spPr>
              <a:xfrm>
                <a:off x="1223692" y="5165098"/>
                <a:ext cx="540785" cy="275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5BF4B97-4F66-4A82-A728-C93D879DDF8A}"/>
                  </a:ext>
                </a:extLst>
              </p:cNvPr>
              <p:cNvCxnSpPr>
                <a:cxnSpLocks/>
                <a:stCxn id="33" idx="3"/>
                <a:endCxn id="13" idx="1"/>
              </p:cNvCxnSpPr>
              <p:nvPr/>
            </p:nvCxnSpPr>
            <p:spPr>
              <a:xfrm flipV="1">
                <a:off x="1341906" y="5440442"/>
                <a:ext cx="422571" cy="386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6787ED81-3AC9-44FA-A0D8-B184A9D2879C}"/>
                </a:ext>
              </a:extLst>
            </p:cNvPr>
            <p:cNvGrpSpPr/>
            <p:nvPr/>
          </p:nvGrpSpPr>
          <p:grpSpPr>
            <a:xfrm>
              <a:off x="9052560" y="2558612"/>
              <a:ext cx="2984650" cy="3155204"/>
              <a:chOff x="9052560" y="2558612"/>
              <a:chExt cx="2984650" cy="3155204"/>
            </a:xfrm>
          </p:grpSpPr>
          <p:sp>
            <p:nvSpPr>
              <p:cNvPr id="34" name="TextBox 33">
                <a:extLst>
                  <a:ext uri="{FF2B5EF4-FFF2-40B4-BE49-F238E27FC236}">
                    <a16:creationId xmlns:a16="http://schemas.microsoft.com/office/drawing/2014/main" id="{7ED10390-8EB4-4E08-A628-09FD91EEA731}"/>
                  </a:ext>
                </a:extLst>
              </p:cNvPr>
              <p:cNvSpPr txBox="1"/>
              <p:nvPr/>
            </p:nvSpPr>
            <p:spPr>
              <a:xfrm>
                <a:off x="9284208" y="2558612"/>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5" name="TextBox 34">
                <a:extLst>
                  <a:ext uri="{FF2B5EF4-FFF2-40B4-BE49-F238E27FC236}">
                    <a16:creationId xmlns:a16="http://schemas.microsoft.com/office/drawing/2014/main" id="{90E7BC53-1334-440B-9E4A-B133E161E157}"/>
                  </a:ext>
                </a:extLst>
              </p:cNvPr>
              <p:cNvSpPr txBox="1"/>
              <p:nvPr/>
            </p:nvSpPr>
            <p:spPr>
              <a:xfrm>
                <a:off x="9314688" y="5344484"/>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sp>
            <p:nvSpPr>
              <p:cNvPr id="36" name="TextBox 35">
                <a:extLst>
                  <a:ext uri="{FF2B5EF4-FFF2-40B4-BE49-F238E27FC236}">
                    <a16:creationId xmlns:a16="http://schemas.microsoft.com/office/drawing/2014/main" id="{33878145-2FF0-4B70-8B3C-8A51182738E6}"/>
                  </a:ext>
                </a:extLst>
              </p:cNvPr>
              <p:cNvSpPr txBox="1"/>
              <p:nvPr/>
            </p:nvSpPr>
            <p:spPr>
              <a:xfrm>
                <a:off x="11185374" y="3244334"/>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7" name="TextBox 36">
                <a:extLst>
                  <a:ext uri="{FF2B5EF4-FFF2-40B4-BE49-F238E27FC236}">
                    <a16:creationId xmlns:a16="http://schemas.microsoft.com/office/drawing/2014/main" id="{A97B3393-C160-45F4-A738-55A3FB512FCA}"/>
                  </a:ext>
                </a:extLst>
              </p:cNvPr>
              <p:cNvSpPr txBox="1"/>
              <p:nvPr/>
            </p:nvSpPr>
            <p:spPr>
              <a:xfrm>
                <a:off x="10566314" y="4505680"/>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52" name="Straight Arrow Connector 51">
                <a:extLst>
                  <a:ext uri="{FF2B5EF4-FFF2-40B4-BE49-F238E27FC236}">
                    <a16:creationId xmlns:a16="http://schemas.microsoft.com/office/drawing/2014/main" id="{4F1BAFFD-DE24-4DC4-BB42-CB54AFC3F910}"/>
                  </a:ext>
                </a:extLst>
              </p:cNvPr>
              <p:cNvCxnSpPr>
                <a:cxnSpLocks/>
                <a:stCxn id="34" idx="1"/>
                <a:endCxn id="22" idx="3"/>
              </p:cNvCxnSpPr>
              <p:nvPr/>
            </p:nvCxnSpPr>
            <p:spPr>
              <a:xfrm flipH="1" flipV="1">
                <a:off x="9064752" y="2615288"/>
                <a:ext cx="219456" cy="127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E8D6A37-EBE8-49AC-9310-94DE4D64415B}"/>
                  </a:ext>
                </a:extLst>
              </p:cNvPr>
              <p:cNvCxnSpPr>
                <a:stCxn id="35" idx="1"/>
                <a:endCxn id="23" idx="3"/>
              </p:cNvCxnSpPr>
              <p:nvPr/>
            </p:nvCxnSpPr>
            <p:spPr>
              <a:xfrm flipH="1" flipV="1">
                <a:off x="9052560" y="5401160"/>
                <a:ext cx="262128" cy="127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8964E4A-2D88-4A1E-A5FA-F480B4680EE2}"/>
                  </a:ext>
                </a:extLst>
              </p:cNvPr>
              <p:cNvCxnSpPr>
                <a:stCxn id="36" idx="2"/>
              </p:cNvCxnSpPr>
              <p:nvPr/>
            </p:nvCxnSpPr>
            <p:spPr>
              <a:xfrm flipH="1">
                <a:off x="11423904" y="3613666"/>
                <a:ext cx="187388" cy="239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243BD28-5F4F-4BD1-A678-CF8606A90580}"/>
                  </a:ext>
                </a:extLst>
              </p:cNvPr>
              <p:cNvCxnSpPr>
                <a:cxnSpLocks/>
                <a:stCxn id="37" idx="0"/>
              </p:cNvCxnSpPr>
              <p:nvPr/>
            </p:nvCxnSpPr>
            <p:spPr>
              <a:xfrm flipV="1">
                <a:off x="11237267" y="4267202"/>
                <a:ext cx="166457" cy="238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grpSp>
        <p:nvGrpSpPr>
          <p:cNvPr id="75" name="Group 74">
            <a:extLst>
              <a:ext uri="{FF2B5EF4-FFF2-40B4-BE49-F238E27FC236}">
                <a16:creationId xmlns:a16="http://schemas.microsoft.com/office/drawing/2014/main" id="{550001A6-1D17-49A3-ADCE-80BA4EF2BF29}"/>
              </a:ext>
            </a:extLst>
          </p:cNvPr>
          <p:cNvGrpSpPr/>
          <p:nvPr/>
        </p:nvGrpSpPr>
        <p:grpSpPr>
          <a:xfrm>
            <a:off x="2974848" y="3323684"/>
            <a:ext cx="6233203" cy="773156"/>
            <a:chOff x="2974848" y="3008376"/>
            <a:chExt cx="6233203" cy="773156"/>
          </a:xfrm>
        </p:grpSpPr>
        <p:sp>
          <p:nvSpPr>
            <p:cNvPr id="68" name="TextBox 67">
              <a:extLst>
                <a:ext uri="{FF2B5EF4-FFF2-40B4-BE49-F238E27FC236}">
                  <a16:creationId xmlns:a16="http://schemas.microsoft.com/office/drawing/2014/main" id="{2D4F24D2-6721-4A44-81D5-236987E01038}"/>
                </a:ext>
              </a:extLst>
            </p:cNvPr>
            <p:cNvSpPr txBox="1"/>
            <p:nvPr/>
          </p:nvSpPr>
          <p:spPr>
            <a:xfrm>
              <a:off x="2974848" y="3258312"/>
              <a:ext cx="582211" cy="523220"/>
            </a:xfrm>
            <a:prstGeom prst="rect">
              <a:avLst/>
            </a:prstGeom>
            <a:noFill/>
          </p:spPr>
          <p:txBody>
            <a:bodyPr wrap="none" rtlCol="0">
              <a:spAutoFit/>
            </a:bodyPr>
            <a:lstStyle/>
            <a:p>
              <a:r>
                <a:rPr lang="en-US" sz="2800" dirty="0">
                  <a:solidFill>
                    <a:schemeClr val="accent5">
                      <a:lumMod val="60000"/>
                      <a:lumOff val="40000"/>
                    </a:schemeClr>
                  </a:solidFill>
                </a:rPr>
                <a:t>NS</a:t>
              </a:r>
            </a:p>
          </p:txBody>
        </p:sp>
        <p:sp>
          <p:nvSpPr>
            <p:cNvPr id="69" name="TextBox 68">
              <a:extLst>
                <a:ext uri="{FF2B5EF4-FFF2-40B4-BE49-F238E27FC236}">
                  <a16:creationId xmlns:a16="http://schemas.microsoft.com/office/drawing/2014/main" id="{69EFD03C-E809-483F-87AB-3BD0B8037D1F}"/>
                </a:ext>
              </a:extLst>
            </p:cNvPr>
            <p:cNvSpPr txBox="1"/>
            <p:nvPr/>
          </p:nvSpPr>
          <p:spPr>
            <a:xfrm>
              <a:off x="8625840" y="3008376"/>
              <a:ext cx="582211" cy="523220"/>
            </a:xfrm>
            <a:prstGeom prst="rect">
              <a:avLst/>
            </a:prstGeom>
            <a:noFill/>
          </p:spPr>
          <p:txBody>
            <a:bodyPr wrap="none" rtlCol="0">
              <a:spAutoFit/>
            </a:bodyPr>
            <a:lstStyle/>
            <a:p>
              <a:r>
                <a:rPr lang="en-US" sz="2800" dirty="0">
                  <a:solidFill>
                    <a:schemeClr val="accent5">
                      <a:lumMod val="60000"/>
                      <a:lumOff val="40000"/>
                    </a:schemeClr>
                  </a:solidFill>
                </a:rPr>
                <a:t>NS</a:t>
              </a:r>
            </a:p>
          </p:txBody>
        </p:sp>
      </p:grpSp>
      <p:sp>
        <p:nvSpPr>
          <p:cNvPr id="76" name="TextBox 75">
            <a:extLst>
              <a:ext uri="{FF2B5EF4-FFF2-40B4-BE49-F238E27FC236}">
                <a16:creationId xmlns:a16="http://schemas.microsoft.com/office/drawing/2014/main" id="{D8C97291-64FB-4435-98EC-5068F35FF7D2}"/>
              </a:ext>
            </a:extLst>
          </p:cNvPr>
          <p:cNvSpPr txBox="1"/>
          <p:nvPr/>
        </p:nvSpPr>
        <p:spPr>
          <a:xfrm>
            <a:off x="4803229" y="1850449"/>
            <a:ext cx="3605048" cy="769441"/>
          </a:xfrm>
          <a:prstGeom prst="rect">
            <a:avLst/>
          </a:prstGeom>
          <a:solidFill>
            <a:schemeClr val="bg2">
              <a:tint val="90000"/>
              <a:shade val="97000"/>
              <a:satMod val="130000"/>
            </a:schemeClr>
          </a:solidFill>
        </p:spPr>
        <p:txBody>
          <a:bodyPr wrap="square" rtlCol="0">
            <a:spAutoFit/>
          </a:bodyPr>
          <a:lstStyle/>
          <a:p>
            <a:r>
              <a:rPr lang="en-US" sz="4400" b="1" dirty="0">
                <a:solidFill>
                  <a:schemeClr val="bg1"/>
                </a:solidFill>
                <a:latin typeface="+mj-lt"/>
              </a:rPr>
              <a:t>NO   (</a:t>
            </a:r>
            <a:r>
              <a:rPr lang="en-US" sz="4400" dirty="0" err="1">
                <a:solidFill>
                  <a:schemeClr val="bg1"/>
                </a:solidFill>
                <a:latin typeface="+mj-lt"/>
              </a:rPr>
              <a:t>dAIC</a:t>
            </a:r>
            <a:r>
              <a:rPr lang="en-US" sz="4400" dirty="0">
                <a:solidFill>
                  <a:schemeClr val="bg1"/>
                </a:solidFill>
                <a:latin typeface="+mj-lt"/>
              </a:rPr>
              <a:t> &gt;2</a:t>
            </a:r>
            <a:r>
              <a:rPr lang="en-US" sz="4400" b="1" dirty="0">
                <a:solidFill>
                  <a:schemeClr val="bg1"/>
                </a:solidFill>
                <a:latin typeface="+mj-lt"/>
              </a:rPr>
              <a:t>)</a:t>
            </a:r>
          </a:p>
        </p:txBody>
      </p:sp>
      <p:grpSp>
        <p:nvGrpSpPr>
          <p:cNvPr id="79" name="Group 78">
            <a:extLst>
              <a:ext uri="{FF2B5EF4-FFF2-40B4-BE49-F238E27FC236}">
                <a16:creationId xmlns:a16="http://schemas.microsoft.com/office/drawing/2014/main" id="{71A9A31E-99E6-4A94-8D7C-F52D9F2C5D9A}"/>
              </a:ext>
            </a:extLst>
          </p:cNvPr>
          <p:cNvGrpSpPr/>
          <p:nvPr/>
        </p:nvGrpSpPr>
        <p:grpSpPr>
          <a:xfrm>
            <a:off x="2932176" y="4817204"/>
            <a:ext cx="6532763" cy="675620"/>
            <a:chOff x="2932176" y="4501896"/>
            <a:chExt cx="6532763" cy="675620"/>
          </a:xfrm>
        </p:grpSpPr>
        <p:sp>
          <p:nvSpPr>
            <p:cNvPr id="77" name="TextBox 76">
              <a:extLst>
                <a:ext uri="{FF2B5EF4-FFF2-40B4-BE49-F238E27FC236}">
                  <a16:creationId xmlns:a16="http://schemas.microsoft.com/office/drawing/2014/main" id="{BE9B291F-15EF-4636-9DB4-15CB212F0600}"/>
                </a:ext>
              </a:extLst>
            </p:cNvPr>
            <p:cNvSpPr txBox="1"/>
            <p:nvPr/>
          </p:nvSpPr>
          <p:spPr>
            <a:xfrm>
              <a:off x="2932176" y="4654296"/>
              <a:ext cx="723275" cy="523220"/>
            </a:xfrm>
            <a:prstGeom prst="rect">
              <a:avLst/>
            </a:prstGeom>
            <a:noFill/>
          </p:spPr>
          <p:txBody>
            <a:bodyPr wrap="none" rtlCol="0">
              <a:spAutoFit/>
            </a:bodyPr>
            <a:lstStyle/>
            <a:p>
              <a:r>
                <a:rPr lang="en-US" sz="2800" dirty="0">
                  <a:solidFill>
                    <a:schemeClr val="accent5">
                      <a:lumMod val="60000"/>
                      <a:lumOff val="40000"/>
                    </a:schemeClr>
                  </a:solidFill>
                </a:rPr>
                <a:t>***</a:t>
              </a:r>
            </a:p>
          </p:txBody>
        </p:sp>
        <p:sp>
          <p:nvSpPr>
            <p:cNvPr id="78" name="TextBox 77">
              <a:extLst>
                <a:ext uri="{FF2B5EF4-FFF2-40B4-BE49-F238E27FC236}">
                  <a16:creationId xmlns:a16="http://schemas.microsoft.com/office/drawing/2014/main" id="{C5E8547C-74E6-4964-8420-DA06E46EE337}"/>
                </a:ext>
              </a:extLst>
            </p:cNvPr>
            <p:cNvSpPr txBox="1"/>
            <p:nvPr/>
          </p:nvSpPr>
          <p:spPr>
            <a:xfrm>
              <a:off x="8741664" y="4501896"/>
              <a:ext cx="723275" cy="523220"/>
            </a:xfrm>
            <a:prstGeom prst="rect">
              <a:avLst/>
            </a:prstGeom>
            <a:noFill/>
          </p:spPr>
          <p:txBody>
            <a:bodyPr wrap="none" rtlCol="0">
              <a:spAutoFit/>
            </a:bodyPr>
            <a:lstStyle/>
            <a:p>
              <a:r>
                <a:rPr lang="en-US" sz="2800" dirty="0">
                  <a:solidFill>
                    <a:schemeClr val="accent5">
                      <a:lumMod val="60000"/>
                      <a:lumOff val="40000"/>
                    </a:schemeClr>
                  </a:solidFill>
                </a:rPr>
                <a:t>***</a:t>
              </a:r>
            </a:p>
          </p:txBody>
        </p:sp>
      </p:grpSp>
    </p:spTree>
    <p:custDataLst>
      <p:tags r:id="rId1"/>
    </p:custDataLst>
    <p:extLst>
      <p:ext uri="{BB962C8B-B14F-4D97-AF65-F5344CB8AC3E}">
        <p14:creationId xmlns:p14="http://schemas.microsoft.com/office/powerpoint/2010/main" val="3294324708"/>
      </p:ext>
    </p:extLst>
  </p:cSld>
  <p:clrMapOvr>
    <a:masterClrMapping/>
  </p:clrMapOvr>
  <mc:AlternateContent xmlns:mc="http://schemas.openxmlformats.org/markup-compatibility/2006" xmlns:p14="http://schemas.microsoft.com/office/powerpoint/2010/main">
    <mc:Choice Requires="p14">
      <p:transition spd="slow" p14:dur="2000" advTm="98693"/>
    </mc:Choice>
    <mc:Fallback xmlns="">
      <p:transition spd="slow" advTm="986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8A4DFD-64AA-4225-9691-31DAB45159BB}"/>
              </a:ext>
            </a:extLst>
          </p:cNvPr>
          <p:cNvSpPr/>
          <p:nvPr/>
        </p:nvSpPr>
        <p:spPr>
          <a:xfrm>
            <a:off x="9068554" y="2199992"/>
            <a:ext cx="2562131" cy="1475716"/>
          </a:xfrm>
          <a:prstGeom prst="rect">
            <a:avLst/>
          </a:prstGeom>
          <a:solidFill>
            <a:srgbClr val="7D89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D11EF082-1ACA-446D-BA6C-B69A8C462E25}"/>
              </a:ext>
            </a:extLst>
          </p:cNvPr>
          <p:cNvGrpSpPr/>
          <p:nvPr/>
        </p:nvGrpSpPr>
        <p:grpSpPr>
          <a:xfrm>
            <a:off x="981456" y="3261360"/>
            <a:ext cx="6004560" cy="369332"/>
            <a:chOff x="5175504" y="3858768"/>
            <a:chExt cx="6004560" cy="369332"/>
          </a:xfrm>
        </p:grpSpPr>
        <p:sp>
          <p:nvSpPr>
            <p:cNvPr id="23" name="TextBox 22">
              <a:extLst>
                <a:ext uri="{FF2B5EF4-FFF2-40B4-BE49-F238E27FC236}">
                  <a16:creationId xmlns:a16="http://schemas.microsoft.com/office/drawing/2014/main" id="{22087EEA-B3EE-417A-AD47-1E7BADCA5A63}"/>
                </a:ext>
              </a:extLst>
            </p:cNvPr>
            <p:cNvSpPr txBox="1"/>
            <p:nvPr/>
          </p:nvSpPr>
          <p:spPr>
            <a:xfrm>
              <a:off x="5175504" y="3858768"/>
              <a:ext cx="2481072" cy="369332"/>
            </a:xfrm>
            <a:prstGeom prst="rect">
              <a:avLst/>
            </a:prstGeom>
            <a:noFill/>
            <a:ln>
              <a:solidFill>
                <a:schemeClr val="accent1"/>
              </a:solidFill>
            </a:ln>
          </p:spPr>
          <p:txBody>
            <a:bodyPr wrap="square" rtlCol="0">
              <a:spAutoFit/>
            </a:bodyPr>
            <a:lstStyle/>
            <a:p>
              <a:pPr algn="ctr"/>
              <a:r>
                <a:rPr lang="en-US" dirty="0"/>
                <a:t>Early Marine Survival </a:t>
              </a:r>
            </a:p>
          </p:txBody>
        </p:sp>
        <p:sp>
          <p:nvSpPr>
            <p:cNvPr id="24" name="TextBox 23">
              <a:extLst>
                <a:ext uri="{FF2B5EF4-FFF2-40B4-BE49-F238E27FC236}">
                  <a16:creationId xmlns:a16="http://schemas.microsoft.com/office/drawing/2014/main" id="{D9932C5B-40FC-47AC-83F6-F6726D06D0E0}"/>
                </a:ext>
              </a:extLst>
            </p:cNvPr>
            <p:cNvSpPr txBox="1"/>
            <p:nvPr/>
          </p:nvSpPr>
          <p:spPr>
            <a:xfrm>
              <a:off x="9613392" y="3858768"/>
              <a:ext cx="1566672" cy="369332"/>
            </a:xfrm>
            <a:prstGeom prst="rect">
              <a:avLst/>
            </a:prstGeom>
            <a:noFill/>
            <a:ln>
              <a:solidFill>
                <a:schemeClr val="accent1"/>
              </a:solidFill>
            </a:ln>
          </p:spPr>
          <p:txBody>
            <a:bodyPr wrap="square" rtlCol="0">
              <a:spAutoFit/>
            </a:bodyPr>
            <a:lstStyle/>
            <a:p>
              <a:pPr algn="ctr"/>
              <a:r>
                <a:rPr lang="en-US" dirty="0"/>
                <a:t>SAR</a:t>
              </a:r>
            </a:p>
          </p:txBody>
        </p:sp>
        <p:cxnSp>
          <p:nvCxnSpPr>
            <p:cNvPr id="29" name="Straight Arrow Connector 28">
              <a:extLst>
                <a:ext uri="{FF2B5EF4-FFF2-40B4-BE49-F238E27FC236}">
                  <a16:creationId xmlns:a16="http://schemas.microsoft.com/office/drawing/2014/main" id="{40099ADC-C29A-4B2B-8880-804ADC316CB5}"/>
                </a:ext>
              </a:extLst>
            </p:cNvPr>
            <p:cNvCxnSpPr>
              <a:cxnSpLocks/>
              <a:stCxn id="23" idx="3"/>
              <a:endCxn id="24" idx="1"/>
            </p:cNvCxnSpPr>
            <p:nvPr/>
          </p:nvCxnSpPr>
          <p:spPr>
            <a:xfrm>
              <a:off x="7656576" y="4043434"/>
              <a:ext cx="19568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6" name="TextBox 75">
            <a:extLst>
              <a:ext uri="{FF2B5EF4-FFF2-40B4-BE49-F238E27FC236}">
                <a16:creationId xmlns:a16="http://schemas.microsoft.com/office/drawing/2014/main" id="{D8C97291-64FB-4435-98EC-5068F35FF7D2}"/>
              </a:ext>
            </a:extLst>
          </p:cNvPr>
          <p:cNvSpPr txBox="1"/>
          <p:nvPr/>
        </p:nvSpPr>
        <p:spPr>
          <a:xfrm>
            <a:off x="5768708" y="1676120"/>
            <a:ext cx="1011936" cy="769441"/>
          </a:xfrm>
          <a:prstGeom prst="rect">
            <a:avLst/>
          </a:prstGeom>
          <a:noFill/>
        </p:spPr>
        <p:txBody>
          <a:bodyPr wrap="square" rtlCol="0">
            <a:spAutoFit/>
          </a:bodyPr>
          <a:lstStyle/>
          <a:p>
            <a:r>
              <a:rPr lang="en-US" sz="4400" b="1" dirty="0">
                <a:solidFill>
                  <a:schemeClr val="bg1"/>
                </a:solidFill>
                <a:latin typeface="+mj-lt"/>
              </a:rPr>
              <a:t>YES</a:t>
            </a:r>
          </a:p>
        </p:txBody>
      </p:sp>
      <p:sp>
        <p:nvSpPr>
          <p:cNvPr id="53" name="TextBox 52">
            <a:extLst>
              <a:ext uri="{FF2B5EF4-FFF2-40B4-BE49-F238E27FC236}">
                <a16:creationId xmlns:a16="http://schemas.microsoft.com/office/drawing/2014/main" id="{59D92334-F1F0-4623-8726-228E44EDCF3F}"/>
              </a:ext>
            </a:extLst>
          </p:cNvPr>
          <p:cNvSpPr txBox="1"/>
          <p:nvPr/>
        </p:nvSpPr>
        <p:spPr>
          <a:xfrm>
            <a:off x="3463777" y="3709416"/>
            <a:ext cx="1574470" cy="1077218"/>
          </a:xfrm>
          <a:prstGeom prst="rect">
            <a:avLst/>
          </a:prstGeom>
          <a:noFill/>
        </p:spPr>
        <p:txBody>
          <a:bodyPr wrap="none" rtlCol="0">
            <a:spAutoFit/>
          </a:bodyPr>
          <a:lstStyle/>
          <a:p>
            <a:pPr algn="ctr"/>
            <a:r>
              <a:rPr lang="en-US" sz="3200" dirty="0">
                <a:solidFill>
                  <a:srgbClr val="FFC000"/>
                </a:solidFill>
              </a:rPr>
              <a:t>R</a:t>
            </a:r>
            <a:r>
              <a:rPr lang="en-US" sz="3200" baseline="30000" dirty="0">
                <a:solidFill>
                  <a:srgbClr val="FFC000"/>
                </a:solidFill>
              </a:rPr>
              <a:t>2</a:t>
            </a:r>
            <a:r>
              <a:rPr lang="en-US" sz="3200" dirty="0">
                <a:solidFill>
                  <a:srgbClr val="FFC000"/>
                </a:solidFill>
              </a:rPr>
              <a:t>= 0.71</a:t>
            </a:r>
          </a:p>
          <a:p>
            <a:pPr algn="ctr"/>
            <a:r>
              <a:rPr lang="en-US" sz="3200" dirty="0">
                <a:solidFill>
                  <a:srgbClr val="FFC000"/>
                </a:solidFill>
              </a:rPr>
              <a:t>AIC=42</a:t>
            </a:r>
          </a:p>
        </p:txBody>
      </p:sp>
      <p:sp>
        <p:nvSpPr>
          <p:cNvPr id="60" name="Title 1">
            <a:extLst>
              <a:ext uri="{FF2B5EF4-FFF2-40B4-BE49-F238E27FC236}">
                <a16:creationId xmlns:a16="http://schemas.microsoft.com/office/drawing/2014/main" id="{A4B6A1A3-CCC3-4E67-A4B4-29463627B856}"/>
              </a:ext>
            </a:extLst>
          </p:cNvPr>
          <p:cNvSpPr>
            <a:spLocks noGrp="1"/>
          </p:cNvSpPr>
          <p:nvPr>
            <p:ph type="title"/>
          </p:nvPr>
        </p:nvSpPr>
        <p:spPr>
          <a:xfrm>
            <a:off x="923544" y="414528"/>
            <a:ext cx="10515600" cy="1325563"/>
          </a:xfrm>
        </p:spPr>
        <p:txBody>
          <a:bodyPr>
            <a:normAutofit fontScale="90000"/>
          </a:bodyPr>
          <a:lstStyle/>
          <a:p>
            <a:pPr algn="ctr"/>
            <a:r>
              <a:rPr lang="en-US" u="sng" dirty="0"/>
              <a:t>Question 2</a:t>
            </a:r>
            <a:br>
              <a:rPr lang="en-US" dirty="0"/>
            </a:br>
            <a:r>
              <a:rPr lang="en-US" dirty="0"/>
              <a:t>Is SAR better predicted with info</a:t>
            </a:r>
            <a:br>
              <a:rPr lang="en-US" dirty="0"/>
            </a:br>
            <a:r>
              <a:rPr lang="en-US" dirty="0"/>
              <a:t> from BC/AK and not just  OR/WA?</a:t>
            </a:r>
          </a:p>
        </p:txBody>
      </p:sp>
      <p:grpSp>
        <p:nvGrpSpPr>
          <p:cNvPr id="39" name="Group 38">
            <a:extLst>
              <a:ext uri="{FF2B5EF4-FFF2-40B4-BE49-F238E27FC236}">
                <a16:creationId xmlns:a16="http://schemas.microsoft.com/office/drawing/2014/main" id="{BDE280BE-4974-456E-AF39-BB323422A0B7}"/>
              </a:ext>
            </a:extLst>
          </p:cNvPr>
          <p:cNvGrpSpPr/>
          <p:nvPr/>
        </p:nvGrpSpPr>
        <p:grpSpPr>
          <a:xfrm>
            <a:off x="6202680" y="2267712"/>
            <a:ext cx="5157961" cy="1903226"/>
            <a:chOff x="6202680" y="2267712"/>
            <a:chExt cx="5157961" cy="1903226"/>
          </a:xfrm>
        </p:grpSpPr>
        <p:sp>
          <p:nvSpPr>
            <p:cNvPr id="36" name="TextBox 35">
              <a:extLst>
                <a:ext uri="{FF2B5EF4-FFF2-40B4-BE49-F238E27FC236}">
                  <a16:creationId xmlns:a16="http://schemas.microsoft.com/office/drawing/2014/main" id="{33878145-2FF0-4B70-8B3C-8A51182738E6}"/>
                </a:ext>
              </a:extLst>
            </p:cNvPr>
            <p:cNvSpPr txBox="1"/>
            <p:nvPr/>
          </p:nvSpPr>
          <p:spPr>
            <a:xfrm>
              <a:off x="6966942" y="2512814"/>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cxnSp>
          <p:nvCxnSpPr>
            <p:cNvPr id="58" name="Straight Arrow Connector 57">
              <a:extLst>
                <a:ext uri="{FF2B5EF4-FFF2-40B4-BE49-F238E27FC236}">
                  <a16:creationId xmlns:a16="http://schemas.microsoft.com/office/drawing/2014/main" id="{48964E4A-2D88-4A1E-A5FA-F480B4680EE2}"/>
                </a:ext>
              </a:extLst>
            </p:cNvPr>
            <p:cNvCxnSpPr>
              <a:cxnSpLocks/>
              <a:stCxn id="36" idx="2"/>
              <a:endCxn id="24" idx="0"/>
            </p:cNvCxnSpPr>
            <p:nvPr/>
          </p:nvCxnSpPr>
          <p:spPr>
            <a:xfrm flipH="1">
              <a:off x="6202680" y="2882146"/>
              <a:ext cx="1190180" cy="379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FAE6E14-B1B4-402E-8AA0-F3DF260C005E}"/>
                </a:ext>
              </a:extLst>
            </p:cNvPr>
            <p:cNvSpPr txBox="1"/>
            <p:nvPr/>
          </p:nvSpPr>
          <p:spPr>
            <a:xfrm>
              <a:off x="8217408" y="2267712"/>
              <a:ext cx="3143233" cy="923330"/>
            </a:xfrm>
            <a:prstGeom prst="rect">
              <a:avLst/>
            </a:prstGeom>
            <a:noFill/>
          </p:spPr>
          <p:txBody>
            <a:bodyPr wrap="none" rtlCol="0">
              <a:spAutoFit/>
            </a:bodyPr>
            <a:lstStyle/>
            <a:p>
              <a:r>
                <a:rPr lang="en-US" dirty="0"/>
                <a:t>BC: amphipods, </a:t>
              </a:r>
            </a:p>
            <a:p>
              <a:r>
                <a:rPr lang="en-US" dirty="0"/>
                <a:t>       euphausiids, and mysids,</a:t>
              </a:r>
            </a:p>
            <a:p>
              <a:r>
                <a:rPr lang="en-US" dirty="0"/>
                <a:t>AK: auklet reproductive success</a:t>
              </a:r>
            </a:p>
          </p:txBody>
        </p:sp>
        <p:sp>
          <p:nvSpPr>
            <p:cNvPr id="70" name="TextBox 69">
              <a:extLst>
                <a:ext uri="{FF2B5EF4-FFF2-40B4-BE49-F238E27FC236}">
                  <a16:creationId xmlns:a16="http://schemas.microsoft.com/office/drawing/2014/main" id="{D4291246-F5AD-43E8-9202-357494B98D98}"/>
                </a:ext>
              </a:extLst>
            </p:cNvPr>
            <p:cNvSpPr txBox="1"/>
            <p:nvPr/>
          </p:nvSpPr>
          <p:spPr>
            <a:xfrm>
              <a:off x="9748753" y="3093720"/>
              <a:ext cx="1574470" cy="1077218"/>
            </a:xfrm>
            <a:prstGeom prst="rect">
              <a:avLst/>
            </a:prstGeom>
            <a:noFill/>
          </p:spPr>
          <p:txBody>
            <a:bodyPr wrap="none" rtlCol="0">
              <a:spAutoFit/>
            </a:bodyPr>
            <a:lstStyle/>
            <a:p>
              <a:pPr algn="ctr"/>
              <a:r>
                <a:rPr lang="en-US" sz="3200" dirty="0">
                  <a:solidFill>
                    <a:srgbClr val="FFC000"/>
                  </a:solidFill>
                </a:rPr>
                <a:t>R</a:t>
              </a:r>
              <a:r>
                <a:rPr lang="en-US" sz="3200" baseline="30000" dirty="0">
                  <a:solidFill>
                    <a:srgbClr val="FFC000"/>
                  </a:solidFill>
                </a:rPr>
                <a:t>2</a:t>
              </a:r>
              <a:r>
                <a:rPr lang="en-US" sz="3200" dirty="0">
                  <a:solidFill>
                    <a:srgbClr val="FFC000"/>
                  </a:solidFill>
                </a:rPr>
                <a:t>= 0.81</a:t>
              </a:r>
            </a:p>
            <a:p>
              <a:pPr algn="ctr"/>
              <a:r>
                <a:rPr lang="en-US" sz="3200" dirty="0">
                  <a:solidFill>
                    <a:srgbClr val="FFC000"/>
                  </a:solidFill>
                </a:rPr>
                <a:t>AIC=33</a:t>
              </a:r>
            </a:p>
          </p:txBody>
        </p:sp>
      </p:grpSp>
      <p:grpSp>
        <p:nvGrpSpPr>
          <p:cNvPr id="40" name="Group 39">
            <a:extLst>
              <a:ext uri="{FF2B5EF4-FFF2-40B4-BE49-F238E27FC236}">
                <a16:creationId xmlns:a16="http://schemas.microsoft.com/office/drawing/2014/main" id="{E6901449-E6CA-4362-840B-DC63101D5A62}"/>
              </a:ext>
            </a:extLst>
          </p:cNvPr>
          <p:cNvGrpSpPr/>
          <p:nvPr/>
        </p:nvGrpSpPr>
        <p:grpSpPr>
          <a:xfrm>
            <a:off x="6202680" y="3630692"/>
            <a:ext cx="4992527" cy="2162833"/>
            <a:chOff x="6202680" y="3630692"/>
            <a:chExt cx="4992527" cy="2162833"/>
          </a:xfrm>
        </p:grpSpPr>
        <p:sp>
          <p:nvSpPr>
            <p:cNvPr id="37" name="TextBox 36">
              <a:extLst>
                <a:ext uri="{FF2B5EF4-FFF2-40B4-BE49-F238E27FC236}">
                  <a16:creationId xmlns:a16="http://schemas.microsoft.com/office/drawing/2014/main" id="{A97B3393-C160-45F4-A738-55A3FB512FCA}"/>
                </a:ext>
              </a:extLst>
            </p:cNvPr>
            <p:cNvSpPr txBox="1"/>
            <p:nvPr/>
          </p:nvSpPr>
          <p:spPr>
            <a:xfrm>
              <a:off x="6202680" y="4075176"/>
              <a:ext cx="2034403" cy="369332"/>
            </a:xfrm>
            <a:prstGeom prst="rect">
              <a:avLst/>
            </a:prstGeom>
            <a:noFill/>
          </p:spPr>
          <p:txBody>
            <a:bodyPr wrap="none" rtlCol="0">
              <a:spAutoFit/>
            </a:bodyPr>
            <a:lstStyle/>
            <a:p>
              <a:r>
                <a:rPr lang="en-US" dirty="0">
                  <a:highlight>
                    <a:srgbClr val="A4561C"/>
                  </a:highlight>
                </a:rPr>
                <a:t>Predators on Adults</a:t>
              </a:r>
            </a:p>
          </p:txBody>
        </p:sp>
        <p:cxnSp>
          <p:nvCxnSpPr>
            <p:cNvPr id="59" name="Straight Arrow Connector 58">
              <a:extLst>
                <a:ext uri="{FF2B5EF4-FFF2-40B4-BE49-F238E27FC236}">
                  <a16:creationId xmlns:a16="http://schemas.microsoft.com/office/drawing/2014/main" id="{F243BD28-5F4F-4BD1-A678-CF8606A90580}"/>
                </a:ext>
              </a:extLst>
            </p:cNvPr>
            <p:cNvCxnSpPr>
              <a:cxnSpLocks/>
              <a:stCxn id="37" idx="0"/>
              <a:endCxn id="24" idx="2"/>
            </p:cNvCxnSpPr>
            <p:nvPr/>
          </p:nvCxnSpPr>
          <p:spPr>
            <a:xfrm flipH="1" flipV="1">
              <a:off x="6202680" y="3630692"/>
              <a:ext cx="1017202" cy="444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362BCE45-1D0B-4EB3-927A-F6BB6CB881DB}"/>
                </a:ext>
              </a:extLst>
            </p:cNvPr>
            <p:cNvSpPr txBox="1"/>
            <p:nvPr/>
          </p:nvSpPr>
          <p:spPr>
            <a:xfrm>
              <a:off x="8211312" y="4248912"/>
              <a:ext cx="1625766" cy="369332"/>
            </a:xfrm>
            <a:prstGeom prst="rect">
              <a:avLst/>
            </a:prstGeom>
            <a:noFill/>
          </p:spPr>
          <p:txBody>
            <a:bodyPr wrap="none" rtlCol="0">
              <a:spAutoFit/>
            </a:bodyPr>
            <a:lstStyle/>
            <a:p>
              <a:r>
                <a:rPr lang="en-US" dirty="0"/>
                <a:t>NCC: Mammals</a:t>
              </a:r>
            </a:p>
          </p:txBody>
        </p:sp>
        <p:sp>
          <p:nvSpPr>
            <p:cNvPr id="71" name="TextBox 70">
              <a:extLst>
                <a:ext uri="{FF2B5EF4-FFF2-40B4-BE49-F238E27FC236}">
                  <a16:creationId xmlns:a16="http://schemas.microsoft.com/office/drawing/2014/main" id="{0A5BB42F-75F3-4CA2-822E-74E853A4F5C7}"/>
                </a:ext>
              </a:extLst>
            </p:cNvPr>
            <p:cNvSpPr txBox="1"/>
            <p:nvPr/>
          </p:nvSpPr>
          <p:spPr>
            <a:xfrm>
              <a:off x="9620737" y="4716307"/>
              <a:ext cx="1574470" cy="1077218"/>
            </a:xfrm>
            <a:prstGeom prst="rect">
              <a:avLst/>
            </a:prstGeom>
            <a:noFill/>
          </p:spPr>
          <p:txBody>
            <a:bodyPr wrap="none" rtlCol="0">
              <a:spAutoFit/>
            </a:bodyPr>
            <a:lstStyle/>
            <a:p>
              <a:pPr algn="ctr"/>
              <a:r>
                <a:rPr lang="en-US" sz="3200" dirty="0">
                  <a:solidFill>
                    <a:srgbClr val="FFC000"/>
                  </a:solidFill>
                </a:rPr>
                <a:t>R</a:t>
              </a:r>
              <a:r>
                <a:rPr lang="en-US" sz="3200" baseline="30000" dirty="0">
                  <a:solidFill>
                    <a:srgbClr val="FFC000"/>
                  </a:solidFill>
                </a:rPr>
                <a:t>2</a:t>
              </a:r>
              <a:r>
                <a:rPr lang="en-US" sz="3200" dirty="0">
                  <a:solidFill>
                    <a:srgbClr val="FFC000"/>
                  </a:solidFill>
                </a:rPr>
                <a:t>= 0.83</a:t>
              </a:r>
            </a:p>
            <a:p>
              <a:pPr algn="ctr"/>
              <a:r>
                <a:rPr lang="en-US" sz="3200" dirty="0">
                  <a:solidFill>
                    <a:srgbClr val="FFC000"/>
                  </a:solidFill>
                </a:rPr>
                <a:t>AIC=31</a:t>
              </a:r>
            </a:p>
          </p:txBody>
        </p:sp>
      </p:grpSp>
    </p:spTree>
    <p:custDataLst>
      <p:tags r:id="rId1"/>
    </p:custDataLst>
    <p:extLst>
      <p:ext uri="{BB962C8B-B14F-4D97-AF65-F5344CB8AC3E}">
        <p14:creationId xmlns:p14="http://schemas.microsoft.com/office/powerpoint/2010/main" val="2429988084"/>
      </p:ext>
    </p:extLst>
  </p:cSld>
  <p:clrMapOvr>
    <a:masterClrMapping/>
  </p:clrMapOvr>
  <mc:AlternateContent xmlns:mc="http://schemas.openxmlformats.org/markup-compatibility/2006" xmlns:p14="http://schemas.microsoft.com/office/powerpoint/2010/main">
    <mc:Choice Requires="p14">
      <p:transition spd="slow" p14:dur="2000" advTm="83819"/>
    </mc:Choice>
    <mc:Fallback xmlns="">
      <p:transition spd="slow" advTm="8381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53"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25EE83E-6993-48AA-9821-35A74E3B6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909"/>
            <a:ext cx="12192000" cy="6650182"/>
          </a:xfrm>
          <a:prstGeom prst="rect">
            <a:avLst/>
          </a:prstGeom>
        </p:spPr>
      </p:pic>
    </p:spTree>
    <p:extLst>
      <p:ext uri="{BB962C8B-B14F-4D97-AF65-F5344CB8AC3E}">
        <p14:creationId xmlns:p14="http://schemas.microsoft.com/office/powerpoint/2010/main" val="296472571"/>
      </p:ext>
    </p:extLst>
  </p:cSld>
  <p:clrMapOvr>
    <a:masterClrMapping/>
  </p:clrMapOvr>
  <mc:AlternateContent xmlns:mc="http://schemas.openxmlformats.org/markup-compatibility/2006" xmlns:p14="http://schemas.microsoft.com/office/powerpoint/2010/main">
    <mc:Choice Requires="p14">
      <p:transition spd="slow" p14:dur="2000" advTm="13520"/>
    </mc:Choice>
    <mc:Fallback xmlns="">
      <p:transition spd="slow" advTm="13520"/>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6A1396-9612-4571-9922-147588E9DE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990" y="1085187"/>
            <a:ext cx="9144019" cy="5486411"/>
          </a:xfrm>
          <a:prstGeom prst="rect">
            <a:avLst/>
          </a:prstGeom>
        </p:spPr>
      </p:pic>
      <p:sp>
        <p:nvSpPr>
          <p:cNvPr id="2" name="Title 1">
            <a:extLst>
              <a:ext uri="{FF2B5EF4-FFF2-40B4-BE49-F238E27FC236}">
                <a16:creationId xmlns:a16="http://schemas.microsoft.com/office/drawing/2014/main" id="{51322FFB-EE2E-4054-888B-0896367A606E}"/>
              </a:ext>
            </a:extLst>
          </p:cNvPr>
          <p:cNvSpPr>
            <a:spLocks noGrp="1"/>
          </p:cNvSpPr>
          <p:nvPr>
            <p:ph type="title"/>
          </p:nvPr>
        </p:nvSpPr>
        <p:spPr>
          <a:xfrm>
            <a:off x="666356" y="0"/>
            <a:ext cx="10058400" cy="1061545"/>
          </a:xfrm>
        </p:spPr>
        <p:txBody>
          <a:bodyPr/>
          <a:lstStyle/>
          <a:p>
            <a:r>
              <a:rPr lang="en-US" dirty="0"/>
              <a:t>To come…</a:t>
            </a:r>
          </a:p>
        </p:txBody>
      </p:sp>
    </p:spTree>
    <p:extLst>
      <p:ext uri="{BB962C8B-B14F-4D97-AF65-F5344CB8AC3E}">
        <p14:creationId xmlns:p14="http://schemas.microsoft.com/office/powerpoint/2010/main" val="2890455699"/>
      </p:ext>
    </p:extLst>
  </p:cSld>
  <p:clrMapOvr>
    <a:masterClrMapping/>
  </p:clrMapOvr>
  <mc:AlternateContent xmlns:mc="http://schemas.openxmlformats.org/markup-compatibility/2006" xmlns:p14="http://schemas.microsoft.com/office/powerpoint/2010/main">
    <mc:Choice Requires="p14">
      <p:transition spd="slow" p14:dur="2000" advTm="27329"/>
    </mc:Choice>
    <mc:Fallback xmlns="">
      <p:transition spd="slow" advTm="27329"/>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F458-6DD8-4E0B-B967-DDB119D7A66D}"/>
              </a:ext>
            </a:extLst>
          </p:cNvPr>
          <p:cNvSpPr>
            <a:spLocks noGrp="1"/>
          </p:cNvSpPr>
          <p:nvPr>
            <p:ph type="title"/>
          </p:nvPr>
        </p:nvSpPr>
        <p:spPr>
          <a:xfrm>
            <a:off x="1066800" y="1"/>
            <a:ext cx="10058400" cy="1145628"/>
          </a:xfrm>
        </p:spPr>
        <p:txBody>
          <a:bodyPr>
            <a:normAutofit/>
          </a:bodyPr>
          <a:lstStyle/>
          <a:p>
            <a:r>
              <a:rPr lang="en-US" sz="6600" b="1" dirty="0"/>
              <a:t>Conclusions</a:t>
            </a:r>
          </a:p>
        </p:txBody>
      </p:sp>
      <p:sp>
        <p:nvSpPr>
          <p:cNvPr id="3" name="Content Placeholder 2">
            <a:extLst>
              <a:ext uri="{FF2B5EF4-FFF2-40B4-BE49-F238E27FC236}">
                <a16:creationId xmlns:a16="http://schemas.microsoft.com/office/drawing/2014/main" id="{8A89AEB0-01E7-4CF6-BCA5-A5C2B292A273}"/>
              </a:ext>
            </a:extLst>
          </p:cNvPr>
          <p:cNvSpPr>
            <a:spLocks noGrp="1"/>
          </p:cNvSpPr>
          <p:nvPr>
            <p:ph idx="1"/>
          </p:nvPr>
        </p:nvSpPr>
        <p:spPr>
          <a:xfrm>
            <a:off x="257502" y="1057457"/>
            <a:ext cx="7604235" cy="5564059"/>
          </a:xfrm>
        </p:spPr>
        <p:txBody>
          <a:bodyPr>
            <a:noAutofit/>
          </a:bodyPr>
          <a:lstStyle/>
          <a:p>
            <a:pPr rtl="0" fontAlgn="base">
              <a:spcBef>
                <a:spcPts val="1200"/>
              </a:spcBef>
              <a:spcAft>
                <a:spcPts val="1200"/>
              </a:spcAft>
              <a:buFont typeface="Arial" panose="020B0604020202020204" pitchFamily="34" charset="0"/>
              <a:buChar char="•"/>
            </a:pPr>
            <a:r>
              <a:rPr lang="en-US" sz="2800" b="1" i="0" u="none" strike="noStrike" dirty="0">
                <a:solidFill>
                  <a:schemeClr val="tx1"/>
                </a:solidFill>
                <a:effectLst/>
                <a:latin typeface="+mj-lt"/>
              </a:rPr>
              <a:t>Piscivorous Fish Indices are Helpful</a:t>
            </a:r>
            <a:r>
              <a:rPr lang="en-US" sz="2800" i="0" u="none" strike="noStrike" dirty="0">
                <a:solidFill>
                  <a:schemeClr val="tx1"/>
                </a:solidFill>
                <a:effectLst/>
                <a:latin typeface="+mj-lt"/>
              </a:rPr>
              <a:t> </a:t>
            </a:r>
          </a:p>
          <a:p>
            <a:pPr marL="914400" rtl="0">
              <a:spcBef>
                <a:spcPts val="1200"/>
              </a:spcBef>
              <a:spcAft>
                <a:spcPts val="1200"/>
              </a:spcAft>
            </a:pPr>
            <a:r>
              <a:rPr lang="en-US" sz="2800" i="0" u="none" strike="noStrike" dirty="0">
                <a:solidFill>
                  <a:srgbClr val="FFC000"/>
                </a:solidFill>
                <a:effectLst/>
                <a:latin typeface="+mj-lt"/>
              </a:rPr>
              <a:t>Hake and Mackerel abundance are the strongest predictors of early marine survival</a:t>
            </a:r>
            <a:endParaRPr lang="en-US" sz="2800" dirty="0">
              <a:solidFill>
                <a:srgbClr val="FFC000"/>
              </a:solidFill>
              <a:effectLst/>
              <a:latin typeface="+mj-lt"/>
            </a:endParaRPr>
          </a:p>
          <a:p>
            <a:pPr rtl="0" fontAlgn="base">
              <a:spcBef>
                <a:spcPts val="1200"/>
              </a:spcBef>
              <a:spcAft>
                <a:spcPts val="1200"/>
              </a:spcAft>
              <a:buFont typeface="Arial" panose="020B0604020202020204" pitchFamily="34" charset="0"/>
              <a:buChar char="•"/>
            </a:pPr>
            <a:r>
              <a:rPr lang="en-US" sz="2800" b="1" i="0" u="none" strike="noStrike" dirty="0">
                <a:solidFill>
                  <a:schemeClr val="tx1"/>
                </a:solidFill>
                <a:effectLst/>
                <a:latin typeface="+mj-lt"/>
              </a:rPr>
              <a:t>The Growth Paradox</a:t>
            </a:r>
            <a:r>
              <a:rPr lang="en-US" sz="2800" i="0" u="none" strike="noStrike" dirty="0">
                <a:solidFill>
                  <a:schemeClr val="tx1"/>
                </a:solidFill>
                <a:effectLst/>
                <a:latin typeface="+mj-lt"/>
              </a:rPr>
              <a:t> </a:t>
            </a:r>
          </a:p>
          <a:p>
            <a:pPr marL="457200" indent="457200" rtl="0">
              <a:spcBef>
                <a:spcPts val="1200"/>
              </a:spcBef>
              <a:spcAft>
                <a:spcPts val="1200"/>
              </a:spcAft>
            </a:pPr>
            <a:r>
              <a:rPr lang="en-US" sz="2800" i="0" u="none" strike="noStrike" dirty="0">
                <a:solidFill>
                  <a:srgbClr val="FFC000"/>
                </a:solidFill>
                <a:effectLst/>
                <a:latin typeface="+mj-lt"/>
              </a:rPr>
              <a:t>While productivity helped predict SAR, </a:t>
            </a:r>
            <a:br>
              <a:rPr lang="en-US" sz="2800" i="0" u="none" strike="noStrike" dirty="0">
                <a:solidFill>
                  <a:srgbClr val="FFC000"/>
                </a:solidFill>
                <a:effectLst/>
                <a:latin typeface="+mj-lt"/>
              </a:rPr>
            </a:br>
            <a:r>
              <a:rPr lang="en-US" sz="2800" i="0" u="none" strike="noStrike" dirty="0">
                <a:solidFill>
                  <a:srgbClr val="FFC000"/>
                </a:solidFill>
                <a:effectLst/>
                <a:latin typeface="+mj-lt"/>
              </a:rPr>
              <a:t>	growth itself was not a primary driver of SAR </a:t>
            </a:r>
            <a:endParaRPr lang="en-US" sz="2800" dirty="0">
              <a:solidFill>
                <a:srgbClr val="FFC000"/>
              </a:solidFill>
              <a:effectLst/>
              <a:latin typeface="+mj-lt"/>
            </a:endParaRPr>
          </a:p>
          <a:p>
            <a:pPr rtl="0" fontAlgn="base">
              <a:spcBef>
                <a:spcPts val="1200"/>
              </a:spcBef>
              <a:spcAft>
                <a:spcPts val="1200"/>
              </a:spcAft>
              <a:buFont typeface="Arial" panose="020B0604020202020204" pitchFamily="34" charset="0"/>
              <a:buChar char="•"/>
            </a:pPr>
            <a:r>
              <a:rPr lang="en-US" sz="2800" b="1" i="0" u="none" strike="noStrike" dirty="0">
                <a:solidFill>
                  <a:schemeClr val="tx1"/>
                </a:solidFill>
                <a:effectLst/>
                <a:latin typeface="+mj-lt"/>
              </a:rPr>
              <a:t>BC and AK data help</a:t>
            </a:r>
            <a:r>
              <a:rPr lang="en-US" sz="2800" i="0" u="none" strike="noStrike" dirty="0">
                <a:solidFill>
                  <a:schemeClr val="tx1"/>
                </a:solidFill>
                <a:effectLst/>
                <a:latin typeface="+mj-lt"/>
              </a:rPr>
              <a:t> </a:t>
            </a:r>
          </a:p>
          <a:p>
            <a:pPr marL="914400" rtl="0">
              <a:spcBef>
                <a:spcPts val="1200"/>
              </a:spcBef>
              <a:spcAft>
                <a:spcPts val="1200"/>
              </a:spcAft>
            </a:pPr>
            <a:r>
              <a:rPr lang="en-US" sz="2800" i="0" u="none" strike="noStrike" dirty="0">
                <a:solidFill>
                  <a:srgbClr val="FFC000"/>
                </a:solidFill>
                <a:effectLst/>
                <a:latin typeface="+mj-lt"/>
              </a:rPr>
              <a:t>We can improve SAR predictions using more ecological data  (R</a:t>
            </a:r>
            <a:r>
              <a:rPr lang="en-US" sz="2800" i="0" u="none" strike="noStrike" baseline="30000" dirty="0">
                <a:solidFill>
                  <a:srgbClr val="FFC000"/>
                </a:solidFill>
                <a:effectLst/>
                <a:latin typeface="+mj-lt"/>
              </a:rPr>
              <a:t>2</a:t>
            </a:r>
            <a:r>
              <a:rPr lang="en-US" sz="2800" i="0" u="none" strike="noStrike" dirty="0">
                <a:solidFill>
                  <a:srgbClr val="FFC000"/>
                </a:solidFill>
                <a:effectLst/>
                <a:latin typeface="+mj-lt"/>
              </a:rPr>
              <a:t> = 0.81-0.83)</a:t>
            </a:r>
            <a:endParaRPr lang="en-US" sz="2800" dirty="0">
              <a:solidFill>
                <a:srgbClr val="FFC000"/>
              </a:solidFill>
              <a:effectLst/>
              <a:latin typeface="+mj-lt"/>
            </a:endParaRPr>
          </a:p>
          <a:p>
            <a:br>
              <a:rPr lang="en-US" sz="2800" dirty="0">
                <a:solidFill>
                  <a:schemeClr val="tx1"/>
                </a:solidFill>
                <a:effectLst/>
                <a:latin typeface="+mj-lt"/>
              </a:rPr>
            </a:br>
            <a:endParaRPr lang="en-US" sz="2800" dirty="0">
              <a:solidFill>
                <a:schemeClr val="tx1"/>
              </a:solidFill>
              <a:latin typeface="+mj-lt"/>
            </a:endParaRPr>
          </a:p>
        </p:txBody>
      </p:sp>
      <p:grpSp>
        <p:nvGrpSpPr>
          <p:cNvPr id="4" name="Group 3">
            <a:extLst>
              <a:ext uri="{FF2B5EF4-FFF2-40B4-BE49-F238E27FC236}">
                <a16:creationId xmlns:a16="http://schemas.microsoft.com/office/drawing/2014/main" id="{91B5F529-5668-4DA2-87C3-19A3B27773A4}"/>
              </a:ext>
            </a:extLst>
          </p:cNvPr>
          <p:cNvGrpSpPr/>
          <p:nvPr/>
        </p:nvGrpSpPr>
        <p:grpSpPr>
          <a:xfrm>
            <a:off x="7998372" y="2280006"/>
            <a:ext cx="4193628" cy="2795752"/>
            <a:chOff x="7998372" y="2354317"/>
            <a:chExt cx="4193628" cy="2795752"/>
          </a:xfrm>
        </p:grpSpPr>
        <p:pic>
          <p:nvPicPr>
            <p:cNvPr id="5" name="Picture 4">
              <a:extLst>
                <a:ext uri="{FF2B5EF4-FFF2-40B4-BE49-F238E27FC236}">
                  <a16:creationId xmlns:a16="http://schemas.microsoft.com/office/drawing/2014/main" id="{EB52CF8A-1701-4BBA-BB7B-22FA606C4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8372" y="2354317"/>
              <a:ext cx="4193628" cy="2795752"/>
            </a:xfrm>
            <a:prstGeom prst="rect">
              <a:avLst/>
            </a:prstGeom>
          </p:spPr>
        </p:pic>
        <p:sp>
          <p:nvSpPr>
            <p:cNvPr id="6" name="TextBox 5">
              <a:extLst>
                <a:ext uri="{FF2B5EF4-FFF2-40B4-BE49-F238E27FC236}">
                  <a16:creationId xmlns:a16="http://schemas.microsoft.com/office/drawing/2014/main" id="{7F5BC47F-9285-47DA-866B-62AB857A53BB}"/>
                </a:ext>
              </a:extLst>
            </p:cNvPr>
            <p:cNvSpPr txBox="1"/>
            <p:nvPr/>
          </p:nvSpPr>
          <p:spPr>
            <a:xfrm>
              <a:off x="11249113" y="4277711"/>
              <a:ext cx="942887" cy="261610"/>
            </a:xfrm>
            <a:prstGeom prst="rect">
              <a:avLst/>
            </a:prstGeom>
            <a:noFill/>
          </p:spPr>
          <p:txBody>
            <a:bodyPr wrap="none" rtlCol="0">
              <a:spAutoFit/>
            </a:bodyPr>
            <a:lstStyle/>
            <a:p>
              <a:r>
                <a:rPr lang="en-US" sz="1100" dirty="0"/>
                <a:t>Photo: NOAA</a:t>
              </a:r>
            </a:p>
          </p:txBody>
        </p:sp>
      </p:grpSp>
      <p:grpSp>
        <p:nvGrpSpPr>
          <p:cNvPr id="7" name="Group 6">
            <a:extLst>
              <a:ext uri="{FF2B5EF4-FFF2-40B4-BE49-F238E27FC236}">
                <a16:creationId xmlns:a16="http://schemas.microsoft.com/office/drawing/2014/main" id="{99605BEB-5226-4DE5-8BB6-2A2D6476ECD7}"/>
              </a:ext>
            </a:extLst>
          </p:cNvPr>
          <p:cNvGrpSpPr/>
          <p:nvPr/>
        </p:nvGrpSpPr>
        <p:grpSpPr>
          <a:xfrm>
            <a:off x="7998372" y="357352"/>
            <a:ext cx="4193628" cy="2379444"/>
            <a:chOff x="7998372" y="0"/>
            <a:chExt cx="4193628" cy="2379444"/>
          </a:xfrm>
        </p:grpSpPr>
        <p:pic>
          <p:nvPicPr>
            <p:cNvPr id="8" name="Picture 7">
              <a:extLst>
                <a:ext uri="{FF2B5EF4-FFF2-40B4-BE49-F238E27FC236}">
                  <a16:creationId xmlns:a16="http://schemas.microsoft.com/office/drawing/2014/main" id="{FFCFA56C-A1C8-4E0C-907D-12B564A2D7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98372" y="0"/>
              <a:ext cx="4193628" cy="2358916"/>
            </a:xfrm>
            <a:prstGeom prst="rect">
              <a:avLst/>
            </a:prstGeom>
          </p:spPr>
        </p:pic>
        <p:sp>
          <p:nvSpPr>
            <p:cNvPr id="9" name="TextBox 8">
              <a:extLst>
                <a:ext uri="{FF2B5EF4-FFF2-40B4-BE49-F238E27FC236}">
                  <a16:creationId xmlns:a16="http://schemas.microsoft.com/office/drawing/2014/main" id="{B2D81BB3-5196-46A0-BBBA-DCD0D778244B}"/>
                </a:ext>
              </a:extLst>
            </p:cNvPr>
            <p:cNvSpPr txBox="1"/>
            <p:nvPr/>
          </p:nvSpPr>
          <p:spPr>
            <a:xfrm>
              <a:off x="11249113" y="2117834"/>
              <a:ext cx="936475" cy="261610"/>
            </a:xfrm>
            <a:prstGeom prst="rect">
              <a:avLst/>
            </a:prstGeom>
            <a:noFill/>
          </p:spPr>
          <p:txBody>
            <a:bodyPr wrap="none" rtlCol="0">
              <a:spAutoFit/>
            </a:bodyPr>
            <a:lstStyle/>
            <a:p>
              <a:r>
                <a:rPr lang="en-US" sz="1100" dirty="0"/>
                <a:t>Getty images</a:t>
              </a:r>
            </a:p>
          </p:txBody>
        </p:sp>
      </p:grpSp>
      <p:pic>
        <p:nvPicPr>
          <p:cNvPr id="10" name="Picture 9">
            <a:extLst>
              <a:ext uri="{FF2B5EF4-FFF2-40B4-BE49-F238E27FC236}">
                <a16:creationId xmlns:a16="http://schemas.microsoft.com/office/drawing/2014/main" id="{E474DCEF-DEC4-49BE-AB73-27B20AFCDE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19393" y="4394714"/>
            <a:ext cx="4172607" cy="2463285"/>
          </a:xfrm>
          <a:prstGeom prst="rect">
            <a:avLst/>
          </a:prstGeom>
        </p:spPr>
      </p:pic>
    </p:spTree>
    <p:custDataLst>
      <p:tags r:id="rId1"/>
    </p:custDataLst>
    <p:extLst>
      <p:ext uri="{BB962C8B-B14F-4D97-AF65-F5344CB8AC3E}">
        <p14:creationId xmlns:p14="http://schemas.microsoft.com/office/powerpoint/2010/main" val="3125421156"/>
      </p:ext>
    </p:extLst>
  </p:cSld>
  <p:clrMapOvr>
    <a:masterClrMapping/>
  </p:clrMapOvr>
  <mc:AlternateContent xmlns:mc="http://schemas.openxmlformats.org/markup-compatibility/2006" xmlns:p14="http://schemas.microsoft.com/office/powerpoint/2010/main">
    <mc:Choice Requires="p14">
      <p:transition spd="slow" p14:dur="2000" advTm="46362"/>
    </mc:Choice>
    <mc:Fallback xmlns="">
      <p:transition spd="slow" advTm="463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7B1E0D-0B2C-4F27-BB91-6E66DC18C46D}"/>
              </a:ext>
            </a:extLst>
          </p:cNvPr>
          <p:cNvPicPr>
            <a:picLocks noChangeAspect="1"/>
          </p:cNvPicPr>
          <p:nvPr/>
        </p:nvPicPr>
        <p:blipFill rotWithShape="1">
          <a:blip r:embed="rId2">
            <a:extLst>
              <a:ext uri="{28A0092B-C50C-407E-A947-70E740481C1C}">
                <a14:useLocalDpi xmlns:a14="http://schemas.microsoft.com/office/drawing/2010/main" val="0"/>
              </a:ext>
            </a:extLst>
          </a:blip>
          <a:srcRect t="24844"/>
          <a:stretch/>
        </p:blipFill>
        <p:spPr>
          <a:xfrm>
            <a:off x="0" y="0"/>
            <a:ext cx="12192000" cy="6896099"/>
          </a:xfrm>
          <a:prstGeom prst="rect">
            <a:avLst/>
          </a:prstGeom>
        </p:spPr>
      </p:pic>
      <p:sp>
        <p:nvSpPr>
          <p:cNvPr id="2" name="Title 1">
            <a:extLst>
              <a:ext uri="{FF2B5EF4-FFF2-40B4-BE49-F238E27FC236}">
                <a16:creationId xmlns:a16="http://schemas.microsoft.com/office/drawing/2014/main" id="{2E1FC769-F4A7-4196-84A7-3AD89D621F3C}"/>
              </a:ext>
            </a:extLst>
          </p:cNvPr>
          <p:cNvSpPr>
            <a:spLocks noGrp="1"/>
          </p:cNvSpPr>
          <p:nvPr>
            <p:ph type="title"/>
          </p:nvPr>
        </p:nvSpPr>
        <p:spPr>
          <a:xfrm>
            <a:off x="2348011" y="3687817"/>
            <a:ext cx="3159410" cy="980615"/>
          </a:xfrm>
        </p:spPr>
        <p:txBody>
          <a:bodyPr/>
          <a:lstStyle/>
          <a:p>
            <a:r>
              <a:rPr lang="en-US" dirty="0"/>
              <a:t>Thank you!</a:t>
            </a:r>
          </a:p>
        </p:txBody>
      </p:sp>
      <p:sp>
        <p:nvSpPr>
          <p:cNvPr id="3" name="Content Placeholder 2">
            <a:extLst>
              <a:ext uri="{FF2B5EF4-FFF2-40B4-BE49-F238E27FC236}">
                <a16:creationId xmlns:a16="http://schemas.microsoft.com/office/drawing/2014/main" id="{CDAD05A1-AA5A-42E4-8B15-AB2638625065}"/>
              </a:ext>
            </a:extLst>
          </p:cNvPr>
          <p:cNvSpPr>
            <a:spLocks noGrp="1"/>
          </p:cNvSpPr>
          <p:nvPr>
            <p:ph idx="1"/>
          </p:nvPr>
        </p:nvSpPr>
        <p:spPr>
          <a:xfrm>
            <a:off x="5675586" y="4456386"/>
            <a:ext cx="6867459" cy="1975946"/>
          </a:xfrm>
        </p:spPr>
        <p:txBody>
          <a:bodyPr/>
          <a:lstStyle/>
          <a:p>
            <a:r>
              <a:rPr lang="en-US" dirty="0"/>
              <a:t>NOAA AND DFO SURVEY TEAMS</a:t>
            </a:r>
          </a:p>
          <a:p>
            <a:r>
              <a:rPr lang="en-US" dirty="0"/>
              <a:t>PIT TAGGERS of all Spring Chinook Salmon</a:t>
            </a:r>
          </a:p>
          <a:p>
            <a:r>
              <a:rPr lang="en-US" dirty="0"/>
              <a:t>FISH COUNTERS  at all dams</a:t>
            </a:r>
          </a:p>
          <a:p>
            <a:r>
              <a:rPr lang="en-US" dirty="0"/>
              <a:t>PTAGIS and DART (Columbia Basin Research) for data access</a:t>
            </a:r>
          </a:p>
          <a:p>
            <a:endParaRPr lang="en-US" dirty="0"/>
          </a:p>
          <a:p>
            <a:endParaRPr lang="en-US" dirty="0"/>
          </a:p>
        </p:txBody>
      </p:sp>
      <p:pic>
        <p:nvPicPr>
          <p:cNvPr id="7" name="Picture 6">
            <a:extLst>
              <a:ext uri="{FF2B5EF4-FFF2-40B4-BE49-F238E27FC236}">
                <a16:creationId xmlns:a16="http://schemas.microsoft.com/office/drawing/2014/main" id="{0FCAAD6D-A163-4D6A-A1CC-43048438EBC7}"/>
              </a:ext>
            </a:extLst>
          </p:cNvPr>
          <p:cNvPicPr>
            <a:picLocks noChangeAspect="1"/>
          </p:cNvPicPr>
          <p:nvPr/>
        </p:nvPicPr>
        <p:blipFill rotWithShape="1">
          <a:blip r:embed="rId3">
            <a:extLst>
              <a:ext uri="{28A0092B-C50C-407E-A947-70E740481C1C}">
                <a14:useLocalDpi xmlns:a14="http://schemas.microsoft.com/office/drawing/2010/main" val="0"/>
              </a:ext>
            </a:extLst>
          </a:blip>
          <a:srcRect l="13463" t="11057" r="12980" b="11057"/>
          <a:stretch/>
        </p:blipFill>
        <p:spPr>
          <a:xfrm>
            <a:off x="2060028" y="4750675"/>
            <a:ext cx="1650124" cy="1702677"/>
          </a:xfrm>
          <a:prstGeom prst="ellipse">
            <a:avLst/>
          </a:prstGeom>
        </p:spPr>
      </p:pic>
      <p:sp>
        <p:nvSpPr>
          <p:cNvPr id="10" name="Title 1">
            <a:extLst>
              <a:ext uri="{FF2B5EF4-FFF2-40B4-BE49-F238E27FC236}">
                <a16:creationId xmlns:a16="http://schemas.microsoft.com/office/drawing/2014/main" id="{380388E6-1C0C-47EB-897A-42F39C59F94A}"/>
              </a:ext>
            </a:extLst>
          </p:cNvPr>
          <p:cNvSpPr txBox="1">
            <a:spLocks/>
          </p:cNvSpPr>
          <p:nvPr/>
        </p:nvSpPr>
        <p:spPr>
          <a:xfrm>
            <a:off x="251198" y="89339"/>
            <a:ext cx="3159410" cy="980615"/>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dirty="0"/>
              <a:t>Questions?</a:t>
            </a:r>
          </a:p>
        </p:txBody>
      </p:sp>
      <p:pic>
        <p:nvPicPr>
          <p:cNvPr id="12" name="Picture 11">
            <a:extLst>
              <a:ext uri="{FF2B5EF4-FFF2-40B4-BE49-F238E27FC236}">
                <a16:creationId xmlns:a16="http://schemas.microsoft.com/office/drawing/2014/main" id="{621173DB-5D63-460A-A816-D192C0032A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1278" y="4776593"/>
            <a:ext cx="1495425" cy="1571655"/>
          </a:xfrm>
          <a:prstGeom prst="ellipse">
            <a:avLst/>
          </a:prstGeom>
        </p:spPr>
      </p:pic>
    </p:spTree>
    <p:extLst>
      <p:ext uri="{BB962C8B-B14F-4D97-AF65-F5344CB8AC3E}">
        <p14:creationId xmlns:p14="http://schemas.microsoft.com/office/powerpoint/2010/main" val="17605038"/>
      </p:ext>
    </p:extLst>
  </p:cSld>
  <p:clrMapOvr>
    <a:masterClrMapping/>
  </p:clrMapOvr>
  <mc:AlternateContent xmlns:mc="http://schemas.openxmlformats.org/markup-compatibility/2006" xmlns:p14="http://schemas.microsoft.com/office/powerpoint/2010/main">
    <mc:Choice Requires="p14">
      <p:transition spd="slow" p14:dur="2000" advTm="982"/>
    </mc:Choice>
    <mc:Fallback xmlns="">
      <p:transition spd="slow" advTm="982"/>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AB1C0-80D9-43CB-B3C9-A719FFE47286}"/>
              </a:ext>
            </a:extLst>
          </p:cNvPr>
          <p:cNvSpPr>
            <a:spLocks noGrp="1"/>
          </p:cNvSpPr>
          <p:nvPr>
            <p:ph type="title"/>
          </p:nvPr>
        </p:nvSpPr>
        <p:spPr>
          <a:xfrm>
            <a:off x="0" y="0"/>
            <a:ext cx="12192000" cy="1325563"/>
          </a:xfrm>
        </p:spPr>
        <p:txBody>
          <a:bodyPr>
            <a:normAutofit fontScale="90000"/>
          </a:bodyPr>
          <a:lstStyle/>
          <a:p>
            <a:r>
              <a:rPr lang="en-US" dirty="0"/>
              <a:t>The early marine stage is the most dangerous per day and the most predictive of population productivity</a:t>
            </a:r>
          </a:p>
        </p:txBody>
      </p:sp>
      <p:sp>
        <p:nvSpPr>
          <p:cNvPr id="22" name="TextBox 21">
            <a:extLst>
              <a:ext uri="{FF2B5EF4-FFF2-40B4-BE49-F238E27FC236}">
                <a16:creationId xmlns:a16="http://schemas.microsoft.com/office/drawing/2014/main" id="{A7EC8590-96DF-49C1-BCCC-CB5AA1AA501A}"/>
              </a:ext>
            </a:extLst>
          </p:cNvPr>
          <p:cNvSpPr txBox="1"/>
          <p:nvPr/>
        </p:nvSpPr>
        <p:spPr>
          <a:xfrm>
            <a:off x="1305197" y="1363707"/>
            <a:ext cx="2871171" cy="369332"/>
          </a:xfrm>
          <a:prstGeom prst="rect">
            <a:avLst/>
          </a:prstGeom>
          <a:noFill/>
        </p:spPr>
        <p:txBody>
          <a:bodyPr wrap="none" rtlCol="0">
            <a:spAutoFit/>
          </a:bodyPr>
          <a:lstStyle/>
          <a:p>
            <a:r>
              <a:rPr lang="en-US" dirty="0"/>
              <a:t>Daily probability of mortality</a:t>
            </a:r>
          </a:p>
        </p:txBody>
      </p:sp>
      <p:pic>
        <p:nvPicPr>
          <p:cNvPr id="15" name="Picture 14">
            <a:extLst>
              <a:ext uri="{FF2B5EF4-FFF2-40B4-BE49-F238E27FC236}">
                <a16:creationId xmlns:a16="http://schemas.microsoft.com/office/drawing/2014/main" id="{5444AC1F-088A-4394-9B95-8DC4C1A8B9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155" y="1698171"/>
            <a:ext cx="4931233" cy="4931233"/>
          </a:xfrm>
          <a:prstGeom prst="rect">
            <a:avLst/>
          </a:prstGeom>
        </p:spPr>
      </p:pic>
      <p:grpSp>
        <p:nvGrpSpPr>
          <p:cNvPr id="18" name="Group 17">
            <a:extLst>
              <a:ext uri="{FF2B5EF4-FFF2-40B4-BE49-F238E27FC236}">
                <a16:creationId xmlns:a16="http://schemas.microsoft.com/office/drawing/2014/main" id="{5E4893F2-7EDC-450B-855D-2789682071EA}"/>
              </a:ext>
            </a:extLst>
          </p:cNvPr>
          <p:cNvGrpSpPr/>
          <p:nvPr/>
        </p:nvGrpSpPr>
        <p:grpSpPr>
          <a:xfrm>
            <a:off x="6683824" y="1350645"/>
            <a:ext cx="4929057" cy="5278759"/>
            <a:chOff x="6683824" y="1350645"/>
            <a:chExt cx="4929057" cy="5278759"/>
          </a:xfrm>
        </p:grpSpPr>
        <p:sp>
          <p:nvSpPr>
            <p:cNvPr id="21" name="TextBox 20">
              <a:extLst>
                <a:ext uri="{FF2B5EF4-FFF2-40B4-BE49-F238E27FC236}">
                  <a16:creationId xmlns:a16="http://schemas.microsoft.com/office/drawing/2014/main" id="{4548C3DF-5E29-4DDB-B8FD-8A2E4EA66C0B}"/>
                </a:ext>
              </a:extLst>
            </p:cNvPr>
            <p:cNvSpPr txBox="1"/>
            <p:nvPr/>
          </p:nvSpPr>
          <p:spPr>
            <a:xfrm>
              <a:off x="7406640" y="1350645"/>
              <a:ext cx="3385735" cy="369332"/>
            </a:xfrm>
            <a:prstGeom prst="rect">
              <a:avLst/>
            </a:prstGeom>
            <a:noFill/>
          </p:spPr>
          <p:txBody>
            <a:bodyPr wrap="none" rtlCol="0">
              <a:spAutoFit/>
            </a:bodyPr>
            <a:lstStyle/>
            <a:p>
              <a:r>
                <a:rPr lang="en-US" dirty="0"/>
                <a:t>Recruits/spawner ~ ocean survival</a:t>
              </a:r>
            </a:p>
          </p:txBody>
        </p:sp>
        <p:pic>
          <p:nvPicPr>
            <p:cNvPr id="17" name="Picture 16">
              <a:extLst>
                <a:ext uri="{FF2B5EF4-FFF2-40B4-BE49-F238E27FC236}">
                  <a16:creationId xmlns:a16="http://schemas.microsoft.com/office/drawing/2014/main" id="{4BBCDB66-BCA5-4D91-BA66-79A241A524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83824" y="1700347"/>
              <a:ext cx="4929057" cy="4929057"/>
            </a:xfrm>
            <a:prstGeom prst="rect">
              <a:avLst/>
            </a:prstGeom>
          </p:spPr>
        </p:pic>
      </p:grpSp>
    </p:spTree>
    <p:custDataLst>
      <p:tags r:id="rId1"/>
    </p:custDataLst>
    <p:extLst>
      <p:ext uri="{BB962C8B-B14F-4D97-AF65-F5344CB8AC3E}">
        <p14:creationId xmlns:p14="http://schemas.microsoft.com/office/powerpoint/2010/main" val="1237832345"/>
      </p:ext>
    </p:extLst>
  </p:cSld>
  <p:clrMapOvr>
    <a:masterClrMapping/>
  </p:clrMapOvr>
  <mc:AlternateContent xmlns:mc="http://schemas.openxmlformats.org/markup-compatibility/2006" xmlns:p14="http://schemas.microsoft.com/office/powerpoint/2010/main">
    <mc:Choice Requires="p14">
      <p:transition spd="slow" p14:dur="2000" advTm="44447"/>
    </mc:Choice>
    <mc:Fallback xmlns="">
      <p:transition spd="slow" advTm="444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61.2"/>
</p:tagLst>
</file>

<file path=ppt/tags/tag2.xml><?xml version="1.0" encoding="utf-8"?>
<p:tagLst xmlns:a="http://schemas.openxmlformats.org/drawingml/2006/main" xmlns:r="http://schemas.openxmlformats.org/officeDocument/2006/relationships" xmlns:p="http://schemas.openxmlformats.org/presentationml/2006/main">
  <p:tag name="TIMING" val="|61.2"/>
</p:tagLst>
</file>

<file path=ppt/tags/tag3.xml><?xml version="1.0" encoding="utf-8"?>
<p:tagLst xmlns:a="http://schemas.openxmlformats.org/drawingml/2006/main" xmlns:r="http://schemas.openxmlformats.org/officeDocument/2006/relationships" xmlns:p="http://schemas.openxmlformats.org/presentationml/2006/main">
  <p:tag name="TIMING" val="|15.7|19.6|42"/>
</p:tagLst>
</file>

<file path=ppt/tags/tag4.xml><?xml version="1.0" encoding="utf-8"?>
<p:tagLst xmlns:a="http://schemas.openxmlformats.org/drawingml/2006/main" xmlns:r="http://schemas.openxmlformats.org/officeDocument/2006/relationships" xmlns:p="http://schemas.openxmlformats.org/presentationml/2006/main">
  <p:tag name="TIMING" val="|15.7|19.6|42"/>
</p:tagLst>
</file>

<file path=ppt/tags/tag5.xml><?xml version="1.0" encoding="utf-8"?>
<p:tagLst xmlns:a="http://schemas.openxmlformats.org/drawingml/2006/main" xmlns:r="http://schemas.openxmlformats.org/officeDocument/2006/relationships" xmlns:p="http://schemas.openxmlformats.org/presentationml/2006/main">
  <p:tag name="TIMING" val="|15.7|19.6|42"/>
</p:tagLst>
</file>

<file path=ppt/tags/tag6.xml><?xml version="1.0" encoding="utf-8"?>
<p:tagLst xmlns:a="http://schemas.openxmlformats.org/drawingml/2006/main" xmlns:r="http://schemas.openxmlformats.org/officeDocument/2006/relationships" xmlns:p="http://schemas.openxmlformats.org/presentationml/2006/main">
  <p:tag name="TIMING" val="|15.7|19.6|42"/>
</p:tagLst>
</file>

<file path=ppt/tags/tag7.xml><?xml version="1.0" encoding="utf-8"?>
<p:tagLst xmlns:a="http://schemas.openxmlformats.org/drawingml/2006/main" xmlns:r="http://schemas.openxmlformats.org/officeDocument/2006/relationships" xmlns:p="http://schemas.openxmlformats.org/presentationml/2006/main">
  <p:tag name="TIMING" val="|15.7|19.6|42"/>
</p:tagLst>
</file>

<file path=ppt/tags/tag8.xml><?xml version="1.0" encoding="utf-8"?>
<p:tagLst xmlns:a="http://schemas.openxmlformats.org/drawingml/2006/main" xmlns:r="http://schemas.openxmlformats.org/officeDocument/2006/relationships" xmlns:p="http://schemas.openxmlformats.org/presentationml/2006/main">
  <p:tag name="TIMING" val="|35.2|15.3"/>
</p:tagLst>
</file>

<file path=ppt/tags/tag9.xml><?xml version="1.0" encoding="utf-8"?>
<p:tagLst xmlns:a="http://schemas.openxmlformats.org/drawingml/2006/main" xmlns:r="http://schemas.openxmlformats.org/officeDocument/2006/relationships" xmlns:p="http://schemas.openxmlformats.org/presentationml/2006/main">
  <p:tag name="TIMING" val="|9.3|76.2"/>
</p:tagLst>
</file>

<file path=ppt/tags/tag10.xml><?xml version="1.0" encoding="utf-8"?>
<p:tagLst xmlns:a="http://schemas.openxmlformats.org/drawingml/2006/main" xmlns:r="http://schemas.openxmlformats.org/officeDocument/2006/relationships" xmlns:p="http://schemas.openxmlformats.org/presentationml/2006/main">
  <p:tag name="TIMING" val="|12.2|18.5|15.4|5.1|6.6|10"/>
</p:tagLst>
</file>

<file path=ppt/tags/tag11.xml><?xml version="1.0" encoding="utf-8"?>
<p:tagLst xmlns:a="http://schemas.openxmlformats.org/drawingml/2006/main" xmlns:r="http://schemas.openxmlformats.org/officeDocument/2006/relationships" xmlns:p="http://schemas.openxmlformats.org/presentationml/2006/main">
  <p:tag name="TIMING" val="|18.5|1.8|18.9|27.8|12.7"/>
</p:tagLst>
</file>

<file path=ppt/tags/tag12.xml><?xml version="1.0" encoding="utf-8"?>
<p:tagLst xmlns:a="http://schemas.openxmlformats.org/drawingml/2006/main" xmlns:r="http://schemas.openxmlformats.org/officeDocument/2006/relationships" xmlns:p="http://schemas.openxmlformats.org/presentationml/2006/main">
  <p:tag name="TIMING" val="|5.3|5|3|3.3|12|3.3|11.8"/>
</p:tagLst>
</file>

<file path=ppt/tags/tag13.xml><?xml version="1.0" encoding="utf-8"?>
<p:tagLst xmlns:a="http://schemas.openxmlformats.org/drawingml/2006/main" xmlns:r="http://schemas.openxmlformats.org/officeDocument/2006/relationships" xmlns:p="http://schemas.openxmlformats.org/presentationml/2006/main">
  <p:tag name="TIMING" val="|12.8"/>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21334</TotalTime>
  <Words>3364</Words>
  <Application>Microsoft Office PowerPoint</Application>
  <PresentationFormat>Widescreen</PresentationFormat>
  <Paragraphs>467</Paragraphs>
  <Slides>46</Slides>
  <Notes>16</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Aptos Narrow</vt:lpstr>
      <vt:lpstr>Arial</vt:lpstr>
      <vt:lpstr>Calibri</vt:lpstr>
      <vt:lpstr>Calibri Light</vt:lpstr>
      <vt:lpstr>Segoe UI</vt:lpstr>
      <vt:lpstr>Times New Roman</vt:lpstr>
      <vt:lpstr>Retrospect</vt:lpstr>
      <vt:lpstr>Integrating US and CAN marine data to identify region-specific limiting factors across a transboundary salmon migration </vt:lpstr>
      <vt:lpstr>Many species were already endangered, and climate change compounds threat – particularly the marine stage of spring Chinook salmon</vt:lpstr>
      <vt:lpstr>Maybe show Jenn’s pretty picture of teleconnections?</vt:lpstr>
      <vt:lpstr>PowerPoint Presentation</vt:lpstr>
      <vt:lpstr>Structural equation model approach</vt:lpstr>
      <vt:lpstr>NOT READY</vt:lpstr>
      <vt:lpstr>Goals</vt:lpstr>
      <vt:lpstr>Model structure</vt:lpstr>
      <vt:lpstr>Model structure</vt:lpstr>
      <vt:lpstr>&lt;10 indicators had very strong predictive power</vt:lpstr>
      <vt:lpstr>&lt;10 indicators had very strong predictive power</vt:lpstr>
      <vt:lpstr>Hypotheses 1 &amp; 2 mostly supported</vt:lpstr>
      <vt:lpstr>However, some indicators had the opposite impacts compared with those expected “flipped sign”</vt:lpstr>
      <vt:lpstr>Hypothesis 3: Predator impact is modulated by the abundance of alternative prey and temperature-driven spatial overlap between predators and salmon (top-down modulated)</vt:lpstr>
      <vt:lpstr>THERE WILL BE A “GOOD OCEAN” AND “BAD OCEAN” PANEL W/ PREDATORS OVERLAPPING MORE AND FEWER ALTERNATIVE PREY IN BAD OCEAN</vt:lpstr>
      <vt:lpstr>PowerPoint Presentation</vt:lpstr>
      <vt:lpstr>Predator weighting function</vt:lpstr>
      <vt:lpstr>PowerPoint Presentation</vt:lpstr>
      <vt:lpstr>PowerPoint Presentation</vt:lpstr>
      <vt:lpstr>PowerPoint Presentation</vt:lpstr>
      <vt:lpstr>PowerPoint Presentation</vt:lpstr>
      <vt:lpstr>PowerPoint Presentation</vt:lpstr>
      <vt:lpstr>CONCLUSIONS</vt:lpstr>
      <vt:lpstr>Thank you, questions?</vt:lpstr>
      <vt:lpstr>PowerPoint Presentation</vt:lpstr>
      <vt:lpstr>PowerPoint Presentation</vt:lpstr>
      <vt:lpstr>PowerPoint Presentation</vt:lpstr>
      <vt:lpstr>PowerPoint Presentation</vt:lpstr>
      <vt:lpstr>Hypotheses 1 &amp; 2 not supported</vt:lpstr>
      <vt:lpstr>Hypothesis 3: SST or alternate prey control predator impact</vt:lpstr>
      <vt:lpstr>Digraphs  (path models) tested</vt:lpstr>
      <vt:lpstr>PowerPoint Presentation</vt:lpstr>
      <vt:lpstr>Spring Chinook spend ~ half their lives in the ocean</vt:lpstr>
      <vt:lpstr>31% of life time mortality occurs during  2% of their life cycle in early-ocean stage</vt:lpstr>
      <vt:lpstr>Mortality is especially high through the plume and the Northern California Current</vt:lpstr>
      <vt:lpstr>PowerPoint Presentation</vt:lpstr>
      <vt:lpstr>Modeling goals</vt:lpstr>
      <vt:lpstr>PowerPoint Presentation</vt:lpstr>
      <vt:lpstr>PowerPoint Presentation</vt:lpstr>
      <vt:lpstr>Question 1 Do better growth conditions in the ocean  lead to higher survival?</vt:lpstr>
      <vt:lpstr>Question 2 Is SAR better predicted with info  from BC/AK and not just  OR/WA?</vt:lpstr>
      <vt:lpstr>PowerPoint Presentation</vt:lpstr>
      <vt:lpstr>To come…</vt:lpstr>
      <vt:lpstr>Conclusions</vt:lpstr>
      <vt:lpstr>Thank you!</vt:lpstr>
      <vt:lpstr>The early marine stage is the most dangerous per day and the most predictive of population productivity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Lisa.Crozier</dc:creator>
  <cp:lastModifiedBy>Lisa Crozier</cp:lastModifiedBy>
  <cp:revision>213</cp:revision>
  <dcterms:created xsi:type="dcterms:W3CDTF">2026-04-22T02:22:41Z</dcterms:created>
  <dcterms:modified xsi:type="dcterms:W3CDTF">2026-10-25T23:28:11Z</dcterms:modified>
</cp:coreProperties>
</file>