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63" r:id="rId4"/>
    <p:sldId id="262" r:id="rId5"/>
    <p:sldId id="264" r:id="rId6"/>
    <p:sldId id="257" r:id="rId7"/>
    <p:sldId id="258" r:id="rId8"/>
    <p:sldId id="261" r:id="rId9"/>
    <p:sldId id="260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651" autoAdjust="0"/>
    <p:restoredTop sz="94660"/>
  </p:normalViewPr>
  <p:slideViewPr>
    <p:cSldViewPr snapToGrid="0" showGuides="1">
      <p:cViewPr varScale="1">
        <p:scale>
          <a:sx n="81" d="100"/>
          <a:sy n="81" d="100"/>
        </p:scale>
        <p:origin x="830" y="8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007EA6-63CD-4EE2-84AF-464EF2F565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11E96E-E692-4A5E-832E-4FAE5CC042D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43C73E-1636-42EB-AE51-C68CB65AF4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AEB60-C458-4E7B-B0FC-077370CA64E9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91582B-0D06-4BD5-91AA-B2A22FF7DE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00E7DB-6B2F-4095-868A-78D4447471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7CC3F3-065B-4C90-BB48-618180818C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74021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052C58-356F-47C6-978D-47B46E1456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4FD2E8-733B-4E36-8617-747C9F75B8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751352-8BCC-4817-9E6C-0AB3CDEBEC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AEB60-C458-4E7B-B0FC-077370CA64E9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BF226C-F25B-47C6-8AEC-D705814B71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3414A3-7DF9-46CE-9484-82512AD674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7CC3F3-065B-4C90-BB48-618180818C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68941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7461C7-4D54-496F-B6DC-27774204B9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2CBEF6-184A-456D-AA12-81DE7F5A58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C38F2D-D85B-4BA4-8676-09110EC88B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AEB60-C458-4E7B-B0FC-077370CA64E9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01438D-432F-48E5-971E-0651C5A668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E0E132-EC5F-4252-B7D0-C31B2E6177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7CC3F3-065B-4C90-BB48-618180818C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88529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B11A9C-8B40-436F-9DC4-C2ADEEA32C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6A1F85-5F1C-436D-8DEF-243A8FAA75F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40D47-B246-4D67-8335-A05522CF9D3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C7D45BD-5BEF-4839-8D86-E3C6707D4D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AEB60-C458-4E7B-B0FC-077370CA64E9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3EE134-02FF-4668-9956-16749EC337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C07397-FCA8-4C4B-8B74-494B3962A0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7CC3F3-065B-4C90-BB48-618180818C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88007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86D95F-AC30-4B05-87BA-94AF6B7580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C4F0BB-3EA6-41D3-ACB8-9833F22D94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8B082B-D022-4E88-896C-7712E2A95F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6ADD2E4-DD32-4832-880D-9B091B75407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1707C2C-3508-4851-85F3-1FDEFD55A1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7B04EE7-71C7-47CF-BEC4-8480DD8EB7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AEB60-C458-4E7B-B0FC-077370CA64E9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DC8848A-2BB5-4F82-9F4D-080D815501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B32C524-991D-4DC2-B5CF-69E22D58B6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7CC3F3-065B-4C90-BB48-618180818C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57106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FCE96F-A6F6-4AB1-906C-67E732E2AB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332D104-9F05-4B7C-AF2D-A099F1751A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AEB60-C458-4E7B-B0FC-077370CA64E9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7D2CEBF-7E76-4ED4-A70A-5C4E495B3F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64158A1-6111-4498-BEC6-188A899A42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7CC3F3-065B-4C90-BB48-618180818C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21075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073CF7F-24A6-48F4-B960-51A6539258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AEB60-C458-4E7B-B0FC-077370CA64E9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5ACC0A4-2C8A-469E-AEBD-35AC34B908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FD522C-A86B-4B68-8379-16224DF40A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7CC3F3-065B-4C90-BB48-618180818C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4230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311C5E-B54B-47F0-B305-73A18AA1E2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929256-E491-44C1-8BAB-D0D847C863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2F3CF9-D4AA-4743-9C6D-380F5FBD7F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EF0A32D-0538-4F53-88C6-063C9E5E62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AEB60-C458-4E7B-B0FC-077370CA64E9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C75E55-C84A-4979-A05E-8237311D24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15B916C-8B47-44F3-BF6D-D6BC2951DA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7CC3F3-065B-4C90-BB48-618180818C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97952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4CFF2D-B75F-4253-B913-32155E14EB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D622A8D-8AC0-42EE-937F-0B1ED624DF7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1D54D3D-823B-4CF3-BE8C-D15F7F8839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201C05F-1E9F-4EA3-BE27-067D84D625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AEB60-C458-4E7B-B0FC-077370CA64E9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6C04A68-6EC1-49F4-A19B-8E63B2D984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5E95FCC-5567-4E83-98B6-4AD3940FB3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7CC3F3-065B-4C90-BB48-618180818C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58921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1E529C-3398-4B08-ABB5-89B3C28BE8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F7980B7-48C9-48F8-ACDD-27B6F79D613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711EB8-6463-4319-B6DE-B962C8CF94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AEB60-C458-4E7B-B0FC-077370CA64E9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C20599-F2EA-414F-9311-A94BA02605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763FB8-019A-42E2-AE7B-2252362137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7CC3F3-065B-4C90-BB48-618180818C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06134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8850230-A24A-4BB5-BD01-58EEDBC1CF8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02A8CF6-E7F1-4C48-82AD-18BB51B1855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1579E8-E246-406D-BD18-D1B33D6D78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AEB60-C458-4E7B-B0FC-077370CA64E9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7F3AAC-9D53-4E4D-A4A5-E92074CF4A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49CA28-9A50-4763-B8FB-2B17612173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7CC3F3-065B-4C90-BB48-618180818C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37685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E352338-ABA6-410B-B4C4-971608A439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C122CB-85B9-456B-AAC7-A02095870A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2F5A35-01FE-4E27-87E9-14571B1BA26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DAEB60-C458-4E7B-B0FC-077370CA64E9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4BC8A9-DD12-40B7-BC0F-34A907FE636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B6D225-593E-488F-96BA-AFBBCA3E7C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7CC3F3-065B-4C90-BB48-618180818C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81941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77AF82-E3FC-43BD-95A4-B836D6BF03C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Weighting predators by temperature and prey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A4A7608-1816-4887-871A-3F876214050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4495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C1DE49A-DA57-4BCB-BD5C-A80D89BD1B1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80993" y="0"/>
            <a:ext cx="8571091" cy="6858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086277D-D099-4F24-A8CC-AF86135F085F}"/>
              </a:ext>
            </a:extLst>
          </p:cNvPr>
          <p:cNvSpPr txBox="1"/>
          <p:nvPr/>
        </p:nvSpPr>
        <p:spPr>
          <a:xfrm>
            <a:off x="413238" y="1635369"/>
            <a:ext cx="3526415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Sleeper and salmon sharks r=0</a:t>
            </a:r>
          </a:p>
          <a:p>
            <a:r>
              <a:rPr lang="en-US" dirty="0"/>
              <a:t>All </a:t>
            </a:r>
            <a:r>
              <a:rPr lang="en-US" dirty="0" err="1"/>
              <a:t>ssl</a:t>
            </a:r>
            <a:r>
              <a:rPr lang="en-US" dirty="0"/>
              <a:t> r&gt;&gt;0</a:t>
            </a:r>
          </a:p>
          <a:p>
            <a:r>
              <a:rPr lang="en-US" dirty="0"/>
              <a:t>2 herring r&gt;&gt;0</a:t>
            </a:r>
          </a:p>
          <a:p>
            <a:r>
              <a:rPr lang="en-US" dirty="0"/>
              <a:t>2 cap r ~ 0</a:t>
            </a:r>
          </a:p>
          <a:p>
            <a:endParaRPr lang="en-US" dirty="0"/>
          </a:p>
          <a:p>
            <a:r>
              <a:rPr lang="en-US" dirty="0"/>
              <a:t>Capelin and herring r&lt;0</a:t>
            </a:r>
          </a:p>
          <a:p>
            <a:r>
              <a:rPr lang="en-US" dirty="0"/>
              <a:t>Pav cap v </a:t>
            </a:r>
            <a:r>
              <a:rPr lang="en-US" dirty="0" err="1"/>
              <a:t>ssl</a:t>
            </a:r>
            <a:r>
              <a:rPr lang="en-US" dirty="0"/>
              <a:t> r&lt;0, </a:t>
            </a:r>
          </a:p>
          <a:p>
            <a:r>
              <a:rPr lang="en-US" dirty="0"/>
              <a:t>mid </a:t>
            </a:r>
            <a:r>
              <a:rPr lang="en-US" dirty="0" err="1"/>
              <a:t>isl</a:t>
            </a:r>
            <a:r>
              <a:rPr lang="en-US" dirty="0"/>
              <a:t> cap v </a:t>
            </a:r>
            <a:r>
              <a:rPr lang="en-US" dirty="0" err="1"/>
              <a:t>ssl</a:t>
            </a:r>
            <a:r>
              <a:rPr lang="en-US" dirty="0"/>
              <a:t> r&gt;0</a:t>
            </a:r>
          </a:p>
          <a:p>
            <a:r>
              <a:rPr lang="en-US" dirty="0"/>
              <a:t>Sleeper v </a:t>
            </a:r>
            <a:r>
              <a:rPr lang="en-US" dirty="0" err="1"/>
              <a:t>ssl</a:t>
            </a:r>
            <a:r>
              <a:rPr lang="en-US" dirty="0"/>
              <a:t> r&lt;0</a:t>
            </a:r>
          </a:p>
          <a:p>
            <a:endParaRPr lang="en-US" dirty="0"/>
          </a:p>
          <a:p>
            <a:r>
              <a:rPr lang="en-US" dirty="0"/>
              <a:t>All temp r&gt;0, but </a:t>
            </a:r>
          </a:p>
          <a:p>
            <a:r>
              <a:rPr lang="en-US" dirty="0"/>
              <a:t>low for </a:t>
            </a:r>
            <a:r>
              <a:rPr lang="en-US" dirty="0" err="1"/>
              <a:t>enso</a:t>
            </a:r>
            <a:r>
              <a:rPr lang="en-US" dirty="0"/>
              <a:t>/</a:t>
            </a:r>
            <a:r>
              <a:rPr lang="en-US" dirty="0" err="1"/>
              <a:t>pdo</a:t>
            </a:r>
            <a:r>
              <a:rPr lang="en-US" dirty="0"/>
              <a:t> vs </a:t>
            </a:r>
            <a:r>
              <a:rPr lang="en-US" dirty="0" err="1"/>
              <a:t>sst_coastwatch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02267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C42ACE-6EE7-4869-A112-66856C8C04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Shark index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E578EC2-907B-4C34-974D-3BC2D86549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4481146" cy="4351338"/>
          </a:xfrm>
        </p:spPr>
        <p:txBody>
          <a:bodyPr>
            <a:normAutofit fontScale="92500"/>
          </a:bodyPr>
          <a:lstStyle/>
          <a:p>
            <a:r>
              <a:rPr lang="en-US" dirty="0" err="1"/>
              <a:t>i_shark</a:t>
            </a:r>
            <a:r>
              <a:rPr lang="en-US" dirty="0"/>
              <a:t> = </a:t>
            </a:r>
            <a:r>
              <a:rPr lang="en-US" dirty="0" err="1"/>
              <a:t>n_shark</a:t>
            </a:r>
            <a:r>
              <a:rPr lang="en-US" dirty="0"/>
              <a:t>*M(t)*O(t)</a:t>
            </a:r>
          </a:p>
          <a:p>
            <a:r>
              <a:rPr lang="en-US" dirty="0"/>
              <a:t>Where M(t) is the relative metabolic cost of swimming in a warmer ocean</a:t>
            </a:r>
            <a:br>
              <a:rPr lang="en-US" dirty="0"/>
            </a:br>
            <a:r>
              <a:rPr lang="fr-FR" dirty="0"/>
              <a:t> M(t)   = Q10^((</a:t>
            </a:r>
            <a:r>
              <a:rPr lang="fr-FR" dirty="0" err="1"/>
              <a:t>T_raw_Mt</a:t>
            </a:r>
            <a:r>
              <a:rPr lang="fr-FR" dirty="0"/>
              <a:t> - </a:t>
            </a:r>
            <a:r>
              <a:rPr lang="fr-FR" dirty="0" err="1"/>
              <a:t>T_ref_Mt</a:t>
            </a:r>
            <a:r>
              <a:rPr lang="fr-FR" dirty="0"/>
              <a:t>) / 10); Q10=2</a:t>
            </a:r>
          </a:p>
          <a:p>
            <a:r>
              <a:rPr lang="fr-FR" dirty="0"/>
              <a:t>O(t) </a:t>
            </a:r>
            <a:r>
              <a:rPr lang="fr-FR" dirty="0" err="1"/>
              <a:t>is</a:t>
            </a:r>
            <a:r>
              <a:rPr lang="fr-FR" dirty="0"/>
              <a:t> an </a:t>
            </a:r>
            <a:r>
              <a:rPr lang="fr-FR" dirty="0" err="1"/>
              <a:t>overlap</a:t>
            </a:r>
            <a:r>
              <a:rPr lang="fr-FR" dirty="0"/>
              <a:t> index to capture the compression of </a:t>
            </a:r>
            <a:r>
              <a:rPr lang="fr-FR" dirty="0" err="1"/>
              <a:t>suitable</a:t>
            </a:r>
            <a:r>
              <a:rPr lang="fr-FR" dirty="0"/>
              <a:t> habitat for </a:t>
            </a:r>
            <a:r>
              <a:rPr lang="fr-FR" dirty="0" err="1"/>
              <a:t>salmon</a:t>
            </a:r>
            <a:r>
              <a:rPr lang="fr-FR" dirty="0"/>
              <a:t> in a warm </a:t>
            </a:r>
            <a:r>
              <a:rPr lang="fr-FR" dirty="0" err="1"/>
              <a:t>ocean</a:t>
            </a:r>
            <a:br>
              <a:rPr lang="fr-FR" dirty="0"/>
            </a:br>
            <a:r>
              <a:rPr lang="fr-FR" dirty="0" err="1"/>
              <a:t>linear</a:t>
            </a:r>
            <a:r>
              <a:rPr lang="fr-FR" dirty="0"/>
              <a:t> or </a:t>
            </a:r>
            <a:r>
              <a:rPr lang="fr-FR" dirty="0" err="1"/>
              <a:t>logistic</a:t>
            </a:r>
            <a:r>
              <a:rPr lang="fr-FR" dirty="0"/>
              <a:t> (0-2) </a:t>
            </a:r>
            <a:r>
              <a:rPr lang="fr-FR" dirty="0" err="1"/>
              <a:t>form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BEE2687-EC2C-4BAB-A143-6AEA0490104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56245" y="479688"/>
            <a:ext cx="5451510" cy="4936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51570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0DFE4F4-169E-41BB-990D-3057FFAB77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4023" y="1426346"/>
            <a:ext cx="7179297" cy="5818515"/>
          </a:xfrm>
          <a:prstGeom prst="rect">
            <a:avLst/>
          </a:prstGeom>
        </p:spPr>
      </p:pic>
      <p:sp>
        <p:nvSpPr>
          <p:cNvPr id="8" name="Title 7">
            <a:extLst>
              <a:ext uri="{FF2B5EF4-FFF2-40B4-BE49-F238E27FC236}">
                <a16:creationId xmlns:a16="http://schemas.microsoft.com/office/drawing/2014/main" id="{3179AE1F-20BB-4C1C-9847-A58093285D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US" dirty="0"/>
              <a:t>It doesn’t matter which T driver I use for Mt</a:t>
            </a:r>
          </a:p>
        </p:txBody>
      </p:sp>
    </p:spTree>
    <p:extLst>
      <p:ext uri="{BB962C8B-B14F-4D97-AF65-F5344CB8AC3E}">
        <p14:creationId xmlns:p14="http://schemas.microsoft.com/office/powerpoint/2010/main" val="40345406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373328-DD64-4B72-8F71-3CB8BB1689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04341D7-6927-4716-9ED1-3A069ABD38B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09166" y="0"/>
            <a:ext cx="757366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22220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97CCAF8D-B789-449F-82B0-9300DF50FC5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1588" y="0"/>
            <a:ext cx="9232482" cy="6924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21807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8A0E594-2F1D-412E-A327-259A012FAC9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630" t="11359" r="23558" b="29026"/>
          <a:stretch/>
        </p:blipFill>
        <p:spPr>
          <a:xfrm>
            <a:off x="5524107" y="73058"/>
            <a:ext cx="6306532" cy="3355942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8173DF0B-1539-4F00-830A-57F2F9C915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6859" y="798758"/>
            <a:ext cx="4893298" cy="4659362"/>
          </a:xfrm>
        </p:spPr>
        <p:txBody>
          <a:bodyPr>
            <a:normAutofit/>
          </a:bodyPr>
          <a:lstStyle/>
          <a:p>
            <a:r>
              <a:rPr lang="en-US" dirty="0"/>
              <a:t>Sleeper shark index ~ </a:t>
            </a:r>
            <a:r>
              <a:rPr lang="en-US" dirty="0" err="1"/>
              <a:t>enso</a:t>
            </a:r>
            <a:br>
              <a:rPr lang="en-US" dirty="0"/>
            </a:br>
            <a:br>
              <a:rPr lang="en-US" dirty="0"/>
            </a:br>
            <a:r>
              <a:rPr lang="en-US" dirty="0"/>
              <a:t>should modify </a:t>
            </a:r>
            <a:r>
              <a:rPr lang="en-US" dirty="0" err="1"/>
              <a:t>O_t</a:t>
            </a:r>
            <a:r>
              <a:rPr lang="en-US" dirty="0"/>
              <a:t> to spatial T index (~HCI), and </a:t>
            </a:r>
            <a:r>
              <a:rPr lang="en-US" dirty="0" err="1"/>
              <a:t>M_t</a:t>
            </a:r>
            <a:r>
              <a:rPr lang="en-US" dirty="0"/>
              <a:t> to local T index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F51DFD7-CF92-46A9-A084-AF38A3B6B429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3771" t="10856" r="22915" b="29361"/>
          <a:stretch/>
        </p:blipFill>
        <p:spPr>
          <a:xfrm>
            <a:off x="5476972" y="3492630"/>
            <a:ext cx="6438507" cy="336537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8875ECD-8F1D-41A7-857D-5D8007486E96}"/>
              </a:ext>
            </a:extLst>
          </p:cNvPr>
          <p:cNvSpPr txBox="1"/>
          <p:nvPr/>
        </p:nvSpPr>
        <p:spPr>
          <a:xfrm>
            <a:off x="480767" y="5797485"/>
            <a:ext cx="31774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My_pred_03_shark_index_fxn.r</a:t>
            </a:r>
          </a:p>
        </p:txBody>
      </p:sp>
    </p:spTree>
    <p:extLst>
      <p:ext uri="{BB962C8B-B14F-4D97-AF65-F5344CB8AC3E}">
        <p14:creationId xmlns:p14="http://schemas.microsoft.com/office/powerpoint/2010/main" val="26046888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7028E6-FCF1-42E2-BE01-CE366EFD03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F3F1F07-D4E5-4E63-B506-8D1220016ED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09166" y="0"/>
            <a:ext cx="757366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67020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99AD1F-5E87-40BD-B64B-97D3C7ADC9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E12FC9A-DEBB-459B-9F14-D708F9D223E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48807" y="1819615"/>
            <a:ext cx="5573836" cy="4792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36157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E85522-5A78-4BDB-90FC-5F1F775045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9131"/>
            <a:ext cx="10515600" cy="747346"/>
          </a:xfrm>
        </p:spPr>
        <p:txBody>
          <a:bodyPr/>
          <a:lstStyle/>
          <a:p>
            <a:r>
              <a:rPr lang="en-US" dirty="0"/>
              <a:t>CSL Columbia River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2FED2DD-E56A-4B25-9661-E4C53CB6C7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9305" y="1107758"/>
            <a:ext cx="5459658" cy="575024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7FE9388-45C3-4BB7-9067-209D0430BC8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06017" y="1345223"/>
            <a:ext cx="5300978" cy="55831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25666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B0508F-7E9F-4862-BAB9-1ECE160014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Jake’s exposure metric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B367156-7AD0-4204-9B65-FD6F50111E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3900" y="1315671"/>
            <a:ext cx="10515600" cy="4351338"/>
          </a:xfrm>
        </p:spPr>
        <p:txBody>
          <a:bodyPr/>
          <a:lstStyle/>
          <a:p>
            <a:r>
              <a:rPr lang="en-US" dirty="0" err="1"/>
              <a:t>Ncsl</a:t>
            </a:r>
            <a:r>
              <a:rPr lang="en-US" dirty="0"/>
              <a:t>*</a:t>
            </a:r>
            <a:r>
              <a:rPr lang="en-US" dirty="0" err="1"/>
              <a:t>salmon</a:t>
            </a:r>
            <a:r>
              <a:rPr lang="en-US" baseline="-25000" dirty="0" err="1"/>
              <a:t>biomass,week</a:t>
            </a:r>
            <a:r>
              <a:rPr lang="en-US" dirty="0"/>
              <a:t>/all </a:t>
            </a:r>
            <a:r>
              <a:rPr lang="en-US" dirty="0" err="1"/>
              <a:t>prey</a:t>
            </a:r>
            <a:r>
              <a:rPr lang="en-US" baseline="-25000" dirty="0" err="1"/>
              <a:t>biomass,week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139FBC8-A412-44AA-8043-F71A88B8F6CC}"/>
              </a:ext>
            </a:extLst>
          </p:cNvPr>
          <p:cNvSpPr txBox="1"/>
          <p:nvPr/>
        </p:nvSpPr>
        <p:spPr>
          <a:xfrm>
            <a:off x="2881679" y="1932879"/>
            <a:ext cx="6097464" cy="45572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00" b="1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Main Methods</a:t>
            </a:r>
            <a:endParaRPr lang="en-US" sz="1400" b="1" dirty="0">
              <a:solidFill>
                <a:srgbClr val="434343"/>
              </a:solidFill>
              <a:effectLst/>
              <a:latin typeface="Arial" panose="020B0604020202020204" pitchFamily="34" charset="0"/>
            </a:endParaRPr>
          </a:p>
          <a:p>
            <a:pPr marL="342900" marR="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Arial" panose="020B0604020202020204" pitchFamily="34" charset="0"/>
              <a:buChar char="●"/>
            </a:pPr>
            <a:r>
              <a:rPr lang="en-US" sz="1200" b="1" dirty="0">
                <a:solidFill>
                  <a:srgbClr val="000000"/>
                </a:solidFill>
                <a:effectLst/>
                <a:latin typeface="Noto Sans Symbols"/>
                <a:ea typeface="Noto Sans Symbols"/>
                <a:cs typeface="Noto Sans Symbols"/>
              </a:rPr>
              <a:t>Collated abundance and biomass time series for 6 species (Table 1)</a:t>
            </a:r>
            <a:endParaRPr lang="en-US" sz="1400" b="1" dirty="0">
              <a:solidFill>
                <a:srgbClr val="434343"/>
              </a:solidFill>
              <a:effectLst/>
              <a:latin typeface="Noto Sans Symbols"/>
              <a:ea typeface="Noto Sans Symbols"/>
              <a:cs typeface="Noto Sans Symbols"/>
            </a:endParaRPr>
          </a:p>
          <a:p>
            <a:pPr marL="342900" marR="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Arial" panose="020B0604020202020204" pitchFamily="34" charset="0"/>
              <a:buChar char="●"/>
            </a:pPr>
            <a:r>
              <a:rPr lang="en-US" sz="1200" b="1" dirty="0">
                <a:solidFill>
                  <a:srgbClr val="000000"/>
                </a:solidFill>
                <a:effectLst/>
                <a:latin typeface="Noto Sans Symbols"/>
                <a:ea typeface="Noto Sans Symbols"/>
                <a:cs typeface="Noto Sans Symbols"/>
              </a:rPr>
              <a:t>Converted prey abundance into biomass data (to standardize abundance indices) and plotted the biomass of each focal group at a weekly resolution from 2011-2024 (Figure 1)</a:t>
            </a:r>
            <a:endParaRPr lang="en-US" sz="1400" b="1" dirty="0">
              <a:solidFill>
                <a:srgbClr val="434343"/>
              </a:solidFill>
              <a:effectLst/>
              <a:latin typeface="Noto Sans Symbols"/>
              <a:ea typeface="Noto Sans Symbols"/>
              <a:cs typeface="Noto Sans Symbols"/>
            </a:endParaRPr>
          </a:p>
          <a:p>
            <a:pPr marL="342900" marR="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Arial" panose="020B0604020202020204" pitchFamily="34" charset="0"/>
              <a:buChar char="●"/>
            </a:pPr>
            <a:r>
              <a:rPr lang="en-US" sz="1200" b="1" dirty="0">
                <a:solidFill>
                  <a:srgbClr val="000000"/>
                </a:solidFill>
                <a:effectLst/>
                <a:latin typeface="Noto Sans Symbols"/>
                <a:ea typeface="Noto Sans Symbols"/>
                <a:cs typeface="Noto Sans Symbols"/>
              </a:rPr>
              <a:t>Developed exposure metrics </a:t>
            </a:r>
            <a:endParaRPr lang="en-US" sz="1400" b="1" dirty="0">
              <a:solidFill>
                <a:srgbClr val="434343"/>
              </a:solidFill>
              <a:effectLst/>
              <a:latin typeface="Noto Sans Symbols"/>
              <a:ea typeface="Noto Sans Symbols"/>
              <a:cs typeface="Noto Sans Symbols"/>
            </a:endParaRPr>
          </a:p>
          <a:p>
            <a:pPr marL="742950" marR="0" lvl="1" indent="-2857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Courier New" panose="02070309020205020404" pitchFamily="49" charset="0"/>
              <a:buChar char="o"/>
            </a:pPr>
            <a:r>
              <a:rPr lang="en-US" sz="1200" b="1" dirty="0">
                <a:solidFill>
                  <a:srgbClr val="000000"/>
                </a:solidFill>
                <a:effectLst/>
                <a:latin typeface="Courier New" panose="02070309020205020404" pitchFamily="49" charset="0"/>
                <a:ea typeface="Courier New" panose="02070309020205020404" pitchFamily="49" charset="0"/>
                <a:cs typeface="Courier New" panose="02070309020205020404" pitchFamily="49" charset="0"/>
              </a:rPr>
              <a:t>Salmonid Proportion: Salmonid Proportion</a:t>
            </a:r>
            <a:r>
              <a:rPr lang="en-US" sz="1200" b="1" baseline="-25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ea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200" b="1" baseline="-2500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  <a:ea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200" b="1" dirty="0">
                <a:solidFill>
                  <a:srgbClr val="000000"/>
                </a:solidFill>
                <a:effectLst/>
                <a:latin typeface="Courier New" panose="02070309020205020404" pitchFamily="49" charset="0"/>
                <a:ea typeface="Courier New" panose="02070309020205020404" pitchFamily="49" charset="0"/>
                <a:cs typeface="Courier New" panose="02070309020205020404" pitchFamily="49" charset="0"/>
              </a:rPr>
              <a:t> = (species</a:t>
            </a:r>
            <a:r>
              <a:rPr lang="en-US" sz="1200" b="1" baseline="-25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ea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200" b="1" baseline="-2500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  <a:ea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200" b="1" dirty="0">
                <a:solidFill>
                  <a:srgbClr val="000000"/>
                </a:solidFill>
                <a:effectLst/>
                <a:latin typeface="Courier New" panose="02070309020205020404" pitchFamily="49" charset="0"/>
                <a:ea typeface="Courier New" panose="02070309020205020404" pitchFamily="49" charset="0"/>
                <a:cs typeface="Courier New" panose="02070309020205020404" pitchFamily="49" charset="0"/>
              </a:rPr>
              <a:t> biomass) / (total prey biomass) is the proportion that species </a:t>
            </a:r>
            <a:r>
              <a:rPr lang="en-US" sz="1200" b="1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  <a:ea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200" b="1" dirty="0">
                <a:solidFill>
                  <a:srgbClr val="000000"/>
                </a:solidFill>
                <a:effectLst/>
                <a:latin typeface="Courier New" panose="02070309020205020404" pitchFamily="49" charset="0"/>
                <a:ea typeface="Courier New" panose="02070309020205020404" pitchFamily="49" charset="0"/>
                <a:cs typeface="Courier New" panose="02070309020205020404" pitchFamily="49" charset="0"/>
              </a:rPr>
              <a:t> makes up of the total available prey biomass at a weekly temporal resolution (Figures 2 and 3). We developed individual Salmonid Proportions for each salmonid group in the Estuary and Bonneville</a:t>
            </a:r>
            <a:endParaRPr lang="en-US" sz="1400" b="1" dirty="0">
              <a:solidFill>
                <a:srgbClr val="434343"/>
              </a:solidFill>
              <a:effectLst/>
              <a:latin typeface="Courier New" panose="02070309020205020404" pitchFamily="49" charset="0"/>
              <a:ea typeface="Courier New" panose="02070309020205020404" pitchFamily="49" charset="0"/>
              <a:cs typeface="Courier New" panose="02070309020205020404" pitchFamily="49" charset="0"/>
            </a:endParaRPr>
          </a:p>
          <a:p>
            <a:pPr marL="742950" marR="0" lvl="1" indent="-2857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Courier New" panose="02070309020205020404" pitchFamily="49" charset="0"/>
              <a:buChar char="o"/>
            </a:pPr>
            <a:r>
              <a:rPr lang="en-US" sz="1200" b="1" dirty="0">
                <a:solidFill>
                  <a:srgbClr val="000000"/>
                </a:solidFill>
                <a:effectLst/>
                <a:latin typeface="Courier New" panose="02070309020205020404" pitchFamily="49" charset="0"/>
                <a:ea typeface="Courier New" panose="02070309020205020404" pitchFamily="49" charset="0"/>
                <a:cs typeface="Courier New" panose="02070309020205020404" pitchFamily="49" charset="0"/>
              </a:rPr>
              <a:t>Salmon Exposure to Sea Lions (SESL): SESL</a:t>
            </a:r>
            <a:r>
              <a:rPr lang="en-US" sz="1200" b="1" baseline="-25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ea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200" b="1" baseline="-2500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  <a:ea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200" b="1" dirty="0">
                <a:solidFill>
                  <a:srgbClr val="000000"/>
                </a:solidFill>
                <a:effectLst/>
                <a:latin typeface="Courier New" panose="02070309020205020404" pitchFamily="49" charset="0"/>
                <a:ea typeface="Courier New" panose="02070309020205020404" pitchFamily="49" charset="0"/>
                <a:cs typeface="Courier New" panose="02070309020205020404" pitchFamily="49" charset="0"/>
              </a:rPr>
              <a:t> = (Salmonid Proportion</a:t>
            </a:r>
            <a:r>
              <a:rPr lang="en-US" sz="1200" b="1" baseline="-25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ea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200" b="1" baseline="-2500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  <a:ea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200" b="1" dirty="0">
                <a:solidFill>
                  <a:srgbClr val="000000"/>
                </a:solidFill>
                <a:effectLst/>
                <a:latin typeface="Courier New" panose="02070309020205020404" pitchFamily="49" charset="0"/>
                <a:ea typeface="Courier New" panose="02070309020205020404" pitchFamily="49" charset="0"/>
                <a:cs typeface="Courier New" panose="02070309020205020404" pitchFamily="49" charset="0"/>
              </a:rPr>
              <a:t>) * (pinniped count</a:t>
            </a:r>
            <a:r>
              <a:rPr lang="en-US" sz="1200" b="1" baseline="-25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ea typeface="Courier New" panose="02070309020205020404" pitchFamily="49" charset="0"/>
                <a:cs typeface="Courier New" panose="02070309020205020404" pitchFamily="49" charset="0"/>
              </a:rPr>
              <a:t> j</a:t>
            </a:r>
            <a:r>
              <a:rPr lang="en-US" sz="1200" b="1" dirty="0">
                <a:solidFill>
                  <a:srgbClr val="000000"/>
                </a:solidFill>
                <a:effectLst/>
                <a:latin typeface="Courier New" panose="02070309020205020404" pitchFamily="49" charset="0"/>
                <a:ea typeface="Courier New" panose="02070309020205020404" pitchFamily="49" charset="0"/>
                <a:cs typeface="Courier New" panose="02070309020205020404" pitchFamily="49" charset="0"/>
              </a:rPr>
              <a:t>) combines this weekly salmonid proportion for species </a:t>
            </a:r>
            <a:r>
              <a:rPr lang="en-US" sz="1200" b="1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  <a:ea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200" b="1" dirty="0">
                <a:solidFill>
                  <a:srgbClr val="000000"/>
                </a:solidFill>
                <a:effectLst/>
                <a:latin typeface="Courier New" panose="02070309020205020404" pitchFamily="49" charset="0"/>
                <a:ea typeface="Courier New" panose="02070309020205020404" pitchFamily="49" charset="0"/>
                <a:cs typeface="Courier New" panose="02070309020205020404" pitchFamily="49" charset="0"/>
              </a:rPr>
              <a:t> with predator counts at location j to make a relative index of predation pressure on species </a:t>
            </a:r>
            <a:r>
              <a:rPr lang="en-US" sz="1200" b="1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  <a:ea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200" b="1" dirty="0">
                <a:solidFill>
                  <a:srgbClr val="000000"/>
                </a:solidFill>
                <a:effectLst/>
                <a:latin typeface="Courier New" panose="02070309020205020404" pitchFamily="49" charset="0"/>
                <a:ea typeface="Courier New" panose="02070309020205020404" pitchFamily="49" charset="0"/>
                <a:cs typeface="Courier New" panose="02070309020205020404" pitchFamily="49" charset="0"/>
              </a:rPr>
              <a:t> (Figure 3). Using proportion rather than raw abundance captures each group's dominance in the prey field when predators are foraging. </a:t>
            </a:r>
            <a:endParaRPr lang="en-US" sz="1400" b="1" dirty="0">
              <a:solidFill>
                <a:srgbClr val="434343"/>
              </a:solidFill>
              <a:effectLst/>
              <a:latin typeface="Courier New" panose="02070309020205020404" pitchFamily="49" charset="0"/>
              <a:ea typeface="Courier New" panose="02070309020205020404" pitchFamily="49" charset="0"/>
              <a:cs typeface="Courier New" panose="02070309020205020404" pitchFamily="49" charset="0"/>
            </a:endParaRPr>
          </a:p>
          <a:p>
            <a:pPr marL="342900" marR="0" lvl="0" indent="-34290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SzPts val="1000"/>
              <a:buFont typeface="Arial" panose="020B0604020202020204" pitchFamily="34" charset="0"/>
              <a:buChar char="●"/>
            </a:pPr>
            <a:r>
              <a:rPr lang="en-US" sz="1200" b="1" dirty="0">
                <a:solidFill>
                  <a:srgbClr val="000000"/>
                </a:solidFill>
                <a:effectLst/>
                <a:latin typeface="Noto Sans Symbols"/>
                <a:ea typeface="Noto Sans Symbols"/>
                <a:cs typeface="Noto Sans Symbols"/>
              </a:rPr>
              <a:t>Averaged SESL by salmonid life stage and run (e.g. spring Chinook, summer Chinook, summer steelhead) for each year</a:t>
            </a:r>
            <a:endParaRPr lang="en-US" sz="1400" b="1" dirty="0">
              <a:solidFill>
                <a:srgbClr val="434343"/>
              </a:solidFill>
              <a:effectLst/>
              <a:latin typeface="Noto Sans Symbols"/>
              <a:ea typeface="Noto Sans Symbols"/>
              <a:cs typeface="Noto Sans Symbols"/>
            </a:endParaRPr>
          </a:p>
        </p:txBody>
      </p:sp>
    </p:spTree>
    <p:extLst>
      <p:ext uri="{BB962C8B-B14F-4D97-AF65-F5344CB8AC3E}">
        <p14:creationId xmlns:p14="http://schemas.microsoft.com/office/powerpoint/2010/main" val="16761092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EB64AB-2CCF-40F1-9A13-A74C44AA2E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Forage fish daily </a:t>
            </a:r>
            <a:r>
              <a:rPr lang="en-US"/>
              <a:t>prediction from Barb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79ADA420-7D4F-49C2-A59B-EB957F33E9C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-987" t="6215" r="-895" b="7270"/>
          <a:stretch/>
        </p:blipFill>
        <p:spPr>
          <a:xfrm>
            <a:off x="2252825" y="1825625"/>
            <a:ext cx="7686350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93811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6883</TotalTime>
  <Words>432</Words>
  <Application>Microsoft Office PowerPoint</Application>
  <PresentationFormat>Widescreen</PresentationFormat>
  <Paragraphs>31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Arial</vt:lpstr>
      <vt:lpstr>Calibri</vt:lpstr>
      <vt:lpstr>Calibri Light</vt:lpstr>
      <vt:lpstr>Courier New</vt:lpstr>
      <vt:lpstr>Noto Sans Symbols</vt:lpstr>
      <vt:lpstr>Office Theme</vt:lpstr>
      <vt:lpstr>Weighting predators by temperature and prey</vt:lpstr>
      <vt:lpstr>PowerPoint Presentation</vt:lpstr>
      <vt:lpstr>Shark index</vt:lpstr>
      <vt:lpstr>It doesn’t matter which T driver I use for Mt</vt:lpstr>
      <vt:lpstr>PowerPoint Presentation</vt:lpstr>
      <vt:lpstr>PowerPoint Presentation</vt:lpstr>
      <vt:lpstr>Sleeper shark index ~ enso  should modify O_t to spatial T index (~HCI), and M_t to local T index</vt:lpstr>
      <vt:lpstr>PowerPoint Presentation</vt:lpstr>
      <vt:lpstr>PowerPoint Presentation</vt:lpstr>
      <vt:lpstr>CSL Columbia River</vt:lpstr>
      <vt:lpstr>Jake’s exposure metric</vt:lpstr>
      <vt:lpstr>Forage fish daily prediction from Barb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Weighting predators by temperature and prey</dc:title>
  <dc:creator>Lisa.Crozier</dc:creator>
  <cp:lastModifiedBy>Lisa.Crozier</cp:lastModifiedBy>
  <cp:revision>22</cp:revision>
  <dcterms:created xsi:type="dcterms:W3CDTF">2026-08-07T00:13:23Z</dcterms:created>
  <dcterms:modified xsi:type="dcterms:W3CDTF">2026-08-11T18:58:01Z</dcterms:modified>
</cp:coreProperties>
</file>