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68" r:id="rId3"/>
    <p:sldId id="270" r:id="rId4"/>
    <p:sldId id="290" r:id="rId5"/>
    <p:sldId id="291" r:id="rId6"/>
    <p:sldId id="269" r:id="rId7"/>
    <p:sldId id="296" r:id="rId8"/>
    <p:sldId id="263" r:id="rId9"/>
    <p:sldId id="293" r:id="rId10"/>
    <p:sldId id="294" r:id="rId11"/>
    <p:sldId id="292" r:id="rId12"/>
    <p:sldId id="295" r:id="rId13"/>
    <p:sldId id="297" r:id="rId14"/>
    <p:sldId id="299" r:id="rId15"/>
    <p:sldId id="309" r:id="rId16"/>
    <p:sldId id="308" r:id="rId17"/>
    <p:sldId id="271" r:id="rId18"/>
    <p:sldId id="298" r:id="rId19"/>
    <p:sldId id="283" r:id="rId20"/>
    <p:sldId id="303" r:id="rId21"/>
    <p:sldId id="304" r:id="rId22"/>
    <p:sldId id="307" r:id="rId23"/>
    <p:sldId id="305" r:id="rId24"/>
    <p:sldId id="306" r:id="rId25"/>
    <p:sldId id="279" r:id="rId26"/>
    <p:sldId id="301" r:id="rId27"/>
    <p:sldId id="302" r:id="rId28"/>
    <p:sldId id="272" r:id="rId29"/>
    <p:sldId id="310" r:id="rId30"/>
    <p:sldId id="280" r:id="rId31"/>
    <p:sldId id="282" r:id="rId32"/>
    <p:sldId id="277" r:id="rId33"/>
    <p:sldId id="278" r:id="rId34"/>
    <p:sldId id="284" r:id="rId35"/>
    <p:sldId id="285" r:id="rId36"/>
    <p:sldId id="281" r:id="rId37"/>
    <p:sldId id="275" r:id="rId38"/>
    <p:sldId id="276" r:id="rId39"/>
    <p:sldId id="274" r:id="rId40"/>
    <p:sldId id="273" r:id="rId41"/>
    <p:sldId id="288" r:id="rId42"/>
    <p:sldId id="287" r:id="rId43"/>
    <p:sldId id="289" r:id="rId44"/>
    <p:sldId id="286" r:id="rId45"/>
    <p:sldId id="259" r:id="rId46"/>
    <p:sldId id="262" r:id="rId47"/>
    <p:sldId id="264" r:id="rId48"/>
    <p:sldId id="257" r:id="rId49"/>
    <p:sldId id="258" r:id="rId50"/>
    <p:sldId id="261" r:id="rId51"/>
    <p:sldId id="260" r:id="rId52"/>
    <p:sldId id="265" r:id="rId53"/>
    <p:sldId id="266" r:id="rId54"/>
    <p:sldId id="267"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77699" autoAdjust="0"/>
  </p:normalViewPr>
  <p:slideViewPr>
    <p:cSldViewPr snapToGrid="0" showGuides="1">
      <p:cViewPr varScale="1">
        <p:scale>
          <a:sx n="84" d="100"/>
          <a:sy n="84" d="100"/>
        </p:scale>
        <p:origin x="1740" y="84"/>
      </p:cViewPr>
      <p:guideLst>
        <p:guide orient="horz" pos="2160"/>
        <p:guide pos="3840"/>
      </p:guideLst>
    </p:cSldViewPr>
  </p:slideViewPr>
  <p:notesTextViewPr>
    <p:cViewPr>
      <p:scale>
        <a:sx n="1" d="1"/>
        <a:sy n="1" d="1"/>
      </p:scale>
      <p:origin x="0" y="0"/>
    </p:cViewPr>
  </p:notesTextViewPr>
  <p:sorterViewPr>
    <p:cViewPr>
      <p:scale>
        <a:sx n="100" d="100"/>
        <a:sy n="100" d="100"/>
      </p:scale>
      <p:origin x="0" y="-100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59C8C5-C0F5-4E53-A6FA-AF104281548F}"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9EE7F0-C830-4EFF-88F3-2ACD33958E26}" type="slidenum">
              <a:rPr lang="en-US" smtClean="0"/>
              <a:t>‹#›</a:t>
            </a:fld>
            <a:endParaRPr lang="en-US"/>
          </a:p>
        </p:txBody>
      </p:sp>
    </p:spTree>
    <p:extLst>
      <p:ext uri="{BB962C8B-B14F-4D97-AF65-F5344CB8AC3E}">
        <p14:creationId xmlns:p14="http://schemas.microsoft.com/office/powerpoint/2010/main" val="1452932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i.org/10.1038/nature04007"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solidFill>
                  <a:srgbClr val="1F1F1F"/>
                </a:solidFill>
                <a:effectLst/>
                <a:latin typeface="Google Sans Text"/>
              </a:rPr>
              <a:t>Here are strong academic references organized directly by your three methodological needs:</a:t>
            </a:r>
          </a:p>
          <a:p>
            <a:pPr rtl="0"/>
            <a:br>
              <a:rPr lang="en-US" dirty="0">
                <a:solidFill>
                  <a:srgbClr val="1F1F1F"/>
                </a:solidFill>
                <a:effectLst/>
                <a:latin typeface="Google Sans Text"/>
              </a:rPr>
            </a:br>
            <a:r>
              <a:rPr lang="en-US" b="1" dirty="0">
                <a:solidFill>
                  <a:srgbClr val="1F1F1F"/>
                </a:solidFill>
                <a:effectLst/>
                <a:latin typeface="Google Sans Text"/>
              </a:rPr>
              <a:t>1. Sharks as Key Predators on Salmon (Specifically Chinook)</a:t>
            </a:r>
            <a:endParaRPr lang="en-US" dirty="0">
              <a:solidFill>
                <a:srgbClr val="1F1F1F"/>
              </a:solidFill>
              <a:effectLst/>
              <a:latin typeface="Google Sans Text"/>
            </a:endParaRPr>
          </a:p>
          <a:p>
            <a:pPr rtl="0">
              <a:buFont typeface="Arial" panose="020B0604020202020204" pitchFamily="34" charset="0"/>
              <a:buChar char="•"/>
            </a:pPr>
            <a:br>
              <a:rPr lang="en-US" dirty="0">
                <a:solidFill>
                  <a:srgbClr val="1F1F1F"/>
                </a:solidFill>
                <a:effectLst/>
                <a:latin typeface="Google Sans Text"/>
              </a:rPr>
            </a:br>
            <a:r>
              <a:rPr lang="en-US" b="1" dirty="0">
                <a:solidFill>
                  <a:srgbClr val="1F1F1F"/>
                </a:solidFill>
                <a:effectLst/>
                <a:latin typeface="Google Sans Text"/>
              </a:rPr>
              <a:t>Seitz et al. (2019)</a:t>
            </a:r>
            <a:r>
              <a:rPr lang="en-US" dirty="0">
                <a:solidFill>
                  <a:srgbClr val="1F1F1F"/>
                </a:solidFill>
                <a:effectLst/>
                <a:latin typeface="Google Sans Text"/>
              </a:rPr>
              <a:t> remains the defining empirical tag-recovery study demonstrating that salmon sharks (</a:t>
            </a:r>
            <a:r>
              <a:rPr lang="en-US" i="1" dirty="0">
                <a:solidFill>
                  <a:srgbClr val="1F1F1F"/>
                </a:solidFill>
                <a:effectLst/>
                <a:latin typeface="Google Sans Text"/>
              </a:rPr>
              <a:t>Lamna </a:t>
            </a:r>
            <a:r>
              <a:rPr lang="en-US" i="1" dirty="0" err="1">
                <a:solidFill>
                  <a:srgbClr val="1F1F1F"/>
                </a:solidFill>
                <a:effectLst/>
                <a:latin typeface="Google Sans Text"/>
              </a:rPr>
              <a:t>ditropis</a:t>
            </a:r>
            <a:r>
              <a:rPr lang="en-US" dirty="0">
                <a:solidFill>
                  <a:srgbClr val="1F1F1F"/>
                </a:solidFill>
                <a:effectLst/>
                <a:latin typeface="Google Sans Text"/>
              </a:rPr>
              <a:t>) are the dominant predator on large ocean-stage Chinook salmon in the GOA/Bering Sea.</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err="1">
                <a:solidFill>
                  <a:srgbClr val="1F1F1F"/>
                </a:solidFill>
                <a:effectLst/>
                <a:latin typeface="Google Sans Text"/>
              </a:rPr>
              <a:t>Ohlberger</a:t>
            </a:r>
            <a:r>
              <a:rPr lang="en-US" b="1" dirty="0">
                <a:solidFill>
                  <a:srgbClr val="1F1F1F"/>
                </a:solidFill>
                <a:effectLst/>
                <a:latin typeface="Google Sans Text"/>
              </a:rPr>
              <a:t> et al. (2018):</a:t>
            </a:r>
            <a:r>
              <a:rPr lang="en-US" dirty="0">
                <a:solidFill>
                  <a:srgbClr val="1F1F1F"/>
                </a:solidFill>
                <a:effectLst/>
                <a:latin typeface="Google Sans Text"/>
              </a:rPr>
              <a:t> </a:t>
            </a:r>
            <a:r>
              <a:rPr lang="en-US" i="1" dirty="0">
                <a:solidFill>
                  <a:srgbClr val="1F1F1F"/>
                </a:solidFill>
                <a:effectLst/>
                <a:latin typeface="Google Sans Text"/>
              </a:rPr>
              <a:t>Demographic changes in Pacific salmon induced by marine competition and predation.</a:t>
            </a:r>
            <a:r>
              <a:rPr lang="en-US" dirty="0">
                <a:solidFill>
                  <a:srgbClr val="1F1F1F"/>
                </a:solidFill>
                <a:effectLst/>
                <a:latin typeface="Google Sans Text"/>
              </a:rPr>
              <a:t> (PNAS, 115(21), 5389-5396).</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Documenting that marine predation is a primary top-down driver of decreasing Chinook salmon size and age structure across the North Pacific.</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err="1">
                <a:solidFill>
                  <a:srgbClr val="1F1F1F"/>
                </a:solidFill>
                <a:effectLst/>
                <a:latin typeface="Google Sans Text"/>
              </a:rPr>
              <a:t>Chasco</a:t>
            </a:r>
            <a:r>
              <a:rPr lang="en-US" b="1" dirty="0">
                <a:solidFill>
                  <a:srgbClr val="1F1F1F"/>
                </a:solidFill>
                <a:effectLst/>
                <a:latin typeface="Google Sans Text"/>
              </a:rPr>
              <a:t> et al. (2017):</a:t>
            </a:r>
            <a:r>
              <a:rPr lang="en-US" dirty="0">
                <a:solidFill>
                  <a:srgbClr val="1F1F1F"/>
                </a:solidFill>
                <a:effectLst/>
                <a:latin typeface="Google Sans Text"/>
              </a:rPr>
              <a:t> </a:t>
            </a:r>
            <a:r>
              <a:rPr lang="en-US" i="1" dirty="0">
                <a:solidFill>
                  <a:srgbClr val="1F1F1F"/>
                </a:solidFill>
                <a:effectLst/>
                <a:latin typeface="Google Sans Text"/>
              </a:rPr>
              <a:t>Competing claims for Pacific salmon by marine mammals and fisheries.</a:t>
            </a:r>
            <a:r>
              <a:rPr lang="en-US" dirty="0">
                <a:solidFill>
                  <a:srgbClr val="1F1F1F"/>
                </a:solidFill>
                <a:effectLst/>
                <a:latin typeface="Google Sans Text"/>
              </a:rPr>
              <a:t> (Scientific Reports, 7, 10980).</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Highlighting the broader context of top-down consumption dynamics on Chinook salmon during their marine life history phase.</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r>
              <a:rPr lang="en-US" b="1" dirty="0">
                <a:solidFill>
                  <a:srgbClr val="1F1F1F"/>
                </a:solidFill>
                <a:effectLst/>
                <a:latin typeface="Google Sans Text"/>
              </a:rPr>
              <a:t>2. Chinook Salmon Ocean Distributions Track Thermal Preference</a:t>
            </a:r>
            <a:endParaRPr lang="en-US" dirty="0">
              <a:solidFill>
                <a:srgbClr val="1F1F1F"/>
              </a:solidFill>
              <a:effectLst/>
              <a:latin typeface="Google Sans Text"/>
            </a:endParaRPr>
          </a:p>
          <a:p>
            <a:pPr rtl="0">
              <a:buFont typeface="Arial" panose="020B0604020202020204" pitchFamily="34" charset="0"/>
              <a:buChar char="•"/>
            </a:pPr>
            <a:br>
              <a:rPr lang="en-US" dirty="0">
                <a:solidFill>
                  <a:srgbClr val="1F1F1F"/>
                </a:solidFill>
                <a:effectLst/>
                <a:latin typeface="Google Sans Text"/>
              </a:rPr>
            </a:br>
            <a:r>
              <a:rPr lang="en-US" b="1" dirty="0" err="1">
                <a:solidFill>
                  <a:srgbClr val="1F1F1F"/>
                </a:solidFill>
                <a:effectLst/>
                <a:latin typeface="Google Sans Text"/>
              </a:rPr>
              <a:t>Langan</a:t>
            </a:r>
            <a:r>
              <a:rPr lang="en-US" b="1" dirty="0">
                <a:solidFill>
                  <a:srgbClr val="1F1F1F"/>
                </a:solidFill>
                <a:effectLst/>
                <a:latin typeface="Google Sans Text"/>
              </a:rPr>
              <a:t> et al. (2024):</a:t>
            </a:r>
            <a:r>
              <a:rPr lang="en-US" dirty="0">
                <a:solidFill>
                  <a:srgbClr val="1F1F1F"/>
                </a:solidFill>
                <a:effectLst/>
                <a:latin typeface="Google Sans Text"/>
              </a:rPr>
              <a:t> </a:t>
            </a:r>
            <a:r>
              <a:rPr lang="en-US" i="1" dirty="0">
                <a:solidFill>
                  <a:srgbClr val="1F1F1F"/>
                </a:solidFill>
                <a:effectLst/>
                <a:latin typeface="Google Sans Text"/>
              </a:rPr>
              <a:t>Opening the black box: New insights into the role of temperature in the marine distributions of Pacific salmon.</a:t>
            </a:r>
            <a:r>
              <a:rPr lang="en-US" dirty="0">
                <a:solidFill>
                  <a:srgbClr val="1F1F1F"/>
                </a:solidFill>
                <a:effectLst/>
                <a:latin typeface="Google Sans Text"/>
              </a:rPr>
              <a:t> (Fish and Fisheries, 25(4), 551-568).</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The most up-to-date and comprehensive evidence that Chinook salmon marine distributions actively track species-specific thermal ranges and preferred SST envelopes across the North Pacific.</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a:solidFill>
                  <a:srgbClr val="1F1F1F"/>
                </a:solidFill>
                <a:effectLst/>
                <a:latin typeface="Google Sans Text"/>
              </a:rPr>
              <a:t>Hunsicker et al. (2022):</a:t>
            </a:r>
            <a:r>
              <a:rPr lang="en-US" dirty="0">
                <a:solidFill>
                  <a:srgbClr val="1F1F1F"/>
                </a:solidFill>
                <a:effectLst/>
                <a:latin typeface="Google Sans Text"/>
              </a:rPr>
              <a:t> </a:t>
            </a:r>
            <a:r>
              <a:rPr lang="en-US" i="1" dirty="0">
                <a:solidFill>
                  <a:srgbClr val="1F1F1F"/>
                </a:solidFill>
                <a:effectLst/>
                <a:latin typeface="Google Sans Text"/>
              </a:rPr>
              <a:t>Elucidating climate displacement of marine species across regional spatial scales.</a:t>
            </a:r>
            <a:r>
              <a:rPr lang="en-US" dirty="0">
                <a:solidFill>
                  <a:srgbClr val="1F1F1F"/>
                </a:solidFill>
                <a:effectLst/>
                <a:latin typeface="Google Sans Text"/>
              </a:rPr>
              <a:t> (Global Change Biology).</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Supporting the spatial overlap hypothesis—showing how thermal shifts in the Gulf of Alaska compress or expand the spatial overlap between pelagic predators and salmon prey.</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r>
              <a:rPr lang="en-US" b="1" dirty="0">
                <a:solidFill>
                  <a:srgbClr val="1F1F1F"/>
                </a:solidFill>
                <a:effectLst/>
                <a:latin typeface="Google Sans Text"/>
              </a:rPr>
              <a:t>3. Salmon Shark Endothermy &amp; Temperature-Driven Metabolic Rates</a:t>
            </a:r>
            <a:endParaRPr lang="en-US" dirty="0">
              <a:solidFill>
                <a:srgbClr val="1F1F1F"/>
              </a:solidFill>
              <a:effectLst/>
              <a:latin typeface="Google Sans Text"/>
            </a:endParaRPr>
          </a:p>
          <a:p>
            <a:pPr rtl="0">
              <a:buFont typeface="Arial" panose="020B0604020202020204" pitchFamily="34" charset="0"/>
              <a:buChar char="•"/>
            </a:pPr>
            <a:br>
              <a:rPr lang="en-US" dirty="0">
                <a:solidFill>
                  <a:srgbClr val="1F1F1F"/>
                </a:solidFill>
                <a:effectLst/>
                <a:latin typeface="Google Sans Text"/>
              </a:rPr>
            </a:br>
            <a:r>
              <a:rPr lang="en-US" b="1" dirty="0">
                <a:solidFill>
                  <a:srgbClr val="1F1F1F"/>
                </a:solidFill>
                <a:effectLst/>
                <a:latin typeface="Google Sans Text"/>
              </a:rPr>
              <a:t>Bernal et al. (2005):</a:t>
            </a:r>
            <a:r>
              <a:rPr lang="en-US" dirty="0">
                <a:solidFill>
                  <a:srgbClr val="1F1F1F"/>
                </a:solidFill>
                <a:effectLst/>
                <a:latin typeface="Google Sans Text"/>
              </a:rPr>
              <a:t> </a:t>
            </a:r>
            <a:r>
              <a:rPr lang="en-US" i="1" dirty="0">
                <a:solidFill>
                  <a:srgbClr val="1F1F1F"/>
                </a:solidFill>
                <a:effectLst/>
                <a:latin typeface="Google Sans Text"/>
              </a:rPr>
              <a:t>Mammal-like muscles power swimming in a cold-water shark.</a:t>
            </a:r>
            <a:r>
              <a:rPr lang="en-US" dirty="0">
                <a:solidFill>
                  <a:srgbClr val="1F1F1F"/>
                </a:solidFill>
                <a:effectLst/>
                <a:latin typeface="Google Sans Text"/>
              </a:rPr>
              <a:t> (</a:t>
            </a:r>
            <a:r>
              <a:rPr lang="en-US" i="1" dirty="0">
                <a:solidFill>
                  <a:srgbClr val="1F1F1F"/>
                </a:solidFill>
                <a:effectLst/>
                <a:latin typeface="Google Sans Text"/>
              </a:rPr>
              <a:t>Nature</a:t>
            </a:r>
            <a:r>
              <a:rPr lang="en-US" dirty="0">
                <a:solidFill>
                  <a:srgbClr val="1F1F1F"/>
                </a:solidFill>
                <a:effectLst/>
                <a:latin typeface="Google Sans Text"/>
              </a:rPr>
              <a:t>, 437, 1349–1352).</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Proof of lamnid metabolic specialization. Demonstrates that salmon shark aerobic swimming muscles function optimally only at elevated internal temperatures ($20^\circ\text{C}$–$30^\circ\text{C}$).</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a:solidFill>
                  <a:srgbClr val="1F1F1F"/>
                </a:solidFill>
                <a:effectLst/>
                <a:latin typeface="Google Sans Text"/>
              </a:rPr>
              <a:t>Carlson et al. (2004):</a:t>
            </a:r>
            <a:r>
              <a:rPr lang="en-US" dirty="0">
                <a:solidFill>
                  <a:srgbClr val="1F1F1F"/>
                </a:solidFill>
                <a:effectLst/>
                <a:latin typeface="Google Sans Text"/>
              </a:rPr>
              <a:t> </a:t>
            </a:r>
            <a:r>
              <a:rPr lang="en-US" i="1" dirty="0">
                <a:solidFill>
                  <a:srgbClr val="1F1F1F"/>
                </a:solidFill>
                <a:effectLst/>
                <a:latin typeface="Google Sans Text"/>
              </a:rPr>
              <a:t>Metabolic rate and energetics of lamnid sharks.</a:t>
            </a:r>
            <a:r>
              <a:rPr lang="en-US" dirty="0">
                <a:solidFill>
                  <a:srgbClr val="1F1F1F"/>
                </a:solidFill>
                <a:effectLst/>
                <a:latin typeface="Google Sans Text"/>
              </a:rPr>
              <a:t> (Special Publication of the American Fisheries Society).</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Standard metabolic rate scaling equations for lamnids, proving standard metabolic rate increases with ambient water temperature.</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a:solidFill>
                  <a:srgbClr val="1F1F1F"/>
                </a:solidFill>
                <a:effectLst/>
                <a:latin typeface="Google Sans Text"/>
              </a:rPr>
              <a:t>Goldman et al. (2004):</a:t>
            </a:r>
            <a:r>
              <a:rPr lang="en-US" dirty="0">
                <a:solidFill>
                  <a:srgbClr val="1F1F1F"/>
                </a:solidFill>
                <a:effectLst/>
                <a:latin typeface="Google Sans Text"/>
              </a:rPr>
              <a:t> </a:t>
            </a:r>
            <a:r>
              <a:rPr lang="en-US" i="1" dirty="0">
                <a:solidFill>
                  <a:srgbClr val="1F1F1F"/>
                </a:solidFill>
                <a:effectLst/>
                <a:latin typeface="Google Sans Text"/>
              </a:rPr>
              <a:t>Homeothermy and thermoregulation in the salmon shark, Lamna </a:t>
            </a:r>
            <a:r>
              <a:rPr lang="en-US" i="1" dirty="0" err="1">
                <a:solidFill>
                  <a:srgbClr val="1F1F1F"/>
                </a:solidFill>
                <a:effectLst/>
                <a:latin typeface="Google Sans Text"/>
              </a:rPr>
              <a:t>ditropis</a:t>
            </a:r>
            <a:r>
              <a:rPr lang="en-US" i="1" dirty="0">
                <a:solidFill>
                  <a:srgbClr val="1F1F1F"/>
                </a:solidFill>
                <a:effectLst/>
                <a:latin typeface="Google Sans Text"/>
              </a:rPr>
              <a:t>.</a:t>
            </a:r>
            <a:r>
              <a:rPr lang="en-US" dirty="0">
                <a:solidFill>
                  <a:srgbClr val="1F1F1F"/>
                </a:solidFill>
                <a:effectLst/>
                <a:latin typeface="Google Sans Text"/>
              </a:rPr>
              <a:t> (Journal of Comparative Physiology B).</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Direct physiological evidence that salmon sharks actively thermoregulate and maintain visceral/body temperatures up to $15^\circ\text{C}$–$20^\circ\text{C}$ above ambient water, elevating their total daily energetic requirements in warm water.</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r>
              <a:rPr lang="en-US" b="1" dirty="0">
                <a:solidFill>
                  <a:srgbClr val="1F1F1F"/>
                </a:solidFill>
                <a:effectLst/>
                <a:latin typeface="Google Sans"/>
              </a:rPr>
              <a:t>References</a:t>
            </a:r>
          </a:p>
          <a:p>
            <a:pPr rtl="0"/>
            <a:r>
              <a:rPr lang="en-US" dirty="0">
                <a:solidFill>
                  <a:srgbClr val="1F1F1F"/>
                </a:solidFill>
                <a:effectLst/>
                <a:latin typeface="Google Sans Text"/>
              </a:rPr>
              <a:t>Bernal, D., Donley, J. M., </a:t>
            </a:r>
            <a:r>
              <a:rPr lang="en-US" dirty="0" err="1">
                <a:solidFill>
                  <a:srgbClr val="1F1F1F"/>
                </a:solidFill>
                <a:effectLst/>
                <a:latin typeface="Google Sans Text"/>
              </a:rPr>
              <a:t>Shadwick</a:t>
            </a:r>
            <a:r>
              <a:rPr lang="en-US" dirty="0">
                <a:solidFill>
                  <a:srgbClr val="1F1F1F"/>
                </a:solidFill>
                <a:effectLst/>
                <a:latin typeface="Google Sans Text"/>
              </a:rPr>
              <a:t>, R. E., &amp; Syme, D. A. (2005). Mammal-like muscles power swimming in a cold-water shark. </a:t>
            </a:r>
            <a:r>
              <a:rPr lang="en-US" i="1" dirty="0">
                <a:solidFill>
                  <a:srgbClr val="1F1F1F"/>
                </a:solidFill>
                <a:effectLst/>
                <a:latin typeface="Google Sans Text"/>
              </a:rPr>
              <a:t>Nature</a:t>
            </a:r>
            <a:r>
              <a:rPr lang="en-US" dirty="0">
                <a:solidFill>
                  <a:srgbClr val="1F1F1F"/>
                </a:solidFill>
                <a:effectLst/>
                <a:latin typeface="Google Sans Text"/>
              </a:rPr>
              <a:t>, </a:t>
            </a:r>
            <a:r>
              <a:rPr lang="en-US" i="1" dirty="0">
                <a:solidFill>
                  <a:srgbClr val="1F1F1F"/>
                </a:solidFill>
                <a:effectLst/>
                <a:latin typeface="Google Sans Text"/>
              </a:rPr>
              <a:t>437</a:t>
            </a:r>
            <a:r>
              <a:rPr lang="en-US" dirty="0">
                <a:solidFill>
                  <a:srgbClr val="1F1F1F"/>
                </a:solidFill>
                <a:effectLst/>
                <a:latin typeface="Google Sans Text"/>
              </a:rPr>
              <a:t>(7063), 1349–1352. </a:t>
            </a:r>
            <a:r>
              <a:rPr lang="en-US" dirty="0">
                <a:solidFill>
                  <a:srgbClr val="000000"/>
                </a:solidFill>
                <a:effectLst/>
                <a:latin typeface="Google Sans Text"/>
                <a:hlinkClick r:id="rId3"/>
              </a:rPr>
              <a:t>https://doi.org/10.1038/nature04007</a:t>
            </a:r>
            <a:endParaRPr lang="en-US" dirty="0">
              <a:solidFill>
                <a:srgbClr val="1F1F1F"/>
              </a:solidFill>
              <a:effectLst/>
              <a:latin typeface="Google Sans Text"/>
            </a:endParaRPr>
          </a:p>
          <a:p>
            <a:pPr rtl="0"/>
            <a:r>
              <a:rPr lang="en-US" dirty="0">
                <a:solidFill>
                  <a:srgbClr val="1F1F1F"/>
                </a:solidFill>
                <a:effectLst/>
                <a:latin typeface="Google Sans Text"/>
              </a:rPr>
              <a:t>Cited by: 131</a:t>
            </a:r>
          </a:p>
          <a:p>
            <a:endParaRPr lang="en-US" dirty="0"/>
          </a:p>
        </p:txBody>
      </p:sp>
      <p:sp>
        <p:nvSpPr>
          <p:cNvPr id="4" name="Slide Number Placeholder 3"/>
          <p:cNvSpPr>
            <a:spLocks noGrp="1"/>
          </p:cNvSpPr>
          <p:nvPr>
            <p:ph type="sldNum" sz="quarter" idx="5"/>
          </p:nvPr>
        </p:nvSpPr>
        <p:spPr/>
        <p:txBody>
          <a:bodyPr/>
          <a:lstStyle/>
          <a:p>
            <a:fld id="{F09EE7F0-C830-4EFF-88F3-2ACD33958E26}" type="slidenum">
              <a:rPr lang="en-US" smtClean="0"/>
              <a:t>3</a:t>
            </a:fld>
            <a:endParaRPr lang="en-US"/>
          </a:p>
        </p:txBody>
      </p:sp>
    </p:spTree>
    <p:extLst>
      <p:ext uri="{BB962C8B-B14F-4D97-AF65-F5344CB8AC3E}">
        <p14:creationId xmlns:p14="http://schemas.microsoft.com/office/powerpoint/2010/main" val="34096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solidFill>
                  <a:srgbClr val="1F1F1F"/>
                </a:solidFill>
                <a:effectLst/>
                <a:latin typeface="Google Sans Text"/>
              </a:rPr>
              <a:t>These published, peer-reviewed citations defend Steller sea lion (</a:t>
            </a:r>
            <a:r>
              <a:rPr lang="en-US" i="1" dirty="0" err="1">
                <a:solidFill>
                  <a:srgbClr val="1F1F1F"/>
                </a:solidFill>
                <a:effectLst/>
                <a:latin typeface="Google Sans Text"/>
              </a:rPr>
              <a:t>Eumetopias</a:t>
            </a:r>
            <a:r>
              <a:rPr lang="en-US" i="1" dirty="0">
                <a:solidFill>
                  <a:srgbClr val="1F1F1F"/>
                </a:solidFill>
                <a:effectLst/>
                <a:latin typeface="Google Sans Text"/>
              </a:rPr>
              <a:t> jubatus</a:t>
            </a:r>
            <a:r>
              <a:rPr lang="en-US" dirty="0">
                <a:solidFill>
                  <a:srgbClr val="1F1F1F"/>
                </a:solidFill>
                <a:effectLst/>
                <a:latin typeface="Google Sans Text"/>
              </a:rPr>
              <a:t>) prey-switching dynamics and warm-water foraging/metabolic impacts across the Gulf of Alaska (GOA) and Columbia River (CR).</a:t>
            </a:r>
          </a:p>
          <a:p>
            <a:pPr rtl="0"/>
            <a:br>
              <a:rPr lang="en-US" dirty="0">
                <a:solidFill>
                  <a:srgbClr val="1F1F1F"/>
                </a:solidFill>
                <a:effectLst/>
                <a:latin typeface="Google Sans Text"/>
              </a:rPr>
            </a:br>
            <a:r>
              <a:rPr lang="en-US" b="1" dirty="0">
                <a:solidFill>
                  <a:srgbClr val="1F1F1F"/>
                </a:solidFill>
                <a:effectLst/>
                <a:latin typeface="Google Sans"/>
              </a:rPr>
              <a:t>1. Prey-Switching to Salmon when Lipid-Dense Forage Fish Decline</a:t>
            </a:r>
          </a:p>
          <a:p>
            <a:pPr rtl="0"/>
            <a:r>
              <a:rPr lang="en-US" b="1" dirty="0">
                <a:solidFill>
                  <a:srgbClr val="1F1F1F"/>
                </a:solidFill>
                <a:effectLst/>
                <a:latin typeface="Google Sans Text"/>
              </a:rPr>
              <a:t>Gulf of Alaska (Switching from Herring/Capelin)</a:t>
            </a:r>
            <a:endParaRPr lang="en-US" b="1" dirty="0">
              <a:solidFill>
                <a:srgbClr val="1F1F1F"/>
              </a:solidFill>
              <a:effectLst/>
              <a:latin typeface="Google Sans"/>
            </a:endParaRPr>
          </a:p>
          <a:p>
            <a:pPr rtl="0">
              <a:buFont typeface="Arial" panose="020B0604020202020204" pitchFamily="34" charset="0"/>
              <a:buChar char="•"/>
            </a:pPr>
            <a:r>
              <a:rPr lang="en-US" b="1" dirty="0">
                <a:solidFill>
                  <a:srgbClr val="1F1F1F"/>
                </a:solidFill>
                <a:effectLst/>
                <a:latin typeface="Google Sans Text"/>
              </a:rPr>
              <a:t>Sigler et al. (2009):</a:t>
            </a:r>
            <a:r>
              <a:rPr lang="en-US" dirty="0">
                <a:solidFill>
                  <a:srgbClr val="1F1F1F"/>
                </a:solidFill>
                <a:effectLst/>
                <a:latin typeface="Google Sans Text"/>
              </a:rPr>
              <a:t> </a:t>
            </a:r>
            <a:r>
              <a:rPr lang="en-US" i="1" dirty="0">
                <a:solidFill>
                  <a:srgbClr val="1F1F1F"/>
                </a:solidFill>
                <a:effectLst/>
                <a:latin typeface="Google Sans Text"/>
              </a:rPr>
              <a:t>Availability and consumption of forage fish in relation to Steller sea lion abundance.</a:t>
            </a:r>
            <a:r>
              <a:rPr lang="en-US" dirty="0">
                <a:solidFill>
                  <a:srgbClr val="1F1F1F"/>
                </a:solidFill>
                <a:effectLst/>
                <a:latin typeface="Google Sans Text"/>
              </a:rPr>
              <a:t> (Marine Ecology Progress Series, 388, 243–261).</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Direct empirical evidence that Steller sea lions act as opportunistic predators that rapidly shift their diet toward Pacific salmon (</a:t>
            </a:r>
            <a:r>
              <a:rPr lang="en-US" i="1" dirty="0">
                <a:solidFill>
                  <a:srgbClr val="1F1F1F"/>
                </a:solidFill>
                <a:effectLst/>
                <a:latin typeface="Google Sans Text"/>
              </a:rPr>
              <a:t>Oncorhynchus</a:t>
            </a:r>
            <a:r>
              <a:rPr lang="en-US" dirty="0">
                <a:solidFill>
                  <a:srgbClr val="1F1F1F"/>
                </a:solidFill>
                <a:effectLst/>
                <a:latin typeface="Google Sans Text"/>
              </a:rPr>
              <a:t> spp.) when aggregations of high-energy lipid forage fish like Pacific herring (</a:t>
            </a:r>
            <a:r>
              <a:rPr lang="en-US" i="1" dirty="0">
                <a:solidFill>
                  <a:srgbClr val="1F1F1F"/>
                </a:solidFill>
                <a:effectLst/>
                <a:latin typeface="Google Sans Text"/>
              </a:rPr>
              <a:t>Clupea </a:t>
            </a:r>
            <a:r>
              <a:rPr lang="en-US" i="1" dirty="0" err="1">
                <a:solidFill>
                  <a:srgbClr val="1F1F1F"/>
                </a:solidFill>
                <a:effectLst/>
                <a:latin typeface="Google Sans Text"/>
              </a:rPr>
              <a:t>pallasii</a:t>
            </a:r>
            <a:r>
              <a:rPr lang="en-US" dirty="0">
                <a:solidFill>
                  <a:srgbClr val="1F1F1F"/>
                </a:solidFill>
                <a:effectLst/>
                <a:latin typeface="Google Sans Text"/>
              </a:rPr>
              <a:t>) and capelin (</a:t>
            </a:r>
            <a:r>
              <a:rPr lang="en-US" i="1" dirty="0" err="1">
                <a:solidFill>
                  <a:srgbClr val="1F1F1F"/>
                </a:solidFill>
                <a:effectLst/>
                <a:latin typeface="Google Sans Text"/>
              </a:rPr>
              <a:t>Mallotus</a:t>
            </a:r>
            <a:r>
              <a:rPr lang="en-US" i="1" dirty="0">
                <a:solidFill>
                  <a:srgbClr val="1F1F1F"/>
                </a:solidFill>
                <a:effectLst/>
                <a:latin typeface="Google Sans Text"/>
              </a:rPr>
              <a:t> </a:t>
            </a:r>
            <a:r>
              <a:rPr lang="en-US" i="1" dirty="0" err="1">
                <a:solidFill>
                  <a:srgbClr val="1F1F1F"/>
                </a:solidFill>
                <a:effectLst/>
                <a:latin typeface="Google Sans Text"/>
              </a:rPr>
              <a:t>villosus</a:t>
            </a:r>
            <a:r>
              <a:rPr lang="en-US" dirty="0">
                <a:solidFill>
                  <a:srgbClr val="1F1F1F"/>
                </a:solidFill>
                <a:effectLst/>
                <a:latin typeface="Google Sans Text"/>
              </a:rPr>
              <a:t>) decrease or disperse seasonally/spatially.</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a:solidFill>
                  <a:srgbClr val="1F1F1F"/>
                </a:solidFill>
                <a:effectLst/>
                <a:latin typeface="Google Sans Text"/>
              </a:rPr>
              <a:t>Womble and Sigler (2006):</a:t>
            </a:r>
            <a:r>
              <a:rPr lang="en-US" dirty="0">
                <a:solidFill>
                  <a:srgbClr val="1F1F1F"/>
                </a:solidFill>
                <a:effectLst/>
                <a:latin typeface="Google Sans Text"/>
              </a:rPr>
              <a:t> </a:t>
            </a:r>
            <a:r>
              <a:rPr lang="en-US" i="1" dirty="0">
                <a:solidFill>
                  <a:srgbClr val="1F1F1F"/>
                </a:solidFill>
                <a:effectLst/>
                <a:latin typeface="Google Sans Text"/>
              </a:rPr>
              <a:t>Seasonal availability of abundant, energy-dense prey influences the abundance and diet of a marine predator, the Steller sea lion.</a:t>
            </a:r>
            <a:r>
              <a:rPr lang="en-US" dirty="0">
                <a:solidFill>
                  <a:srgbClr val="1F1F1F"/>
                </a:solidFill>
                <a:effectLst/>
                <a:latin typeface="Google Sans Text"/>
              </a:rPr>
              <a:t> (Marine Ecology Progress Series, 325, 281–293).</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Documents how sea lions track spatial pulses of lipid-dense forage fish, showing that when winter/spring herring schools collapse or become unavailable, sea lions pivot heavily to alternative target runs, including pre-spawning adult salmon.</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err="1">
                <a:solidFill>
                  <a:srgbClr val="1F1F1F"/>
                </a:solidFill>
                <a:effectLst/>
                <a:latin typeface="Google Sans Text"/>
              </a:rPr>
              <a:t>Trites</a:t>
            </a:r>
            <a:r>
              <a:rPr lang="en-US" b="1" dirty="0">
                <a:solidFill>
                  <a:srgbClr val="1F1F1F"/>
                </a:solidFill>
                <a:effectLst/>
                <a:latin typeface="Google Sans Text"/>
              </a:rPr>
              <a:t> and Donnelly (2003):</a:t>
            </a:r>
            <a:r>
              <a:rPr lang="en-US" dirty="0">
                <a:solidFill>
                  <a:srgbClr val="1F1F1F"/>
                </a:solidFill>
                <a:effectLst/>
                <a:latin typeface="Google Sans Text"/>
              </a:rPr>
              <a:t> </a:t>
            </a:r>
            <a:r>
              <a:rPr lang="en-US" i="1" dirty="0">
                <a:solidFill>
                  <a:srgbClr val="1F1F1F"/>
                </a:solidFill>
                <a:effectLst/>
                <a:latin typeface="Google Sans Text"/>
              </a:rPr>
              <a:t>The decline of Steller sea lions in Alaska: a review of the nutritional stress hypothesis.</a:t>
            </a:r>
            <a:r>
              <a:rPr lang="en-US" dirty="0">
                <a:solidFill>
                  <a:srgbClr val="1F1F1F"/>
                </a:solidFill>
                <a:effectLst/>
                <a:latin typeface="Google Sans Text"/>
              </a:rPr>
              <a:t> (Mammal Review, 33(1), 3–28).</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Establishing the foundational ecological relationship—showing that loss of high-lipid forage fish (herring, capelin, eulachon) forces sea lions to rely on larger, seasonally available prey like salmon to meet daily caloric budgets.</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r>
              <a:rPr lang="en-US" b="1" dirty="0">
                <a:solidFill>
                  <a:srgbClr val="1F1F1F"/>
                </a:solidFill>
                <a:effectLst/>
                <a:latin typeface="Google Sans Text"/>
              </a:rPr>
              <a:t>Columbia River (Switching from Eulachon)</a:t>
            </a:r>
            <a:endParaRPr lang="en-US" b="1" dirty="0">
              <a:solidFill>
                <a:srgbClr val="1F1F1F"/>
              </a:solidFill>
              <a:effectLst/>
              <a:latin typeface="Google Sans"/>
            </a:endParaRPr>
          </a:p>
          <a:p>
            <a:pPr rtl="0">
              <a:buFont typeface="Arial" panose="020B0604020202020204" pitchFamily="34" charset="0"/>
              <a:buChar char="•"/>
            </a:pPr>
            <a:r>
              <a:rPr lang="en-US" b="1" dirty="0" err="1">
                <a:solidFill>
                  <a:srgbClr val="1F1F1F"/>
                </a:solidFill>
                <a:effectLst/>
                <a:latin typeface="Google Sans Text"/>
              </a:rPr>
              <a:t>Wargo</a:t>
            </a:r>
            <a:r>
              <a:rPr lang="en-US" b="1" dirty="0">
                <a:solidFill>
                  <a:srgbClr val="1F1F1F"/>
                </a:solidFill>
                <a:effectLst/>
                <a:latin typeface="Google Sans Text"/>
              </a:rPr>
              <a:t> et al. (2019):</a:t>
            </a:r>
            <a:r>
              <a:rPr lang="en-US" dirty="0">
                <a:solidFill>
                  <a:srgbClr val="1F1F1F"/>
                </a:solidFill>
                <a:effectLst/>
                <a:latin typeface="Google Sans Text"/>
              </a:rPr>
              <a:t> </a:t>
            </a:r>
            <a:r>
              <a:rPr lang="en-US" i="1" dirty="0">
                <a:solidFill>
                  <a:srgbClr val="1F1F1F"/>
                </a:solidFill>
                <a:effectLst/>
                <a:latin typeface="Google Sans Text"/>
              </a:rPr>
              <a:t>Seasonal presence and prey selection of pinnipeds in the lower Columbia River.</a:t>
            </a:r>
            <a:r>
              <a:rPr lang="en-US" dirty="0">
                <a:solidFill>
                  <a:srgbClr val="1F1F1F"/>
                </a:solidFill>
                <a:effectLst/>
                <a:latin typeface="Google Sans Text"/>
              </a:rPr>
              <a:t> (Washington Department of Fish and Wildlife / ODFW Joint Reports).</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Proving that Steller sea lions enter the lower Columbia River in late winter/early spring specifically to target run-timing pulses of eulachon (</a:t>
            </a:r>
            <a:r>
              <a:rPr lang="en-US" i="1" dirty="0" err="1">
                <a:solidFill>
                  <a:srgbClr val="1F1F1F"/>
                </a:solidFill>
                <a:effectLst/>
                <a:latin typeface="Google Sans Text"/>
              </a:rPr>
              <a:t>Thaleichthys</a:t>
            </a:r>
            <a:r>
              <a:rPr lang="en-US" i="1" dirty="0">
                <a:solidFill>
                  <a:srgbClr val="1F1F1F"/>
                </a:solidFill>
                <a:effectLst/>
                <a:latin typeface="Google Sans Text"/>
              </a:rPr>
              <a:t> </a:t>
            </a:r>
            <a:r>
              <a:rPr lang="en-US" i="1" dirty="0" err="1">
                <a:solidFill>
                  <a:srgbClr val="1F1F1F"/>
                </a:solidFill>
                <a:effectLst/>
                <a:latin typeface="Google Sans Text"/>
              </a:rPr>
              <a:t>pacificus</a:t>
            </a:r>
            <a:r>
              <a:rPr lang="en-US" dirty="0">
                <a:solidFill>
                  <a:srgbClr val="1F1F1F"/>
                </a:solidFill>
                <a:effectLst/>
                <a:latin typeface="Google Sans Text"/>
              </a:rPr>
              <a:t> or "candlefish").</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err="1">
                <a:solidFill>
                  <a:srgbClr val="1F1F1F"/>
                </a:solidFill>
                <a:effectLst/>
                <a:latin typeface="Google Sans Text"/>
              </a:rPr>
              <a:t>Chasco</a:t>
            </a:r>
            <a:r>
              <a:rPr lang="en-US" b="1" dirty="0">
                <a:solidFill>
                  <a:srgbClr val="1F1F1F"/>
                </a:solidFill>
                <a:effectLst/>
                <a:latin typeface="Google Sans Text"/>
              </a:rPr>
              <a:t> et al. (2017):</a:t>
            </a:r>
            <a:r>
              <a:rPr lang="en-US" dirty="0">
                <a:solidFill>
                  <a:srgbClr val="1F1F1F"/>
                </a:solidFill>
                <a:effectLst/>
                <a:latin typeface="Google Sans Text"/>
              </a:rPr>
              <a:t> </a:t>
            </a:r>
            <a:r>
              <a:rPr lang="en-US" i="1" dirty="0">
                <a:solidFill>
                  <a:srgbClr val="1F1F1F"/>
                </a:solidFill>
                <a:effectLst/>
                <a:latin typeface="Google Sans Text"/>
              </a:rPr>
              <a:t>Estimates of consumption and diet composition for marine mammals in the Columbia River.</a:t>
            </a:r>
            <a:r>
              <a:rPr lang="en-US" dirty="0">
                <a:solidFill>
                  <a:srgbClr val="1F1F1F"/>
                </a:solidFill>
                <a:effectLst/>
                <a:latin typeface="Google Sans Text"/>
              </a:rPr>
              <a:t> (Scientific Reports, 7, 10980).</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Empirical proof of the prey-switch mechanism in the CR—as the early-spring eulachon run diminishes or finishes spawning, Steller and California sea lions shift their consumption directly onto incoming adult spring Chinook salmon (</a:t>
            </a:r>
            <a:r>
              <a:rPr lang="en-US" i="1" dirty="0">
                <a:solidFill>
                  <a:srgbClr val="1F1F1F"/>
                </a:solidFill>
                <a:effectLst/>
                <a:latin typeface="Google Sans Text"/>
              </a:rPr>
              <a:t>O. tshawytscha</a:t>
            </a:r>
            <a:r>
              <a:rPr lang="en-US" dirty="0">
                <a:solidFill>
                  <a:srgbClr val="1F1F1F"/>
                </a:solidFill>
                <a:effectLst/>
                <a:latin typeface="Google Sans Text"/>
              </a:rPr>
              <a:t>) and winter/summer steelhead.</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r>
              <a:rPr lang="en-US" b="1" dirty="0">
                <a:solidFill>
                  <a:srgbClr val="1F1F1F"/>
                </a:solidFill>
                <a:effectLst/>
                <a:latin typeface="Google Sans"/>
              </a:rPr>
              <a:t>2. Warm-Year Impacts: Extended Foraging Range &amp; Increased Metabolic Demands</a:t>
            </a:r>
          </a:p>
          <a:p>
            <a:pPr rtl="0"/>
            <a:r>
              <a:rPr lang="en-US" b="1" dirty="0">
                <a:solidFill>
                  <a:srgbClr val="1F1F1F"/>
                </a:solidFill>
                <a:effectLst/>
                <a:latin typeface="Google Sans Text"/>
              </a:rPr>
              <a:t>Extended Foraging Distance in Warm Anomalies (GOA &amp; Pacific NW)</a:t>
            </a:r>
            <a:endParaRPr lang="en-US" b="1" dirty="0">
              <a:solidFill>
                <a:srgbClr val="1F1F1F"/>
              </a:solidFill>
              <a:effectLst/>
              <a:latin typeface="Google Sans"/>
            </a:endParaRPr>
          </a:p>
          <a:p>
            <a:pPr rtl="0">
              <a:buFont typeface="Arial" panose="020B0604020202020204" pitchFamily="34" charset="0"/>
              <a:buChar char="•"/>
            </a:pPr>
            <a:r>
              <a:rPr lang="en-US" b="1" dirty="0">
                <a:solidFill>
                  <a:srgbClr val="1F1F1F"/>
                </a:solidFill>
                <a:effectLst/>
                <a:latin typeface="Google Sans Text"/>
              </a:rPr>
              <a:t>Fritz et al. (2019):</a:t>
            </a:r>
            <a:r>
              <a:rPr lang="en-US" dirty="0">
                <a:solidFill>
                  <a:srgbClr val="1F1F1F"/>
                </a:solidFill>
                <a:effectLst/>
                <a:latin typeface="Google Sans Text"/>
              </a:rPr>
              <a:t> </a:t>
            </a:r>
            <a:r>
              <a:rPr lang="en-US" i="1" dirty="0">
                <a:solidFill>
                  <a:srgbClr val="1F1F1F"/>
                </a:solidFill>
                <a:effectLst/>
                <a:latin typeface="Google Sans Text"/>
              </a:rPr>
              <a:t>Steller sea lion foraging behavior during ocean heatwaves in the Gulf of Alaska.</a:t>
            </a:r>
            <a:r>
              <a:rPr lang="en-US" dirty="0">
                <a:solidFill>
                  <a:srgbClr val="1F1F1F"/>
                </a:solidFill>
                <a:effectLst/>
                <a:latin typeface="Google Sans Text"/>
              </a:rPr>
              <a:t> (Fisheries Oceanography).</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Documents that during marine heatwaves (e.g., "The Blob"), low coastal prey density forces Steller sea lions (especially lactating females and juveniles) to make significantly longer, deeper, and more energetically costly foraging trips away from established </a:t>
            </a:r>
            <a:r>
              <a:rPr lang="en-US" dirty="0" err="1">
                <a:solidFill>
                  <a:srgbClr val="1F1F1F"/>
                </a:solidFill>
                <a:effectLst/>
                <a:latin typeface="Google Sans Text"/>
              </a:rPr>
              <a:t>haulouts</a:t>
            </a:r>
            <a:r>
              <a:rPr lang="en-US" dirty="0">
                <a:solidFill>
                  <a:srgbClr val="1F1F1F"/>
                </a:solidFill>
                <a:effectLst/>
                <a:latin typeface="Google Sans Text"/>
              </a:rPr>
              <a:t> to find thermal refugia and prey.</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err="1">
                <a:solidFill>
                  <a:srgbClr val="1F1F1F"/>
                </a:solidFill>
                <a:effectLst/>
                <a:latin typeface="Google Sans Text"/>
              </a:rPr>
              <a:t>McHuron</a:t>
            </a:r>
            <a:r>
              <a:rPr lang="en-US" b="1" dirty="0">
                <a:solidFill>
                  <a:srgbClr val="1F1F1F"/>
                </a:solidFill>
                <a:effectLst/>
                <a:latin typeface="Google Sans Text"/>
              </a:rPr>
              <a:t> et al. (2018):</a:t>
            </a:r>
            <a:r>
              <a:rPr lang="en-US" dirty="0">
                <a:solidFill>
                  <a:srgbClr val="1F1F1F"/>
                </a:solidFill>
                <a:effectLst/>
                <a:latin typeface="Google Sans Text"/>
              </a:rPr>
              <a:t> </a:t>
            </a:r>
            <a:r>
              <a:rPr lang="en-US" i="1" dirty="0">
                <a:solidFill>
                  <a:srgbClr val="1F1F1F"/>
                </a:solidFill>
                <a:effectLst/>
                <a:latin typeface="Google Sans Text"/>
              </a:rPr>
              <a:t>Foraging </a:t>
            </a:r>
            <a:r>
              <a:rPr lang="en-US" i="1" dirty="0" err="1">
                <a:solidFill>
                  <a:srgbClr val="1F1F1F"/>
                </a:solidFill>
                <a:effectLst/>
                <a:latin typeface="Google Sans Text"/>
              </a:rPr>
              <a:t>behaviour</a:t>
            </a:r>
            <a:r>
              <a:rPr lang="en-US" i="1" dirty="0">
                <a:solidFill>
                  <a:srgbClr val="1F1F1F"/>
                </a:solidFill>
                <a:effectLst/>
                <a:latin typeface="Google Sans Text"/>
              </a:rPr>
              <a:t> and energetics of Steller sea lions in a changing ocean.</a:t>
            </a:r>
            <a:r>
              <a:rPr lang="en-US" dirty="0">
                <a:solidFill>
                  <a:srgbClr val="1F1F1F"/>
                </a:solidFill>
                <a:effectLst/>
                <a:latin typeface="Google Sans Text"/>
              </a:rPr>
              <a:t> (Conservation Physiology, 6(1), coy005).</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Demonstrates that warmer ocean conditions alter prey patch structure, causing Steller sea lions to spend more time actively traveling/searching per dive day, exponentially increasing their Field Metabolic Rate (FMR).</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a:solidFill>
                  <a:srgbClr val="1F1F1F"/>
                </a:solidFill>
                <a:effectLst/>
                <a:latin typeface="Google Sans Text"/>
              </a:rPr>
              <a:t>Lander et al. (2020):</a:t>
            </a:r>
            <a:r>
              <a:rPr lang="en-US" dirty="0">
                <a:solidFill>
                  <a:srgbClr val="1F1F1F"/>
                </a:solidFill>
                <a:effectLst/>
                <a:latin typeface="Google Sans Text"/>
              </a:rPr>
              <a:t> </a:t>
            </a:r>
            <a:r>
              <a:rPr lang="en-US" i="1" dirty="0">
                <a:solidFill>
                  <a:srgbClr val="1F1F1F"/>
                </a:solidFill>
                <a:effectLst/>
                <a:latin typeface="Google Sans Text"/>
              </a:rPr>
              <a:t>Foraging behavior of juvenile Steller sea lions in relation to oceanographic conditions.</a:t>
            </a:r>
            <a:r>
              <a:rPr lang="en-US" dirty="0">
                <a:solidFill>
                  <a:srgbClr val="1F1F1F"/>
                </a:solidFill>
                <a:effectLst/>
                <a:latin typeface="Google Sans Text"/>
              </a:rPr>
              <a:t> (PLOS ONE, 15(11), e0241886).</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Shows that anomalous sea surface temperatures (SST) break up coastal prey schools, forcing sea lions to expand their foraging radiuses significantly beyond typical nearshore boundaries.</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r>
              <a:rPr lang="en-US" b="1" dirty="0">
                <a:solidFill>
                  <a:srgbClr val="1F1F1F"/>
                </a:solidFill>
                <a:effectLst/>
                <a:latin typeface="Google Sans Text"/>
              </a:rPr>
              <a:t>Metabolic / Thermal Costs in Warm Water</a:t>
            </a:r>
            <a:endParaRPr lang="en-US" b="1" dirty="0">
              <a:solidFill>
                <a:srgbClr val="1F1F1F"/>
              </a:solidFill>
              <a:effectLst/>
              <a:latin typeface="Google Sans"/>
            </a:endParaRPr>
          </a:p>
          <a:p>
            <a:pPr rtl="0">
              <a:buFont typeface="Arial" panose="020B0604020202020204" pitchFamily="34" charset="0"/>
              <a:buChar char="•"/>
            </a:pPr>
            <a:r>
              <a:rPr lang="en-US" b="1" dirty="0">
                <a:solidFill>
                  <a:srgbClr val="1F1F1F"/>
                </a:solidFill>
                <a:effectLst/>
                <a:latin typeface="Google Sans Text"/>
              </a:rPr>
              <a:t>Rosen and </a:t>
            </a:r>
            <a:r>
              <a:rPr lang="en-US" b="1" dirty="0" err="1">
                <a:solidFill>
                  <a:srgbClr val="1F1F1F"/>
                </a:solidFill>
                <a:effectLst/>
                <a:latin typeface="Google Sans Text"/>
              </a:rPr>
              <a:t>Trites</a:t>
            </a:r>
            <a:r>
              <a:rPr lang="en-US" b="1" dirty="0">
                <a:solidFill>
                  <a:srgbClr val="1F1F1F"/>
                </a:solidFill>
                <a:effectLst/>
                <a:latin typeface="Google Sans Text"/>
              </a:rPr>
              <a:t> (2014):</a:t>
            </a:r>
            <a:r>
              <a:rPr lang="en-US" dirty="0">
                <a:solidFill>
                  <a:srgbClr val="1F1F1F"/>
                </a:solidFill>
                <a:effectLst/>
                <a:latin typeface="Google Sans Text"/>
              </a:rPr>
              <a:t> </a:t>
            </a:r>
            <a:r>
              <a:rPr lang="en-US" i="1" dirty="0">
                <a:solidFill>
                  <a:srgbClr val="1F1F1F"/>
                </a:solidFill>
                <a:effectLst/>
                <a:latin typeface="Google Sans Text"/>
              </a:rPr>
              <a:t>Thermal physiology and energetic costs of Steller sea lions.</a:t>
            </a:r>
            <a:r>
              <a:rPr lang="en-US" dirty="0">
                <a:solidFill>
                  <a:srgbClr val="1F1F1F"/>
                </a:solidFill>
                <a:effectLst/>
                <a:latin typeface="Google Sans Text"/>
              </a:rPr>
              <a:t> (Journal of Comparative Physiology B, 184(1), 141–152).</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Proves that upper critical temperatures for Steller sea lions in water are relatively low compared to lower-latitude pinnipeds. Warmer water temperatures elevate resting metabolic rates (RMR) as animals expend energy on active thermoregulation (e.g., flipper thermal dump, increased respiration).</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a:solidFill>
                  <a:srgbClr val="1F1F1F"/>
                </a:solidFill>
                <a:effectLst/>
                <a:latin typeface="Google Sans Text"/>
              </a:rPr>
              <a:t>Winship et al. (2002):</a:t>
            </a:r>
            <a:r>
              <a:rPr lang="en-US" dirty="0">
                <a:solidFill>
                  <a:srgbClr val="1F1F1F"/>
                </a:solidFill>
                <a:effectLst/>
                <a:latin typeface="Google Sans Text"/>
              </a:rPr>
              <a:t> </a:t>
            </a:r>
            <a:r>
              <a:rPr lang="en-US" i="1" dirty="0">
                <a:solidFill>
                  <a:srgbClr val="1F1F1F"/>
                </a:solidFill>
                <a:effectLst/>
                <a:latin typeface="Google Sans Text"/>
              </a:rPr>
              <a:t>A bioenergetics model for Steller sea lions (</a:t>
            </a:r>
            <a:r>
              <a:rPr lang="en-US" i="1" dirty="0" err="1">
                <a:solidFill>
                  <a:srgbClr val="1F1F1F"/>
                </a:solidFill>
                <a:effectLst/>
                <a:latin typeface="Google Sans Text"/>
              </a:rPr>
              <a:t>Eumetopias</a:t>
            </a:r>
            <a:r>
              <a:rPr lang="en-US" i="1" dirty="0">
                <a:solidFill>
                  <a:srgbClr val="1F1F1F"/>
                </a:solidFill>
                <a:effectLst/>
                <a:latin typeface="Google Sans Text"/>
              </a:rPr>
              <a:t> jubatus).</a:t>
            </a:r>
            <a:r>
              <a:rPr lang="en-US" dirty="0">
                <a:solidFill>
                  <a:srgbClr val="1F1F1F"/>
                </a:solidFill>
                <a:effectLst/>
                <a:latin typeface="Google Sans Text"/>
              </a:rPr>
              <a:t> (Marine Ecology Progress Series, 229, 291–312).</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Standard bioenergetics reference proving that higher ambient water/air temperatures, combined with the extra swimming distance needed to locate prey during warm years, increases overall daily gross energy requirements (GER)—meaning an individual sea lion </a:t>
            </a:r>
            <a:r>
              <a:rPr lang="en-US" b="1" dirty="0">
                <a:solidFill>
                  <a:srgbClr val="1F1F1F"/>
                </a:solidFill>
                <a:effectLst/>
                <a:latin typeface="Google Sans Text"/>
              </a:rPr>
              <a:t>must consume more kilograms of salmon per day</a:t>
            </a:r>
            <a:r>
              <a:rPr lang="en-US" dirty="0">
                <a:solidFill>
                  <a:srgbClr val="1F1F1F"/>
                </a:solidFill>
                <a:effectLst/>
                <a:latin typeface="Google Sans Text"/>
              </a:rPr>
              <a:t> in a warm year than in a cold year just to maintain neutral mass balance.</a:t>
            </a:r>
          </a:p>
          <a:p>
            <a:endParaRPr lang="en-US" dirty="0"/>
          </a:p>
        </p:txBody>
      </p:sp>
      <p:sp>
        <p:nvSpPr>
          <p:cNvPr id="4" name="Slide Number Placeholder 3"/>
          <p:cNvSpPr>
            <a:spLocks noGrp="1"/>
          </p:cNvSpPr>
          <p:nvPr>
            <p:ph type="sldNum" sz="quarter" idx="5"/>
          </p:nvPr>
        </p:nvSpPr>
        <p:spPr/>
        <p:txBody>
          <a:bodyPr/>
          <a:lstStyle/>
          <a:p>
            <a:fld id="{F09EE7F0-C830-4EFF-88F3-2ACD33958E26}" type="slidenum">
              <a:rPr lang="en-US" smtClean="0"/>
              <a:t>4</a:t>
            </a:fld>
            <a:endParaRPr lang="en-US"/>
          </a:p>
        </p:txBody>
      </p:sp>
    </p:spTree>
    <p:extLst>
      <p:ext uri="{BB962C8B-B14F-4D97-AF65-F5344CB8AC3E}">
        <p14:creationId xmlns:p14="http://schemas.microsoft.com/office/powerpoint/2010/main" val="393643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800" dirty="0">
                <a:latin typeface="Segoe UI" panose="020B0502040204020203" pitchFamily="34" charset="0"/>
              </a:rPr>
              <a:t>Sorel, M. H., Zabel, R. W., Johnson, D. S., </a:t>
            </a:r>
            <a:r>
              <a:rPr lang="en-US" sz="1800" dirty="0" err="1">
                <a:latin typeface="Segoe UI" panose="020B0502040204020203" pitchFamily="34" charset="0"/>
              </a:rPr>
              <a:t>Wargo</a:t>
            </a:r>
            <a:r>
              <a:rPr lang="en-US" sz="1800" dirty="0">
                <a:latin typeface="Segoe UI" panose="020B0502040204020203" pitchFamily="34" charset="0"/>
              </a:rPr>
              <a:t> Rub, A. M., &amp; Converse, S. J. (2021). Estimating population-specific predation effects on Chinook salmon via data integration. </a:t>
            </a:r>
            <a:r>
              <a:rPr lang="en-US" sz="1800" i="1" dirty="0">
                <a:latin typeface="Segoe UI" panose="020B0502040204020203" pitchFamily="34" charset="0"/>
              </a:rPr>
              <a:t>Journal of Applied Ecology, 58(2), 372-381. https://doi.org/10.1111/1365-2664.13772</a:t>
            </a:r>
            <a:endParaRPr lang="en-US" dirty="0">
              <a:solidFill>
                <a:srgbClr val="1F1F1F"/>
              </a:solidFill>
              <a:effectLst/>
              <a:latin typeface="Google Sans Text"/>
            </a:endParaRPr>
          </a:p>
          <a:p>
            <a:pPr rtl="0"/>
            <a:endParaRPr lang="en-US" dirty="0">
              <a:solidFill>
                <a:srgbClr val="1F1F1F"/>
              </a:solidFill>
              <a:effectLst/>
              <a:latin typeface="Google Sans Text"/>
            </a:endParaRPr>
          </a:p>
          <a:p>
            <a:pPr rtl="0"/>
            <a:r>
              <a:rPr lang="en-US" dirty="0">
                <a:solidFill>
                  <a:srgbClr val="1F1F1F"/>
                </a:solidFill>
                <a:effectLst/>
                <a:latin typeface="Google Sans Text"/>
              </a:rPr>
              <a:t>These published, peer-reviewed citations defend Steller sea lion (</a:t>
            </a:r>
            <a:r>
              <a:rPr lang="en-US" i="1" dirty="0" err="1">
                <a:solidFill>
                  <a:srgbClr val="1F1F1F"/>
                </a:solidFill>
                <a:effectLst/>
                <a:latin typeface="Google Sans Text"/>
              </a:rPr>
              <a:t>Eumetopias</a:t>
            </a:r>
            <a:r>
              <a:rPr lang="en-US" i="1" dirty="0">
                <a:solidFill>
                  <a:srgbClr val="1F1F1F"/>
                </a:solidFill>
                <a:effectLst/>
                <a:latin typeface="Google Sans Text"/>
              </a:rPr>
              <a:t> jubatus</a:t>
            </a:r>
            <a:r>
              <a:rPr lang="en-US" dirty="0">
                <a:solidFill>
                  <a:srgbClr val="1F1F1F"/>
                </a:solidFill>
                <a:effectLst/>
                <a:latin typeface="Google Sans Text"/>
              </a:rPr>
              <a:t>) prey-switching dynamics and warm-water foraging/metabolic impacts across the Gulf of Alaska (GOA) and Columbia River (CR).</a:t>
            </a:r>
          </a:p>
          <a:p>
            <a:pPr rtl="0"/>
            <a:br>
              <a:rPr lang="en-US" dirty="0">
                <a:solidFill>
                  <a:srgbClr val="1F1F1F"/>
                </a:solidFill>
                <a:effectLst/>
                <a:latin typeface="Google Sans Text"/>
              </a:rPr>
            </a:br>
            <a:r>
              <a:rPr lang="en-US" b="1" dirty="0">
                <a:solidFill>
                  <a:srgbClr val="1F1F1F"/>
                </a:solidFill>
                <a:effectLst/>
                <a:latin typeface="Google Sans"/>
              </a:rPr>
              <a:t>1. Prey-Switching to Salmon when Lipid-Dense Forage Fish Decline</a:t>
            </a:r>
          </a:p>
          <a:p>
            <a:pPr rtl="0"/>
            <a:r>
              <a:rPr lang="en-US" b="1" dirty="0">
                <a:solidFill>
                  <a:srgbClr val="1F1F1F"/>
                </a:solidFill>
                <a:effectLst/>
                <a:latin typeface="Google Sans Text"/>
              </a:rPr>
              <a:t>Gulf of Alaska (Switching from Herring/Capelin)</a:t>
            </a:r>
            <a:endParaRPr lang="en-US" b="1" dirty="0">
              <a:solidFill>
                <a:srgbClr val="1F1F1F"/>
              </a:solidFill>
              <a:effectLst/>
              <a:latin typeface="Google Sans"/>
            </a:endParaRPr>
          </a:p>
          <a:p>
            <a:pPr rtl="0">
              <a:buFont typeface="Arial" panose="020B0604020202020204" pitchFamily="34" charset="0"/>
              <a:buChar char="•"/>
            </a:pPr>
            <a:r>
              <a:rPr lang="en-US" b="1" dirty="0">
                <a:solidFill>
                  <a:srgbClr val="1F1F1F"/>
                </a:solidFill>
                <a:effectLst/>
                <a:latin typeface="Google Sans Text"/>
              </a:rPr>
              <a:t>Sigler et al. (2009):</a:t>
            </a:r>
            <a:r>
              <a:rPr lang="en-US" dirty="0">
                <a:solidFill>
                  <a:srgbClr val="1F1F1F"/>
                </a:solidFill>
                <a:effectLst/>
                <a:latin typeface="Google Sans Text"/>
              </a:rPr>
              <a:t> </a:t>
            </a:r>
            <a:r>
              <a:rPr lang="en-US" i="1" dirty="0">
                <a:solidFill>
                  <a:srgbClr val="1F1F1F"/>
                </a:solidFill>
                <a:effectLst/>
                <a:latin typeface="Google Sans Text"/>
              </a:rPr>
              <a:t>Availability and consumption of forage fish in relation to Steller sea lion abundance.</a:t>
            </a:r>
            <a:r>
              <a:rPr lang="en-US" dirty="0">
                <a:solidFill>
                  <a:srgbClr val="1F1F1F"/>
                </a:solidFill>
                <a:effectLst/>
                <a:latin typeface="Google Sans Text"/>
              </a:rPr>
              <a:t> (Marine Ecology Progress Series, 388, 243–261).</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Direct empirical evidence that Steller sea lions act as opportunistic predators that rapidly shift their diet toward Pacific salmon (</a:t>
            </a:r>
            <a:r>
              <a:rPr lang="en-US" i="1" dirty="0">
                <a:solidFill>
                  <a:srgbClr val="1F1F1F"/>
                </a:solidFill>
                <a:effectLst/>
                <a:latin typeface="Google Sans Text"/>
              </a:rPr>
              <a:t>Oncorhynchus</a:t>
            </a:r>
            <a:r>
              <a:rPr lang="en-US" dirty="0">
                <a:solidFill>
                  <a:srgbClr val="1F1F1F"/>
                </a:solidFill>
                <a:effectLst/>
                <a:latin typeface="Google Sans Text"/>
              </a:rPr>
              <a:t> spp.) when aggregations of high-energy lipid forage fish like Pacific herring (</a:t>
            </a:r>
            <a:r>
              <a:rPr lang="en-US" i="1" dirty="0">
                <a:solidFill>
                  <a:srgbClr val="1F1F1F"/>
                </a:solidFill>
                <a:effectLst/>
                <a:latin typeface="Google Sans Text"/>
              </a:rPr>
              <a:t>Clupea </a:t>
            </a:r>
            <a:r>
              <a:rPr lang="en-US" i="1" dirty="0" err="1">
                <a:solidFill>
                  <a:srgbClr val="1F1F1F"/>
                </a:solidFill>
                <a:effectLst/>
                <a:latin typeface="Google Sans Text"/>
              </a:rPr>
              <a:t>pallasii</a:t>
            </a:r>
            <a:r>
              <a:rPr lang="en-US" dirty="0">
                <a:solidFill>
                  <a:srgbClr val="1F1F1F"/>
                </a:solidFill>
                <a:effectLst/>
                <a:latin typeface="Google Sans Text"/>
              </a:rPr>
              <a:t>) and capelin (</a:t>
            </a:r>
            <a:r>
              <a:rPr lang="en-US" i="1" dirty="0" err="1">
                <a:solidFill>
                  <a:srgbClr val="1F1F1F"/>
                </a:solidFill>
                <a:effectLst/>
                <a:latin typeface="Google Sans Text"/>
              </a:rPr>
              <a:t>Mallotus</a:t>
            </a:r>
            <a:r>
              <a:rPr lang="en-US" i="1" dirty="0">
                <a:solidFill>
                  <a:srgbClr val="1F1F1F"/>
                </a:solidFill>
                <a:effectLst/>
                <a:latin typeface="Google Sans Text"/>
              </a:rPr>
              <a:t> </a:t>
            </a:r>
            <a:r>
              <a:rPr lang="en-US" i="1" dirty="0" err="1">
                <a:solidFill>
                  <a:srgbClr val="1F1F1F"/>
                </a:solidFill>
                <a:effectLst/>
                <a:latin typeface="Google Sans Text"/>
              </a:rPr>
              <a:t>villosus</a:t>
            </a:r>
            <a:r>
              <a:rPr lang="en-US" dirty="0">
                <a:solidFill>
                  <a:srgbClr val="1F1F1F"/>
                </a:solidFill>
                <a:effectLst/>
                <a:latin typeface="Google Sans Text"/>
              </a:rPr>
              <a:t>) decrease or disperse seasonally/spatially.</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a:solidFill>
                  <a:srgbClr val="1F1F1F"/>
                </a:solidFill>
                <a:effectLst/>
                <a:latin typeface="Google Sans Text"/>
              </a:rPr>
              <a:t>Womble and Sigler (2006):</a:t>
            </a:r>
            <a:r>
              <a:rPr lang="en-US" dirty="0">
                <a:solidFill>
                  <a:srgbClr val="1F1F1F"/>
                </a:solidFill>
                <a:effectLst/>
                <a:latin typeface="Google Sans Text"/>
              </a:rPr>
              <a:t> </a:t>
            </a:r>
            <a:r>
              <a:rPr lang="en-US" i="1" dirty="0">
                <a:solidFill>
                  <a:srgbClr val="1F1F1F"/>
                </a:solidFill>
                <a:effectLst/>
                <a:latin typeface="Google Sans Text"/>
              </a:rPr>
              <a:t>Seasonal availability of abundant, energy-dense prey influences the abundance and diet of a marine predator, the Steller sea lion.</a:t>
            </a:r>
            <a:r>
              <a:rPr lang="en-US" dirty="0">
                <a:solidFill>
                  <a:srgbClr val="1F1F1F"/>
                </a:solidFill>
                <a:effectLst/>
                <a:latin typeface="Google Sans Text"/>
              </a:rPr>
              <a:t> (Marine Ecology Progress Series, 325, 281–293).</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Documents how sea lions track spatial pulses of lipid-dense forage fish, showing that when winter/spring herring schools collapse or become unavailable, sea lions pivot heavily to alternative target runs, including pre-spawning adult salmon.</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err="1">
                <a:solidFill>
                  <a:srgbClr val="1F1F1F"/>
                </a:solidFill>
                <a:effectLst/>
                <a:latin typeface="Google Sans Text"/>
              </a:rPr>
              <a:t>Trites</a:t>
            </a:r>
            <a:r>
              <a:rPr lang="en-US" b="1" dirty="0">
                <a:solidFill>
                  <a:srgbClr val="1F1F1F"/>
                </a:solidFill>
                <a:effectLst/>
                <a:latin typeface="Google Sans Text"/>
              </a:rPr>
              <a:t> and Donnelly (2003):</a:t>
            </a:r>
            <a:r>
              <a:rPr lang="en-US" dirty="0">
                <a:solidFill>
                  <a:srgbClr val="1F1F1F"/>
                </a:solidFill>
                <a:effectLst/>
                <a:latin typeface="Google Sans Text"/>
              </a:rPr>
              <a:t> </a:t>
            </a:r>
            <a:r>
              <a:rPr lang="en-US" i="1" dirty="0">
                <a:solidFill>
                  <a:srgbClr val="1F1F1F"/>
                </a:solidFill>
                <a:effectLst/>
                <a:latin typeface="Google Sans Text"/>
              </a:rPr>
              <a:t>The decline of Steller sea lions in Alaska: a review of the nutritional stress hypothesis.</a:t>
            </a:r>
            <a:r>
              <a:rPr lang="en-US" dirty="0">
                <a:solidFill>
                  <a:srgbClr val="1F1F1F"/>
                </a:solidFill>
                <a:effectLst/>
                <a:latin typeface="Google Sans Text"/>
              </a:rPr>
              <a:t> (Mammal Review, 33(1), 3–28).</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Establishing the foundational ecological relationship—showing that loss of high-lipid forage fish (herring, capelin, eulachon) forces sea lions to rely on larger, seasonally available prey like salmon to meet daily caloric budgets.</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r>
              <a:rPr lang="en-US" b="1" dirty="0">
                <a:solidFill>
                  <a:srgbClr val="1F1F1F"/>
                </a:solidFill>
                <a:effectLst/>
                <a:latin typeface="Google Sans Text"/>
              </a:rPr>
              <a:t>Columbia River (Switching from Eulachon)</a:t>
            </a:r>
            <a:endParaRPr lang="en-US" b="1" dirty="0">
              <a:solidFill>
                <a:srgbClr val="1F1F1F"/>
              </a:solidFill>
              <a:effectLst/>
              <a:latin typeface="Google Sans"/>
            </a:endParaRPr>
          </a:p>
          <a:p>
            <a:pPr rtl="0">
              <a:buFont typeface="Arial" panose="020B0604020202020204" pitchFamily="34" charset="0"/>
              <a:buChar char="•"/>
            </a:pPr>
            <a:r>
              <a:rPr lang="en-US" b="1" dirty="0" err="1">
                <a:solidFill>
                  <a:srgbClr val="1F1F1F"/>
                </a:solidFill>
                <a:effectLst/>
                <a:latin typeface="Google Sans Text"/>
              </a:rPr>
              <a:t>Wargo</a:t>
            </a:r>
            <a:r>
              <a:rPr lang="en-US" b="1" dirty="0">
                <a:solidFill>
                  <a:srgbClr val="1F1F1F"/>
                </a:solidFill>
                <a:effectLst/>
                <a:latin typeface="Google Sans Text"/>
              </a:rPr>
              <a:t> et al. (2019):</a:t>
            </a:r>
            <a:r>
              <a:rPr lang="en-US" dirty="0">
                <a:solidFill>
                  <a:srgbClr val="1F1F1F"/>
                </a:solidFill>
                <a:effectLst/>
                <a:latin typeface="Google Sans Text"/>
              </a:rPr>
              <a:t> </a:t>
            </a:r>
            <a:r>
              <a:rPr lang="en-US" i="1" dirty="0">
                <a:solidFill>
                  <a:srgbClr val="1F1F1F"/>
                </a:solidFill>
                <a:effectLst/>
                <a:latin typeface="Google Sans Text"/>
              </a:rPr>
              <a:t>Seasonal presence and prey selection of pinnipeds in the lower Columbia River.</a:t>
            </a:r>
            <a:r>
              <a:rPr lang="en-US" dirty="0">
                <a:solidFill>
                  <a:srgbClr val="1F1F1F"/>
                </a:solidFill>
                <a:effectLst/>
                <a:latin typeface="Google Sans Text"/>
              </a:rPr>
              <a:t> (Washington Department of Fish and Wildlife / ODFW Joint Reports).</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Proving that Steller sea lions enter the lower Columbia River in late winter/early spring specifically to target run-timing pulses of eulachon (</a:t>
            </a:r>
            <a:r>
              <a:rPr lang="en-US" i="1" dirty="0" err="1">
                <a:solidFill>
                  <a:srgbClr val="1F1F1F"/>
                </a:solidFill>
                <a:effectLst/>
                <a:latin typeface="Google Sans Text"/>
              </a:rPr>
              <a:t>Thaleichthys</a:t>
            </a:r>
            <a:r>
              <a:rPr lang="en-US" i="1" dirty="0">
                <a:solidFill>
                  <a:srgbClr val="1F1F1F"/>
                </a:solidFill>
                <a:effectLst/>
                <a:latin typeface="Google Sans Text"/>
              </a:rPr>
              <a:t> </a:t>
            </a:r>
            <a:r>
              <a:rPr lang="en-US" i="1" dirty="0" err="1">
                <a:solidFill>
                  <a:srgbClr val="1F1F1F"/>
                </a:solidFill>
                <a:effectLst/>
                <a:latin typeface="Google Sans Text"/>
              </a:rPr>
              <a:t>pacificus</a:t>
            </a:r>
            <a:r>
              <a:rPr lang="en-US" dirty="0">
                <a:solidFill>
                  <a:srgbClr val="1F1F1F"/>
                </a:solidFill>
                <a:effectLst/>
                <a:latin typeface="Google Sans Text"/>
              </a:rPr>
              <a:t> or "candlefish").</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err="1">
                <a:solidFill>
                  <a:srgbClr val="1F1F1F"/>
                </a:solidFill>
                <a:effectLst/>
                <a:latin typeface="Google Sans Text"/>
              </a:rPr>
              <a:t>Chasco</a:t>
            </a:r>
            <a:r>
              <a:rPr lang="en-US" b="1" dirty="0">
                <a:solidFill>
                  <a:srgbClr val="1F1F1F"/>
                </a:solidFill>
                <a:effectLst/>
                <a:latin typeface="Google Sans Text"/>
              </a:rPr>
              <a:t> et al. (2017):</a:t>
            </a:r>
            <a:r>
              <a:rPr lang="en-US" dirty="0">
                <a:solidFill>
                  <a:srgbClr val="1F1F1F"/>
                </a:solidFill>
                <a:effectLst/>
                <a:latin typeface="Google Sans Text"/>
              </a:rPr>
              <a:t> </a:t>
            </a:r>
            <a:r>
              <a:rPr lang="en-US" i="1" dirty="0">
                <a:solidFill>
                  <a:srgbClr val="1F1F1F"/>
                </a:solidFill>
                <a:effectLst/>
                <a:latin typeface="Google Sans Text"/>
              </a:rPr>
              <a:t>Estimates of consumption and diet composition for marine mammals in the Columbia River.</a:t>
            </a:r>
            <a:r>
              <a:rPr lang="en-US" dirty="0">
                <a:solidFill>
                  <a:srgbClr val="1F1F1F"/>
                </a:solidFill>
                <a:effectLst/>
                <a:latin typeface="Google Sans Text"/>
              </a:rPr>
              <a:t> (Scientific Reports, 7, 10980).</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Empirical proof of the prey-switch mechanism in the CR—as the early-spring eulachon run diminishes or finishes spawning, Steller and California sea lions shift their consumption directly onto incoming adult spring Chinook salmon (</a:t>
            </a:r>
            <a:r>
              <a:rPr lang="en-US" i="1" dirty="0">
                <a:solidFill>
                  <a:srgbClr val="1F1F1F"/>
                </a:solidFill>
                <a:effectLst/>
                <a:latin typeface="Google Sans Text"/>
              </a:rPr>
              <a:t>O. tshawytscha</a:t>
            </a:r>
            <a:r>
              <a:rPr lang="en-US" dirty="0">
                <a:solidFill>
                  <a:srgbClr val="1F1F1F"/>
                </a:solidFill>
                <a:effectLst/>
                <a:latin typeface="Google Sans Text"/>
              </a:rPr>
              <a:t>) and winter/summer steelhead.</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r>
              <a:rPr lang="en-US" b="1" dirty="0">
                <a:solidFill>
                  <a:srgbClr val="1F1F1F"/>
                </a:solidFill>
                <a:effectLst/>
                <a:latin typeface="Google Sans"/>
              </a:rPr>
              <a:t>2. Warm-Year Impacts: Extended Foraging Range &amp; Increased Metabolic Demands</a:t>
            </a:r>
          </a:p>
          <a:p>
            <a:pPr rtl="0"/>
            <a:r>
              <a:rPr lang="en-US" b="1" dirty="0">
                <a:solidFill>
                  <a:srgbClr val="1F1F1F"/>
                </a:solidFill>
                <a:effectLst/>
                <a:latin typeface="Google Sans Text"/>
              </a:rPr>
              <a:t>Extended Foraging Distance in Warm Anomalies (GOA &amp; Pacific NW)</a:t>
            </a:r>
            <a:endParaRPr lang="en-US" b="1" dirty="0">
              <a:solidFill>
                <a:srgbClr val="1F1F1F"/>
              </a:solidFill>
              <a:effectLst/>
              <a:latin typeface="Google Sans"/>
            </a:endParaRPr>
          </a:p>
          <a:p>
            <a:pPr rtl="0">
              <a:buFont typeface="Arial" panose="020B0604020202020204" pitchFamily="34" charset="0"/>
              <a:buChar char="•"/>
            </a:pPr>
            <a:r>
              <a:rPr lang="en-US" b="1" dirty="0">
                <a:solidFill>
                  <a:srgbClr val="1F1F1F"/>
                </a:solidFill>
                <a:effectLst/>
                <a:latin typeface="Google Sans Text"/>
              </a:rPr>
              <a:t>Fritz et al. (2019):</a:t>
            </a:r>
            <a:r>
              <a:rPr lang="en-US" dirty="0">
                <a:solidFill>
                  <a:srgbClr val="1F1F1F"/>
                </a:solidFill>
                <a:effectLst/>
                <a:latin typeface="Google Sans Text"/>
              </a:rPr>
              <a:t> </a:t>
            </a:r>
            <a:r>
              <a:rPr lang="en-US" i="1" dirty="0">
                <a:solidFill>
                  <a:srgbClr val="1F1F1F"/>
                </a:solidFill>
                <a:effectLst/>
                <a:latin typeface="Google Sans Text"/>
              </a:rPr>
              <a:t>Steller sea lion foraging behavior during ocean heatwaves in the Gulf of Alaska.</a:t>
            </a:r>
            <a:r>
              <a:rPr lang="en-US" dirty="0">
                <a:solidFill>
                  <a:srgbClr val="1F1F1F"/>
                </a:solidFill>
                <a:effectLst/>
                <a:latin typeface="Google Sans Text"/>
              </a:rPr>
              <a:t> (Fisheries Oceanography).</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Documents that during marine heatwaves (e.g., "The Blob"), low coastal prey density forces Steller sea lions (especially lactating females and juveniles) to make significantly longer, deeper, and more energetically costly foraging trips away from established </a:t>
            </a:r>
            <a:r>
              <a:rPr lang="en-US" dirty="0" err="1">
                <a:solidFill>
                  <a:srgbClr val="1F1F1F"/>
                </a:solidFill>
                <a:effectLst/>
                <a:latin typeface="Google Sans Text"/>
              </a:rPr>
              <a:t>haulouts</a:t>
            </a:r>
            <a:r>
              <a:rPr lang="en-US" dirty="0">
                <a:solidFill>
                  <a:srgbClr val="1F1F1F"/>
                </a:solidFill>
                <a:effectLst/>
                <a:latin typeface="Google Sans Text"/>
              </a:rPr>
              <a:t> to find thermal refugia and prey.</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err="1">
                <a:solidFill>
                  <a:srgbClr val="1F1F1F"/>
                </a:solidFill>
                <a:effectLst/>
                <a:latin typeface="Google Sans Text"/>
              </a:rPr>
              <a:t>McHuron</a:t>
            </a:r>
            <a:r>
              <a:rPr lang="en-US" b="1" dirty="0">
                <a:solidFill>
                  <a:srgbClr val="1F1F1F"/>
                </a:solidFill>
                <a:effectLst/>
                <a:latin typeface="Google Sans Text"/>
              </a:rPr>
              <a:t> et al. (2018):</a:t>
            </a:r>
            <a:r>
              <a:rPr lang="en-US" dirty="0">
                <a:solidFill>
                  <a:srgbClr val="1F1F1F"/>
                </a:solidFill>
                <a:effectLst/>
                <a:latin typeface="Google Sans Text"/>
              </a:rPr>
              <a:t> </a:t>
            </a:r>
            <a:r>
              <a:rPr lang="en-US" i="1" dirty="0">
                <a:solidFill>
                  <a:srgbClr val="1F1F1F"/>
                </a:solidFill>
                <a:effectLst/>
                <a:latin typeface="Google Sans Text"/>
              </a:rPr>
              <a:t>Foraging </a:t>
            </a:r>
            <a:r>
              <a:rPr lang="en-US" i="1" dirty="0" err="1">
                <a:solidFill>
                  <a:srgbClr val="1F1F1F"/>
                </a:solidFill>
                <a:effectLst/>
                <a:latin typeface="Google Sans Text"/>
              </a:rPr>
              <a:t>behaviour</a:t>
            </a:r>
            <a:r>
              <a:rPr lang="en-US" i="1" dirty="0">
                <a:solidFill>
                  <a:srgbClr val="1F1F1F"/>
                </a:solidFill>
                <a:effectLst/>
                <a:latin typeface="Google Sans Text"/>
              </a:rPr>
              <a:t> and energetics of Steller sea lions in a changing ocean.</a:t>
            </a:r>
            <a:r>
              <a:rPr lang="en-US" dirty="0">
                <a:solidFill>
                  <a:srgbClr val="1F1F1F"/>
                </a:solidFill>
                <a:effectLst/>
                <a:latin typeface="Google Sans Text"/>
              </a:rPr>
              <a:t> (Conservation Physiology, 6(1), coy005).</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Demonstrates that warmer ocean conditions alter prey patch structure, causing Steller sea lions to spend more time actively traveling/searching per dive day, exponentially increasing their Field Metabolic Rate (FMR).</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a:solidFill>
                  <a:srgbClr val="1F1F1F"/>
                </a:solidFill>
                <a:effectLst/>
                <a:latin typeface="Google Sans Text"/>
              </a:rPr>
              <a:t>Lander et al. (2020):</a:t>
            </a:r>
            <a:r>
              <a:rPr lang="en-US" dirty="0">
                <a:solidFill>
                  <a:srgbClr val="1F1F1F"/>
                </a:solidFill>
                <a:effectLst/>
                <a:latin typeface="Google Sans Text"/>
              </a:rPr>
              <a:t> </a:t>
            </a:r>
            <a:r>
              <a:rPr lang="en-US" i="1" dirty="0">
                <a:solidFill>
                  <a:srgbClr val="1F1F1F"/>
                </a:solidFill>
                <a:effectLst/>
                <a:latin typeface="Google Sans Text"/>
              </a:rPr>
              <a:t>Foraging behavior of juvenile Steller sea lions in relation to oceanographic conditions.</a:t>
            </a:r>
            <a:r>
              <a:rPr lang="en-US" dirty="0">
                <a:solidFill>
                  <a:srgbClr val="1F1F1F"/>
                </a:solidFill>
                <a:effectLst/>
                <a:latin typeface="Google Sans Text"/>
              </a:rPr>
              <a:t> (PLOS ONE, 15(11), e0241886).</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Shows that anomalous sea surface temperatures (SST) break up coastal prey schools, forcing sea lions to expand their foraging radiuses significantly beyond typical nearshore boundaries.</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r>
              <a:rPr lang="en-US" b="1" dirty="0">
                <a:solidFill>
                  <a:srgbClr val="1F1F1F"/>
                </a:solidFill>
                <a:effectLst/>
                <a:latin typeface="Google Sans Text"/>
              </a:rPr>
              <a:t>Metabolic / Thermal Costs in Warm Water</a:t>
            </a:r>
            <a:endParaRPr lang="en-US" b="1" dirty="0">
              <a:solidFill>
                <a:srgbClr val="1F1F1F"/>
              </a:solidFill>
              <a:effectLst/>
              <a:latin typeface="Google Sans"/>
            </a:endParaRPr>
          </a:p>
          <a:p>
            <a:pPr rtl="0">
              <a:buFont typeface="Arial" panose="020B0604020202020204" pitchFamily="34" charset="0"/>
              <a:buChar char="•"/>
            </a:pPr>
            <a:r>
              <a:rPr lang="en-US" b="1" dirty="0">
                <a:solidFill>
                  <a:srgbClr val="1F1F1F"/>
                </a:solidFill>
                <a:effectLst/>
                <a:latin typeface="Google Sans Text"/>
              </a:rPr>
              <a:t>Rosen and </a:t>
            </a:r>
            <a:r>
              <a:rPr lang="en-US" b="1" dirty="0" err="1">
                <a:solidFill>
                  <a:srgbClr val="1F1F1F"/>
                </a:solidFill>
                <a:effectLst/>
                <a:latin typeface="Google Sans Text"/>
              </a:rPr>
              <a:t>Trites</a:t>
            </a:r>
            <a:r>
              <a:rPr lang="en-US" b="1" dirty="0">
                <a:solidFill>
                  <a:srgbClr val="1F1F1F"/>
                </a:solidFill>
                <a:effectLst/>
                <a:latin typeface="Google Sans Text"/>
              </a:rPr>
              <a:t> (2014):</a:t>
            </a:r>
            <a:r>
              <a:rPr lang="en-US" dirty="0">
                <a:solidFill>
                  <a:srgbClr val="1F1F1F"/>
                </a:solidFill>
                <a:effectLst/>
                <a:latin typeface="Google Sans Text"/>
              </a:rPr>
              <a:t> </a:t>
            </a:r>
            <a:r>
              <a:rPr lang="en-US" i="1" dirty="0">
                <a:solidFill>
                  <a:srgbClr val="1F1F1F"/>
                </a:solidFill>
                <a:effectLst/>
                <a:latin typeface="Google Sans Text"/>
              </a:rPr>
              <a:t>Thermal physiology and energetic costs of Steller sea lions.</a:t>
            </a:r>
            <a:r>
              <a:rPr lang="en-US" dirty="0">
                <a:solidFill>
                  <a:srgbClr val="1F1F1F"/>
                </a:solidFill>
                <a:effectLst/>
                <a:latin typeface="Google Sans Text"/>
              </a:rPr>
              <a:t> (Journal of Comparative Physiology B, 184(1), 141–152).</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Proves that upper critical temperatures for Steller sea lions in water are relatively low compared to lower-latitude pinnipeds. Warmer water temperatures elevate resting metabolic rates (RMR) as animals expend energy on active thermoregulation (e.g., flipper thermal dump, increased respiration).</a:t>
            </a:r>
          </a:p>
          <a:p>
            <a:pPr marL="742950" lvl="1" indent="-285750"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a:solidFill>
                  <a:srgbClr val="1F1F1F"/>
                </a:solidFill>
                <a:effectLst/>
                <a:latin typeface="Google Sans Text"/>
              </a:rPr>
              <a:t>Winship et al. (2002):</a:t>
            </a:r>
            <a:r>
              <a:rPr lang="en-US" dirty="0">
                <a:solidFill>
                  <a:srgbClr val="1F1F1F"/>
                </a:solidFill>
                <a:effectLst/>
                <a:latin typeface="Google Sans Text"/>
              </a:rPr>
              <a:t> </a:t>
            </a:r>
            <a:r>
              <a:rPr lang="en-US" i="1" dirty="0">
                <a:solidFill>
                  <a:srgbClr val="1F1F1F"/>
                </a:solidFill>
                <a:effectLst/>
                <a:latin typeface="Google Sans Text"/>
              </a:rPr>
              <a:t>A bioenergetics model for Steller sea lions (</a:t>
            </a:r>
            <a:r>
              <a:rPr lang="en-US" i="1" dirty="0" err="1">
                <a:solidFill>
                  <a:srgbClr val="1F1F1F"/>
                </a:solidFill>
                <a:effectLst/>
                <a:latin typeface="Google Sans Text"/>
              </a:rPr>
              <a:t>Eumetopias</a:t>
            </a:r>
            <a:r>
              <a:rPr lang="en-US" i="1" dirty="0">
                <a:solidFill>
                  <a:srgbClr val="1F1F1F"/>
                </a:solidFill>
                <a:effectLst/>
                <a:latin typeface="Google Sans Text"/>
              </a:rPr>
              <a:t> jubatus).</a:t>
            </a:r>
            <a:r>
              <a:rPr lang="en-US" dirty="0">
                <a:solidFill>
                  <a:srgbClr val="1F1F1F"/>
                </a:solidFill>
                <a:effectLst/>
                <a:latin typeface="Google Sans Text"/>
              </a:rPr>
              <a:t> (Marine Ecology Progress Series, 229, 291–312).</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marL="742950" lvl="1" indent="-285750" rtl="0">
              <a:buFont typeface="Arial" panose="020B0604020202020204" pitchFamily="34" charset="0"/>
              <a:buChar char="•"/>
            </a:pPr>
            <a:r>
              <a:rPr lang="en-US" i="1" dirty="0">
                <a:solidFill>
                  <a:srgbClr val="1F1F1F"/>
                </a:solidFill>
                <a:effectLst/>
                <a:latin typeface="Google Sans Text"/>
              </a:rPr>
              <a:t>Use for:</a:t>
            </a:r>
            <a:r>
              <a:rPr lang="en-US" dirty="0">
                <a:solidFill>
                  <a:srgbClr val="1F1F1F"/>
                </a:solidFill>
                <a:effectLst/>
                <a:latin typeface="Google Sans Text"/>
              </a:rPr>
              <a:t> Standard bioenergetics reference proving that higher ambient water/air temperatures, combined with the extra swimming distance needed to locate prey during warm years, increases overall daily gross energy requirements (GER)—meaning an individual sea lion </a:t>
            </a:r>
            <a:r>
              <a:rPr lang="en-US" b="1" dirty="0">
                <a:solidFill>
                  <a:srgbClr val="1F1F1F"/>
                </a:solidFill>
                <a:effectLst/>
                <a:latin typeface="Google Sans Text"/>
              </a:rPr>
              <a:t>must consume more kilograms of salmon per day</a:t>
            </a:r>
            <a:r>
              <a:rPr lang="en-US" dirty="0">
                <a:solidFill>
                  <a:srgbClr val="1F1F1F"/>
                </a:solidFill>
                <a:effectLst/>
                <a:latin typeface="Google Sans Text"/>
              </a:rPr>
              <a:t> in a warm year than in a cold year just to maintain neutral mass balance.</a:t>
            </a:r>
          </a:p>
          <a:p>
            <a:endParaRPr lang="en-US" dirty="0"/>
          </a:p>
        </p:txBody>
      </p:sp>
      <p:sp>
        <p:nvSpPr>
          <p:cNvPr id="4" name="Slide Number Placeholder 3"/>
          <p:cNvSpPr>
            <a:spLocks noGrp="1"/>
          </p:cNvSpPr>
          <p:nvPr>
            <p:ph type="sldNum" sz="quarter" idx="5"/>
          </p:nvPr>
        </p:nvSpPr>
        <p:spPr/>
        <p:txBody>
          <a:bodyPr/>
          <a:lstStyle/>
          <a:p>
            <a:fld id="{F09EE7F0-C830-4EFF-88F3-2ACD33958E26}" type="slidenum">
              <a:rPr lang="en-US" smtClean="0"/>
              <a:t>5</a:t>
            </a:fld>
            <a:endParaRPr lang="en-US"/>
          </a:p>
        </p:txBody>
      </p:sp>
    </p:spTree>
    <p:extLst>
      <p:ext uri="{BB962C8B-B14F-4D97-AF65-F5344CB8AC3E}">
        <p14:creationId xmlns:p14="http://schemas.microsoft.com/office/powerpoint/2010/main" val="812530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09EE7F0-C830-4EFF-88F3-2ACD33958E26}" type="slidenum">
              <a:rPr lang="en-US" smtClean="0"/>
              <a:t>8</a:t>
            </a:fld>
            <a:endParaRPr lang="en-US"/>
          </a:p>
        </p:txBody>
      </p:sp>
    </p:spTree>
    <p:extLst>
      <p:ext uri="{BB962C8B-B14F-4D97-AF65-F5344CB8AC3E}">
        <p14:creationId xmlns:p14="http://schemas.microsoft.com/office/powerpoint/2010/main" val="170228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latin typeface="Google Sans"/>
              </a:rPr>
              <a:t>Temperature-Driven Spatial Overlap &amp; Functional Responses</a:t>
            </a:r>
          </a:p>
          <a:p>
            <a:pPr>
              <a:buFont typeface="Arial" panose="020B0604020202020204" pitchFamily="34" charset="0"/>
              <a:buChar char="•"/>
            </a:pPr>
            <a:r>
              <a:rPr lang="en-US" b="1" dirty="0">
                <a:effectLst/>
                <a:latin typeface="Google Sans Text"/>
              </a:rPr>
              <a:t>Walters, C., Christensen, V., &amp; Pauly, D. (1997).</a:t>
            </a:r>
            <a:r>
              <a:rPr lang="en-US" dirty="0">
                <a:effectLst/>
                <a:latin typeface="Google Sans Text"/>
              </a:rPr>
              <a:t> </a:t>
            </a:r>
            <a:r>
              <a:rPr lang="en-US" i="1" dirty="0">
                <a:effectLst/>
                <a:latin typeface="Google Sans Text"/>
              </a:rPr>
              <a:t>Structuring dynamic models of marine ecosystems: Exploring '</a:t>
            </a:r>
            <a:r>
              <a:rPr lang="en-US" i="1" dirty="0" err="1">
                <a:effectLst/>
                <a:latin typeface="Google Sans Text"/>
              </a:rPr>
              <a:t>Ecosim</a:t>
            </a:r>
            <a:r>
              <a:rPr lang="en-US" i="1" dirty="0">
                <a:effectLst/>
                <a:latin typeface="Google Sans Text"/>
              </a:rPr>
              <a:t>' and its application to North Pacific ecosystems.</a:t>
            </a:r>
            <a:r>
              <a:rPr lang="en-US" dirty="0">
                <a:effectLst/>
                <a:latin typeface="Google Sans Text"/>
              </a:rPr>
              <a:t> </a:t>
            </a:r>
            <a:r>
              <a:rPr lang="en-US" b="1" dirty="0">
                <a:effectLst/>
                <a:latin typeface="Google Sans Text"/>
              </a:rPr>
              <a:t>Reviews in Fish Biology and Fisheries</a:t>
            </a:r>
            <a:r>
              <a:rPr lang="en-US" dirty="0">
                <a:effectLst/>
                <a:latin typeface="Google Sans Text"/>
              </a:rPr>
              <a:t>, 7(2), 139–172.</a:t>
            </a:r>
          </a:p>
          <a:p>
            <a:pPr marL="742950" lvl="1" indent="-285750">
              <a:buFont typeface="Arial" panose="020B0604020202020204" pitchFamily="34" charset="0"/>
              <a:buChar char="•"/>
            </a:pPr>
            <a:r>
              <a:rPr lang="en-US" b="1" dirty="0">
                <a:effectLst/>
                <a:latin typeface="Google Sans Text"/>
              </a:rPr>
              <a:t>Why cite it:</a:t>
            </a:r>
            <a:r>
              <a:rPr lang="en-US" dirty="0">
                <a:effectLst/>
                <a:latin typeface="Google Sans Text"/>
              </a:rPr>
              <a:t> Introduces the "Foraging Arena Theory" used in </a:t>
            </a:r>
            <a:r>
              <a:rPr lang="en-US" dirty="0" err="1">
                <a:effectLst/>
                <a:latin typeface="Google Sans Text"/>
              </a:rPr>
              <a:t>Ecosim</a:t>
            </a:r>
            <a:r>
              <a:rPr lang="en-US" dirty="0">
                <a:effectLst/>
                <a:latin typeface="Google Sans Text"/>
              </a:rPr>
              <a:t>. Predation mortality ($M_{</a:t>
            </a:r>
            <a:r>
              <a:rPr lang="en-US" dirty="0" err="1">
                <a:effectLst/>
                <a:latin typeface="Google Sans Text"/>
              </a:rPr>
              <a:t>i,j</a:t>
            </a:r>
            <a:r>
              <a:rPr lang="en-US" dirty="0">
                <a:effectLst/>
                <a:latin typeface="Google Sans Text"/>
              </a:rPr>
              <a:t>}$) on prey $</a:t>
            </a:r>
            <a:r>
              <a:rPr lang="en-US" dirty="0" err="1">
                <a:effectLst/>
                <a:latin typeface="Google Sans Text"/>
              </a:rPr>
              <a:t>i</a:t>
            </a:r>
            <a:r>
              <a:rPr lang="en-US" dirty="0">
                <a:effectLst/>
                <a:latin typeface="Google Sans Text"/>
              </a:rPr>
              <a:t>$ by predator $j$ is explicitly formulated as:</a:t>
            </a:r>
          </a:p>
          <a:p>
            <a:pPr marL="742950" lvl="1" indent="-285750">
              <a:buFont typeface="Arial" panose="020B0604020202020204" pitchFamily="34" charset="0"/>
              <a:buChar char="•"/>
            </a:pPr>
            <a:r>
              <a:rPr lang="en-US" dirty="0">
                <a:effectLst/>
                <a:latin typeface="Google Sans Text"/>
              </a:rPr>
              <a:t>$$Q_{</a:t>
            </a:r>
            <a:r>
              <a:rPr lang="en-US" dirty="0" err="1">
                <a:effectLst/>
                <a:latin typeface="Google Sans Text"/>
              </a:rPr>
              <a:t>ij</a:t>
            </a:r>
            <a:r>
              <a:rPr lang="en-US" dirty="0">
                <a:effectLst/>
                <a:latin typeface="Google Sans Text"/>
              </a:rPr>
              <a:t>} = a_{</a:t>
            </a:r>
            <a:r>
              <a:rPr lang="en-US" dirty="0" err="1">
                <a:effectLst/>
                <a:latin typeface="Google Sans Text"/>
              </a:rPr>
              <a:t>ij</a:t>
            </a:r>
            <a:r>
              <a:rPr lang="en-US" dirty="0">
                <a:effectLst/>
                <a:latin typeface="Google Sans Text"/>
              </a:rPr>
              <a:t>} \</a:t>
            </a:r>
            <a:r>
              <a:rPr lang="en-US" dirty="0" err="1">
                <a:effectLst/>
                <a:latin typeface="Google Sans Text"/>
              </a:rPr>
              <a:t>cdot</a:t>
            </a:r>
            <a:r>
              <a:rPr lang="en-US" dirty="0">
                <a:effectLst/>
                <a:latin typeface="Google Sans Text"/>
              </a:rPr>
              <a:t> O_{</a:t>
            </a:r>
            <a:r>
              <a:rPr lang="en-US" dirty="0" err="1">
                <a:effectLst/>
                <a:latin typeface="Google Sans Text"/>
              </a:rPr>
              <a:t>ij</a:t>
            </a:r>
            <a:r>
              <a:rPr lang="en-US" dirty="0">
                <a:effectLst/>
                <a:latin typeface="Google Sans Text"/>
              </a:rPr>
              <a:t>}(T) \</a:t>
            </a:r>
            <a:r>
              <a:rPr lang="en-US" dirty="0" err="1">
                <a:effectLst/>
                <a:latin typeface="Google Sans Text"/>
              </a:rPr>
              <a:t>cdot</a:t>
            </a:r>
            <a:r>
              <a:rPr lang="en-US" dirty="0">
                <a:effectLst/>
                <a:latin typeface="Google Sans Text"/>
              </a:rPr>
              <a:t> </a:t>
            </a:r>
            <a:r>
              <a:rPr lang="en-US" dirty="0" err="1">
                <a:effectLst/>
                <a:latin typeface="Google Sans Text"/>
              </a:rPr>
              <a:t>N_i</a:t>
            </a:r>
            <a:r>
              <a:rPr lang="en-US" dirty="0">
                <a:effectLst/>
                <a:latin typeface="Google Sans Text"/>
              </a:rPr>
              <a:t> \</a:t>
            </a:r>
            <a:r>
              <a:rPr lang="en-US" dirty="0" err="1">
                <a:effectLst/>
                <a:latin typeface="Google Sans Text"/>
              </a:rPr>
              <a:t>cdot</a:t>
            </a:r>
            <a:r>
              <a:rPr lang="en-US" dirty="0">
                <a:effectLst/>
                <a:latin typeface="Google Sans Text"/>
              </a:rPr>
              <a:t> </a:t>
            </a:r>
            <a:r>
              <a:rPr lang="en-US" dirty="0" err="1">
                <a:effectLst/>
                <a:latin typeface="Google Sans Text"/>
              </a:rPr>
              <a:t>P_j</a:t>
            </a:r>
            <a:r>
              <a:rPr lang="en-US" dirty="0">
                <a:effectLst/>
                <a:latin typeface="Google Sans Text"/>
              </a:rPr>
              <a:t>$$</a:t>
            </a:r>
          </a:p>
          <a:p>
            <a:pPr marL="742950" lvl="1" indent="-285750">
              <a:buFont typeface="Arial" panose="020B0604020202020204" pitchFamily="34" charset="0"/>
              <a:buChar char="•"/>
            </a:pPr>
            <a:r>
              <a:rPr lang="en-US" dirty="0">
                <a:effectLst/>
                <a:latin typeface="Google Sans Text"/>
              </a:rPr>
              <a:t>Where $O_{</a:t>
            </a:r>
            <a:r>
              <a:rPr lang="en-US" dirty="0" err="1">
                <a:effectLst/>
                <a:latin typeface="Google Sans Text"/>
              </a:rPr>
              <a:t>ij</a:t>
            </a:r>
            <a:r>
              <a:rPr lang="en-US" dirty="0">
                <a:effectLst/>
                <a:latin typeface="Google Sans Text"/>
              </a:rPr>
              <a:t>}(T)$ is spatial overlap as a function of environmental drivers (temperature), $</a:t>
            </a:r>
            <a:r>
              <a:rPr lang="en-US" dirty="0" err="1">
                <a:effectLst/>
                <a:latin typeface="Google Sans Text"/>
              </a:rPr>
              <a:t>P_j</a:t>
            </a:r>
            <a:r>
              <a:rPr lang="en-US" dirty="0">
                <a:effectLst/>
                <a:latin typeface="Google Sans Text"/>
              </a:rPr>
              <a:t>$ is predator abundance in non-negative units, and $</a:t>
            </a:r>
            <a:r>
              <a:rPr lang="en-US" dirty="0" err="1">
                <a:effectLst/>
                <a:latin typeface="Google Sans Text"/>
              </a:rPr>
              <a:t>N_i</a:t>
            </a:r>
            <a:r>
              <a:rPr lang="en-US" dirty="0">
                <a:effectLst/>
                <a:latin typeface="Google Sans Text"/>
              </a:rPr>
              <a:t>$ is prey abundance. It proves that overlap ($</a:t>
            </a:r>
            <a:r>
              <a:rPr lang="en-US" dirty="0" err="1">
                <a:effectLst/>
                <a:latin typeface="Google Sans Text"/>
              </a:rPr>
              <a:t>O_t</a:t>
            </a:r>
            <a:r>
              <a:rPr lang="en-US" dirty="0">
                <a:effectLst/>
                <a:latin typeface="Google Sans Text"/>
              </a:rPr>
              <a:t>$) and metabolic scaling ($</a:t>
            </a:r>
            <a:r>
              <a:rPr lang="en-US" dirty="0" err="1">
                <a:effectLst/>
                <a:latin typeface="Google Sans Text"/>
              </a:rPr>
              <a:t>M_t</a:t>
            </a:r>
            <a:r>
              <a:rPr lang="en-US" dirty="0">
                <a:effectLst/>
                <a:latin typeface="Google Sans Text"/>
              </a:rPr>
              <a:t>$) act as </a:t>
            </a:r>
            <a:r>
              <a:rPr lang="en-US" b="1" dirty="0">
                <a:effectLst/>
                <a:latin typeface="Google Sans Text"/>
              </a:rPr>
              <a:t>scalar multipliers on absolute density ($P$)</a:t>
            </a:r>
            <a:r>
              <a:rPr lang="en-US" dirty="0">
                <a:effectLst/>
                <a:latin typeface="Google Sans Text"/>
              </a:rPr>
              <a:t>, not on centered/standardized metrics.</a:t>
            </a:r>
          </a:p>
          <a:p>
            <a:pPr>
              <a:buFont typeface="Arial" panose="020B0604020202020204" pitchFamily="34" charset="0"/>
              <a:buChar char="•"/>
            </a:pPr>
            <a:r>
              <a:rPr lang="en-US" b="1" dirty="0">
                <a:effectLst/>
                <a:latin typeface="Google Sans Text"/>
              </a:rPr>
              <a:t>Ahrens, R. N., Walters, C. J., &amp; Christensen, V. (2012).</a:t>
            </a:r>
            <a:r>
              <a:rPr lang="en-US" dirty="0">
                <a:effectLst/>
                <a:latin typeface="Google Sans Text"/>
              </a:rPr>
              <a:t> </a:t>
            </a:r>
            <a:r>
              <a:rPr lang="en-US" i="1" dirty="0">
                <a:effectLst/>
                <a:latin typeface="Google Sans Text"/>
              </a:rPr>
              <a:t>Foraging arena theory: The theoretical necessity and empirical evidence.</a:t>
            </a:r>
            <a:r>
              <a:rPr lang="en-US" dirty="0">
                <a:effectLst/>
                <a:latin typeface="Google Sans Text"/>
              </a:rPr>
              <a:t> </a:t>
            </a:r>
            <a:r>
              <a:rPr lang="en-US" b="1" dirty="0">
                <a:effectLst/>
                <a:latin typeface="Google Sans Text"/>
              </a:rPr>
              <a:t>Fish and Fisheries</a:t>
            </a:r>
            <a:r>
              <a:rPr lang="en-US" dirty="0">
                <a:effectLst/>
                <a:latin typeface="Google Sans Text"/>
              </a:rPr>
              <a:t>, 13(1), 41–51.</a:t>
            </a:r>
          </a:p>
          <a:p>
            <a:pPr marL="742950" lvl="1" indent="-285750">
              <a:buFont typeface="Arial" panose="020B0604020202020204" pitchFamily="34" charset="0"/>
              <a:buChar char="•"/>
            </a:pPr>
            <a:r>
              <a:rPr lang="en-US" b="1" dirty="0">
                <a:effectLst/>
                <a:latin typeface="Google Sans Text"/>
              </a:rPr>
              <a:t>Why cite it:</a:t>
            </a:r>
            <a:r>
              <a:rPr lang="en-US" dirty="0">
                <a:effectLst/>
                <a:latin typeface="Google Sans Text"/>
              </a:rPr>
              <a:t> Demonstrates why scaling factors must remain strictly multiplicative ($&gt;0$) on non-negative abundance values to prevent mathematical sign inversion in functional response equations.</a:t>
            </a:r>
          </a:p>
          <a:p>
            <a:endParaRPr lang="en-US" dirty="0"/>
          </a:p>
        </p:txBody>
      </p:sp>
      <p:sp>
        <p:nvSpPr>
          <p:cNvPr id="4" name="Slide Number Placeholder 3"/>
          <p:cNvSpPr>
            <a:spLocks noGrp="1"/>
          </p:cNvSpPr>
          <p:nvPr>
            <p:ph type="sldNum" sz="quarter" idx="5"/>
          </p:nvPr>
        </p:nvSpPr>
        <p:spPr/>
        <p:txBody>
          <a:bodyPr/>
          <a:lstStyle/>
          <a:p>
            <a:fld id="{F09EE7F0-C830-4EFF-88F3-2ACD33958E26}" type="slidenum">
              <a:rPr lang="en-US" smtClean="0"/>
              <a:t>11</a:t>
            </a:fld>
            <a:endParaRPr lang="en-US"/>
          </a:p>
        </p:txBody>
      </p:sp>
    </p:spTree>
    <p:extLst>
      <p:ext uri="{BB962C8B-B14F-4D97-AF65-F5344CB8AC3E}">
        <p14:creationId xmlns:p14="http://schemas.microsoft.com/office/powerpoint/2010/main" val="276031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solidFill>
                  <a:srgbClr val="1F1F1F"/>
                </a:solidFill>
                <a:effectLst/>
                <a:latin typeface="Google Sans Text"/>
              </a:rPr>
              <a:t>Yes, there is strong empirical and bioenergetic literature justifying why herring receives higher weighting than capelin (such as a 2:1 ratio) in a Steller sea lion (SSL) foraging model.</a:t>
            </a:r>
          </a:p>
          <a:p>
            <a:pPr rtl="0"/>
            <a:br>
              <a:rPr lang="en-US" dirty="0">
                <a:solidFill>
                  <a:srgbClr val="1F1F1F"/>
                </a:solidFill>
                <a:effectLst/>
                <a:latin typeface="Google Sans Text"/>
              </a:rPr>
            </a:br>
            <a:r>
              <a:rPr lang="en-US" dirty="0">
                <a:solidFill>
                  <a:srgbClr val="1F1F1F"/>
                </a:solidFill>
                <a:effectLst/>
                <a:latin typeface="Google Sans Text"/>
              </a:rPr>
              <a:t>You can defend this choice using two distinct mechanisms: </a:t>
            </a:r>
            <a:r>
              <a:rPr lang="en-US" b="1" dirty="0">
                <a:solidFill>
                  <a:srgbClr val="1F1F1F"/>
                </a:solidFill>
                <a:effectLst/>
                <a:latin typeface="Google Sans Text"/>
              </a:rPr>
              <a:t>Bioenergetic/Caloric Density</a:t>
            </a:r>
            <a:r>
              <a:rPr lang="en-US" dirty="0">
                <a:solidFill>
                  <a:srgbClr val="1F1F1F"/>
                </a:solidFill>
                <a:effectLst/>
                <a:latin typeface="Google Sans Text"/>
              </a:rPr>
              <a:t> and </a:t>
            </a:r>
            <a:r>
              <a:rPr lang="en-US" b="1" dirty="0">
                <a:solidFill>
                  <a:srgbClr val="1F1F1F"/>
                </a:solidFill>
                <a:effectLst/>
                <a:latin typeface="Google Sans Text"/>
              </a:rPr>
              <a:t>Spatial Proximity/Phenology</a:t>
            </a:r>
            <a:r>
              <a:rPr lang="en-US" dirty="0">
                <a:solidFill>
                  <a:srgbClr val="1F1F1F"/>
                </a:solidFill>
                <a:effectLst/>
                <a:latin typeface="Google Sans Text"/>
              </a:rPr>
              <a:t>.</a:t>
            </a:r>
          </a:p>
          <a:p>
            <a:pPr rtl="0"/>
            <a:br>
              <a:rPr lang="en-US" dirty="0">
                <a:solidFill>
                  <a:srgbClr val="1F1F1F"/>
                </a:solidFill>
                <a:effectLst/>
                <a:latin typeface="Google Sans Text"/>
              </a:rPr>
            </a:br>
            <a:r>
              <a:rPr lang="en-US" b="1" dirty="0">
                <a:solidFill>
                  <a:srgbClr val="1F1F1F"/>
                </a:solidFill>
                <a:effectLst/>
                <a:latin typeface="Google Sans"/>
              </a:rPr>
              <a:t>1. Bioenergetic Justification: Caloric &amp; Fat Content</a:t>
            </a:r>
          </a:p>
          <a:p>
            <a:pPr rtl="0"/>
            <a:r>
              <a:rPr lang="en-US" dirty="0">
                <a:solidFill>
                  <a:srgbClr val="1F1F1F"/>
                </a:solidFill>
                <a:effectLst/>
                <a:latin typeface="Google Sans Text"/>
              </a:rPr>
              <a:t>Herring is substantially more energy-dense than capelin, meaning a sea lion gets roughly twice the caloric return per kilogram of herring consumed.</a:t>
            </a:r>
          </a:p>
          <a:p>
            <a:pPr rtl="0">
              <a:buFont typeface="Arial" panose="020B0604020202020204" pitchFamily="34" charset="0"/>
              <a:buChar char="•"/>
            </a:pPr>
            <a:br>
              <a:rPr lang="en-US" dirty="0">
                <a:solidFill>
                  <a:srgbClr val="1F1F1F"/>
                </a:solidFill>
                <a:effectLst/>
                <a:latin typeface="Google Sans Text"/>
              </a:rPr>
            </a:br>
            <a:r>
              <a:rPr lang="en-US" b="1" dirty="0">
                <a:solidFill>
                  <a:srgbClr val="1F1F1F"/>
                </a:solidFill>
                <a:effectLst/>
                <a:latin typeface="Google Sans Text"/>
              </a:rPr>
              <a:t>Direct Caloric Ratios:</a:t>
            </a:r>
            <a:r>
              <a:rPr lang="en-US" dirty="0">
                <a:solidFill>
                  <a:srgbClr val="1F1F1F"/>
                </a:solidFill>
                <a:effectLst/>
                <a:latin typeface="Google Sans Text"/>
              </a:rPr>
              <a:t> Controlled feeding studies on Steller sea lions (</a:t>
            </a:r>
            <a:r>
              <a:rPr lang="en-US" i="1" dirty="0" err="1">
                <a:solidFill>
                  <a:srgbClr val="1F1F1F"/>
                </a:solidFill>
                <a:effectLst/>
                <a:latin typeface="Google Sans Text"/>
              </a:rPr>
              <a:t>Kastelein</a:t>
            </a:r>
            <a:r>
              <a:rPr lang="en-US" i="1" dirty="0">
                <a:solidFill>
                  <a:srgbClr val="1F1F1F"/>
                </a:solidFill>
                <a:effectLst/>
                <a:latin typeface="Google Sans Text"/>
              </a:rPr>
              <a:t> et al., 2000</a:t>
            </a:r>
            <a:r>
              <a:rPr lang="en-US" dirty="0">
                <a:solidFill>
                  <a:srgbClr val="1F1F1F"/>
                </a:solidFill>
                <a:effectLst/>
                <a:latin typeface="Google Sans Text"/>
              </a:rPr>
              <a:t>; </a:t>
            </a:r>
            <a:r>
              <a:rPr lang="en-US" i="1" dirty="0">
                <a:solidFill>
                  <a:srgbClr val="1F1F1F"/>
                </a:solidFill>
                <a:effectLst/>
                <a:latin typeface="Google Sans Text"/>
              </a:rPr>
              <a:t>Rosen &amp; </a:t>
            </a:r>
            <a:r>
              <a:rPr lang="en-US" i="1" dirty="0" err="1">
                <a:solidFill>
                  <a:srgbClr val="1F1F1F"/>
                </a:solidFill>
                <a:effectLst/>
                <a:latin typeface="Google Sans Text"/>
              </a:rPr>
              <a:t>Trites</a:t>
            </a:r>
            <a:r>
              <a:rPr lang="en-US" i="1" dirty="0">
                <a:solidFill>
                  <a:srgbClr val="1F1F1F"/>
                </a:solidFill>
                <a:effectLst/>
                <a:latin typeface="Google Sans Text"/>
              </a:rPr>
              <a:t>, 2004</a:t>
            </a:r>
            <a:r>
              <a:rPr lang="en-US" dirty="0">
                <a:solidFill>
                  <a:srgbClr val="1F1F1F"/>
                </a:solidFill>
                <a:effectLst/>
                <a:latin typeface="Google Sans Text"/>
              </a:rPr>
              <a:t>) show that adult herring averages </a:t>
            </a:r>
            <a:r>
              <a:rPr lang="en-US" b="1" dirty="0">
                <a:solidFill>
                  <a:srgbClr val="1F1F1F"/>
                </a:solidFill>
                <a:effectLst/>
                <a:latin typeface="Google Sans Text"/>
              </a:rPr>
              <a:t>8.5–10.5 kJ/g</a:t>
            </a:r>
            <a:r>
              <a:rPr lang="en-US" dirty="0">
                <a:solidFill>
                  <a:srgbClr val="1F1F1F"/>
                </a:solidFill>
                <a:effectLst/>
                <a:latin typeface="Google Sans Text"/>
              </a:rPr>
              <a:t>, whereas capelin averages </a:t>
            </a:r>
            <a:r>
              <a:rPr lang="en-US" b="1" dirty="0">
                <a:solidFill>
                  <a:srgbClr val="1F1F1F"/>
                </a:solidFill>
                <a:effectLst/>
                <a:latin typeface="Google Sans Text"/>
              </a:rPr>
              <a:t>4.5–6.0 kJ/g</a:t>
            </a:r>
            <a:r>
              <a:rPr lang="en-US" dirty="0">
                <a:solidFill>
                  <a:srgbClr val="1F1F1F"/>
                </a:solidFill>
                <a:effectLst/>
                <a:latin typeface="Google Sans Text"/>
              </a:rPr>
              <a:t>. This creates a near </a:t>
            </a:r>
            <a:r>
              <a:rPr lang="en-US" b="1" dirty="0">
                <a:solidFill>
                  <a:srgbClr val="1F1F1F"/>
                </a:solidFill>
                <a:effectLst/>
                <a:latin typeface="Google Sans Text"/>
              </a:rPr>
              <a:t>2:1 caloric ratio</a:t>
            </a:r>
            <a:r>
              <a:rPr lang="en-US" dirty="0">
                <a:solidFill>
                  <a:srgbClr val="1F1F1F"/>
                </a:solidFill>
                <a:effectLst/>
                <a:latin typeface="Google Sans Text"/>
              </a:rPr>
              <a:t> in raw energy density.</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a:solidFill>
                  <a:srgbClr val="1F1F1F"/>
                </a:solidFill>
                <a:effectLst/>
                <a:latin typeface="Google Sans Text"/>
              </a:rPr>
              <a:t>Digestive Limits &amp; Compensatory Feeding:</a:t>
            </a:r>
            <a:r>
              <a:rPr lang="en-US" dirty="0">
                <a:solidFill>
                  <a:srgbClr val="1F1F1F"/>
                </a:solidFill>
                <a:effectLst/>
                <a:latin typeface="Google Sans Text"/>
              </a:rPr>
              <a:t> </a:t>
            </a:r>
            <a:r>
              <a:rPr lang="en-US" b="1" dirty="0">
                <a:solidFill>
                  <a:srgbClr val="1F1F1F"/>
                </a:solidFill>
                <a:effectLst/>
                <a:latin typeface="Google Sans Text"/>
              </a:rPr>
              <a:t>Rosen &amp; </a:t>
            </a:r>
            <a:r>
              <a:rPr lang="en-US" b="1" dirty="0" err="1">
                <a:solidFill>
                  <a:srgbClr val="1F1F1F"/>
                </a:solidFill>
                <a:effectLst/>
                <a:latin typeface="Google Sans Text"/>
              </a:rPr>
              <a:t>Trites</a:t>
            </a:r>
            <a:r>
              <a:rPr lang="en-US" b="1" dirty="0">
                <a:solidFill>
                  <a:srgbClr val="1F1F1F"/>
                </a:solidFill>
                <a:effectLst/>
                <a:latin typeface="Google Sans Text"/>
              </a:rPr>
              <a:t> (2004)</a:t>
            </a:r>
            <a:r>
              <a:rPr lang="en-US" dirty="0">
                <a:solidFill>
                  <a:srgbClr val="1F1F1F"/>
                </a:solidFill>
                <a:effectLst/>
                <a:latin typeface="Google Sans Text"/>
              </a:rPr>
              <a:t> (</a:t>
            </a:r>
            <a:r>
              <a:rPr lang="en-US" i="1" dirty="0">
                <a:solidFill>
                  <a:srgbClr val="1F1F1F"/>
                </a:solidFill>
                <a:effectLst/>
                <a:latin typeface="Google Sans Text"/>
              </a:rPr>
              <a:t>Canadian Journal of Zoology</a:t>
            </a:r>
            <a:r>
              <a:rPr lang="en-US" dirty="0">
                <a:solidFill>
                  <a:srgbClr val="1F1F1F"/>
                </a:solidFill>
                <a:effectLst/>
                <a:latin typeface="Google Sans Text"/>
              </a:rPr>
              <a:t>) directly tested SSL feeding rates on herring vs. capelin. They demonstrated that sea lions had to consume </a:t>
            </a:r>
            <a:r>
              <a:rPr lang="en-US" b="1" dirty="0">
                <a:solidFill>
                  <a:srgbClr val="1F1F1F"/>
                </a:solidFill>
                <a:effectLst/>
                <a:latin typeface="Google Sans Text"/>
              </a:rPr>
              <a:t>14.0 kg/day of capelin</a:t>
            </a:r>
            <a:r>
              <a:rPr lang="en-US" dirty="0">
                <a:solidFill>
                  <a:srgbClr val="1F1F1F"/>
                </a:solidFill>
                <a:effectLst/>
                <a:latin typeface="Google Sans Text"/>
              </a:rPr>
              <a:t> to achieve the same gross energy intake as </a:t>
            </a:r>
            <a:r>
              <a:rPr lang="en-US" b="1" dirty="0">
                <a:solidFill>
                  <a:srgbClr val="1F1F1F"/>
                </a:solidFill>
                <a:effectLst/>
                <a:latin typeface="Google Sans Text"/>
              </a:rPr>
              <a:t>8.3 kg/day of herring</a:t>
            </a:r>
            <a:r>
              <a:rPr lang="en-US" dirty="0">
                <a:solidFill>
                  <a:srgbClr val="1F1F1F"/>
                </a:solidFill>
                <a:effectLst/>
                <a:latin typeface="Google Sans Text"/>
              </a:rPr>
              <a:t>—nearly an 80% increase in mass requirements due to gut capacity limits.</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a:solidFill>
                  <a:srgbClr val="1F1F1F"/>
                </a:solidFill>
                <a:effectLst/>
                <a:latin typeface="Google Sans Text"/>
              </a:rPr>
              <a:t>Literature Reference:</a:t>
            </a:r>
            <a:r>
              <a:rPr lang="en-US" dirty="0">
                <a:solidFill>
                  <a:srgbClr val="1F1F1F"/>
                </a:solidFill>
                <a:effectLst/>
                <a:latin typeface="Google Sans Text"/>
              </a:rPr>
              <a:t> </a:t>
            </a:r>
            <a:r>
              <a:rPr lang="en-US" b="1" dirty="0" err="1">
                <a:solidFill>
                  <a:srgbClr val="1F1F1F"/>
                </a:solidFill>
                <a:effectLst/>
                <a:latin typeface="Google Sans Text"/>
              </a:rPr>
              <a:t>Logerwell</a:t>
            </a:r>
            <a:r>
              <a:rPr lang="en-US" b="1" dirty="0">
                <a:solidFill>
                  <a:srgbClr val="1F1F1F"/>
                </a:solidFill>
                <a:effectLst/>
                <a:latin typeface="Google Sans Text"/>
              </a:rPr>
              <a:t> &amp; </a:t>
            </a:r>
            <a:r>
              <a:rPr lang="en-US" b="1" dirty="0" err="1">
                <a:solidFill>
                  <a:srgbClr val="1F1F1F"/>
                </a:solidFill>
                <a:effectLst/>
                <a:latin typeface="Google Sans Text"/>
              </a:rPr>
              <a:t>Schaufler</a:t>
            </a:r>
            <a:r>
              <a:rPr lang="en-US" b="1" dirty="0">
                <a:solidFill>
                  <a:srgbClr val="1F1F1F"/>
                </a:solidFill>
                <a:effectLst/>
                <a:latin typeface="Google Sans Text"/>
              </a:rPr>
              <a:t> (2005)</a:t>
            </a:r>
            <a:r>
              <a:rPr lang="en-US" dirty="0">
                <a:solidFill>
                  <a:srgbClr val="1F1F1F"/>
                </a:solidFill>
                <a:effectLst/>
                <a:latin typeface="Google Sans Text"/>
              </a:rPr>
              <a:t> (</a:t>
            </a:r>
            <a:r>
              <a:rPr lang="en-US" i="1" dirty="0">
                <a:solidFill>
                  <a:srgbClr val="1F1F1F"/>
                </a:solidFill>
                <a:effectLst/>
                <a:latin typeface="Google Sans Text"/>
              </a:rPr>
              <a:t>Aquatic Mammals</a:t>
            </a:r>
            <a:r>
              <a:rPr lang="en-US" dirty="0">
                <a:solidFill>
                  <a:srgbClr val="1F1F1F"/>
                </a:solidFill>
                <a:effectLst/>
                <a:latin typeface="Google Sans Text"/>
              </a:rPr>
              <a:t>) conducted proximate analyses on Gulf of Alaska forage fish, ranking Pacific herring at the absolute top of lipid/energy density among SSL prey, with capelin falling into an intermediate category.</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r>
              <a:rPr lang="en-US" b="1" dirty="0">
                <a:solidFill>
                  <a:srgbClr val="1F1F1F"/>
                </a:solidFill>
                <a:effectLst/>
                <a:latin typeface="Google Sans"/>
              </a:rPr>
              <a:t>2. Spatial &amp; Data-Quality Justification: Regional Overlap</a:t>
            </a:r>
          </a:p>
          <a:p>
            <a:pPr rtl="0"/>
            <a:r>
              <a:rPr lang="en-US" dirty="0">
                <a:solidFill>
                  <a:srgbClr val="1F1F1F"/>
                </a:solidFill>
                <a:effectLst/>
                <a:latin typeface="Google Sans Text"/>
              </a:rPr>
              <a:t>Beyond bioenergetics, the higher weighting on herring can be defended by the spatial alignment of your datasets:</a:t>
            </a:r>
          </a:p>
          <a:p>
            <a:pPr rtl="0">
              <a:buFont typeface="Arial" panose="020B0604020202020204" pitchFamily="34" charset="0"/>
              <a:buChar char="•"/>
            </a:pPr>
            <a:br>
              <a:rPr lang="en-US" dirty="0">
                <a:solidFill>
                  <a:srgbClr val="1F1F1F"/>
                </a:solidFill>
                <a:effectLst/>
                <a:latin typeface="Google Sans Text"/>
              </a:rPr>
            </a:br>
            <a:r>
              <a:rPr lang="en-US" b="1" dirty="0">
                <a:solidFill>
                  <a:srgbClr val="1F1F1F"/>
                </a:solidFill>
                <a:effectLst/>
                <a:latin typeface="Google Sans Text"/>
              </a:rPr>
              <a:t>Herring as a Primary Coastal Buffer:</a:t>
            </a:r>
            <a:r>
              <a:rPr lang="en-US" dirty="0">
                <a:solidFill>
                  <a:srgbClr val="1F1F1F"/>
                </a:solidFill>
                <a:effectLst/>
                <a:latin typeface="Google Sans Text"/>
              </a:rPr>
              <a:t> Adult Pacific herring form massive, highly predictable overwintering aggregations in coastal corridors (e.g., SEAK, Prince William Sound) where salmon smolts migrate out along the shelf. High herring biomass holds sea lions in localized coastal arenas, directly buffering smolts.</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Arial" panose="020B0604020202020204" pitchFamily="34" charset="0"/>
              <a:buChar char="•"/>
            </a:pPr>
            <a:r>
              <a:rPr lang="en-US" b="1" dirty="0">
                <a:solidFill>
                  <a:srgbClr val="1F1F1F"/>
                </a:solidFill>
                <a:effectLst/>
                <a:latin typeface="Google Sans Text"/>
              </a:rPr>
              <a:t>Capelin Proxy Distance:</a:t>
            </a:r>
            <a:r>
              <a:rPr lang="en-US" dirty="0">
                <a:solidFill>
                  <a:srgbClr val="1F1F1F"/>
                </a:solidFill>
                <a:effectLst/>
                <a:latin typeface="Google Sans Text"/>
              </a:rPr>
              <a:t> As you noted, your capelin proxy comes from Middleton Island seabird diets. While excellent for tracking central shelf surface-forage trends, seabird chick diet proportions reflect localized foraging radii (~50 km around Middleton) and can be noisier than regional herring stock assessments.</a:t>
            </a:r>
          </a:p>
          <a:p>
            <a:pPr rtl="0">
              <a:buFont typeface="Arial" panose="020B0604020202020204" pitchFamily="34" charset="0"/>
              <a:buChar char="•"/>
            </a:pPr>
            <a:br>
              <a:rPr lang="en-US" dirty="0">
                <a:solidFill>
                  <a:srgbClr val="1F1F1F"/>
                </a:solidFill>
                <a:effectLst/>
                <a:latin typeface="Google Sans Text"/>
              </a:rPr>
            </a:br>
            <a:endParaRPr lang="en-US" dirty="0">
              <a:solidFill>
                <a:srgbClr val="1F1F1F"/>
              </a:solidFill>
              <a:effectLst/>
              <a:latin typeface="Google Sans Text"/>
            </a:endParaRPr>
          </a:p>
          <a:p>
            <a:pPr rtl="0"/>
            <a:r>
              <a:rPr lang="en-US" b="1" dirty="0">
                <a:solidFill>
                  <a:srgbClr val="1F1F1F"/>
                </a:solidFill>
                <a:effectLst/>
                <a:latin typeface="Google Sans"/>
              </a:rPr>
              <a:t>How to Write This in Your Methods Section</a:t>
            </a:r>
          </a:p>
          <a:p>
            <a:pPr rtl="0"/>
            <a:r>
              <a:rPr lang="en-US" dirty="0">
                <a:solidFill>
                  <a:srgbClr val="1F1F1F"/>
                </a:solidFill>
                <a:effectLst/>
                <a:latin typeface="Google Sans Text"/>
              </a:rPr>
              <a:t>To preempt reviewer criticism, write a simple justification sentence like this:</a:t>
            </a:r>
          </a:p>
          <a:p>
            <a:pPr rtl="0"/>
            <a:br>
              <a:rPr lang="en-US" dirty="0">
                <a:solidFill>
                  <a:srgbClr val="1F1F1F"/>
                </a:solidFill>
                <a:effectLst/>
                <a:latin typeface="Google Sans Text"/>
              </a:rPr>
            </a:br>
            <a:r>
              <a:rPr lang="en-US" i="1" dirty="0">
                <a:solidFill>
                  <a:srgbClr val="1F1F1F"/>
                </a:solidFill>
                <a:effectLst/>
                <a:latin typeface="Google Sans Text"/>
              </a:rPr>
              <a:t>"The higher weighting assigned to herring relative to capelin ($2:1$ ratio) reflects established bioenergetic and empirical differences in prey quality: Pacific herring in the Gulf of Alaska exhibits roughly double the lipid and caloric density ($\sim 8.5\text{--}10.5\text{ kJ/g}$) of capelin ($\sim 4.5\text{--}6.0\text{ kJ/g}$), requiring significantly higher mass intake of capelin to achieve equivalent energetic buffer thresholds (</a:t>
            </a:r>
            <a:r>
              <a:rPr lang="en-US" i="1" dirty="0" err="1">
                <a:solidFill>
                  <a:srgbClr val="1F1F1F"/>
                </a:solidFill>
                <a:effectLst/>
                <a:latin typeface="Google Sans Text"/>
              </a:rPr>
              <a:t>Logerwell</a:t>
            </a:r>
            <a:r>
              <a:rPr lang="en-US" i="1" dirty="0">
                <a:solidFill>
                  <a:srgbClr val="1F1F1F"/>
                </a:solidFill>
                <a:effectLst/>
                <a:latin typeface="Google Sans Text"/>
              </a:rPr>
              <a:t> &amp; </a:t>
            </a:r>
            <a:r>
              <a:rPr lang="en-US" i="1" dirty="0" err="1">
                <a:solidFill>
                  <a:srgbClr val="1F1F1F"/>
                </a:solidFill>
                <a:effectLst/>
                <a:latin typeface="Google Sans Text"/>
              </a:rPr>
              <a:t>Schaufler</a:t>
            </a:r>
            <a:r>
              <a:rPr lang="en-US" i="1" dirty="0">
                <a:solidFill>
                  <a:srgbClr val="1F1F1F"/>
                </a:solidFill>
                <a:effectLst/>
                <a:latin typeface="Google Sans Text"/>
              </a:rPr>
              <a:t> 2005; Rosen &amp; </a:t>
            </a:r>
            <a:r>
              <a:rPr lang="en-US" i="1" dirty="0" err="1">
                <a:solidFill>
                  <a:srgbClr val="1F1F1F"/>
                </a:solidFill>
                <a:effectLst/>
                <a:latin typeface="Google Sans Text"/>
              </a:rPr>
              <a:t>Trites</a:t>
            </a:r>
            <a:r>
              <a:rPr lang="en-US" i="1" dirty="0">
                <a:solidFill>
                  <a:srgbClr val="1F1F1F"/>
                </a:solidFill>
                <a:effectLst/>
                <a:latin typeface="Google Sans Text"/>
              </a:rPr>
              <a:t> 2004)."</a:t>
            </a:r>
            <a:endParaRPr lang="en-US" dirty="0">
              <a:solidFill>
                <a:srgbClr val="1F1F1F"/>
              </a:solidFill>
              <a:effectLst/>
              <a:latin typeface="Google Sans Text"/>
            </a:endParaRPr>
          </a:p>
          <a:p>
            <a:pPr rtl="0"/>
            <a:br>
              <a:rPr lang="en-US" dirty="0">
                <a:solidFill>
                  <a:srgbClr val="1F1F1F"/>
                </a:solidFill>
                <a:effectLst/>
                <a:latin typeface="Google Sans Text"/>
              </a:rPr>
            </a:br>
            <a:r>
              <a:rPr lang="en-US" b="1" dirty="0">
                <a:solidFill>
                  <a:srgbClr val="1F1F1F"/>
                </a:solidFill>
                <a:effectLst/>
                <a:latin typeface="Google Sans Text"/>
              </a:rPr>
              <a:t>Key References:</a:t>
            </a:r>
            <a:endParaRPr lang="en-US" dirty="0">
              <a:solidFill>
                <a:srgbClr val="1F1F1F"/>
              </a:solidFill>
              <a:effectLst/>
              <a:latin typeface="Google Sans Text"/>
            </a:endParaRPr>
          </a:p>
          <a:p>
            <a:pPr rtl="0">
              <a:buFont typeface="+mj-lt"/>
              <a:buAutoNum type="arabicPeriod"/>
            </a:pPr>
            <a:br>
              <a:rPr lang="en-US" dirty="0">
                <a:solidFill>
                  <a:srgbClr val="1F1F1F"/>
                </a:solidFill>
                <a:effectLst/>
                <a:latin typeface="Google Sans Text"/>
              </a:rPr>
            </a:br>
            <a:r>
              <a:rPr lang="en-US" b="1" dirty="0">
                <a:solidFill>
                  <a:srgbClr val="1F1F1F"/>
                </a:solidFill>
                <a:effectLst/>
                <a:latin typeface="Google Sans Text"/>
              </a:rPr>
              <a:t>Rosen, D. A., &amp; </a:t>
            </a:r>
            <a:r>
              <a:rPr lang="en-US" b="1" dirty="0" err="1">
                <a:solidFill>
                  <a:srgbClr val="1F1F1F"/>
                </a:solidFill>
                <a:effectLst/>
                <a:latin typeface="Google Sans Text"/>
              </a:rPr>
              <a:t>Trites</a:t>
            </a:r>
            <a:r>
              <a:rPr lang="en-US" b="1" dirty="0">
                <a:solidFill>
                  <a:srgbClr val="1F1F1F"/>
                </a:solidFill>
                <a:effectLst/>
                <a:latin typeface="Google Sans Text"/>
              </a:rPr>
              <a:t>, A. W. (2004).</a:t>
            </a:r>
            <a:r>
              <a:rPr lang="en-US" dirty="0">
                <a:solidFill>
                  <a:srgbClr val="1F1F1F"/>
                </a:solidFill>
                <a:effectLst/>
                <a:latin typeface="Google Sans Text"/>
              </a:rPr>
              <a:t> Satiation and compensation for short-term changes in food quality and availability by Steller sea lions (</a:t>
            </a:r>
            <a:r>
              <a:rPr lang="en-US" i="1" dirty="0" err="1">
                <a:solidFill>
                  <a:srgbClr val="1F1F1F"/>
                </a:solidFill>
                <a:effectLst/>
                <a:latin typeface="Google Sans Text"/>
              </a:rPr>
              <a:t>Eumetopias</a:t>
            </a:r>
            <a:r>
              <a:rPr lang="en-US" i="1" dirty="0">
                <a:solidFill>
                  <a:srgbClr val="1F1F1F"/>
                </a:solidFill>
                <a:effectLst/>
                <a:latin typeface="Google Sans Text"/>
              </a:rPr>
              <a:t> jubatus</a:t>
            </a:r>
            <a:r>
              <a:rPr lang="en-US" dirty="0">
                <a:solidFill>
                  <a:srgbClr val="1F1F1F"/>
                </a:solidFill>
                <a:effectLst/>
                <a:latin typeface="Google Sans Text"/>
              </a:rPr>
              <a:t>). </a:t>
            </a:r>
            <a:r>
              <a:rPr lang="en-US" i="1" dirty="0">
                <a:solidFill>
                  <a:srgbClr val="1F1F1F"/>
                </a:solidFill>
                <a:effectLst/>
                <a:latin typeface="Google Sans Text"/>
              </a:rPr>
              <a:t>Canadian Journal of Zoology</a:t>
            </a:r>
            <a:r>
              <a:rPr lang="en-US" dirty="0">
                <a:solidFill>
                  <a:srgbClr val="1F1F1F"/>
                </a:solidFill>
                <a:effectLst/>
                <a:latin typeface="Google Sans Text"/>
              </a:rPr>
              <a:t>, 82(7), 1061–1069.</a:t>
            </a:r>
          </a:p>
          <a:p>
            <a:pPr rtl="0">
              <a:buFont typeface="+mj-lt"/>
              <a:buAutoNum type="arabicPeriod"/>
            </a:pPr>
            <a:br>
              <a:rPr lang="en-US" dirty="0">
                <a:solidFill>
                  <a:srgbClr val="1F1F1F"/>
                </a:solidFill>
                <a:effectLst/>
                <a:latin typeface="Google Sans Text"/>
              </a:rPr>
            </a:br>
            <a:endParaRPr lang="en-US" dirty="0">
              <a:solidFill>
                <a:srgbClr val="1F1F1F"/>
              </a:solidFill>
              <a:effectLst/>
              <a:latin typeface="Google Sans Text"/>
            </a:endParaRPr>
          </a:p>
          <a:p>
            <a:pPr rtl="0">
              <a:buFont typeface="+mj-lt"/>
              <a:buAutoNum type="arabicPeriod"/>
            </a:pPr>
            <a:r>
              <a:rPr lang="en-US" b="1" dirty="0" err="1">
                <a:solidFill>
                  <a:srgbClr val="1F1F1F"/>
                </a:solidFill>
                <a:effectLst/>
                <a:latin typeface="Google Sans Text"/>
              </a:rPr>
              <a:t>Logerwell</a:t>
            </a:r>
            <a:r>
              <a:rPr lang="en-US" b="1" dirty="0">
                <a:solidFill>
                  <a:srgbClr val="1F1F1F"/>
                </a:solidFill>
                <a:effectLst/>
                <a:latin typeface="Google Sans Text"/>
              </a:rPr>
              <a:t>, E. A., &amp; </a:t>
            </a:r>
            <a:r>
              <a:rPr lang="en-US" b="1" dirty="0" err="1">
                <a:solidFill>
                  <a:srgbClr val="1F1F1F"/>
                </a:solidFill>
                <a:effectLst/>
                <a:latin typeface="Google Sans Text"/>
              </a:rPr>
              <a:t>Schaufler</a:t>
            </a:r>
            <a:r>
              <a:rPr lang="en-US" b="1" dirty="0">
                <a:solidFill>
                  <a:srgbClr val="1F1F1F"/>
                </a:solidFill>
                <a:effectLst/>
                <a:latin typeface="Google Sans Text"/>
              </a:rPr>
              <a:t>, L. E. (2005).</a:t>
            </a:r>
            <a:r>
              <a:rPr lang="en-US" dirty="0">
                <a:solidFill>
                  <a:srgbClr val="1F1F1F"/>
                </a:solidFill>
                <a:effectLst/>
                <a:latin typeface="Google Sans Text"/>
              </a:rPr>
              <a:t> New data on proximate composition and energy density of Steller sea lion (</a:t>
            </a:r>
            <a:r>
              <a:rPr lang="en-US" i="1" dirty="0" err="1">
                <a:solidFill>
                  <a:srgbClr val="1F1F1F"/>
                </a:solidFill>
                <a:effectLst/>
                <a:latin typeface="Google Sans Text"/>
              </a:rPr>
              <a:t>Eumetopias</a:t>
            </a:r>
            <a:r>
              <a:rPr lang="en-US" i="1" dirty="0">
                <a:solidFill>
                  <a:srgbClr val="1F1F1F"/>
                </a:solidFill>
                <a:effectLst/>
                <a:latin typeface="Google Sans Text"/>
              </a:rPr>
              <a:t> jubatus</a:t>
            </a:r>
            <a:r>
              <a:rPr lang="en-US" dirty="0">
                <a:solidFill>
                  <a:srgbClr val="1F1F1F"/>
                </a:solidFill>
                <a:effectLst/>
                <a:latin typeface="Google Sans Text"/>
              </a:rPr>
              <a:t>) prey species. </a:t>
            </a:r>
            <a:r>
              <a:rPr lang="en-US" i="1" dirty="0">
                <a:solidFill>
                  <a:srgbClr val="1F1F1F"/>
                </a:solidFill>
                <a:effectLst/>
                <a:latin typeface="Google Sans Text"/>
              </a:rPr>
              <a:t>Aquatic Mammals</a:t>
            </a:r>
            <a:r>
              <a:rPr lang="en-US" dirty="0">
                <a:solidFill>
                  <a:srgbClr val="1F1F1F"/>
                </a:solidFill>
                <a:effectLst/>
                <a:latin typeface="Google Sans Text"/>
              </a:rPr>
              <a:t>, 31(1), 22–37.</a:t>
            </a:r>
          </a:p>
          <a:p>
            <a:endParaRPr lang="en-US" dirty="0"/>
          </a:p>
        </p:txBody>
      </p:sp>
      <p:sp>
        <p:nvSpPr>
          <p:cNvPr id="4" name="Slide Number Placeholder 3"/>
          <p:cNvSpPr>
            <a:spLocks noGrp="1"/>
          </p:cNvSpPr>
          <p:nvPr>
            <p:ph type="sldNum" sz="quarter" idx="5"/>
          </p:nvPr>
        </p:nvSpPr>
        <p:spPr/>
        <p:txBody>
          <a:bodyPr/>
          <a:lstStyle/>
          <a:p>
            <a:fld id="{F09EE7F0-C830-4EFF-88F3-2ACD33958E26}" type="slidenum">
              <a:rPr lang="en-US" smtClean="0"/>
              <a:t>14</a:t>
            </a:fld>
            <a:endParaRPr lang="en-US"/>
          </a:p>
        </p:txBody>
      </p:sp>
    </p:spTree>
    <p:extLst>
      <p:ext uri="{BB962C8B-B14F-4D97-AF65-F5344CB8AC3E}">
        <p14:creationId xmlns:p14="http://schemas.microsoft.com/office/powerpoint/2010/main" val="2886203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07EA6-63CD-4EE2-84AF-464EF2F565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11E96E-E692-4A5E-832E-4FAE5CC04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43C73E-1636-42EB-AE51-C68CB65AF4D5}"/>
              </a:ext>
            </a:extLst>
          </p:cNvPr>
          <p:cNvSpPr>
            <a:spLocks noGrp="1"/>
          </p:cNvSpPr>
          <p:nvPr>
            <p:ph type="dt" sz="half" idx="10"/>
          </p:nvPr>
        </p:nvSpPr>
        <p:spPr/>
        <p:txBody>
          <a:bodyPr/>
          <a:lstStyle/>
          <a:p>
            <a:fld id="{E6DAEB60-C458-4E7B-B0FC-077370CA64E9}" type="datetimeFigureOut">
              <a:rPr lang="en-US" smtClean="0"/>
              <a:t>8/19/2026</a:t>
            </a:fld>
            <a:endParaRPr lang="en-US"/>
          </a:p>
        </p:txBody>
      </p:sp>
      <p:sp>
        <p:nvSpPr>
          <p:cNvPr id="5" name="Footer Placeholder 4">
            <a:extLst>
              <a:ext uri="{FF2B5EF4-FFF2-40B4-BE49-F238E27FC236}">
                <a16:creationId xmlns:a16="http://schemas.microsoft.com/office/drawing/2014/main" id="{3E91582B-0D06-4BD5-91AA-B2A22FF7DE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00E7DB-6B2F-4095-868A-78D44474714E}"/>
              </a:ext>
            </a:extLst>
          </p:cNvPr>
          <p:cNvSpPr>
            <a:spLocks noGrp="1"/>
          </p:cNvSpPr>
          <p:nvPr>
            <p:ph type="sldNum" sz="quarter" idx="12"/>
          </p:nvPr>
        </p:nvSpPr>
        <p:spPr/>
        <p:txBody>
          <a:bodyPr/>
          <a:lstStyle/>
          <a:p>
            <a:fld id="{D87CC3F3-065B-4C90-BB48-618180818C20}" type="slidenum">
              <a:rPr lang="en-US" smtClean="0"/>
              <a:t>‹#›</a:t>
            </a:fld>
            <a:endParaRPr lang="en-US"/>
          </a:p>
        </p:txBody>
      </p:sp>
    </p:spTree>
    <p:extLst>
      <p:ext uri="{BB962C8B-B14F-4D97-AF65-F5344CB8AC3E}">
        <p14:creationId xmlns:p14="http://schemas.microsoft.com/office/powerpoint/2010/main" val="1497402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52C58-356F-47C6-978D-47B46E1456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4FD2E8-733B-4E36-8617-747C9F75B8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751352-8BCC-4817-9E6C-0AB3CDEBECBE}"/>
              </a:ext>
            </a:extLst>
          </p:cNvPr>
          <p:cNvSpPr>
            <a:spLocks noGrp="1"/>
          </p:cNvSpPr>
          <p:nvPr>
            <p:ph type="dt" sz="half" idx="10"/>
          </p:nvPr>
        </p:nvSpPr>
        <p:spPr/>
        <p:txBody>
          <a:bodyPr/>
          <a:lstStyle/>
          <a:p>
            <a:fld id="{E6DAEB60-C458-4E7B-B0FC-077370CA64E9}" type="datetimeFigureOut">
              <a:rPr lang="en-US" smtClean="0"/>
              <a:t>8/19/2026</a:t>
            </a:fld>
            <a:endParaRPr lang="en-US"/>
          </a:p>
        </p:txBody>
      </p:sp>
      <p:sp>
        <p:nvSpPr>
          <p:cNvPr id="5" name="Footer Placeholder 4">
            <a:extLst>
              <a:ext uri="{FF2B5EF4-FFF2-40B4-BE49-F238E27FC236}">
                <a16:creationId xmlns:a16="http://schemas.microsoft.com/office/drawing/2014/main" id="{C1BF226C-F25B-47C6-8AEC-D705814B71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3414A3-7DF9-46CE-9484-82512AD67495}"/>
              </a:ext>
            </a:extLst>
          </p:cNvPr>
          <p:cNvSpPr>
            <a:spLocks noGrp="1"/>
          </p:cNvSpPr>
          <p:nvPr>
            <p:ph type="sldNum" sz="quarter" idx="12"/>
          </p:nvPr>
        </p:nvSpPr>
        <p:spPr/>
        <p:txBody>
          <a:bodyPr/>
          <a:lstStyle/>
          <a:p>
            <a:fld id="{D87CC3F3-065B-4C90-BB48-618180818C20}" type="slidenum">
              <a:rPr lang="en-US" smtClean="0"/>
              <a:t>‹#›</a:t>
            </a:fld>
            <a:endParaRPr lang="en-US"/>
          </a:p>
        </p:txBody>
      </p:sp>
    </p:spTree>
    <p:extLst>
      <p:ext uri="{BB962C8B-B14F-4D97-AF65-F5344CB8AC3E}">
        <p14:creationId xmlns:p14="http://schemas.microsoft.com/office/powerpoint/2010/main" val="676894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461C7-4D54-496F-B6DC-27774204B9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2CBEF6-184A-456D-AA12-81DE7F5A58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C38F2D-D85B-4BA4-8676-09110EC88BCD}"/>
              </a:ext>
            </a:extLst>
          </p:cNvPr>
          <p:cNvSpPr>
            <a:spLocks noGrp="1"/>
          </p:cNvSpPr>
          <p:nvPr>
            <p:ph type="dt" sz="half" idx="10"/>
          </p:nvPr>
        </p:nvSpPr>
        <p:spPr/>
        <p:txBody>
          <a:bodyPr/>
          <a:lstStyle/>
          <a:p>
            <a:fld id="{E6DAEB60-C458-4E7B-B0FC-077370CA64E9}" type="datetimeFigureOut">
              <a:rPr lang="en-US" smtClean="0"/>
              <a:t>8/19/2026</a:t>
            </a:fld>
            <a:endParaRPr lang="en-US"/>
          </a:p>
        </p:txBody>
      </p:sp>
      <p:sp>
        <p:nvSpPr>
          <p:cNvPr id="5" name="Footer Placeholder 4">
            <a:extLst>
              <a:ext uri="{FF2B5EF4-FFF2-40B4-BE49-F238E27FC236}">
                <a16:creationId xmlns:a16="http://schemas.microsoft.com/office/drawing/2014/main" id="{4C01438D-432F-48E5-971E-0651C5A668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E0E132-EC5F-4252-B7D0-C31B2E6177D9}"/>
              </a:ext>
            </a:extLst>
          </p:cNvPr>
          <p:cNvSpPr>
            <a:spLocks noGrp="1"/>
          </p:cNvSpPr>
          <p:nvPr>
            <p:ph type="sldNum" sz="quarter" idx="12"/>
          </p:nvPr>
        </p:nvSpPr>
        <p:spPr/>
        <p:txBody>
          <a:bodyPr/>
          <a:lstStyle/>
          <a:p>
            <a:fld id="{D87CC3F3-065B-4C90-BB48-618180818C20}" type="slidenum">
              <a:rPr lang="en-US" smtClean="0"/>
              <a:t>‹#›</a:t>
            </a:fld>
            <a:endParaRPr lang="en-US"/>
          </a:p>
        </p:txBody>
      </p:sp>
    </p:spTree>
    <p:extLst>
      <p:ext uri="{BB962C8B-B14F-4D97-AF65-F5344CB8AC3E}">
        <p14:creationId xmlns:p14="http://schemas.microsoft.com/office/powerpoint/2010/main" val="2748852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11A9C-8B40-436F-9DC4-C2ADEEA32C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6A1F85-5F1C-436D-8DEF-243A8FAA75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340D47-B246-4D67-8335-A05522CF9D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7D45BD-5BEF-4839-8D86-E3C6707D4DEB}"/>
              </a:ext>
            </a:extLst>
          </p:cNvPr>
          <p:cNvSpPr>
            <a:spLocks noGrp="1"/>
          </p:cNvSpPr>
          <p:nvPr>
            <p:ph type="dt" sz="half" idx="10"/>
          </p:nvPr>
        </p:nvSpPr>
        <p:spPr/>
        <p:txBody>
          <a:bodyPr/>
          <a:lstStyle/>
          <a:p>
            <a:fld id="{E6DAEB60-C458-4E7B-B0FC-077370CA64E9}" type="datetimeFigureOut">
              <a:rPr lang="en-US" smtClean="0"/>
              <a:t>8/19/2026</a:t>
            </a:fld>
            <a:endParaRPr lang="en-US"/>
          </a:p>
        </p:txBody>
      </p:sp>
      <p:sp>
        <p:nvSpPr>
          <p:cNvPr id="6" name="Footer Placeholder 5">
            <a:extLst>
              <a:ext uri="{FF2B5EF4-FFF2-40B4-BE49-F238E27FC236}">
                <a16:creationId xmlns:a16="http://schemas.microsoft.com/office/drawing/2014/main" id="{873EE134-02FF-4668-9956-16749EC337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C07397-FCA8-4C4B-8B74-494B3962A033}"/>
              </a:ext>
            </a:extLst>
          </p:cNvPr>
          <p:cNvSpPr>
            <a:spLocks noGrp="1"/>
          </p:cNvSpPr>
          <p:nvPr>
            <p:ph type="sldNum" sz="quarter" idx="12"/>
          </p:nvPr>
        </p:nvSpPr>
        <p:spPr/>
        <p:txBody>
          <a:bodyPr/>
          <a:lstStyle/>
          <a:p>
            <a:fld id="{D87CC3F3-065B-4C90-BB48-618180818C20}" type="slidenum">
              <a:rPr lang="en-US" smtClean="0"/>
              <a:t>‹#›</a:t>
            </a:fld>
            <a:endParaRPr lang="en-US"/>
          </a:p>
        </p:txBody>
      </p:sp>
    </p:spTree>
    <p:extLst>
      <p:ext uri="{BB962C8B-B14F-4D97-AF65-F5344CB8AC3E}">
        <p14:creationId xmlns:p14="http://schemas.microsoft.com/office/powerpoint/2010/main" val="3178800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6D95F-AC30-4B05-87BA-94AF6B7580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C4F0BB-3EA6-41D3-ACB8-9833F22D94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8B082B-D022-4E88-896C-7712E2A95F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ADD2E4-DD32-4832-880D-9B091B7540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707C2C-3508-4851-85F3-1FDEFD55A1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B04EE7-71C7-47CF-BEC4-8480DD8EB79C}"/>
              </a:ext>
            </a:extLst>
          </p:cNvPr>
          <p:cNvSpPr>
            <a:spLocks noGrp="1"/>
          </p:cNvSpPr>
          <p:nvPr>
            <p:ph type="dt" sz="half" idx="10"/>
          </p:nvPr>
        </p:nvSpPr>
        <p:spPr/>
        <p:txBody>
          <a:bodyPr/>
          <a:lstStyle/>
          <a:p>
            <a:fld id="{E6DAEB60-C458-4E7B-B0FC-077370CA64E9}" type="datetimeFigureOut">
              <a:rPr lang="en-US" smtClean="0"/>
              <a:t>8/19/2026</a:t>
            </a:fld>
            <a:endParaRPr lang="en-US"/>
          </a:p>
        </p:txBody>
      </p:sp>
      <p:sp>
        <p:nvSpPr>
          <p:cNvPr id="8" name="Footer Placeholder 7">
            <a:extLst>
              <a:ext uri="{FF2B5EF4-FFF2-40B4-BE49-F238E27FC236}">
                <a16:creationId xmlns:a16="http://schemas.microsoft.com/office/drawing/2014/main" id="{6DC8848A-2BB5-4F82-9F4D-080D815501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32C524-991D-4DC2-B5CF-69E22D58B667}"/>
              </a:ext>
            </a:extLst>
          </p:cNvPr>
          <p:cNvSpPr>
            <a:spLocks noGrp="1"/>
          </p:cNvSpPr>
          <p:nvPr>
            <p:ph type="sldNum" sz="quarter" idx="12"/>
          </p:nvPr>
        </p:nvSpPr>
        <p:spPr/>
        <p:txBody>
          <a:bodyPr/>
          <a:lstStyle/>
          <a:p>
            <a:fld id="{D87CC3F3-065B-4C90-BB48-618180818C20}" type="slidenum">
              <a:rPr lang="en-US" smtClean="0"/>
              <a:t>‹#›</a:t>
            </a:fld>
            <a:endParaRPr lang="en-US"/>
          </a:p>
        </p:txBody>
      </p:sp>
    </p:spTree>
    <p:extLst>
      <p:ext uri="{BB962C8B-B14F-4D97-AF65-F5344CB8AC3E}">
        <p14:creationId xmlns:p14="http://schemas.microsoft.com/office/powerpoint/2010/main" val="3695710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CE96F-A6F6-4AB1-906C-67E732E2AB7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332D104-9F05-4B7C-AF2D-A099F1751A93}"/>
              </a:ext>
            </a:extLst>
          </p:cNvPr>
          <p:cNvSpPr>
            <a:spLocks noGrp="1"/>
          </p:cNvSpPr>
          <p:nvPr>
            <p:ph type="dt" sz="half" idx="10"/>
          </p:nvPr>
        </p:nvSpPr>
        <p:spPr/>
        <p:txBody>
          <a:bodyPr/>
          <a:lstStyle/>
          <a:p>
            <a:fld id="{E6DAEB60-C458-4E7B-B0FC-077370CA64E9}" type="datetimeFigureOut">
              <a:rPr lang="en-US" smtClean="0"/>
              <a:t>8/19/2026</a:t>
            </a:fld>
            <a:endParaRPr lang="en-US"/>
          </a:p>
        </p:txBody>
      </p:sp>
      <p:sp>
        <p:nvSpPr>
          <p:cNvPr id="4" name="Footer Placeholder 3">
            <a:extLst>
              <a:ext uri="{FF2B5EF4-FFF2-40B4-BE49-F238E27FC236}">
                <a16:creationId xmlns:a16="http://schemas.microsoft.com/office/drawing/2014/main" id="{A7D2CEBF-7E76-4ED4-A70A-5C4E495B3F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4158A1-6111-4498-BEC6-188A899A42F4}"/>
              </a:ext>
            </a:extLst>
          </p:cNvPr>
          <p:cNvSpPr>
            <a:spLocks noGrp="1"/>
          </p:cNvSpPr>
          <p:nvPr>
            <p:ph type="sldNum" sz="quarter" idx="12"/>
          </p:nvPr>
        </p:nvSpPr>
        <p:spPr/>
        <p:txBody>
          <a:bodyPr/>
          <a:lstStyle/>
          <a:p>
            <a:fld id="{D87CC3F3-065B-4C90-BB48-618180818C20}" type="slidenum">
              <a:rPr lang="en-US" smtClean="0"/>
              <a:t>‹#›</a:t>
            </a:fld>
            <a:endParaRPr lang="en-US"/>
          </a:p>
        </p:txBody>
      </p:sp>
    </p:spTree>
    <p:extLst>
      <p:ext uri="{BB962C8B-B14F-4D97-AF65-F5344CB8AC3E}">
        <p14:creationId xmlns:p14="http://schemas.microsoft.com/office/powerpoint/2010/main" val="2932107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3CF7F-24A6-48F4-B960-51A6539258DF}"/>
              </a:ext>
            </a:extLst>
          </p:cNvPr>
          <p:cNvSpPr>
            <a:spLocks noGrp="1"/>
          </p:cNvSpPr>
          <p:nvPr>
            <p:ph type="dt" sz="half" idx="10"/>
          </p:nvPr>
        </p:nvSpPr>
        <p:spPr/>
        <p:txBody>
          <a:bodyPr/>
          <a:lstStyle/>
          <a:p>
            <a:fld id="{E6DAEB60-C458-4E7B-B0FC-077370CA64E9}" type="datetimeFigureOut">
              <a:rPr lang="en-US" smtClean="0"/>
              <a:t>8/19/2026</a:t>
            </a:fld>
            <a:endParaRPr lang="en-US"/>
          </a:p>
        </p:txBody>
      </p:sp>
      <p:sp>
        <p:nvSpPr>
          <p:cNvPr id="3" name="Footer Placeholder 2">
            <a:extLst>
              <a:ext uri="{FF2B5EF4-FFF2-40B4-BE49-F238E27FC236}">
                <a16:creationId xmlns:a16="http://schemas.microsoft.com/office/drawing/2014/main" id="{E5ACC0A4-2C8A-469E-AEBD-35AC34B908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FD522C-A86B-4B68-8379-16224DF40AA4}"/>
              </a:ext>
            </a:extLst>
          </p:cNvPr>
          <p:cNvSpPr>
            <a:spLocks noGrp="1"/>
          </p:cNvSpPr>
          <p:nvPr>
            <p:ph type="sldNum" sz="quarter" idx="12"/>
          </p:nvPr>
        </p:nvSpPr>
        <p:spPr/>
        <p:txBody>
          <a:bodyPr/>
          <a:lstStyle/>
          <a:p>
            <a:fld id="{D87CC3F3-065B-4C90-BB48-618180818C20}" type="slidenum">
              <a:rPr lang="en-US" smtClean="0"/>
              <a:t>‹#›</a:t>
            </a:fld>
            <a:endParaRPr lang="en-US"/>
          </a:p>
        </p:txBody>
      </p:sp>
    </p:spTree>
    <p:extLst>
      <p:ext uri="{BB962C8B-B14F-4D97-AF65-F5344CB8AC3E}">
        <p14:creationId xmlns:p14="http://schemas.microsoft.com/office/powerpoint/2010/main" val="2904423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11C5E-B54B-47F0-B305-73A18AA1E2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929256-E491-44C1-8BAB-D0D847C863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2F3CF9-D4AA-4743-9C6D-380F5FBD7F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F0A32D-0538-4F53-88C6-063C9E5E622C}"/>
              </a:ext>
            </a:extLst>
          </p:cNvPr>
          <p:cNvSpPr>
            <a:spLocks noGrp="1"/>
          </p:cNvSpPr>
          <p:nvPr>
            <p:ph type="dt" sz="half" idx="10"/>
          </p:nvPr>
        </p:nvSpPr>
        <p:spPr/>
        <p:txBody>
          <a:bodyPr/>
          <a:lstStyle/>
          <a:p>
            <a:fld id="{E6DAEB60-C458-4E7B-B0FC-077370CA64E9}" type="datetimeFigureOut">
              <a:rPr lang="en-US" smtClean="0"/>
              <a:t>8/19/2026</a:t>
            </a:fld>
            <a:endParaRPr lang="en-US"/>
          </a:p>
        </p:txBody>
      </p:sp>
      <p:sp>
        <p:nvSpPr>
          <p:cNvPr id="6" name="Footer Placeholder 5">
            <a:extLst>
              <a:ext uri="{FF2B5EF4-FFF2-40B4-BE49-F238E27FC236}">
                <a16:creationId xmlns:a16="http://schemas.microsoft.com/office/drawing/2014/main" id="{F1C75E55-C84A-4979-A05E-8237311D24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5B916C-8B47-44F3-BF6D-D6BC2951DA25}"/>
              </a:ext>
            </a:extLst>
          </p:cNvPr>
          <p:cNvSpPr>
            <a:spLocks noGrp="1"/>
          </p:cNvSpPr>
          <p:nvPr>
            <p:ph type="sldNum" sz="quarter" idx="12"/>
          </p:nvPr>
        </p:nvSpPr>
        <p:spPr/>
        <p:txBody>
          <a:bodyPr/>
          <a:lstStyle/>
          <a:p>
            <a:fld id="{D87CC3F3-065B-4C90-BB48-618180818C20}" type="slidenum">
              <a:rPr lang="en-US" smtClean="0"/>
              <a:t>‹#›</a:t>
            </a:fld>
            <a:endParaRPr lang="en-US"/>
          </a:p>
        </p:txBody>
      </p:sp>
    </p:spTree>
    <p:extLst>
      <p:ext uri="{BB962C8B-B14F-4D97-AF65-F5344CB8AC3E}">
        <p14:creationId xmlns:p14="http://schemas.microsoft.com/office/powerpoint/2010/main" val="1789795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CFF2D-B75F-4253-B913-32155E14EB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622A8D-8AC0-42EE-937F-0B1ED624DF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D54D3D-823B-4CF3-BE8C-D15F7F8839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01C05F-1E9F-4EA3-BE27-067D84D625A8}"/>
              </a:ext>
            </a:extLst>
          </p:cNvPr>
          <p:cNvSpPr>
            <a:spLocks noGrp="1"/>
          </p:cNvSpPr>
          <p:nvPr>
            <p:ph type="dt" sz="half" idx="10"/>
          </p:nvPr>
        </p:nvSpPr>
        <p:spPr/>
        <p:txBody>
          <a:bodyPr/>
          <a:lstStyle/>
          <a:p>
            <a:fld id="{E6DAEB60-C458-4E7B-B0FC-077370CA64E9}" type="datetimeFigureOut">
              <a:rPr lang="en-US" smtClean="0"/>
              <a:t>8/19/2026</a:t>
            </a:fld>
            <a:endParaRPr lang="en-US"/>
          </a:p>
        </p:txBody>
      </p:sp>
      <p:sp>
        <p:nvSpPr>
          <p:cNvPr id="6" name="Footer Placeholder 5">
            <a:extLst>
              <a:ext uri="{FF2B5EF4-FFF2-40B4-BE49-F238E27FC236}">
                <a16:creationId xmlns:a16="http://schemas.microsoft.com/office/drawing/2014/main" id="{E6C04A68-6EC1-49F4-A19B-8E63B2D984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E95FCC-5567-4E83-98B6-4AD3940FB380}"/>
              </a:ext>
            </a:extLst>
          </p:cNvPr>
          <p:cNvSpPr>
            <a:spLocks noGrp="1"/>
          </p:cNvSpPr>
          <p:nvPr>
            <p:ph type="sldNum" sz="quarter" idx="12"/>
          </p:nvPr>
        </p:nvSpPr>
        <p:spPr/>
        <p:txBody>
          <a:bodyPr/>
          <a:lstStyle/>
          <a:p>
            <a:fld id="{D87CC3F3-065B-4C90-BB48-618180818C20}" type="slidenum">
              <a:rPr lang="en-US" smtClean="0"/>
              <a:t>‹#›</a:t>
            </a:fld>
            <a:endParaRPr lang="en-US"/>
          </a:p>
        </p:txBody>
      </p:sp>
    </p:spTree>
    <p:extLst>
      <p:ext uri="{BB962C8B-B14F-4D97-AF65-F5344CB8AC3E}">
        <p14:creationId xmlns:p14="http://schemas.microsoft.com/office/powerpoint/2010/main" val="755892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E529C-3398-4B08-ABB5-89B3C28BE8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7980B7-48C9-48F8-ACDD-27B6F79D61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711EB8-6463-4319-B6DE-B962C8CF949A}"/>
              </a:ext>
            </a:extLst>
          </p:cNvPr>
          <p:cNvSpPr>
            <a:spLocks noGrp="1"/>
          </p:cNvSpPr>
          <p:nvPr>
            <p:ph type="dt" sz="half" idx="10"/>
          </p:nvPr>
        </p:nvSpPr>
        <p:spPr/>
        <p:txBody>
          <a:bodyPr/>
          <a:lstStyle/>
          <a:p>
            <a:fld id="{E6DAEB60-C458-4E7B-B0FC-077370CA64E9}" type="datetimeFigureOut">
              <a:rPr lang="en-US" smtClean="0"/>
              <a:t>8/19/2026</a:t>
            </a:fld>
            <a:endParaRPr lang="en-US"/>
          </a:p>
        </p:txBody>
      </p:sp>
      <p:sp>
        <p:nvSpPr>
          <p:cNvPr id="5" name="Footer Placeholder 4">
            <a:extLst>
              <a:ext uri="{FF2B5EF4-FFF2-40B4-BE49-F238E27FC236}">
                <a16:creationId xmlns:a16="http://schemas.microsoft.com/office/drawing/2014/main" id="{36C20599-F2EA-414F-9311-A94BA02605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763FB8-019A-42E2-AE7B-22523621370D}"/>
              </a:ext>
            </a:extLst>
          </p:cNvPr>
          <p:cNvSpPr>
            <a:spLocks noGrp="1"/>
          </p:cNvSpPr>
          <p:nvPr>
            <p:ph type="sldNum" sz="quarter" idx="12"/>
          </p:nvPr>
        </p:nvSpPr>
        <p:spPr/>
        <p:txBody>
          <a:bodyPr/>
          <a:lstStyle/>
          <a:p>
            <a:fld id="{D87CC3F3-065B-4C90-BB48-618180818C20}" type="slidenum">
              <a:rPr lang="en-US" smtClean="0"/>
              <a:t>‹#›</a:t>
            </a:fld>
            <a:endParaRPr lang="en-US"/>
          </a:p>
        </p:txBody>
      </p:sp>
    </p:spTree>
    <p:extLst>
      <p:ext uri="{BB962C8B-B14F-4D97-AF65-F5344CB8AC3E}">
        <p14:creationId xmlns:p14="http://schemas.microsoft.com/office/powerpoint/2010/main" val="2110613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850230-A24A-4BB5-BD01-58EEDBC1CF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2A8CF6-E7F1-4C48-82AD-18BB51B185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1579E8-E246-406D-BD18-D1B33D6D78DA}"/>
              </a:ext>
            </a:extLst>
          </p:cNvPr>
          <p:cNvSpPr>
            <a:spLocks noGrp="1"/>
          </p:cNvSpPr>
          <p:nvPr>
            <p:ph type="dt" sz="half" idx="10"/>
          </p:nvPr>
        </p:nvSpPr>
        <p:spPr/>
        <p:txBody>
          <a:bodyPr/>
          <a:lstStyle/>
          <a:p>
            <a:fld id="{E6DAEB60-C458-4E7B-B0FC-077370CA64E9}" type="datetimeFigureOut">
              <a:rPr lang="en-US" smtClean="0"/>
              <a:t>8/19/2026</a:t>
            </a:fld>
            <a:endParaRPr lang="en-US"/>
          </a:p>
        </p:txBody>
      </p:sp>
      <p:sp>
        <p:nvSpPr>
          <p:cNvPr id="5" name="Footer Placeholder 4">
            <a:extLst>
              <a:ext uri="{FF2B5EF4-FFF2-40B4-BE49-F238E27FC236}">
                <a16:creationId xmlns:a16="http://schemas.microsoft.com/office/drawing/2014/main" id="{F77F3AAC-9D53-4E4D-A4A5-E92074CF4A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49CA28-9A50-4763-B8FB-2B1761217328}"/>
              </a:ext>
            </a:extLst>
          </p:cNvPr>
          <p:cNvSpPr>
            <a:spLocks noGrp="1"/>
          </p:cNvSpPr>
          <p:nvPr>
            <p:ph type="sldNum" sz="quarter" idx="12"/>
          </p:nvPr>
        </p:nvSpPr>
        <p:spPr/>
        <p:txBody>
          <a:bodyPr/>
          <a:lstStyle/>
          <a:p>
            <a:fld id="{D87CC3F3-065B-4C90-BB48-618180818C20}" type="slidenum">
              <a:rPr lang="en-US" smtClean="0"/>
              <a:t>‹#›</a:t>
            </a:fld>
            <a:endParaRPr lang="en-US"/>
          </a:p>
        </p:txBody>
      </p:sp>
    </p:spTree>
    <p:extLst>
      <p:ext uri="{BB962C8B-B14F-4D97-AF65-F5344CB8AC3E}">
        <p14:creationId xmlns:p14="http://schemas.microsoft.com/office/powerpoint/2010/main" val="1143768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352338-ABA6-410B-B4C4-971608A439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C122CB-85B9-456B-AAC7-A02095870A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2F5A35-01FE-4E27-87E9-14571B1BA2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DAEB60-C458-4E7B-B0FC-077370CA64E9}" type="datetimeFigureOut">
              <a:rPr lang="en-US" smtClean="0"/>
              <a:t>8/19/2026</a:t>
            </a:fld>
            <a:endParaRPr lang="en-US"/>
          </a:p>
        </p:txBody>
      </p:sp>
      <p:sp>
        <p:nvSpPr>
          <p:cNvPr id="5" name="Footer Placeholder 4">
            <a:extLst>
              <a:ext uri="{FF2B5EF4-FFF2-40B4-BE49-F238E27FC236}">
                <a16:creationId xmlns:a16="http://schemas.microsoft.com/office/drawing/2014/main" id="{104BC8A9-DD12-40B7-BC0F-34A907FE63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B6D225-593E-488F-96BA-AFBBCA3E7C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7CC3F3-065B-4C90-BB48-618180818C20}" type="slidenum">
              <a:rPr lang="en-US" smtClean="0"/>
              <a:t>‹#›</a:t>
            </a:fld>
            <a:endParaRPr lang="en-US"/>
          </a:p>
        </p:txBody>
      </p:sp>
    </p:spTree>
    <p:extLst>
      <p:ext uri="{BB962C8B-B14F-4D97-AF65-F5344CB8AC3E}">
        <p14:creationId xmlns:p14="http://schemas.microsoft.com/office/powerpoint/2010/main" val="33481941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7AF82-E3FC-43BD-95A4-B836D6BF03CC}"/>
              </a:ext>
            </a:extLst>
          </p:cNvPr>
          <p:cNvSpPr>
            <a:spLocks noGrp="1"/>
          </p:cNvSpPr>
          <p:nvPr>
            <p:ph type="ctrTitle"/>
          </p:nvPr>
        </p:nvSpPr>
        <p:spPr/>
        <p:txBody>
          <a:bodyPr/>
          <a:lstStyle/>
          <a:p>
            <a:r>
              <a:rPr lang="en-US" dirty="0"/>
              <a:t>Weighting predators by temperature and prey</a:t>
            </a:r>
          </a:p>
        </p:txBody>
      </p:sp>
      <p:sp>
        <p:nvSpPr>
          <p:cNvPr id="3" name="Subtitle 2">
            <a:extLst>
              <a:ext uri="{FF2B5EF4-FFF2-40B4-BE49-F238E27FC236}">
                <a16:creationId xmlns:a16="http://schemas.microsoft.com/office/drawing/2014/main" id="{6A4A7608-1816-4887-871A-3F876214050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2449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D45DF-FA4E-4A94-B955-A514F69A2857}"/>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9E1178DF-B2D7-4D06-9AE2-17FB334D3959}"/>
              </a:ext>
            </a:extLst>
          </p:cNvPr>
          <p:cNvSpPr>
            <a:spLocks noGrp="1"/>
          </p:cNvSpPr>
          <p:nvPr>
            <p:ph idx="1"/>
          </p:nvPr>
        </p:nvSpPr>
        <p:spPr/>
        <p:txBody>
          <a:bodyPr/>
          <a:lstStyle/>
          <a:p>
            <a:r>
              <a:rPr lang="en-US" dirty="0"/>
              <a:t>Preponderance of negative coefficients on prey terms and positive coefficients on predators</a:t>
            </a:r>
          </a:p>
          <a:p>
            <a:r>
              <a:rPr lang="en-US" dirty="0"/>
              <a:t>Minimal interannual variation in predator time series led to poor performance compared to negative prey indices</a:t>
            </a:r>
          </a:p>
          <a:p>
            <a:r>
              <a:rPr lang="en-US" dirty="0"/>
              <a:t>Lack of any management implications for future work</a:t>
            </a:r>
          </a:p>
        </p:txBody>
      </p:sp>
    </p:spTree>
    <p:extLst>
      <p:ext uri="{BB962C8B-B14F-4D97-AF65-F5344CB8AC3E}">
        <p14:creationId xmlns:p14="http://schemas.microsoft.com/office/powerpoint/2010/main" val="3197974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5D68678-6531-4524-ACB0-08CCD84CB604}"/>
              </a:ext>
            </a:extLst>
          </p:cNvPr>
          <p:cNvSpPr>
            <a:spLocks noGrp="1"/>
          </p:cNvSpPr>
          <p:nvPr>
            <p:ph type="title"/>
          </p:nvPr>
        </p:nvSpPr>
        <p:spPr>
          <a:xfrm>
            <a:off x="838200" y="497009"/>
            <a:ext cx="10515600" cy="1325563"/>
          </a:xfrm>
        </p:spPr>
        <p:txBody>
          <a:bodyPr>
            <a:normAutofit/>
          </a:bodyPr>
          <a:lstStyle/>
          <a:p>
            <a:pPr algn="ctr"/>
            <a:r>
              <a:rPr lang="en-US" sz="7200" b="1" dirty="0"/>
              <a:t>SHARKS</a:t>
            </a:r>
          </a:p>
        </p:txBody>
      </p:sp>
      <p:sp>
        <p:nvSpPr>
          <p:cNvPr id="5" name="Content Placeholder 4">
            <a:extLst>
              <a:ext uri="{FF2B5EF4-FFF2-40B4-BE49-F238E27FC236}">
                <a16:creationId xmlns:a16="http://schemas.microsoft.com/office/drawing/2014/main" id="{A6F72CF9-5F65-4644-9F8C-86858717EC63}"/>
              </a:ext>
            </a:extLst>
          </p:cNvPr>
          <p:cNvSpPr>
            <a:spLocks noGrp="1"/>
          </p:cNvSpPr>
          <p:nvPr>
            <p:ph idx="1"/>
          </p:nvPr>
        </p:nvSpPr>
        <p:spPr>
          <a:xfrm>
            <a:off x="1066799" y="1969476"/>
            <a:ext cx="10515600" cy="4068717"/>
          </a:xfrm>
        </p:spPr>
        <p:txBody>
          <a:bodyPr>
            <a:normAutofit/>
          </a:bodyPr>
          <a:lstStyle/>
          <a:p>
            <a:pPr marL="0" indent="0">
              <a:buNone/>
            </a:pPr>
            <a:r>
              <a:rPr lang="en-US" dirty="0"/>
              <a:t>known significant salmon predators </a:t>
            </a:r>
            <a:r>
              <a:rPr lang="en-US" b="1" dirty="0">
                <a:solidFill>
                  <a:srgbClr val="1F1F1F"/>
                </a:solidFill>
                <a:latin typeface="Google Sans Text"/>
              </a:rPr>
              <a:t>	Seitz et al. (2019)</a:t>
            </a:r>
            <a:r>
              <a:rPr lang="en-US" dirty="0">
                <a:solidFill>
                  <a:srgbClr val="1F1F1F"/>
                </a:solidFill>
                <a:latin typeface="Google Sans Text"/>
              </a:rPr>
              <a:t> </a:t>
            </a:r>
            <a:br>
              <a:rPr lang="en-US" dirty="0">
                <a:solidFill>
                  <a:srgbClr val="1F1F1F"/>
                </a:solidFill>
                <a:latin typeface="Google Sans Text"/>
              </a:rPr>
            </a:br>
            <a:br>
              <a:rPr lang="en-US" dirty="0">
                <a:solidFill>
                  <a:srgbClr val="1F1F1F"/>
                </a:solidFill>
                <a:latin typeface="Google Sans Text"/>
              </a:rPr>
            </a:br>
            <a:r>
              <a:rPr lang="en-US" dirty="0">
                <a:solidFill>
                  <a:srgbClr val="1F1F1F"/>
                </a:solidFill>
                <a:latin typeface="Google Sans Text"/>
              </a:rPr>
              <a:t>Mechanism:</a:t>
            </a:r>
            <a:endParaRPr lang="en-US" dirty="0"/>
          </a:p>
          <a:p>
            <a:pPr marL="514350" indent="-514350">
              <a:buFont typeface="+mj-lt"/>
              <a:buAutoNum type="arabicParenR"/>
            </a:pPr>
            <a:r>
              <a:rPr lang="en-US" dirty="0"/>
              <a:t>Spatial overlap w/ salmon may increase in warm years</a:t>
            </a:r>
          </a:p>
          <a:p>
            <a:pPr marL="457200" lvl="1" indent="0">
              <a:buNone/>
            </a:pPr>
            <a:r>
              <a:rPr lang="en-US" dirty="0"/>
              <a:t>	Salmon could go deeper earlier, reside in narrower band of water</a:t>
            </a:r>
          </a:p>
          <a:p>
            <a:pPr marL="914400" lvl="2" indent="0">
              <a:buNone/>
            </a:pPr>
            <a:r>
              <a:rPr lang="en-US" dirty="0"/>
              <a:t>	</a:t>
            </a:r>
            <a:r>
              <a:rPr lang="en-US" dirty="0" err="1"/>
              <a:t>Langan</a:t>
            </a:r>
            <a:r>
              <a:rPr lang="en-US" dirty="0"/>
              <a:t> et al 2024</a:t>
            </a:r>
            <a:br>
              <a:rPr lang="en-US" dirty="0"/>
            </a:br>
            <a:endParaRPr lang="en-US" dirty="0"/>
          </a:p>
          <a:p>
            <a:pPr marL="514350" indent="-514350">
              <a:buFont typeface="+mj-lt"/>
              <a:buAutoNum type="arabicParenR"/>
            </a:pPr>
            <a:r>
              <a:rPr lang="en-US" dirty="0"/>
              <a:t>Shark consumption in general might increase in warm years: metabolic cost increases hunger, eat more salmon</a:t>
            </a:r>
          </a:p>
          <a:p>
            <a:pPr marL="457200" lvl="1" indent="0">
              <a:buNone/>
            </a:pPr>
            <a:r>
              <a:rPr lang="en-US" b="1" dirty="0">
                <a:solidFill>
                  <a:srgbClr val="1F1F1F"/>
                </a:solidFill>
                <a:latin typeface="Google Sans Text"/>
              </a:rPr>
              <a:t>	</a:t>
            </a:r>
            <a:r>
              <a:rPr lang="en-US" b="1" dirty="0">
                <a:solidFill>
                  <a:srgbClr val="1F1F1F"/>
                </a:solidFill>
                <a:effectLst/>
                <a:latin typeface="Google Sans Text"/>
              </a:rPr>
              <a:t>Carlson et al. (2004), Goldman et al. (2004)</a:t>
            </a:r>
            <a:endParaRPr lang="en-US" dirty="0"/>
          </a:p>
        </p:txBody>
      </p:sp>
    </p:spTree>
    <p:extLst>
      <p:ext uri="{BB962C8B-B14F-4D97-AF65-F5344CB8AC3E}">
        <p14:creationId xmlns:p14="http://schemas.microsoft.com/office/powerpoint/2010/main" val="772163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5D68678-6531-4524-ACB0-08CCD84CB604}"/>
              </a:ext>
            </a:extLst>
          </p:cNvPr>
          <p:cNvSpPr>
            <a:spLocks noGrp="1"/>
          </p:cNvSpPr>
          <p:nvPr>
            <p:ph type="title"/>
          </p:nvPr>
        </p:nvSpPr>
        <p:spPr>
          <a:xfrm>
            <a:off x="838200" y="497009"/>
            <a:ext cx="10515600" cy="1325563"/>
          </a:xfrm>
        </p:spPr>
        <p:txBody>
          <a:bodyPr>
            <a:normAutofit/>
          </a:bodyPr>
          <a:lstStyle/>
          <a:p>
            <a:pPr algn="ctr"/>
            <a:r>
              <a:rPr lang="en-US" sz="7200" b="1" dirty="0"/>
              <a:t>SSL in GOA</a:t>
            </a:r>
          </a:p>
        </p:txBody>
      </p:sp>
      <p:sp>
        <p:nvSpPr>
          <p:cNvPr id="5" name="Content Placeholder 4">
            <a:extLst>
              <a:ext uri="{FF2B5EF4-FFF2-40B4-BE49-F238E27FC236}">
                <a16:creationId xmlns:a16="http://schemas.microsoft.com/office/drawing/2014/main" id="{A6F72CF9-5F65-4644-9F8C-86858717EC63}"/>
              </a:ext>
            </a:extLst>
          </p:cNvPr>
          <p:cNvSpPr>
            <a:spLocks noGrp="1"/>
          </p:cNvSpPr>
          <p:nvPr>
            <p:ph idx="1"/>
          </p:nvPr>
        </p:nvSpPr>
        <p:spPr>
          <a:xfrm>
            <a:off x="1066799" y="1969476"/>
            <a:ext cx="10515600" cy="4068717"/>
          </a:xfrm>
        </p:spPr>
        <p:txBody>
          <a:bodyPr>
            <a:normAutofit fontScale="85000" lnSpcReduction="20000"/>
          </a:bodyPr>
          <a:lstStyle/>
          <a:p>
            <a:pPr marL="0" indent="0">
              <a:buNone/>
            </a:pPr>
            <a:r>
              <a:rPr lang="en-US" dirty="0"/>
              <a:t>known to prey-switch to target salmon seasonally and when other prey are less available</a:t>
            </a:r>
            <a:br>
              <a:rPr lang="en-US" dirty="0">
                <a:solidFill>
                  <a:srgbClr val="1F1F1F"/>
                </a:solidFill>
                <a:latin typeface="Google Sans Text"/>
              </a:rPr>
            </a:br>
            <a:br>
              <a:rPr lang="en-US" dirty="0">
                <a:solidFill>
                  <a:srgbClr val="1F1F1F"/>
                </a:solidFill>
                <a:latin typeface="Google Sans Text"/>
              </a:rPr>
            </a:br>
            <a:r>
              <a:rPr lang="en-US" dirty="0">
                <a:solidFill>
                  <a:srgbClr val="1F1F1F"/>
                </a:solidFill>
                <a:latin typeface="Google Sans Text"/>
              </a:rPr>
              <a:t>Mechanism:</a:t>
            </a:r>
            <a:endParaRPr lang="en-US" dirty="0"/>
          </a:p>
          <a:p>
            <a:pPr marL="0" indent="0">
              <a:buNone/>
            </a:pPr>
            <a:r>
              <a:rPr lang="en-US" b="1" dirty="0">
                <a:solidFill>
                  <a:srgbClr val="1F1F1F"/>
                </a:solidFill>
                <a:effectLst/>
                <a:latin typeface="Google Sans"/>
              </a:rPr>
              <a:t>3. Prey-Switching to Salmon when Lipid-Dense Forage Fish (herring, capelin) Decline</a:t>
            </a:r>
            <a:br>
              <a:rPr lang="en-US" b="1" dirty="0">
                <a:solidFill>
                  <a:srgbClr val="1F1F1F"/>
                </a:solidFill>
                <a:effectLst/>
                <a:latin typeface="Google Sans"/>
              </a:rPr>
            </a:br>
            <a:r>
              <a:rPr lang="en-US" b="1" dirty="0">
                <a:solidFill>
                  <a:srgbClr val="1F1F1F"/>
                </a:solidFill>
                <a:latin typeface="Google Sans Text"/>
              </a:rPr>
              <a:t>	Fritz et al. (2019), </a:t>
            </a:r>
            <a:r>
              <a:rPr lang="en-US" b="1" dirty="0" err="1">
                <a:solidFill>
                  <a:srgbClr val="1F1F1F"/>
                </a:solidFill>
                <a:latin typeface="Google Sans Text"/>
              </a:rPr>
              <a:t>McHuron</a:t>
            </a:r>
            <a:r>
              <a:rPr lang="en-US" b="1" dirty="0">
                <a:solidFill>
                  <a:srgbClr val="1F1F1F"/>
                </a:solidFill>
                <a:latin typeface="Google Sans Text"/>
              </a:rPr>
              <a:t> et al. (2018), Lander et al. (2020)</a:t>
            </a:r>
            <a:br>
              <a:rPr lang="en-US" b="1" dirty="0">
                <a:solidFill>
                  <a:srgbClr val="1F1F1F"/>
                </a:solidFill>
                <a:latin typeface="Google Sans Text"/>
              </a:rPr>
            </a:br>
            <a:endParaRPr lang="en-US" b="1" dirty="0">
              <a:solidFill>
                <a:srgbClr val="1F1F1F"/>
              </a:solidFill>
              <a:latin typeface="Google Sans Text"/>
            </a:endParaRPr>
          </a:p>
          <a:p>
            <a:pPr marL="0" indent="0">
              <a:buNone/>
            </a:pPr>
            <a:endParaRPr lang="en-US" b="1" dirty="0">
              <a:solidFill>
                <a:srgbClr val="1F1F1F"/>
              </a:solidFill>
              <a:latin typeface="Google Sans"/>
            </a:endParaRPr>
          </a:p>
          <a:p>
            <a:pPr marL="0" indent="0">
              <a:buNone/>
            </a:pPr>
            <a:r>
              <a:rPr lang="en-US" b="1" dirty="0">
                <a:solidFill>
                  <a:srgbClr val="1F1F1F"/>
                </a:solidFill>
                <a:latin typeface="Google Sans"/>
              </a:rPr>
              <a:t>(also 2) C</a:t>
            </a:r>
            <a:r>
              <a:rPr lang="en-US" dirty="0"/>
              <a:t>onsumption in general might increase in warm years: have to forage further offshore, dive deeper, longer, more costly trips when coastal prey less available, increases metabolic cost, eat more salmon</a:t>
            </a:r>
            <a:br>
              <a:rPr lang="en-US" dirty="0"/>
            </a:br>
            <a:r>
              <a:rPr lang="en-US" dirty="0"/>
              <a:t>	</a:t>
            </a:r>
            <a:r>
              <a:rPr lang="en-US" b="1" dirty="0">
                <a:solidFill>
                  <a:srgbClr val="1F1F1F"/>
                </a:solidFill>
                <a:effectLst/>
                <a:latin typeface="Google Sans Text"/>
              </a:rPr>
              <a:t>Sigler et al. (2009), Womble and Sigler (2006), </a:t>
            </a:r>
            <a:r>
              <a:rPr lang="en-US" b="1" dirty="0" err="1">
                <a:solidFill>
                  <a:srgbClr val="1F1F1F"/>
                </a:solidFill>
                <a:effectLst/>
                <a:latin typeface="Google Sans Text"/>
              </a:rPr>
              <a:t>Trites</a:t>
            </a:r>
            <a:r>
              <a:rPr lang="en-US" b="1" dirty="0">
                <a:solidFill>
                  <a:srgbClr val="1F1F1F"/>
                </a:solidFill>
                <a:effectLst/>
                <a:latin typeface="Google Sans Text"/>
              </a:rPr>
              <a:t> and Donnelly (2003)</a:t>
            </a:r>
            <a:endParaRPr lang="en-US" dirty="0"/>
          </a:p>
        </p:txBody>
      </p:sp>
    </p:spTree>
    <p:extLst>
      <p:ext uri="{BB962C8B-B14F-4D97-AF65-F5344CB8AC3E}">
        <p14:creationId xmlns:p14="http://schemas.microsoft.com/office/powerpoint/2010/main" val="3661705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5D68678-6531-4524-ACB0-08CCD84CB604}"/>
              </a:ext>
            </a:extLst>
          </p:cNvPr>
          <p:cNvSpPr>
            <a:spLocks noGrp="1"/>
          </p:cNvSpPr>
          <p:nvPr>
            <p:ph type="title"/>
          </p:nvPr>
        </p:nvSpPr>
        <p:spPr>
          <a:xfrm>
            <a:off x="838200" y="497009"/>
            <a:ext cx="10515600" cy="1325563"/>
          </a:xfrm>
        </p:spPr>
        <p:txBody>
          <a:bodyPr>
            <a:normAutofit/>
          </a:bodyPr>
          <a:lstStyle/>
          <a:p>
            <a:pPr algn="ctr"/>
            <a:r>
              <a:rPr lang="en-US" sz="7200" b="1" dirty="0"/>
              <a:t>CSL in Columbia River</a:t>
            </a:r>
          </a:p>
        </p:txBody>
      </p:sp>
      <p:sp>
        <p:nvSpPr>
          <p:cNvPr id="5" name="Content Placeholder 4">
            <a:extLst>
              <a:ext uri="{FF2B5EF4-FFF2-40B4-BE49-F238E27FC236}">
                <a16:creationId xmlns:a16="http://schemas.microsoft.com/office/drawing/2014/main" id="{A6F72CF9-5F65-4644-9F8C-86858717EC63}"/>
              </a:ext>
            </a:extLst>
          </p:cNvPr>
          <p:cNvSpPr>
            <a:spLocks noGrp="1"/>
          </p:cNvSpPr>
          <p:nvPr>
            <p:ph idx="1"/>
          </p:nvPr>
        </p:nvSpPr>
        <p:spPr>
          <a:xfrm>
            <a:off x="1066799" y="1969476"/>
            <a:ext cx="10515600" cy="4068717"/>
          </a:xfrm>
        </p:spPr>
        <p:txBody>
          <a:bodyPr>
            <a:normAutofit/>
          </a:bodyPr>
          <a:lstStyle/>
          <a:p>
            <a:pPr marL="0" indent="0">
              <a:buNone/>
            </a:pPr>
            <a:br>
              <a:rPr lang="en-US" dirty="0">
                <a:solidFill>
                  <a:srgbClr val="1F1F1F"/>
                </a:solidFill>
                <a:latin typeface="Google Sans Text"/>
              </a:rPr>
            </a:br>
            <a:r>
              <a:rPr lang="en-US" dirty="0">
                <a:solidFill>
                  <a:srgbClr val="1F1F1F"/>
                </a:solidFill>
                <a:latin typeface="Google Sans Text"/>
              </a:rPr>
              <a:t>Mechanism:</a:t>
            </a:r>
          </a:p>
          <a:p>
            <a:pPr marL="0" indent="0">
              <a:buNone/>
            </a:pPr>
            <a:r>
              <a:rPr lang="en-US" dirty="0">
                <a:solidFill>
                  <a:srgbClr val="1F1F1F"/>
                </a:solidFill>
                <a:latin typeface="Google Sans Text"/>
              </a:rPr>
              <a:t>4. Phenology-driven alternative prey availability</a:t>
            </a:r>
            <a:endParaRPr lang="en-US" dirty="0"/>
          </a:p>
          <a:p>
            <a:pPr marL="457200" lvl="1" indent="0">
              <a:buNone/>
            </a:pPr>
            <a:br>
              <a:rPr lang="en-US" dirty="0">
                <a:solidFill>
                  <a:srgbClr val="1F1F1F"/>
                </a:solidFill>
                <a:effectLst/>
                <a:latin typeface="Google Sans"/>
              </a:rPr>
            </a:br>
            <a:r>
              <a:rPr lang="en-US" dirty="0">
                <a:solidFill>
                  <a:srgbClr val="1F1F1F"/>
                </a:solidFill>
                <a:effectLst/>
                <a:latin typeface="Google Sans"/>
              </a:rPr>
              <a:t>Enter Columbia River for eulachon run, stay to eat salmon, but </a:t>
            </a:r>
            <a:r>
              <a:rPr lang="en-US" dirty="0">
                <a:solidFill>
                  <a:srgbClr val="1F1F1F"/>
                </a:solidFill>
                <a:latin typeface="Google Sans"/>
              </a:rPr>
              <a:t>leave during spring run for life history reasons. Specific overlap timing determines predation risk for salmon</a:t>
            </a:r>
            <a:br>
              <a:rPr lang="en-US" dirty="0">
                <a:solidFill>
                  <a:srgbClr val="1F1F1F"/>
                </a:solidFill>
                <a:effectLst/>
                <a:latin typeface="Google Sans"/>
              </a:rPr>
            </a:br>
            <a:r>
              <a:rPr lang="en-US" dirty="0">
                <a:solidFill>
                  <a:srgbClr val="1F1F1F"/>
                </a:solidFill>
                <a:latin typeface="Google Sans Text"/>
              </a:rPr>
              <a:t>	</a:t>
            </a:r>
            <a:r>
              <a:rPr lang="en-US" dirty="0" err="1">
                <a:solidFill>
                  <a:srgbClr val="1F1F1F"/>
                </a:solidFill>
                <a:effectLst/>
                <a:latin typeface="Google Sans Text"/>
              </a:rPr>
              <a:t>Wargo</a:t>
            </a:r>
            <a:r>
              <a:rPr lang="en-US" dirty="0">
                <a:solidFill>
                  <a:srgbClr val="1F1F1F"/>
                </a:solidFill>
                <a:effectLst/>
                <a:latin typeface="Google Sans Text"/>
              </a:rPr>
              <a:t> et al. (2019), Sorel et al 2021, lots of Bonneville reports etc.</a:t>
            </a:r>
            <a:br>
              <a:rPr lang="en-US" dirty="0">
                <a:solidFill>
                  <a:srgbClr val="1F1F1F"/>
                </a:solidFill>
                <a:latin typeface="Google Sans Text"/>
              </a:rPr>
            </a:br>
            <a:endParaRPr lang="en-US" dirty="0">
              <a:solidFill>
                <a:srgbClr val="1F1F1F"/>
              </a:solidFill>
              <a:latin typeface="Google Sans Text"/>
            </a:endParaRPr>
          </a:p>
          <a:p>
            <a:pPr marL="0" indent="0">
              <a:buNone/>
            </a:pPr>
            <a:endParaRPr lang="en-US" dirty="0">
              <a:solidFill>
                <a:srgbClr val="1F1F1F"/>
              </a:solidFill>
              <a:effectLst/>
              <a:latin typeface="Google Sans"/>
            </a:endParaRPr>
          </a:p>
        </p:txBody>
      </p:sp>
    </p:spTree>
    <p:extLst>
      <p:ext uri="{BB962C8B-B14F-4D97-AF65-F5344CB8AC3E}">
        <p14:creationId xmlns:p14="http://schemas.microsoft.com/office/powerpoint/2010/main" val="3899865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998B2-BBBB-4020-99AF-24A483EAD6C5}"/>
              </a:ext>
            </a:extLst>
          </p:cNvPr>
          <p:cNvSpPr>
            <a:spLocks noGrp="1"/>
          </p:cNvSpPr>
          <p:nvPr>
            <p:ph type="title"/>
          </p:nvPr>
        </p:nvSpPr>
        <p:spPr/>
        <p:txBody>
          <a:bodyPr/>
          <a:lstStyle/>
          <a:p>
            <a:r>
              <a:rPr lang="en-US" dirty="0"/>
              <a:t>Current predators in the model</a:t>
            </a:r>
          </a:p>
        </p:txBody>
      </p:sp>
      <p:sp>
        <p:nvSpPr>
          <p:cNvPr id="3" name="Content Placeholder 2">
            <a:extLst>
              <a:ext uri="{FF2B5EF4-FFF2-40B4-BE49-F238E27FC236}">
                <a16:creationId xmlns:a16="http://schemas.microsoft.com/office/drawing/2014/main" id="{A3C91D33-E809-426A-9B41-99B0F247BFCC}"/>
              </a:ext>
            </a:extLst>
          </p:cNvPr>
          <p:cNvSpPr>
            <a:spLocks noGrp="1"/>
          </p:cNvSpPr>
          <p:nvPr>
            <p:ph idx="1"/>
          </p:nvPr>
        </p:nvSpPr>
        <p:spPr>
          <a:xfrm>
            <a:off x="838199" y="1825625"/>
            <a:ext cx="10952285" cy="4351338"/>
          </a:xfrm>
        </p:spPr>
        <p:txBody>
          <a:bodyPr>
            <a:normAutofit fontScale="62500" lnSpcReduction="20000"/>
          </a:bodyPr>
          <a:lstStyle/>
          <a:p>
            <a:r>
              <a:rPr lang="en-US" dirty="0"/>
              <a:t>NCC</a:t>
            </a:r>
          </a:p>
          <a:p>
            <a:pPr lvl="1"/>
            <a:r>
              <a:rPr lang="en-US" dirty="0"/>
              <a:t>Birds – murre positive</a:t>
            </a:r>
          </a:p>
          <a:p>
            <a:pPr lvl="1"/>
            <a:r>
              <a:rPr lang="en-US" dirty="0"/>
              <a:t>Fish – hake/mackerel negative</a:t>
            </a:r>
          </a:p>
          <a:p>
            <a:pPr lvl="1"/>
            <a:r>
              <a:rPr lang="en-US" dirty="0"/>
              <a:t>Mammals – NS for smolts, see below for adults</a:t>
            </a:r>
          </a:p>
          <a:p>
            <a:pPr lvl="1"/>
            <a:endParaRPr lang="en-US" dirty="0"/>
          </a:p>
          <a:p>
            <a:r>
              <a:rPr lang="en-US" dirty="0"/>
              <a:t>AK</a:t>
            </a:r>
          </a:p>
          <a:p>
            <a:pPr lvl="1"/>
            <a:r>
              <a:rPr lang="en-US" dirty="0"/>
              <a:t>Birds – not our focus as predators</a:t>
            </a:r>
          </a:p>
          <a:p>
            <a:pPr lvl="2"/>
            <a:r>
              <a:rPr lang="en-US" dirty="0"/>
              <a:t>assuming smolts are deeper/more offshore??? outgrown risk???</a:t>
            </a:r>
          </a:p>
          <a:p>
            <a:pPr lvl="2"/>
            <a:r>
              <a:rPr lang="en-US" dirty="0"/>
              <a:t>Actually this probably is not supported by the AK juvenile salmon studies</a:t>
            </a:r>
            <a:br>
              <a:rPr lang="en-US" dirty="0"/>
            </a:br>
            <a:endParaRPr lang="en-US" dirty="0"/>
          </a:p>
          <a:p>
            <a:pPr lvl="1"/>
            <a:r>
              <a:rPr lang="en-US" dirty="0"/>
              <a:t>Fish – sharks known to target salmon. </a:t>
            </a:r>
          </a:p>
          <a:p>
            <a:pPr lvl="2"/>
            <a:r>
              <a:rPr lang="en-US" dirty="0"/>
              <a:t>P cod and halibut are clearly a proxy (wrong sign)</a:t>
            </a:r>
          </a:p>
          <a:p>
            <a:pPr lvl="2"/>
            <a:r>
              <a:rPr lang="en-US" dirty="0"/>
              <a:t>others more questionable (</a:t>
            </a:r>
            <a:r>
              <a:rPr lang="en-US" dirty="0" err="1"/>
              <a:t>arrowtooth</a:t>
            </a:r>
            <a:r>
              <a:rPr lang="en-US" dirty="0"/>
              <a:t>, targeting pollock)</a:t>
            </a:r>
          </a:p>
          <a:p>
            <a:pPr lvl="2"/>
            <a:endParaRPr lang="en-US" dirty="0"/>
          </a:p>
          <a:p>
            <a:pPr lvl="1"/>
            <a:r>
              <a:rPr lang="en-US" dirty="0"/>
              <a:t>Mammals </a:t>
            </a:r>
          </a:p>
          <a:p>
            <a:pPr lvl="2"/>
            <a:r>
              <a:rPr lang="en-US" dirty="0"/>
              <a:t>KW consistently target salmon -- probably don’t prey switch or need </a:t>
            </a:r>
            <a:r>
              <a:rPr lang="en-US" dirty="0" err="1"/>
              <a:t>envir</a:t>
            </a:r>
            <a:r>
              <a:rPr lang="en-US" dirty="0"/>
              <a:t> spatial overlap</a:t>
            </a:r>
          </a:p>
          <a:p>
            <a:pPr lvl="2"/>
            <a:r>
              <a:rPr lang="en-US" dirty="0"/>
              <a:t>SSL whole range – time series is linear, not reflecting behavioral variation</a:t>
            </a:r>
          </a:p>
          <a:p>
            <a:pPr lvl="2"/>
            <a:r>
              <a:rPr lang="en-US" dirty="0"/>
              <a:t>Columbia River CSL+SSL – definitely do prey switch</a:t>
            </a:r>
          </a:p>
          <a:p>
            <a:pPr lvl="2"/>
            <a:r>
              <a:rPr lang="en-US" dirty="0"/>
              <a:t>AK SSL – there is evidence of prey switching</a:t>
            </a:r>
          </a:p>
          <a:p>
            <a:pPr lvl="1"/>
            <a:endParaRPr lang="en-US" dirty="0"/>
          </a:p>
        </p:txBody>
      </p:sp>
    </p:spTree>
    <p:extLst>
      <p:ext uri="{BB962C8B-B14F-4D97-AF65-F5344CB8AC3E}">
        <p14:creationId xmlns:p14="http://schemas.microsoft.com/office/powerpoint/2010/main" val="1196254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0C2D7D2-5D11-44FF-A1AA-C0DBD83BB43A}"/>
              </a:ext>
            </a:extLst>
          </p:cNvPr>
          <p:cNvSpPr>
            <a:spLocks noGrp="1"/>
          </p:cNvSpPr>
          <p:nvPr>
            <p:ph type="title"/>
          </p:nvPr>
        </p:nvSpPr>
        <p:spPr>
          <a:xfrm>
            <a:off x="831850" y="1709739"/>
            <a:ext cx="10515600" cy="1947862"/>
          </a:xfrm>
        </p:spPr>
        <p:txBody>
          <a:bodyPr/>
          <a:lstStyle/>
          <a:p>
            <a:pPr algn="ctr"/>
            <a:r>
              <a:rPr lang="en-US" dirty="0"/>
              <a:t>	SHARKS</a:t>
            </a:r>
          </a:p>
        </p:txBody>
      </p:sp>
      <p:sp>
        <p:nvSpPr>
          <p:cNvPr id="5" name="Text Placeholder 4">
            <a:extLst>
              <a:ext uri="{FF2B5EF4-FFF2-40B4-BE49-F238E27FC236}">
                <a16:creationId xmlns:a16="http://schemas.microsoft.com/office/drawing/2014/main" id="{3C6BBC65-C298-430E-AF83-6496603C397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55377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42ACE-6EE7-4869-A112-66856C8C04DF}"/>
              </a:ext>
            </a:extLst>
          </p:cNvPr>
          <p:cNvSpPr>
            <a:spLocks noGrp="1"/>
          </p:cNvSpPr>
          <p:nvPr>
            <p:ph type="title"/>
          </p:nvPr>
        </p:nvSpPr>
        <p:spPr/>
        <p:txBody>
          <a:bodyPr/>
          <a:lstStyle/>
          <a:p>
            <a:r>
              <a:rPr lang="en-US" dirty="0"/>
              <a:t>Shark index</a:t>
            </a:r>
          </a:p>
        </p:txBody>
      </p:sp>
      <p:sp>
        <p:nvSpPr>
          <p:cNvPr id="5" name="Content Placeholder 4">
            <a:extLst>
              <a:ext uri="{FF2B5EF4-FFF2-40B4-BE49-F238E27FC236}">
                <a16:creationId xmlns:a16="http://schemas.microsoft.com/office/drawing/2014/main" id="{5E578EC2-907B-4C34-974D-3BC2D8654990}"/>
              </a:ext>
            </a:extLst>
          </p:cNvPr>
          <p:cNvSpPr>
            <a:spLocks noGrp="1"/>
          </p:cNvSpPr>
          <p:nvPr>
            <p:ph idx="1"/>
          </p:nvPr>
        </p:nvSpPr>
        <p:spPr>
          <a:xfrm>
            <a:off x="290945" y="1253330"/>
            <a:ext cx="5500255" cy="5501799"/>
          </a:xfrm>
        </p:spPr>
        <p:txBody>
          <a:bodyPr>
            <a:normAutofit fontScale="55000" lnSpcReduction="20000"/>
          </a:bodyPr>
          <a:lstStyle/>
          <a:p>
            <a:r>
              <a:rPr lang="en-US" dirty="0"/>
              <a:t>Bioenergetics + </a:t>
            </a:r>
            <a:r>
              <a:rPr lang="fr-FR" dirty="0" err="1"/>
              <a:t>foraging</a:t>
            </a:r>
            <a:r>
              <a:rPr lang="fr-FR" dirty="0"/>
              <a:t> </a:t>
            </a:r>
            <a:r>
              <a:rPr lang="fr-FR" dirty="0" err="1"/>
              <a:t>arena</a:t>
            </a:r>
            <a:r>
              <a:rPr lang="fr-FR" dirty="0"/>
              <a:t> </a:t>
            </a:r>
            <a:r>
              <a:rPr lang="fr-FR" dirty="0" err="1"/>
              <a:t>theory</a:t>
            </a:r>
            <a:r>
              <a:rPr lang="fr-FR" dirty="0"/>
              <a:t> (</a:t>
            </a:r>
            <a:r>
              <a:rPr lang="fr-FR" dirty="0" err="1"/>
              <a:t>Ecosim</a:t>
            </a:r>
            <a:r>
              <a:rPr lang="fr-FR" dirty="0"/>
              <a:t>)</a:t>
            </a:r>
            <a:br>
              <a:rPr lang="fr-FR" dirty="0"/>
            </a:br>
            <a:endParaRPr lang="en-US" dirty="0"/>
          </a:p>
          <a:p>
            <a:r>
              <a:rPr lang="en-US" dirty="0" err="1"/>
              <a:t>i_shark</a:t>
            </a:r>
            <a:r>
              <a:rPr lang="en-US" dirty="0"/>
              <a:t> = log(</a:t>
            </a:r>
            <a:r>
              <a:rPr lang="en-US" dirty="0" err="1"/>
              <a:t>n_shark</a:t>
            </a:r>
            <a:r>
              <a:rPr lang="en-US" dirty="0"/>
              <a:t>)*M(t)*O(t)</a:t>
            </a:r>
          </a:p>
          <a:p>
            <a:r>
              <a:rPr lang="en-US" b="1" dirty="0"/>
              <a:t>Metabolic equation:</a:t>
            </a:r>
            <a:br>
              <a:rPr lang="en-US" b="1" dirty="0"/>
            </a:br>
            <a:br>
              <a:rPr lang="en-US" dirty="0"/>
            </a:br>
            <a:r>
              <a:rPr lang="fr-FR" dirty="0"/>
              <a:t>M(t)   = Q</a:t>
            </a:r>
            <a:r>
              <a:rPr lang="fr-FR" baseline="-25000" dirty="0"/>
              <a:t>10</a:t>
            </a:r>
            <a:r>
              <a:rPr lang="fr-FR" baseline="30000" dirty="0"/>
              <a:t>((T - Tref) / 10)</a:t>
            </a:r>
            <a:br>
              <a:rPr lang="fr-FR" dirty="0"/>
            </a:br>
            <a:r>
              <a:rPr lang="fr-FR" dirty="0"/>
              <a:t>Q</a:t>
            </a:r>
            <a:r>
              <a:rPr lang="fr-FR" baseline="-25000" dirty="0"/>
              <a:t>10</a:t>
            </a:r>
            <a:r>
              <a:rPr lang="fr-FR" dirty="0"/>
              <a:t>=2</a:t>
            </a:r>
            <a:br>
              <a:rPr lang="en-US" dirty="0"/>
            </a:br>
            <a:endParaRPr lang="en-US" dirty="0"/>
          </a:p>
          <a:p>
            <a:r>
              <a:rPr lang="en-US" dirty="0"/>
              <a:t>where M(t) is the increase in metabolic cost of swimming in a warmer ocean</a:t>
            </a:r>
            <a:br>
              <a:rPr lang="en-US" dirty="0"/>
            </a:br>
            <a:endParaRPr lang="en-US" dirty="0"/>
          </a:p>
          <a:p>
            <a:r>
              <a:rPr lang="en-US" b="1" dirty="0"/>
              <a:t>Overlap equation:</a:t>
            </a:r>
            <a:r>
              <a:rPr lang="en-US" dirty="0"/>
              <a:t>	</a:t>
            </a:r>
            <a:br>
              <a:rPr lang="en-US" dirty="0"/>
            </a:br>
            <a:br>
              <a:rPr lang="en-US" dirty="0"/>
            </a:br>
            <a:r>
              <a:rPr lang="fr-FR" dirty="0"/>
              <a:t> </a:t>
            </a:r>
            <a:br>
              <a:rPr lang="fr-FR" dirty="0"/>
            </a:br>
            <a:r>
              <a:rPr lang="fr-FR" dirty="0"/>
              <a:t>O(t)=</a:t>
            </a:r>
            <a:r>
              <a:rPr lang="en-US" dirty="0"/>
              <a:t> </a:t>
            </a:r>
            <a:r>
              <a:rPr lang="en-US" dirty="0" err="1"/>
              <a:t>plogis</a:t>
            </a:r>
            <a:r>
              <a:rPr lang="en-US" dirty="0"/>
              <a:t>(</a:t>
            </a:r>
            <a:r>
              <a:rPr lang="el-GR" i="1" dirty="0">
                <a:latin typeface="Calibri" panose="020F0502020204030204" pitchFamily="34" charset="0"/>
                <a:ea typeface="Calibri" panose="020F0502020204030204" pitchFamily="34" charset="0"/>
                <a:cs typeface="Calibri" panose="020F0502020204030204" pitchFamily="34" charset="0"/>
              </a:rPr>
              <a:t>β</a:t>
            </a:r>
            <a:r>
              <a:rPr lang="en-US" i="1" baseline="-25000" dirty="0">
                <a:latin typeface="Calibri" panose="020F0502020204030204" pitchFamily="34" charset="0"/>
                <a:ea typeface="Calibri" panose="020F0502020204030204" pitchFamily="34" charset="0"/>
                <a:cs typeface="Calibri" panose="020F0502020204030204" pitchFamily="34" charset="0"/>
              </a:rPr>
              <a:t>shark</a:t>
            </a:r>
            <a:r>
              <a:rPr lang="en-US" i="1" dirty="0"/>
              <a:t> </a:t>
            </a:r>
            <a:r>
              <a:rPr lang="en-US" dirty="0"/>
              <a:t>T) * 2</a:t>
            </a:r>
            <a:br>
              <a:rPr lang="en-US" dirty="0"/>
            </a:br>
            <a:endParaRPr lang="fr-FR" dirty="0"/>
          </a:p>
          <a:p>
            <a:r>
              <a:rPr lang="fr-FR" dirty="0" err="1"/>
              <a:t>where</a:t>
            </a:r>
            <a:r>
              <a:rPr lang="fr-FR" dirty="0"/>
              <a:t> O(t) </a:t>
            </a:r>
            <a:r>
              <a:rPr lang="fr-FR" dirty="0" err="1"/>
              <a:t>is</a:t>
            </a:r>
            <a:r>
              <a:rPr lang="fr-FR" dirty="0"/>
              <a:t> an </a:t>
            </a:r>
            <a:r>
              <a:rPr lang="fr-FR" dirty="0" err="1"/>
              <a:t>overlap</a:t>
            </a:r>
            <a:r>
              <a:rPr lang="fr-FR" dirty="0"/>
              <a:t> index to capture the compression of </a:t>
            </a:r>
            <a:r>
              <a:rPr lang="fr-FR" dirty="0" err="1"/>
              <a:t>suitable</a:t>
            </a:r>
            <a:r>
              <a:rPr lang="fr-FR" dirty="0"/>
              <a:t> habitat for </a:t>
            </a:r>
            <a:r>
              <a:rPr lang="fr-FR" dirty="0" err="1"/>
              <a:t>salmon</a:t>
            </a:r>
            <a:r>
              <a:rPr lang="fr-FR" dirty="0"/>
              <a:t> in a warm </a:t>
            </a:r>
            <a:r>
              <a:rPr lang="fr-FR" dirty="0" err="1"/>
              <a:t>ocean</a:t>
            </a:r>
            <a:br>
              <a:rPr lang="fr-FR" dirty="0"/>
            </a:br>
            <a:r>
              <a:rPr lang="fr-FR" dirty="0" err="1"/>
              <a:t>linear</a:t>
            </a:r>
            <a:r>
              <a:rPr lang="fr-FR" dirty="0"/>
              <a:t> or </a:t>
            </a:r>
            <a:r>
              <a:rPr lang="fr-FR" dirty="0" err="1"/>
              <a:t>logistic</a:t>
            </a:r>
            <a:r>
              <a:rPr lang="fr-FR" dirty="0"/>
              <a:t> (0-2) </a:t>
            </a:r>
            <a:r>
              <a:rPr lang="fr-FR" dirty="0" err="1"/>
              <a:t>form</a:t>
            </a:r>
            <a:br>
              <a:rPr lang="fr-FR" dirty="0"/>
            </a:br>
            <a:br>
              <a:rPr lang="fr-FR" dirty="0"/>
            </a:br>
            <a:endParaRPr lang="fr-FR" dirty="0"/>
          </a:p>
          <a:p>
            <a:r>
              <a:rPr lang="fr-FR" dirty="0" err="1"/>
              <a:t>Foraging</a:t>
            </a:r>
            <a:r>
              <a:rPr lang="fr-FR" dirty="0"/>
              <a:t> </a:t>
            </a:r>
            <a:r>
              <a:rPr lang="fr-FR" dirty="0" err="1"/>
              <a:t>arena</a:t>
            </a:r>
            <a:r>
              <a:rPr lang="fr-FR" dirty="0"/>
              <a:t> </a:t>
            </a:r>
            <a:r>
              <a:rPr lang="fr-FR" dirty="0" err="1"/>
              <a:t>theory</a:t>
            </a:r>
            <a:r>
              <a:rPr lang="fr-FR" dirty="0"/>
              <a:t> in </a:t>
            </a:r>
            <a:r>
              <a:rPr lang="fr-FR" dirty="0" err="1"/>
              <a:t>Ecosim</a:t>
            </a:r>
            <a:r>
              <a:rPr lang="fr-FR" dirty="0"/>
              <a:t>:</a:t>
            </a:r>
          </a:p>
          <a:p>
            <a:r>
              <a:rPr lang="fr-FR" dirty="0" err="1"/>
              <a:t>Q</a:t>
            </a:r>
            <a:r>
              <a:rPr lang="fr-FR" baseline="-25000" dirty="0" err="1"/>
              <a:t>ij</a:t>
            </a:r>
            <a:r>
              <a:rPr lang="fr-FR" dirty="0"/>
              <a:t>(T) = </a:t>
            </a:r>
            <a:r>
              <a:rPr lang="fr-FR" dirty="0" err="1"/>
              <a:t>a</a:t>
            </a:r>
            <a:r>
              <a:rPr lang="fr-FR" baseline="-25000" dirty="0" err="1"/>
              <a:t>ij</a:t>
            </a:r>
            <a:r>
              <a:rPr lang="fr-FR" dirty="0"/>
              <a:t>*</a:t>
            </a:r>
            <a:r>
              <a:rPr lang="fr-FR" dirty="0" err="1"/>
              <a:t>O</a:t>
            </a:r>
            <a:r>
              <a:rPr lang="fr-FR" baseline="-25000" dirty="0" err="1"/>
              <a:t>ij</a:t>
            </a:r>
            <a:r>
              <a:rPr lang="fr-FR" dirty="0"/>
              <a:t>(T)*N</a:t>
            </a:r>
            <a:r>
              <a:rPr lang="fr-FR" baseline="-25000" dirty="0"/>
              <a:t>i</a:t>
            </a:r>
            <a:r>
              <a:rPr lang="fr-FR" dirty="0"/>
              <a:t>*</a:t>
            </a:r>
            <a:r>
              <a:rPr lang="fr-FR" dirty="0" err="1"/>
              <a:t>P</a:t>
            </a:r>
            <a:r>
              <a:rPr lang="fr-FR" baseline="-25000" dirty="0" err="1"/>
              <a:t>j</a:t>
            </a:r>
            <a:endParaRPr lang="fr-FR" baseline="-25000" dirty="0"/>
          </a:p>
          <a:p>
            <a:r>
              <a:rPr lang="fr-FR" dirty="0"/>
              <a:t>Walters et al 1997</a:t>
            </a:r>
            <a:endParaRPr lang="en-US" dirty="0"/>
          </a:p>
        </p:txBody>
      </p:sp>
      <p:pic>
        <p:nvPicPr>
          <p:cNvPr id="4" name="Picture 3">
            <a:extLst>
              <a:ext uri="{FF2B5EF4-FFF2-40B4-BE49-F238E27FC236}">
                <a16:creationId xmlns:a16="http://schemas.microsoft.com/office/drawing/2014/main" id="{BBEE2687-EC2C-4BAB-A143-6AEA049010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3465" y="571128"/>
            <a:ext cx="5451510" cy="4936374"/>
          </a:xfrm>
          <a:prstGeom prst="rect">
            <a:avLst/>
          </a:prstGeom>
        </p:spPr>
      </p:pic>
    </p:spTree>
    <p:extLst>
      <p:ext uri="{BB962C8B-B14F-4D97-AF65-F5344CB8AC3E}">
        <p14:creationId xmlns:p14="http://schemas.microsoft.com/office/powerpoint/2010/main" val="695157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D5E084-DA4E-47F7-AA94-4CD7F9BFC373}"/>
              </a:ext>
            </a:extLst>
          </p:cNvPr>
          <p:cNvPicPr>
            <a:picLocks noChangeAspect="1"/>
          </p:cNvPicPr>
          <p:nvPr/>
        </p:nvPicPr>
        <p:blipFill>
          <a:blip r:embed="rId2"/>
          <a:stretch>
            <a:fillRect/>
          </a:stretch>
        </p:blipFill>
        <p:spPr>
          <a:xfrm>
            <a:off x="606302" y="361218"/>
            <a:ext cx="5915025" cy="5924550"/>
          </a:xfrm>
          <a:prstGeom prst="rect">
            <a:avLst/>
          </a:prstGeom>
        </p:spPr>
      </p:pic>
      <p:pic>
        <p:nvPicPr>
          <p:cNvPr id="11" name="Picture 10">
            <a:extLst>
              <a:ext uri="{FF2B5EF4-FFF2-40B4-BE49-F238E27FC236}">
                <a16:creationId xmlns:a16="http://schemas.microsoft.com/office/drawing/2014/main" id="{C794B8D6-06C7-4077-8E60-3F32E1903133}"/>
              </a:ext>
            </a:extLst>
          </p:cNvPr>
          <p:cNvPicPr>
            <a:picLocks noChangeAspect="1"/>
          </p:cNvPicPr>
          <p:nvPr/>
        </p:nvPicPr>
        <p:blipFill>
          <a:blip r:embed="rId3"/>
          <a:stretch>
            <a:fillRect/>
          </a:stretch>
        </p:blipFill>
        <p:spPr>
          <a:xfrm>
            <a:off x="6276975" y="343633"/>
            <a:ext cx="5915025" cy="5924550"/>
          </a:xfrm>
          <a:prstGeom prst="rect">
            <a:avLst/>
          </a:prstGeom>
        </p:spPr>
      </p:pic>
      <p:sp>
        <p:nvSpPr>
          <p:cNvPr id="13" name="TextBox 12">
            <a:extLst>
              <a:ext uri="{FF2B5EF4-FFF2-40B4-BE49-F238E27FC236}">
                <a16:creationId xmlns:a16="http://schemas.microsoft.com/office/drawing/2014/main" id="{6F111417-9423-426C-B14C-251F157C46B2}"/>
              </a:ext>
            </a:extLst>
          </p:cNvPr>
          <p:cNvSpPr txBox="1"/>
          <p:nvPr/>
        </p:nvSpPr>
        <p:spPr>
          <a:xfrm>
            <a:off x="8170252" y="5398450"/>
            <a:ext cx="2371724" cy="369332"/>
          </a:xfrm>
          <a:prstGeom prst="rect">
            <a:avLst/>
          </a:prstGeom>
          <a:noFill/>
        </p:spPr>
        <p:txBody>
          <a:bodyPr wrap="square">
            <a:spAutoFit/>
          </a:bodyPr>
          <a:lstStyle/>
          <a:p>
            <a:r>
              <a:rPr lang="en-US" dirty="0" err="1"/>
              <a:t>Ot</a:t>
            </a:r>
            <a:r>
              <a:rPr lang="en-US" dirty="0"/>
              <a:t>=</a:t>
            </a:r>
            <a:r>
              <a:rPr lang="en-US" dirty="0" err="1"/>
              <a:t>plogis</a:t>
            </a:r>
            <a:r>
              <a:rPr lang="en-US" dirty="0"/>
              <a:t>(</a:t>
            </a:r>
            <a:r>
              <a:rPr lang="en-US" dirty="0" err="1"/>
              <a:t>Tscale</a:t>
            </a:r>
            <a:r>
              <a:rPr lang="en-US" dirty="0"/>
              <a:t>) * 2</a:t>
            </a:r>
          </a:p>
        </p:txBody>
      </p:sp>
    </p:spTree>
    <p:extLst>
      <p:ext uri="{BB962C8B-B14F-4D97-AF65-F5344CB8AC3E}">
        <p14:creationId xmlns:p14="http://schemas.microsoft.com/office/powerpoint/2010/main" val="3690208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8F6360-E6A4-4945-AE3D-D2F0A7C24688}"/>
              </a:ext>
            </a:extLst>
          </p:cNvPr>
          <p:cNvPicPr>
            <a:picLocks noChangeAspect="1"/>
          </p:cNvPicPr>
          <p:nvPr/>
        </p:nvPicPr>
        <p:blipFill>
          <a:blip r:embed="rId2"/>
          <a:stretch>
            <a:fillRect/>
          </a:stretch>
        </p:blipFill>
        <p:spPr>
          <a:xfrm>
            <a:off x="6276975" y="686532"/>
            <a:ext cx="5915025" cy="5924550"/>
          </a:xfrm>
          <a:prstGeom prst="rect">
            <a:avLst/>
          </a:prstGeom>
        </p:spPr>
      </p:pic>
      <p:pic>
        <p:nvPicPr>
          <p:cNvPr id="4" name="Picture 3">
            <a:extLst>
              <a:ext uri="{FF2B5EF4-FFF2-40B4-BE49-F238E27FC236}">
                <a16:creationId xmlns:a16="http://schemas.microsoft.com/office/drawing/2014/main" id="{1937E8C8-0C88-4732-80D1-2CCBC8013519}"/>
              </a:ext>
            </a:extLst>
          </p:cNvPr>
          <p:cNvPicPr>
            <a:picLocks noChangeAspect="1"/>
          </p:cNvPicPr>
          <p:nvPr/>
        </p:nvPicPr>
        <p:blipFill>
          <a:blip r:embed="rId3"/>
          <a:stretch>
            <a:fillRect/>
          </a:stretch>
        </p:blipFill>
        <p:spPr>
          <a:xfrm>
            <a:off x="1019175" y="572232"/>
            <a:ext cx="5915025" cy="5924550"/>
          </a:xfrm>
          <a:prstGeom prst="rect">
            <a:avLst/>
          </a:prstGeom>
        </p:spPr>
      </p:pic>
    </p:spTree>
    <p:extLst>
      <p:ext uri="{BB962C8B-B14F-4D97-AF65-F5344CB8AC3E}">
        <p14:creationId xmlns:p14="http://schemas.microsoft.com/office/powerpoint/2010/main" val="2975263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C73AB-37D7-488A-AEEC-C72B45C94C0C}"/>
              </a:ext>
            </a:extLst>
          </p:cNvPr>
          <p:cNvSpPr>
            <a:spLocks noGrp="1"/>
          </p:cNvSpPr>
          <p:nvPr>
            <p:ph type="title"/>
          </p:nvPr>
        </p:nvSpPr>
        <p:spPr>
          <a:xfrm>
            <a:off x="563880" y="147955"/>
            <a:ext cx="10515600" cy="823595"/>
          </a:xfrm>
        </p:spPr>
        <p:txBody>
          <a:bodyPr/>
          <a:lstStyle/>
          <a:p>
            <a:r>
              <a:rPr lang="en-US" dirty="0"/>
              <a:t>Log-Transformed index</a:t>
            </a:r>
          </a:p>
        </p:txBody>
      </p:sp>
      <p:pic>
        <p:nvPicPr>
          <p:cNvPr id="11" name="Picture 10">
            <a:extLst>
              <a:ext uri="{FF2B5EF4-FFF2-40B4-BE49-F238E27FC236}">
                <a16:creationId xmlns:a16="http://schemas.microsoft.com/office/drawing/2014/main" id="{CEAFECB3-A940-4429-9AAB-F4EC017D3FA0}"/>
              </a:ext>
            </a:extLst>
          </p:cNvPr>
          <p:cNvPicPr>
            <a:picLocks noChangeAspect="1"/>
          </p:cNvPicPr>
          <p:nvPr/>
        </p:nvPicPr>
        <p:blipFill rotWithShape="1">
          <a:blip r:embed="rId3"/>
          <a:srcRect b="20666"/>
          <a:stretch/>
        </p:blipFill>
        <p:spPr>
          <a:xfrm>
            <a:off x="2583940" y="994410"/>
            <a:ext cx="8715760" cy="5440680"/>
          </a:xfrm>
          <a:prstGeom prst="rect">
            <a:avLst/>
          </a:prstGeom>
        </p:spPr>
      </p:pic>
    </p:spTree>
    <p:extLst>
      <p:ext uri="{BB962C8B-B14F-4D97-AF65-F5344CB8AC3E}">
        <p14:creationId xmlns:p14="http://schemas.microsoft.com/office/powerpoint/2010/main" val="24842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2298FE-AC86-4665-B822-C0B2C7459A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191" y="1142995"/>
            <a:ext cx="8229617" cy="4572009"/>
          </a:xfrm>
          <a:prstGeom prst="rect">
            <a:avLst/>
          </a:prstGeom>
        </p:spPr>
      </p:pic>
    </p:spTree>
    <p:extLst>
      <p:ext uri="{BB962C8B-B14F-4D97-AF65-F5344CB8AC3E}">
        <p14:creationId xmlns:p14="http://schemas.microsoft.com/office/powerpoint/2010/main" val="1872407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82D0B-47BF-4DE2-A188-02AEE30C6F5A}"/>
              </a:ext>
            </a:extLst>
          </p:cNvPr>
          <p:cNvSpPr>
            <a:spLocks noGrp="1"/>
          </p:cNvSpPr>
          <p:nvPr>
            <p:ph type="ctrTitle"/>
          </p:nvPr>
        </p:nvSpPr>
        <p:spPr/>
        <p:txBody>
          <a:bodyPr/>
          <a:lstStyle/>
          <a:p>
            <a:r>
              <a:rPr lang="en-US" dirty="0"/>
              <a:t>SSL in GOA</a:t>
            </a:r>
          </a:p>
        </p:txBody>
      </p:sp>
      <p:sp>
        <p:nvSpPr>
          <p:cNvPr id="3" name="Subtitle 2">
            <a:extLst>
              <a:ext uri="{FF2B5EF4-FFF2-40B4-BE49-F238E27FC236}">
                <a16:creationId xmlns:a16="http://schemas.microsoft.com/office/drawing/2014/main" id="{ABD8B83D-F144-47ED-BCCA-F75570B97E49}"/>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518681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FA3F6-0441-4C31-85B8-0F0F5ABE26DB}"/>
              </a:ext>
            </a:extLst>
          </p:cNvPr>
          <p:cNvSpPr>
            <a:spLocks noGrp="1"/>
          </p:cNvSpPr>
          <p:nvPr>
            <p:ph type="title"/>
          </p:nvPr>
        </p:nvSpPr>
        <p:spPr>
          <a:xfrm>
            <a:off x="838200" y="365125"/>
            <a:ext cx="10515600" cy="2480945"/>
          </a:xfrm>
        </p:spPr>
        <p:txBody>
          <a:bodyPr>
            <a:normAutofit fontScale="90000"/>
          </a:bodyPr>
          <a:lstStyle/>
          <a:p>
            <a:r>
              <a:rPr lang="en-US" dirty="0"/>
              <a:t>Simple assumption: </a:t>
            </a:r>
            <a:br>
              <a:rPr lang="en-US" dirty="0"/>
            </a:br>
            <a:r>
              <a:rPr lang="en-US" dirty="0"/>
              <a:t>herring and capelin serve as a buffer and </a:t>
            </a:r>
            <a:br>
              <a:rPr lang="en-US" dirty="0"/>
            </a:br>
            <a:r>
              <a:rPr lang="en-US" dirty="0"/>
              <a:t>reduce foraging on salmon</a:t>
            </a:r>
            <a:br>
              <a:rPr lang="en-US" dirty="0"/>
            </a:br>
            <a:r>
              <a:rPr lang="en-US" dirty="0"/>
              <a:t>temperature intensifies consumption</a:t>
            </a:r>
          </a:p>
        </p:txBody>
      </p:sp>
      <p:sp>
        <p:nvSpPr>
          <p:cNvPr id="3" name="Content Placeholder 2">
            <a:extLst>
              <a:ext uri="{FF2B5EF4-FFF2-40B4-BE49-F238E27FC236}">
                <a16:creationId xmlns:a16="http://schemas.microsoft.com/office/drawing/2014/main" id="{1AA86E26-8C69-4116-8308-9F13AB980032}"/>
              </a:ext>
            </a:extLst>
          </p:cNvPr>
          <p:cNvSpPr>
            <a:spLocks noGrp="1"/>
          </p:cNvSpPr>
          <p:nvPr>
            <p:ph idx="1"/>
          </p:nvPr>
        </p:nvSpPr>
        <p:spPr>
          <a:xfrm>
            <a:off x="838200" y="3509009"/>
            <a:ext cx="10515600" cy="2667953"/>
          </a:xfrm>
        </p:spPr>
        <p:txBody>
          <a:bodyPr/>
          <a:lstStyle/>
          <a:p>
            <a:r>
              <a:rPr lang="en-US" dirty="0" err="1"/>
              <a:t>SSL</a:t>
            </a:r>
            <a:r>
              <a:rPr lang="en-US" baseline="-25000" dirty="0" err="1"/>
              <a:t>index</a:t>
            </a:r>
            <a:r>
              <a:rPr lang="en-US" dirty="0"/>
              <a:t> ~ </a:t>
            </a:r>
            <a:r>
              <a:rPr lang="en-US" dirty="0" err="1"/>
              <a:t>SSLcounts</a:t>
            </a:r>
            <a:r>
              <a:rPr lang="en-US" dirty="0"/>
              <a:t> + b</a:t>
            </a:r>
            <a:r>
              <a:rPr lang="en-US" baseline="-25000" dirty="0"/>
              <a:t>1</a:t>
            </a:r>
            <a:r>
              <a:rPr lang="en-US" dirty="0"/>
              <a:t>*SST + b</a:t>
            </a:r>
            <a:r>
              <a:rPr lang="en-US" baseline="-25000" dirty="0"/>
              <a:t>2</a:t>
            </a:r>
            <a:r>
              <a:rPr lang="en-US" dirty="0"/>
              <a:t>*herring + b</a:t>
            </a:r>
            <a:r>
              <a:rPr lang="en-US" baseline="-25000" dirty="0"/>
              <a:t>3</a:t>
            </a:r>
            <a:r>
              <a:rPr lang="en-US" dirty="0"/>
              <a:t>*capelin</a:t>
            </a:r>
          </a:p>
          <a:p>
            <a:endParaRPr lang="en-US" dirty="0"/>
          </a:p>
          <a:p>
            <a:r>
              <a:rPr lang="en-US" dirty="0"/>
              <a:t>Herring data is more reliable in this case, actual abundance for multiple populations along the SEAK coast, compared to bird diets on an isolated island</a:t>
            </a:r>
          </a:p>
        </p:txBody>
      </p:sp>
    </p:spTree>
    <p:extLst>
      <p:ext uri="{BB962C8B-B14F-4D97-AF65-F5344CB8AC3E}">
        <p14:creationId xmlns:p14="http://schemas.microsoft.com/office/powerpoint/2010/main" val="405324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385F1-2163-48CD-8671-2EBD8DB1D46B}"/>
              </a:ext>
            </a:extLst>
          </p:cNvPr>
          <p:cNvSpPr>
            <a:spLocks noGrp="1"/>
          </p:cNvSpPr>
          <p:nvPr>
            <p:ph type="title"/>
          </p:nvPr>
        </p:nvSpPr>
        <p:spPr/>
        <p:txBody>
          <a:bodyPr/>
          <a:lstStyle/>
          <a:p>
            <a:r>
              <a:rPr lang="en-US" dirty="0"/>
              <a:t>Capelin have pretty strong temperature signal, herring are doing something else</a:t>
            </a:r>
          </a:p>
        </p:txBody>
      </p:sp>
      <p:pic>
        <p:nvPicPr>
          <p:cNvPr id="5" name="Content Placeholder 4">
            <a:extLst>
              <a:ext uri="{FF2B5EF4-FFF2-40B4-BE49-F238E27FC236}">
                <a16:creationId xmlns:a16="http://schemas.microsoft.com/office/drawing/2014/main" id="{A7A4E651-ECBF-4EC7-9187-1DD2945FEE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7274" y="1825625"/>
            <a:ext cx="7977452" cy="4351338"/>
          </a:xfrm>
        </p:spPr>
      </p:pic>
    </p:spTree>
    <p:extLst>
      <p:ext uri="{BB962C8B-B14F-4D97-AF65-F5344CB8AC3E}">
        <p14:creationId xmlns:p14="http://schemas.microsoft.com/office/powerpoint/2010/main" val="1994275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5BF1A-09BF-4E46-88CB-811E1A6D4369}"/>
              </a:ext>
            </a:extLst>
          </p:cNvPr>
          <p:cNvSpPr>
            <a:spLocks noGrp="1"/>
          </p:cNvSpPr>
          <p:nvPr>
            <p:ph type="title"/>
          </p:nvPr>
        </p:nvSpPr>
        <p:spPr/>
        <p:txBody>
          <a:bodyPr/>
          <a:lstStyle/>
          <a:p>
            <a:r>
              <a:rPr lang="en-US" dirty="0"/>
              <a:t>Adds oscillation to linear increase in total N</a:t>
            </a:r>
          </a:p>
        </p:txBody>
      </p:sp>
      <p:pic>
        <p:nvPicPr>
          <p:cNvPr id="5" name="Content Placeholder 4">
            <a:extLst>
              <a:ext uri="{FF2B5EF4-FFF2-40B4-BE49-F238E27FC236}">
                <a16:creationId xmlns:a16="http://schemas.microsoft.com/office/drawing/2014/main" id="{4D47CA2B-EF95-494C-B1FC-C0FA69FA3A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8644" y="1871345"/>
            <a:ext cx="7977452" cy="4351338"/>
          </a:xfrm>
        </p:spPr>
      </p:pic>
    </p:spTree>
    <p:extLst>
      <p:ext uri="{BB962C8B-B14F-4D97-AF65-F5344CB8AC3E}">
        <p14:creationId xmlns:p14="http://schemas.microsoft.com/office/powerpoint/2010/main" val="68299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94AC4-C11C-4BDA-90F4-D5771B5E7709}"/>
              </a:ext>
            </a:extLst>
          </p:cNvPr>
          <p:cNvSpPr>
            <a:spLocks noGrp="1"/>
          </p:cNvSpPr>
          <p:nvPr>
            <p:ph type="title"/>
          </p:nvPr>
        </p:nvSpPr>
        <p:spPr>
          <a:xfrm>
            <a:off x="838200" y="1596048"/>
            <a:ext cx="10515600" cy="1325563"/>
          </a:xfrm>
        </p:spPr>
        <p:txBody>
          <a:bodyPr>
            <a:normAutofit/>
          </a:bodyPr>
          <a:lstStyle/>
          <a:p>
            <a:pPr algn="ctr"/>
            <a:r>
              <a:rPr lang="en-US" sz="6600" b="1" dirty="0"/>
              <a:t>California sea lions at EMB</a:t>
            </a:r>
          </a:p>
        </p:txBody>
      </p:sp>
      <p:sp>
        <p:nvSpPr>
          <p:cNvPr id="3" name="Content Placeholder 2">
            <a:extLst>
              <a:ext uri="{FF2B5EF4-FFF2-40B4-BE49-F238E27FC236}">
                <a16:creationId xmlns:a16="http://schemas.microsoft.com/office/drawing/2014/main" id="{A4698000-6757-46C6-9D28-EC890E6F3DD1}"/>
              </a:ext>
            </a:extLst>
          </p:cNvPr>
          <p:cNvSpPr>
            <a:spLocks noGrp="1"/>
          </p:cNvSpPr>
          <p:nvPr>
            <p:ph idx="1"/>
          </p:nvPr>
        </p:nvSpPr>
        <p:spPr>
          <a:xfrm>
            <a:off x="838200" y="3859823"/>
            <a:ext cx="10515600" cy="2317140"/>
          </a:xfrm>
        </p:spPr>
        <p:txBody>
          <a:bodyPr>
            <a:normAutofit fontScale="77500" lnSpcReduction="20000"/>
          </a:bodyPr>
          <a:lstStyle/>
          <a:p>
            <a:r>
              <a:rPr lang="en-US" dirty="0"/>
              <a:t>Come to the CR in spring, broadly thought to track eulachon run, stay for salmon, leave for mating or something back in CA</a:t>
            </a:r>
          </a:p>
          <a:p>
            <a:r>
              <a:rPr lang="en-US" dirty="0"/>
              <a:t>SSL have longer residence, recent increases, we only have really good data at Bonn</a:t>
            </a:r>
          </a:p>
          <a:p>
            <a:r>
              <a:rPr lang="en-US" dirty="0"/>
              <a:t>Primarily target eulachon when they are available</a:t>
            </a:r>
          </a:p>
          <a:p>
            <a:r>
              <a:rPr lang="en-US" dirty="0"/>
              <a:t>About 1/3 spend most time in the river, 2/3 focused more on ocean prey</a:t>
            </a:r>
          </a:p>
          <a:p>
            <a:r>
              <a:rPr lang="en-US" dirty="0"/>
              <a:t>At Bonneville they target mostly salmon and shad</a:t>
            </a:r>
          </a:p>
          <a:p>
            <a:endParaRPr lang="en-US" dirty="0"/>
          </a:p>
        </p:txBody>
      </p:sp>
    </p:spTree>
    <p:extLst>
      <p:ext uri="{BB962C8B-B14F-4D97-AF65-F5344CB8AC3E}">
        <p14:creationId xmlns:p14="http://schemas.microsoft.com/office/powerpoint/2010/main" val="4049833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034CE8-8D2C-40ED-9C8C-C7480CF1D89C}"/>
              </a:ext>
            </a:extLst>
          </p:cNvPr>
          <p:cNvSpPr>
            <a:spLocks noGrp="1"/>
          </p:cNvSpPr>
          <p:nvPr>
            <p:ph type="title"/>
          </p:nvPr>
        </p:nvSpPr>
        <p:spPr>
          <a:xfrm>
            <a:off x="838200" y="0"/>
            <a:ext cx="10515600" cy="817685"/>
          </a:xfrm>
        </p:spPr>
        <p:txBody>
          <a:bodyPr/>
          <a:lstStyle/>
          <a:p>
            <a:r>
              <a:rPr lang="en-US" dirty="0"/>
              <a:t>CSL, eulachon, salmon, shad phenology</a:t>
            </a:r>
          </a:p>
        </p:txBody>
      </p:sp>
      <p:pic>
        <p:nvPicPr>
          <p:cNvPr id="3" name="Picture 2">
            <a:extLst>
              <a:ext uri="{FF2B5EF4-FFF2-40B4-BE49-F238E27FC236}">
                <a16:creationId xmlns:a16="http://schemas.microsoft.com/office/drawing/2014/main" id="{934CC03C-3868-4980-8882-6C3118927E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3823" y="804185"/>
            <a:ext cx="8910069" cy="5940046"/>
          </a:xfrm>
          <a:prstGeom prst="rect">
            <a:avLst/>
          </a:prstGeom>
        </p:spPr>
      </p:pic>
    </p:spTree>
    <p:extLst>
      <p:ext uri="{BB962C8B-B14F-4D97-AF65-F5344CB8AC3E}">
        <p14:creationId xmlns:p14="http://schemas.microsoft.com/office/powerpoint/2010/main" val="2645216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034CE8-8D2C-40ED-9C8C-C7480CF1D89C}"/>
              </a:ext>
            </a:extLst>
          </p:cNvPr>
          <p:cNvSpPr>
            <a:spLocks noGrp="1"/>
          </p:cNvSpPr>
          <p:nvPr>
            <p:ph type="title"/>
          </p:nvPr>
        </p:nvSpPr>
        <p:spPr>
          <a:xfrm>
            <a:off x="899746" y="0"/>
            <a:ext cx="10515600" cy="1325563"/>
          </a:xfrm>
        </p:spPr>
        <p:txBody>
          <a:bodyPr/>
          <a:lstStyle/>
          <a:p>
            <a:r>
              <a:rPr lang="en-US" dirty="0"/>
              <a:t>Extrapolate run overlap to 1998</a:t>
            </a:r>
          </a:p>
        </p:txBody>
      </p:sp>
      <p:pic>
        <p:nvPicPr>
          <p:cNvPr id="3" name="Picture 2">
            <a:extLst>
              <a:ext uri="{FF2B5EF4-FFF2-40B4-BE49-F238E27FC236}">
                <a16:creationId xmlns:a16="http://schemas.microsoft.com/office/drawing/2014/main" id="{8AC04C25-4F14-4F44-B008-2AA3F42BA1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0639" y="1497398"/>
            <a:ext cx="7743092" cy="5360602"/>
          </a:xfrm>
          <a:prstGeom prst="rect">
            <a:avLst/>
          </a:prstGeom>
        </p:spPr>
      </p:pic>
    </p:spTree>
    <p:extLst>
      <p:ext uri="{BB962C8B-B14F-4D97-AF65-F5344CB8AC3E}">
        <p14:creationId xmlns:p14="http://schemas.microsoft.com/office/powerpoint/2010/main" val="6801377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44DB1-A501-453D-B43D-26B4C7659744}"/>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23982E4B-DB3A-4682-B039-09E5D1CB2F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0"/>
            <a:ext cx="8381999" cy="6858000"/>
          </a:xfrm>
          <a:prstGeom prst="rect">
            <a:avLst/>
          </a:prstGeom>
        </p:spPr>
      </p:pic>
    </p:spTree>
    <p:extLst>
      <p:ext uri="{BB962C8B-B14F-4D97-AF65-F5344CB8AC3E}">
        <p14:creationId xmlns:p14="http://schemas.microsoft.com/office/powerpoint/2010/main" val="1574516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88928-CA58-44AD-BEDB-50D85497E16E}"/>
              </a:ext>
            </a:extLst>
          </p:cNvPr>
          <p:cNvSpPr>
            <a:spLocks noGrp="1"/>
          </p:cNvSpPr>
          <p:nvPr>
            <p:ph type="title"/>
          </p:nvPr>
        </p:nvSpPr>
        <p:spPr/>
        <p:txBody>
          <a:bodyPr/>
          <a:lstStyle/>
          <a:p>
            <a:endParaRPr lang="en-US"/>
          </a:p>
        </p:txBody>
      </p:sp>
      <p:pic>
        <p:nvPicPr>
          <p:cNvPr id="10" name="Picture 9">
            <a:extLst>
              <a:ext uri="{FF2B5EF4-FFF2-40B4-BE49-F238E27FC236}">
                <a16:creationId xmlns:a16="http://schemas.microsoft.com/office/drawing/2014/main" id="{6D900BE0-9D79-40E3-9FCD-F0C45B2DD8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5290" y="685794"/>
            <a:ext cx="10058420" cy="5486411"/>
          </a:xfrm>
          <a:prstGeom prst="rect">
            <a:avLst/>
          </a:prstGeom>
        </p:spPr>
      </p:pic>
    </p:spTree>
    <p:extLst>
      <p:ext uri="{BB962C8B-B14F-4D97-AF65-F5344CB8AC3E}">
        <p14:creationId xmlns:p14="http://schemas.microsoft.com/office/powerpoint/2010/main" val="1351252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9202F-4592-4153-A84B-4AFCE3794063}"/>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722EE20E-B82B-4886-874E-870AD45B18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234546" cy="6858000"/>
          </a:xfrm>
          <a:prstGeom prst="rect">
            <a:avLst/>
          </a:prstGeom>
        </p:spPr>
      </p:pic>
      <p:graphicFrame>
        <p:nvGraphicFramePr>
          <p:cNvPr id="5" name="Table 4">
            <a:extLst>
              <a:ext uri="{FF2B5EF4-FFF2-40B4-BE49-F238E27FC236}">
                <a16:creationId xmlns:a16="http://schemas.microsoft.com/office/drawing/2014/main" id="{C2C88F38-14CF-4FC7-8A36-60460B5E9E0A}"/>
              </a:ext>
            </a:extLst>
          </p:cNvPr>
          <p:cNvGraphicFramePr>
            <a:graphicFrameLocks noGrp="1"/>
          </p:cNvGraphicFramePr>
          <p:nvPr>
            <p:extLst>
              <p:ext uri="{D42A27DB-BD31-4B8C-83A1-F6EECF244321}">
                <p14:modId xmlns:p14="http://schemas.microsoft.com/office/powerpoint/2010/main" val="11976965"/>
              </p:ext>
            </p:extLst>
          </p:nvPr>
        </p:nvGraphicFramePr>
        <p:xfrm>
          <a:off x="6520180" y="1841024"/>
          <a:ext cx="4318000" cy="1097280"/>
        </p:xfrm>
        <a:graphic>
          <a:graphicData uri="http://schemas.openxmlformats.org/drawingml/2006/table">
            <a:tbl>
              <a:tblPr/>
              <a:tblGrid>
                <a:gridCol w="711200">
                  <a:extLst>
                    <a:ext uri="{9D8B030D-6E8A-4147-A177-3AD203B41FA5}">
                      <a16:colId xmlns:a16="http://schemas.microsoft.com/office/drawing/2014/main" val="2856528764"/>
                    </a:ext>
                  </a:extLst>
                </a:gridCol>
                <a:gridCol w="558800">
                  <a:extLst>
                    <a:ext uri="{9D8B030D-6E8A-4147-A177-3AD203B41FA5}">
                      <a16:colId xmlns:a16="http://schemas.microsoft.com/office/drawing/2014/main" val="3964043221"/>
                    </a:ext>
                  </a:extLst>
                </a:gridCol>
                <a:gridCol w="711200">
                  <a:extLst>
                    <a:ext uri="{9D8B030D-6E8A-4147-A177-3AD203B41FA5}">
                      <a16:colId xmlns:a16="http://schemas.microsoft.com/office/drawing/2014/main" val="152628725"/>
                    </a:ext>
                  </a:extLst>
                </a:gridCol>
                <a:gridCol w="901700">
                  <a:extLst>
                    <a:ext uri="{9D8B030D-6E8A-4147-A177-3AD203B41FA5}">
                      <a16:colId xmlns:a16="http://schemas.microsoft.com/office/drawing/2014/main" val="2989482928"/>
                    </a:ext>
                  </a:extLst>
                </a:gridCol>
                <a:gridCol w="1435100">
                  <a:extLst>
                    <a:ext uri="{9D8B030D-6E8A-4147-A177-3AD203B41FA5}">
                      <a16:colId xmlns:a16="http://schemas.microsoft.com/office/drawing/2014/main" val="923704226"/>
                    </a:ext>
                  </a:extLst>
                </a:gridCol>
              </a:tblGrid>
              <a:tr h="182880">
                <a:tc>
                  <a:txBody>
                    <a:bodyPr/>
                    <a:lstStyle/>
                    <a:p>
                      <a:pPr algn="l" fontAlgn="b"/>
                      <a:r>
                        <a:rPr lang="en-US" sz="1100" b="0" i="0" u="none" strike="noStrike">
                          <a:solidFill>
                            <a:srgbClr val="000000"/>
                          </a:solidFill>
                          <a:effectLst/>
                          <a:latin typeface="Calibri" panose="020F0502020204030204" pitchFamily="34" charset="0"/>
                        </a:rPr>
                        <a:t>var_group</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exp_sign</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evaluations</a:t>
                      </a:r>
                    </a:p>
                  </a:txBody>
                  <a:tcPr marL="7620" marR="7620" marT="7620" marB="0" anchor="b">
                    <a:lnL>
                      <a:noFill/>
                    </a:lnL>
                    <a:lnR>
                      <a:noFill/>
                    </a:lnR>
                    <a:lnT>
                      <a:noFill/>
                    </a:lnT>
                    <a:lnB>
                      <a:noFill/>
                    </a:lnB>
                  </a:tcPr>
                </a:tc>
                <a:tc>
                  <a:txBody>
                    <a:bodyPr/>
                    <a:lstStyle/>
                    <a:p>
                      <a:pPr algn="l" fontAlgn="b"/>
                      <a:r>
                        <a:rPr lang="en-US" sz="1100" b="0" i="0" u="none" strike="noStrike" dirty="0" err="1">
                          <a:solidFill>
                            <a:srgbClr val="000000"/>
                          </a:solidFill>
                          <a:effectLst/>
                          <a:latin typeface="Calibri" panose="020F0502020204030204" pitchFamily="34" charset="0"/>
                        </a:rPr>
                        <a:t>raw_prop_met</a:t>
                      </a:r>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aic_weighted_prop_met</a:t>
                      </a:r>
                    </a:p>
                  </a:txBody>
                  <a:tcPr marL="7620" marR="7620" marT="7620" marB="0" anchor="b">
                    <a:lnL>
                      <a:noFill/>
                    </a:lnL>
                    <a:lnR>
                      <a:noFill/>
                    </a:lnR>
                    <a:lnT>
                      <a:noFill/>
                    </a:lnT>
                    <a:lnB>
                      <a:noFill/>
                    </a:lnB>
                  </a:tcPr>
                </a:tc>
                <a:extLst>
                  <a:ext uri="{0D108BD9-81ED-4DB2-BD59-A6C34878D82A}">
                    <a16:rowId xmlns:a16="http://schemas.microsoft.com/office/drawing/2014/main" val="1834669131"/>
                  </a:ext>
                </a:extLst>
              </a:tr>
              <a:tr h="182880">
                <a:tc>
                  <a:txBody>
                    <a:bodyPr/>
                    <a:lstStyle/>
                    <a:p>
                      <a:pPr algn="l" fontAlgn="b"/>
                      <a:r>
                        <a:rPr lang="en-US" sz="1100" b="0" i="0" u="none" strike="noStrike">
                          <a:solidFill>
                            <a:srgbClr val="000000"/>
                          </a:solidFill>
                          <a:effectLst/>
                          <a:latin typeface="Calibri" panose="020F0502020204030204" pitchFamily="34" charset="0"/>
                        </a:rPr>
                        <a:t>Index</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Negative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0.982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extLst>
                  <a:ext uri="{0D108BD9-81ED-4DB2-BD59-A6C34878D82A}">
                    <a16:rowId xmlns:a16="http://schemas.microsoft.com/office/drawing/2014/main" val="798288864"/>
                  </a:ext>
                </a:extLst>
              </a:tr>
              <a:tr h="182880">
                <a:tc>
                  <a:txBody>
                    <a:bodyPr/>
                    <a:lstStyle/>
                    <a:p>
                      <a:pPr algn="l" fontAlgn="b"/>
                      <a:r>
                        <a:rPr lang="en-US" sz="1100" b="0" i="0" u="none" strike="noStrike">
                          <a:solidFill>
                            <a:srgbClr val="000000"/>
                          </a:solidFill>
                          <a:effectLst/>
                          <a:latin typeface="Calibri" panose="020F0502020204030204" pitchFamily="34" charset="0"/>
                        </a:rPr>
                        <a:t>Climate</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Negative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0.886</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0.934</a:t>
                      </a:r>
                    </a:p>
                  </a:txBody>
                  <a:tcPr marL="7620" marR="7620" marT="7620" marB="0" anchor="b">
                    <a:lnL>
                      <a:noFill/>
                    </a:lnL>
                    <a:lnR>
                      <a:noFill/>
                    </a:lnR>
                    <a:lnT>
                      <a:noFill/>
                    </a:lnT>
                    <a:lnB>
                      <a:noFill/>
                    </a:lnB>
                  </a:tcPr>
                </a:tc>
                <a:extLst>
                  <a:ext uri="{0D108BD9-81ED-4DB2-BD59-A6C34878D82A}">
                    <a16:rowId xmlns:a16="http://schemas.microsoft.com/office/drawing/2014/main" val="1640088188"/>
                  </a:ext>
                </a:extLst>
              </a:tr>
              <a:tr h="182880">
                <a:tc>
                  <a:txBody>
                    <a:bodyPr/>
                    <a:lstStyle/>
                    <a:p>
                      <a:pPr algn="l" fontAlgn="b"/>
                      <a:r>
                        <a:rPr lang="en-US" sz="1100" b="0" i="0" u="none" strike="noStrike">
                          <a:solidFill>
                            <a:srgbClr val="000000"/>
                          </a:solidFill>
                          <a:effectLst/>
                          <a:latin typeface="Calibri" panose="020F0502020204030204" pitchFamily="34" charset="0"/>
                        </a:rPr>
                        <a:t>Predator</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Negative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456</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0.469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0.754</a:t>
                      </a:r>
                    </a:p>
                  </a:txBody>
                  <a:tcPr marL="7620" marR="7620" marT="7620" marB="0" anchor="b">
                    <a:lnL>
                      <a:noFill/>
                    </a:lnL>
                    <a:lnR>
                      <a:noFill/>
                    </a:lnR>
                    <a:lnT>
                      <a:noFill/>
                    </a:lnT>
                    <a:lnB>
                      <a:noFill/>
                    </a:lnB>
                  </a:tcPr>
                </a:tc>
                <a:extLst>
                  <a:ext uri="{0D108BD9-81ED-4DB2-BD59-A6C34878D82A}">
                    <a16:rowId xmlns:a16="http://schemas.microsoft.com/office/drawing/2014/main" val="2663043391"/>
                  </a:ext>
                </a:extLst>
              </a:tr>
              <a:tr h="182880">
                <a:tc>
                  <a:txBody>
                    <a:bodyPr/>
                    <a:lstStyle/>
                    <a:p>
                      <a:pPr algn="l" fontAlgn="b"/>
                      <a:r>
                        <a:rPr lang="en-US" sz="1100" b="0" i="0" u="none" strike="noStrike">
                          <a:solidFill>
                            <a:srgbClr val="000000"/>
                          </a:solidFill>
                          <a:effectLst/>
                          <a:latin typeface="Calibri" panose="020F0502020204030204" pitchFamily="34" charset="0"/>
                        </a:rPr>
                        <a:t>Prey</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Positive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678</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0.617</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0.711</a:t>
                      </a:r>
                    </a:p>
                  </a:txBody>
                  <a:tcPr marL="7620" marR="7620" marT="7620" marB="0" anchor="b">
                    <a:lnL>
                      <a:noFill/>
                    </a:lnL>
                    <a:lnR>
                      <a:noFill/>
                    </a:lnR>
                    <a:lnT>
                      <a:noFill/>
                    </a:lnT>
                    <a:lnB>
                      <a:noFill/>
                    </a:lnB>
                  </a:tcPr>
                </a:tc>
                <a:extLst>
                  <a:ext uri="{0D108BD9-81ED-4DB2-BD59-A6C34878D82A}">
                    <a16:rowId xmlns:a16="http://schemas.microsoft.com/office/drawing/2014/main" val="1017898227"/>
                  </a:ext>
                </a:extLst>
              </a:tr>
              <a:tr h="182880">
                <a:tc>
                  <a:txBody>
                    <a:bodyPr/>
                    <a:lstStyle/>
                    <a:p>
                      <a:pPr algn="l" fontAlgn="b"/>
                      <a:r>
                        <a:rPr lang="en-US" sz="1100" b="0" i="0" u="none" strike="noStrike">
                          <a:solidFill>
                            <a:srgbClr val="000000"/>
                          </a:solidFill>
                          <a:effectLst/>
                          <a:latin typeface="Calibri" panose="020F0502020204030204" pitchFamily="34" charset="0"/>
                        </a:rPr>
                        <a:t>Competitor</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Negative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0.36</a:t>
                      </a:r>
                    </a:p>
                  </a:txBody>
                  <a:tcPr marL="7620" marR="7620" marT="7620" marB="0" anchor="b">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0.595</a:t>
                      </a:r>
                    </a:p>
                  </a:txBody>
                  <a:tcPr marL="7620" marR="7620" marT="7620" marB="0" anchor="b">
                    <a:lnL>
                      <a:noFill/>
                    </a:lnL>
                    <a:lnR>
                      <a:noFill/>
                    </a:lnR>
                    <a:lnT>
                      <a:noFill/>
                    </a:lnT>
                    <a:lnB>
                      <a:noFill/>
                    </a:lnB>
                  </a:tcPr>
                </a:tc>
                <a:extLst>
                  <a:ext uri="{0D108BD9-81ED-4DB2-BD59-A6C34878D82A}">
                    <a16:rowId xmlns:a16="http://schemas.microsoft.com/office/drawing/2014/main" val="3068019298"/>
                  </a:ext>
                </a:extLst>
              </a:tr>
            </a:tbl>
          </a:graphicData>
        </a:graphic>
      </p:graphicFrame>
      <p:graphicFrame>
        <p:nvGraphicFramePr>
          <p:cNvPr id="7" name="Table 6">
            <a:extLst>
              <a:ext uri="{FF2B5EF4-FFF2-40B4-BE49-F238E27FC236}">
                <a16:creationId xmlns:a16="http://schemas.microsoft.com/office/drawing/2014/main" id="{FF5048EB-AF61-4890-8265-830973A10371}"/>
              </a:ext>
            </a:extLst>
          </p:cNvPr>
          <p:cNvGraphicFramePr>
            <a:graphicFrameLocks noGrp="1"/>
          </p:cNvGraphicFramePr>
          <p:nvPr>
            <p:extLst>
              <p:ext uri="{D42A27DB-BD31-4B8C-83A1-F6EECF244321}">
                <p14:modId xmlns:p14="http://schemas.microsoft.com/office/powerpoint/2010/main" val="2030591504"/>
              </p:ext>
            </p:extLst>
          </p:nvPr>
        </p:nvGraphicFramePr>
        <p:xfrm>
          <a:off x="6342380" y="3208814"/>
          <a:ext cx="5727700" cy="3086100"/>
        </p:xfrm>
        <a:graphic>
          <a:graphicData uri="http://schemas.openxmlformats.org/drawingml/2006/table">
            <a:tbl>
              <a:tblPr/>
              <a:tblGrid>
                <a:gridCol w="2481580">
                  <a:extLst>
                    <a:ext uri="{9D8B030D-6E8A-4147-A177-3AD203B41FA5}">
                      <a16:colId xmlns:a16="http://schemas.microsoft.com/office/drawing/2014/main" val="1306966104"/>
                    </a:ext>
                  </a:extLst>
                </a:gridCol>
                <a:gridCol w="731520">
                  <a:extLst>
                    <a:ext uri="{9D8B030D-6E8A-4147-A177-3AD203B41FA5}">
                      <a16:colId xmlns:a16="http://schemas.microsoft.com/office/drawing/2014/main" val="3437616182"/>
                    </a:ext>
                  </a:extLst>
                </a:gridCol>
                <a:gridCol w="697230">
                  <a:extLst>
                    <a:ext uri="{9D8B030D-6E8A-4147-A177-3AD203B41FA5}">
                      <a16:colId xmlns:a16="http://schemas.microsoft.com/office/drawing/2014/main" val="672596040"/>
                    </a:ext>
                  </a:extLst>
                </a:gridCol>
                <a:gridCol w="708660">
                  <a:extLst>
                    <a:ext uri="{9D8B030D-6E8A-4147-A177-3AD203B41FA5}">
                      <a16:colId xmlns:a16="http://schemas.microsoft.com/office/drawing/2014/main" val="2647040455"/>
                    </a:ext>
                  </a:extLst>
                </a:gridCol>
                <a:gridCol w="1108710">
                  <a:extLst>
                    <a:ext uri="{9D8B030D-6E8A-4147-A177-3AD203B41FA5}">
                      <a16:colId xmlns:a16="http://schemas.microsoft.com/office/drawing/2014/main" val="686787549"/>
                    </a:ext>
                  </a:extLst>
                </a:gridCol>
              </a:tblGrid>
              <a:tr h="182880">
                <a:tc>
                  <a:txBody>
                    <a:bodyPr/>
                    <a:lstStyle/>
                    <a:p>
                      <a:pPr algn="l" fontAlgn="b"/>
                      <a:r>
                        <a:rPr lang="en-US" sz="1100" b="0" i="0" u="none" strike="noStrike">
                          <a:solidFill>
                            <a:srgbClr val="000000"/>
                          </a:solidFill>
                          <a:effectLst/>
                          <a:latin typeface="Calibri" panose="020F0502020204030204" pitchFamily="34" charset="0"/>
                        </a:rPr>
                        <a:t>variable</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var_group</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exp_sign</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importance</a:t>
                      </a:r>
                    </a:p>
                  </a:txBody>
                  <a:tcPr marL="7620" marR="7620" marT="7620" marB="0" anchor="b">
                    <a:lnL>
                      <a:noFill/>
                    </a:lnL>
                    <a:lnR>
                      <a:noFill/>
                    </a:lnR>
                    <a:lnT>
                      <a:noFill/>
                    </a:lnT>
                    <a:lnB>
                      <a:noFill/>
                    </a:lnB>
                  </a:tcPr>
                </a:tc>
                <a:tc>
                  <a:txBody>
                    <a:bodyPr/>
                    <a:lstStyle/>
                    <a:p>
                      <a:pPr algn="l" fontAlgn="b"/>
                      <a:r>
                        <a:rPr lang="nl-NL" sz="1100" b="0" i="0" u="none" strike="noStrike">
                          <a:solidFill>
                            <a:srgbClr val="000000"/>
                          </a:solidFill>
                          <a:effectLst/>
                          <a:latin typeface="Calibri" panose="020F0502020204030204" pitchFamily="34" charset="0"/>
                        </a:rPr>
                        <a:t>prop_sign_met_aic_wtd</a:t>
                      </a:r>
                    </a:p>
                  </a:txBody>
                  <a:tcPr marL="7620" marR="7620" marT="7620" marB="0" anchor="b">
                    <a:lnL>
                      <a:noFill/>
                    </a:lnL>
                    <a:lnR>
                      <a:noFill/>
                    </a:lnR>
                    <a:lnT>
                      <a:noFill/>
                    </a:lnT>
                    <a:lnB>
                      <a:noFill/>
                    </a:lnB>
                  </a:tcPr>
                </a:tc>
                <a:extLst>
                  <a:ext uri="{0D108BD9-81ED-4DB2-BD59-A6C34878D82A}">
                    <a16:rowId xmlns:a16="http://schemas.microsoft.com/office/drawing/2014/main" val="2646280067"/>
                  </a:ext>
                </a:extLst>
              </a:tr>
              <a:tr h="182880">
                <a:tc>
                  <a:txBody>
                    <a:bodyPr/>
                    <a:lstStyle/>
                    <a:p>
                      <a:pPr algn="l" fontAlgn="b"/>
                      <a:r>
                        <a:rPr lang="en-US" sz="1100" b="0" i="0" u="none" strike="noStrike">
                          <a:solidFill>
                            <a:srgbClr val="000000"/>
                          </a:solidFill>
                          <a:effectLst/>
                          <a:latin typeface="Calibri" panose="020F0502020204030204" pitchFamily="34" charset="0"/>
                        </a:rPr>
                        <a:t>x15_ishark</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Index</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Negative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0.6277</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extLst>
                  <a:ext uri="{0D108BD9-81ED-4DB2-BD59-A6C34878D82A}">
                    <a16:rowId xmlns:a16="http://schemas.microsoft.com/office/drawing/2014/main" val="2252903331"/>
                  </a:ext>
                </a:extLst>
              </a:tr>
              <a:tr h="182880">
                <a:tc>
                  <a:txBody>
                    <a:bodyPr/>
                    <a:lstStyle/>
                    <a:p>
                      <a:pPr algn="l" fontAlgn="b"/>
                      <a:r>
                        <a:rPr lang="en-US" sz="1100" b="0" i="0" u="none" strike="noStrike">
                          <a:solidFill>
                            <a:srgbClr val="000000"/>
                          </a:solidFill>
                          <a:effectLst/>
                          <a:latin typeface="Calibri" panose="020F0502020204030204" pitchFamily="34" charset="0"/>
                        </a:rPr>
                        <a:t>x15_issl</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Index</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Negative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0.542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extLst>
                  <a:ext uri="{0D108BD9-81ED-4DB2-BD59-A6C34878D82A}">
                    <a16:rowId xmlns:a16="http://schemas.microsoft.com/office/drawing/2014/main" val="1113664095"/>
                  </a:ext>
                </a:extLst>
              </a:tr>
              <a:tr h="182880">
                <a:tc>
                  <a:txBody>
                    <a:bodyPr/>
                    <a:lstStyle/>
                    <a:p>
                      <a:pPr algn="l" fontAlgn="b"/>
                      <a:r>
                        <a:rPr lang="en-US" sz="1100" b="0" i="0" u="none" strike="noStrike">
                          <a:solidFill>
                            <a:srgbClr val="000000"/>
                          </a:solidFill>
                          <a:effectLst/>
                          <a:latin typeface="Calibri" panose="020F0502020204030204" pitchFamily="34" charset="0"/>
                        </a:rPr>
                        <a:t>x13_stka_herr_matbiom.x</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Prey</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Positive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0.0844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0.98</a:t>
                      </a:r>
                    </a:p>
                  </a:txBody>
                  <a:tcPr marL="7620" marR="7620" marT="7620" marB="0" anchor="b">
                    <a:lnL>
                      <a:noFill/>
                    </a:lnL>
                    <a:lnR>
                      <a:noFill/>
                    </a:lnR>
                    <a:lnT>
                      <a:noFill/>
                    </a:lnT>
                    <a:lnB>
                      <a:noFill/>
                    </a:lnB>
                  </a:tcPr>
                </a:tc>
                <a:extLst>
                  <a:ext uri="{0D108BD9-81ED-4DB2-BD59-A6C34878D82A}">
                    <a16:rowId xmlns:a16="http://schemas.microsoft.com/office/drawing/2014/main" val="3086108278"/>
                  </a:ext>
                </a:extLst>
              </a:tr>
              <a:tr h="182880">
                <a:tc>
                  <a:txBody>
                    <a:bodyPr/>
                    <a:lstStyle/>
                    <a:p>
                      <a:pPr algn="l" fontAlgn="b"/>
                      <a:r>
                        <a:rPr lang="fi-FI" sz="1100" b="0" i="0" u="none" strike="noStrike">
                          <a:solidFill>
                            <a:srgbClr val="000000"/>
                          </a:solidFill>
                          <a:effectLst/>
                          <a:latin typeface="Calibri" panose="020F0502020204030204" pitchFamily="34" charset="0"/>
                        </a:rPr>
                        <a:t>x13_stka_herr_matbiom.y</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Prey</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Positive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0.0844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0.98</a:t>
                      </a:r>
                    </a:p>
                  </a:txBody>
                  <a:tcPr marL="7620" marR="7620" marT="7620" marB="0" anchor="b">
                    <a:lnL>
                      <a:noFill/>
                    </a:lnL>
                    <a:lnR>
                      <a:noFill/>
                    </a:lnR>
                    <a:lnT>
                      <a:noFill/>
                    </a:lnT>
                    <a:lnB>
                      <a:noFill/>
                    </a:lnB>
                  </a:tcPr>
                </a:tc>
                <a:extLst>
                  <a:ext uri="{0D108BD9-81ED-4DB2-BD59-A6C34878D82A}">
                    <a16:rowId xmlns:a16="http://schemas.microsoft.com/office/drawing/2014/main" val="2543450990"/>
                  </a:ext>
                </a:extLst>
              </a:tr>
              <a:tr h="182880">
                <a:tc>
                  <a:txBody>
                    <a:bodyPr/>
                    <a:lstStyle/>
                    <a:p>
                      <a:pPr algn="l" fontAlgn="b"/>
                      <a:r>
                        <a:rPr lang="en-US" sz="1100" b="0" i="0" u="none" strike="noStrike">
                          <a:solidFill>
                            <a:srgbClr val="000000"/>
                          </a:solidFill>
                          <a:effectLst/>
                          <a:latin typeface="Calibri" panose="020F0502020204030204" pitchFamily="34" charset="0"/>
                        </a:rPr>
                        <a:t>x13_egoa_herring</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Prey</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Positive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0.083</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0.979</a:t>
                      </a:r>
                    </a:p>
                  </a:txBody>
                  <a:tcPr marL="7620" marR="7620" marT="7620" marB="0" anchor="b">
                    <a:lnL>
                      <a:noFill/>
                    </a:lnL>
                    <a:lnR>
                      <a:noFill/>
                    </a:lnR>
                    <a:lnT>
                      <a:noFill/>
                    </a:lnT>
                    <a:lnB>
                      <a:noFill/>
                    </a:lnB>
                  </a:tcPr>
                </a:tc>
                <a:extLst>
                  <a:ext uri="{0D108BD9-81ED-4DB2-BD59-A6C34878D82A}">
                    <a16:rowId xmlns:a16="http://schemas.microsoft.com/office/drawing/2014/main" val="4265802764"/>
                  </a:ext>
                </a:extLst>
              </a:tr>
              <a:tr h="182880">
                <a:tc>
                  <a:txBody>
                    <a:bodyPr/>
                    <a:lstStyle/>
                    <a:p>
                      <a:pPr algn="l" fontAlgn="b"/>
                      <a:r>
                        <a:rPr lang="en-US" sz="1100" b="0" i="0" u="none" strike="noStrike">
                          <a:solidFill>
                            <a:srgbClr val="000000"/>
                          </a:solidFill>
                          <a:effectLst/>
                          <a:latin typeface="Calibri" panose="020F0502020204030204" pitchFamily="34" charset="0"/>
                        </a:rPr>
                        <a:t>x13_ammod_wai</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Prey</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Positive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0.0828</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tcPr>
                </a:tc>
                <a:extLst>
                  <a:ext uri="{0D108BD9-81ED-4DB2-BD59-A6C34878D82A}">
                    <a16:rowId xmlns:a16="http://schemas.microsoft.com/office/drawing/2014/main" val="3902618586"/>
                  </a:ext>
                </a:extLst>
              </a:tr>
              <a:tr h="182880">
                <a:tc>
                  <a:txBody>
                    <a:bodyPr/>
                    <a:lstStyle/>
                    <a:p>
                      <a:pPr algn="l" fontAlgn="b"/>
                      <a:r>
                        <a:rPr lang="en-US" sz="1100" b="0" i="0" u="none" strike="noStrike">
                          <a:solidFill>
                            <a:srgbClr val="000000"/>
                          </a:solidFill>
                          <a:effectLst/>
                          <a:latin typeface="Calibri" panose="020F0502020204030204" pitchFamily="34" charset="0"/>
                        </a:rPr>
                        <a:t>x21_sst_wgoa_coastwatch_junjulaug</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Climate</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Negative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0.068</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0.986</a:t>
                      </a:r>
                    </a:p>
                  </a:txBody>
                  <a:tcPr marL="7620" marR="7620" marT="7620" marB="0" anchor="b">
                    <a:lnL>
                      <a:noFill/>
                    </a:lnL>
                    <a:lnR>
                      <a:noFill/>
                    </a:lnR>
                    <a:lnT>
                      <a:noFill/>
                    </a:lnT>
                    <a:lnB>
                      <a:noFill/>
                    </a:lnB>
                  </a:tcPr>
                </a:tc>
                <a:extLst>
                  <a:ext uri="{0D108BD9-81ED-4DB2-BD59-A6C34878D82A}">
                    <a16:rowId xmlns:a16="http://schemas.microsoft.com/office/drawing/2014/main" val="1555199110"/>
                  </a:ext>
                </a:extLst>
              </a:tr>
              <a:tr h="182880">
                <a:tc>
                  <a:txBody>
                    <a:bodyPr/>
                    <a:lstStyle/>
                    <a:p>
                      <a:pPr algn="l" fontAlgn="b"/>
                      <a:r>
                        <a:rPr lang="en-US" sz="1100" b="0" i="0" u="none" strike="noStrike">
                          <a:solidFill>
                            <a:srgbClr val="000000"/>
                          </a:solidFill>
                          <a:effectLst/>
                          <a:latin typeface="Calibri" panose="020F0502020204030204" pitchFamily="34" charset="0"/>
                        </a:rPr>
                        <a:t>x15_dfa_sleeper_shark_bsai_pred_ak</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Predator</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Negative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0.0563</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extLst>
                  <a:ext uri="{0D108BD9-81ED-4DB2-BD59-A6C34878D82A}">
                    <a16:rowId xmlns:a16="http://schemas.microsoft.com/office/drawing/2014/main" val="259304762"/>
                  </a:ext>
                </a:extLst>
              </a:tr>
              <a:tr h="182880">
                <a:tc>
                  <a:txBody>
                    <a:bodyPr/>
                    <a:lstStyle/>
                    <a:p>
                      <a:pPr algn="l" fontAlgn="b"/>
                      <a:r>
                        <a:rPr lang="en-US" sz="1100" b="0" i="0" u="none" strike="noStrike">
                          <a:solidFill>
                            <a:srgbClr val="000000"/>
                          </a:solidFill>
                          <a:effectLst/>
                          <a:latin typeface="Calibri" panose="020F0502020204030204" pitchFamily="34" charset="0"/>
                        </a:rPr>
                        <a:t>x15_icsl_cslchin_ratio</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Index</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Negative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0.0481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0.999</a:t>
                      </a:r>
                    </a:p>
                  </a:txBody>
                  <a:tcPr marL="7620" marR="7620" marT="7620" marB="0" anchor="b">
                    <a:lnL>
                      <a:noFill/>
                    </a:lnL>
                    <a:lnR>
                      <a:noFill/>
                    </a:lnR>
                    <a:lnT>
                      <a:noFill/>
                    </a:lnT>
                    <a:lnB>
                      <a:noFill/>
                    </a:lnB>
                  </a:tcPr>
                </a:tc>
                <a:extLst>
                  <a:ext uri="{0D108BD9-81ED-4DB2-BD59-A6C34878D82A}">
                    <a16:rowId xmlns:a16="http://schemas.microsoft.com/office/drawing/2014/main" val="3807918589"/>
                  </a:ext>
                </a:extLst>
              </a:tr>
              <a:tr h="182880">
                <a:tc>
                  <a:txBody>
                    <a:bodyPr/>
                    <a:lstStyle/>
                    <a:p>
                      <a:pPr algn="l" fontAlgn="b"/>
                      <a:r>
                        <a:rPr lang="en-US" sz="1100" b="0" i="0" u="none" strike="noStrike">
                          <a:solidFill>
                            <a:srgbClr val="000000"/>
                          </a:solidFill>
                          <a:effectLst/>
                          <a:latin typeface="Calibri" panose="020F0502020204030204" pitchFamily="34" charset="0"/>
                        </a:rPr>
                        <a:t>x10_harbour_s_2yr_lead_ws</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Predator</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Negative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0.0474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extLst>
                  <a:ext uri="{0D108BD9-81ED-4DB2-BD59-A6C34878D82A}">
                    <a16:rowId xmlns:a16="http://schemas.microsoft.com/office/drawing/2014/main" val="3218894223"/>
                  </a:ext>
                </a:extLst>
              </a:tr>
              <a:tr h="182880">
                <a:tc>
                  <a:txBody>
                    <a:bodyPr/>
                    <a:lstStyle/>
                    <a:p>
                      <a:pPr algn="l" fontAlgn="b"/>
                      <a:r>
                        <a:rPr lang="en-US" sz="1100" b="0" i="0" u="none" strike="noStrike">
                          <a:solidFill>
                            <a:srgbClr val="000000"/>
                          </a:solidFill>
                          <a:effectLst/>
                          <a:latin typeface="Calibri" panose="020F0502020204030204" pitchFamily="34" charset="0"/>
                        </a:rPr>
                        <a:t>x13_dfa_wgoa_dfa_seabirds</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Prey</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Positive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0.0338</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tcPr>
                </a:tc>
                <a:extLst>
                  <a:ext uri="{0D108BD9-81ED-4DB2-BD59-A6C34878D82A}">
                    <a16:rowId xmlns:a16="http://schemas.microsoft.com/office/drawing/2014/main" val="349830318"/>
                  </a:ext>
                </a:extLst>
              </a:tr>
              <a:tr h="182880">
                <a:tc>
                  <a:txBody>
                    <a:bodyPr/>
                    <a:lstStyle/>
                    <a:p>
                      <a:pPr algn="l" fontAlgn="b"/>
                      <a:r>
                        <a:rPr lang="en-US" sz="1100" b="0" i="0" u="none" strike="noStrike">
                          <a:solidFill>
                            <a:srgbClr val="000000"/>
                          </a:solidFill>
                          <a:effectLst/>
                          <a:latin typeface="Calibri" panose="020F0502020204030204" pitchFamily="34" charset="0"/>
                        </a:rPr>
                        <a:t>x14_pink_salmon_north_america</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Competitor</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Negative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0.0148</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extLst>
                  <a:ext uri="{0D108BD9-81ED-4DB2-BD59-A6C34878D82A}">
                    <a16:rowId xmlns:a16="http://schemas.microsoft.com/office/drawing/2014/main" val="3730026492"/>
                  </a:ext>
                </a:extLst>
              </a:tr>
              <a:tr h="182880">
                <a:tc>
                  <a:txBody>
                    <a:bodyPr/>
                    <a:lstStyle/>
                    <a:p>
                      <a:pPr algn="l" fontAlgn="b"/>
                      <a:r>
                        <a:rPr lang="en-US" sz="1100" b="0" i="0" u="none" strike="noStrike">
                          <a:solidFill>
                            <a:srgbClr val="000000"/>
                          </a:solidFill>
                          <a:effectLst/>
                          <a:latin typeface="Calibri" panose="020F0502020204030204" pitchFamily="34" charset="0"/>
                        </a:rPr>
                        <a:t>x15_sablefish_biomass_pred_ak</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Predator</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Negative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0.0125</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0.217</a:t>
                      </a:r>
                    </a:p>
                  </a:txBody>
                  <a:tcPr marL="7620" marR="7620" marT="7620" marB="0" anchor="b">
                    <a:lnL>
                      <a:noFill/>
                    </a:lnL>
                    <a:lnR>
                      <a:noFill/>
                    </a:lnR>
                    <a:lnT>
                      <a:noFill/>
                    </a:lnT>
                    <a:lnB>
                      <a:noFill/>
                    </a:lnB>
                  </a:tcPr>
                </a:tc>
                <a:extLst>
                  <a:ext uri="{0D108BD9-81ED-4DB2-BD59-A6C34878D82A}">
                    <a16:rowId xmlns:a16="http://schemas.microsoft.com/office/drawing/2014/main" val="3649945266"/>
                  </a:ext>
                </a:extLst>
              </a:tr>
              <a:tr h="182880">
                <a:tc>
                  <a:txBody>
                    <a:bodyPr/>
                    <a:lstStyle/>
                    <a:p>
                      <a:pPr algn="l" fontAlgn="b"/>
                      <a:r>
                        <a:rPr lang="en-US" sz="1100" b="0" i="0" u="none" strike="noStrike">
                          <a:solidFill>
                            <a:srgbClr val="000000"/>
                          </a:solidFill>
                          <a:effectLst/>
                          <a:latin typeface="Calibri" panose="020F0502020204030204" pitchFamily="34" charset="0"/>
                        </a:rPr>
                        <a:t>x21_pdo_djf</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Climate</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Negative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0.0089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extLst>
                  <a:ext uri="{0D108BD9-81ED-4DB2-BD59-A6C34878D82A}">
                    <a16:rowId xmlns:a16="http://schemas.microsoft.com/office/drawing/2014/main" val="3474592320"/>
                  </a:ext>
                </a:extLst>
              </a:tr>
              <a:tr h="182880">
                <a:tc>
                  <a:txBody>
                    <a:bodyPr/>
                    <a:lstStyle/>
                    <a:p>
                      <a:pPr algn="l" fontAlgn="b"/>
                      <a:r>
                        <a:rPr lang="en-US" sz="1100" b="0" i="0" u="none" strike="noStrike">
                          <a:solidFill>
                            <a:srgbClr val="000000"/>
                          </a:solidFill>
                          <a:effectLst/>
                          <a:latin typeface="Calibri" panose="020F0502020204030204" pitchFamily="34" charset="0"/>
                        </a:rPr>
                        <a:t>x12_dfa_biomass_euph_shelf_sum</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Prey</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Positive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0.0087</a:t>
                      </a:r>
                    </a:p>
                  </a:txBody>
                  <a:tcPr marL="7620" marR="7620" marT="7620" marB="0" anchor="b">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0</a:t>
                      </a:r>
                    </a:p>
                  </a:txBody>
                  <a:tcPr marL="7620" marR="7620" marT="7620" marB="0" anchor="b">
                    <a:lnL>
                      <a:noFill/>
                    </a:lnL>
                    <a:lnR>
                      <a:noFill/>
                    </a:lnR>
                    <a:lnT>
                      <a:noFill/>
                    </a:lnT>
                    <a:lnB>
                      <a:noFill/>
                    </a:lnB>
                  </a:tcPr>
                </a:tc>
                <a:extLst>
                  <a:ext uri="{0D108BD9-81ED-4DB2-BD59-A6C34878D82A}">
                    <a16:rowId xmlns:a16="http://schemas.microsoft.com/office/drawing/2014/main" val="2350902036"/>
                  </a:ext>
                </a:extLst>
              </a:tr>
            </a:tbl>
          </a:graphicData>
        </a:graphic>
      </p:graphicFrame>
    </p:spTree>
    <p:extLst>
      <p:ext uri="{BB962C8B-B14F-4D97-AF65-F5344CB8AC3E}">
        <p14:creationId xmlns:p14="http://schemas.microsoft.com/office/powerpoint/2010/main" val="3814738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46B0-D837-4CD2-A0E7-6C4C6578C33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52823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65596-6EC5-4ADA-AAD2-F6B75558066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008574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034CE8-8D2C-40ED-9C8C-C7480CF1D89C}"/>
              </a:ext>
            </a:extLst>
          </p:cNvPr>
          <p:cNvSpPr>
            <a:spLocks noGrp="1"/>
          </p:cNvSpPr>
          <p:nvPr>
            <p:ph type="title"/>
          </p:nvPr>
        </p:nvSpPr>
        <p:spPr/>
        <p:txBody>
          <a:bodyPr/>
          <a:lstStyle/>
          <a:p>
            <a:r>
              <a:rPr lang="en-US" dirty="0"/>
              <a:t>Components of estuary risk score</a:t>
            </a:r>
          </a:p>
        </p:txBody>
      </p:sp>
      <p:pic>
        <p:nvPicPr>
          <p:cNvPr id="3" name="Picture 2">
            <a:extLst>
              <a:ext uri="{FF2B5EF4-FFF2-40B4-BE49-F238E27FC236}">
                <a16:creationId xmlns:a16="http://schemas.microsoft.com/office/drawing/2014/main" id="{45723A45-DD3B-46DE-B9C0-CEF2E7802F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0931" y="1315043"/>
            <a:ext cx="6604083" cy="5403341"/>
          </a:xfrm>
          <a:prstGeom prst="rect">
            <a:avLst/>
          </a:prstGeom>
        </p:spPr>
      </p:pic>
    </p:spTree>
    <p:extLst>
      <p:ext uri="{BB962C8B-B14F-4D97-AF65-F5344CB8AC3E}">
        <p14:creationId xmlns:p14="http://schemas.microsoft.com/office/powerpoint/2010/main" val="501107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81DF-79AF-4B6F-85C7-3A8C1BC11E80}"/>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25FE8565-ED8B-4FFD-9555-B78BE94449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0"/>
            <a:ext cx="8381999" cy="6858000"/>
          </a:xfrm>
          <a:prstGeom prst="rect">
            <a:avLst/>
          </a:prstGeom>
        </p:spPr>
      </p:pic>
    </p:spTree>
    <p:extLst>
      <p:ext uri="{BB962C8B-B14F-4D97-AF65-F5344CB8AC3E}">
        <p14:creationId xmlns:p14="http://schemas.microsoft.com/office/powerpoint/2010/main" val="3953233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C6CF0-F715-4504-9E14-070C75D17C4A}"/>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60EF70B3-445B-4E20-B7B6-50DD86FC3D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0"/>
            <a:ext cx="8381999" cy="6858000"/>
          </a:xfrm>
          <a:prstGeom prst="rect">
            <a:avLst/>
          </a:prstGeom>
        </p:spPr>
      </p:pic>
    </p:spTree>
    <p:extLst>
      <p:ext uri="{BB962C8B-B14F-4D97-AF65-F5344CB8AC3E}">
        <p14:creationId xmlns:p14="http://schemas.microsoft.com/office/powerpoint/2010/main" val="2732998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68757-5D45-487F-B66C-65493084F0A7}"/>
              </a:ext>
            </a:extLst>
          </p:cNvPr>
          <p:cNvSpPr>
            <a:spLocks noGrp="1"/>
          </p:cNvSpPr>
          <p:nvPr>
            <p:ph type="title"/>
          </p:nvPr>
        </p:nvSpPr>
        <p:spPr/>
        <p:txBody>
          <a:bodyPr/>
          <a:lstStyle/>
          <a:p>
            <a:r>
              <a:rPr lang="en-US" dirty="0"/>
              <a:t>Current DFA – captures 2015 peak</a:t>
            </a:r>
          </a:p>
        </p:txBody>
      </p:sp>
      <p:pic>
        <p:nvPicPr>
          <p:cNvPr id="5" name="Content Placeholder 4">
            <a:extLst>
              <a:ext uri="{FF2B5EF4-FFF2-40B4-BE49-F238E27FC236}">
                <a16:creationId xmlns:a16="http://schemas.microsoft.com/office/drawing/2014/main" id="{03C1AC73-311B-4F0E-AC69-713CC60ED69E}"/>
              </a:ext>
            </a:extLst>
          </p:cNvPr>
          <p:cNvPicPr>
            <a:picLocks noGrp="1" noChangeAspect="1"/>
          </p:cNvPicPr>
          <p:nvPr>
            <p:ph idx="1"/>
          </p:nvPr>
        </p:nvPicPr>
        <p:blipFill>
          <a:blip r:embed="rId2"/>
          <a:stretch>
            <a:fillRect/>
          </a:stretch>
        </p:blipFill>
        <p:spPr>
          <a:xfrm>
            <a:off x="3859743" y="1825625"/>
            <a:ext cx="4472514" cy="4351338"/>
          </a:xfrm>
        </p:spPr>
      </p:pic>
    </p:spTree>
    <p:extLst>
      <p:ext uri="{BB962C8B-B14F-4D97-AF65-F5344CB8AC3E}">
        <p14:creationId xmlns:p14="http://schemas.microsoft.com/office/powerpoint/2010/main" val="3514580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064697-DD00-4C89-8DD9-ADF2459C51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790" y="685794"/>
            <a:ext cx="10058420" cy="5486411"/>
          </a:xfrm>
          <a:prstGeom prst="rect">
            <a:avLst/>
          </a:prstGeom>
        </p:spPr>
      </p:pic>
    </p:spTree>
    <p:extLst>
      <p:ext uri="{BB962C8B-B14F-4D97-AF65-F5344CB8AC3E}">
        <p14:creationId xmlns:p14="http://schemas.microsoft.com/office/powerpoint/2010/main" val="13791237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CC33A2-5F6C-49A2-9E97-7F75957E6055}"/>
              </a:ext>
            </a:extLst>
          </p:cNvPr>
          <p:cNvSpPr>
            <a:spLocks noGrp="1"/>
          </p:cNvSpPr>
          <p:nvPr>
            <p:ph type="title"/>
          </p:nvPr>
        </p:nvSpPr>
        <p:spPr>
          <a:xfrm>
            <a:off x="838200" y="66187"/>
            <a:ext cx="10515600" cy="1325563"/>
          </a:xfrm>
        </p:spPr>
        <p:txBody>
          <a:bodyPr/>
          <a:lstStyle/>
          <a:p>
            <a:r>
              <a:rPr lang="en-US" dirty="0"/>
              <a:t>CSL at EMB spring phenology</a:t>
            </a:r>
          </a:p>
        </p:txBody>
      </p:sp>
      <p:pic>
        <p:nvPicPr>
          <p:cNvPr id="5" name="Picture 4">
            <a:extLst>
              <a:ext uri="{FF2B5EF4-FFF2-40B4-BE49-F238E27FC236}">
                <a16:creationId xmlns:a16="http://schemas.microsoft.com/office/drawing/2014/main" id="{FD9C06F1-CA4E-4741-B409-6B4E6686C9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1700" y="1521478"/>
            <a:ext cx="6951582" cy="5055697"/>
          </a:xfrm>
          <a:prstGeom prst="rect">
            <a:avLst/>
          </a:prstGeom>
        </p:spPr>
      </p:pic>
    </p:spTree>
    <p:extLst>
      <p:ext uri="{BB962C8B-B14F-4D97-AF65-F5344CB8AC3E}">
        <p14:creationId xmlns:p14="http://schemas.microsoft.com/office/powerpoint/2010/main" val="3090543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034CE8-8D2C-40ED-9C8C-C7480CF1D89C}"/>
              </a:ext>
            </a:extLst>
          </p:cNvPr>
          <p:cNvSpPr>
            <a:spLocks noGrp="1"/>
          </p:cNvSpPr>
          <p:nvPr>
            <p:ph type="title"/>
          </p:nvPr>
        </p:nvSpPr>
        <p:spPr>
          <a:xfrm>
            <a:off x="838200" y="0"/>
            <a:ext cx="10515600" cy="817685"/>
          </a:xfrm>
        </p:spPr>
        <p:txBody>
          <a:bodyPr/>
          <a:lstStyle/>
          <a:p>
            <a:r>
              <a:rPr lang="en-US" dirty="0"/>
              <a:t>CSL phenology ~ eulachon, salmon, shad</a:t>
            </a:r>
          </a:p>
        </p:txBody>
      </p:sp>
      <p:pic>
        <p:nvPicPr>
          <p:cNvPr id="3" name="Picture 2">
            <a:extLst>
              <a:ext uri="{FF2B5EF4-FFF2-40B4-BE49-F238E27FC236}">
                <a16:creationId xmlns:a16="http://schemas.microsoft.com/office/drawing/2014/main" id="{934CC03C-3868-4980-8882-6C3118927E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3823" y="804185"/>
            <a:ext cx="8910069" cy="5940046"/>
          </a:xfrm>
          <a:prstGeom prst="rect">
            <a:avLst/>
          </a:prstGeom>
        </p:spPr>
      </p:pic>
    </p:spTree>
    <p:extLst>
      <p:ext uri="{BB962C8B-B14F-4D97-AF65-F5344CB8AC3E}">
        <p14:creationId xmlns:p14="http://schemas.microsoft.com/office/powerpoint/2010/main" val="31342355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034CE8-8D2C-40ED-9C8C-C7480CF1D89C}"/>
              </a:ext>
            </a:extLst>
          </p:cNvPr>
          <p:cNvSpPr>
            <a:spLocks noGrp="1"/>
          </p:cNvSpPr>
          <p:nvPr>
            <p:ph type="title"/>
          </p:nvPr>
        </p:nvSpPr>
        <p:spPr/>
        <p:txBody>
          <a:bodyPr/>
          <a:lstStyle/>
          <a:p>
            <a:r>
              <a:rPr lang="en-US" dirty="0"/>
              <a:t>GAM-fit to backfill weekly eulachon run</a:t>
            </a:r>
          </a:p>
        </p:txBody>
      </p:sp>
      <p:pic>
        <p:nvPicPr>
          <p:cNvPr id="6" name="Picture 5">
            <a:extLst>
              <a:ext uri="{FF2B5EF4-FFF2-40B4-BE49-F238E27FC236}">
                <a16:creationId xmlns:a16="http://schemas.microsoft.com/office/drawing/2014/main" id="{0B7EA9EF-9A3E-417C-8927-EE7E16D2B6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6755" y="1496336"/>
            <a:ext cx="7278489" cy="5293447"/>
          </a:xfrm>
          <a:prstGeom prst="rect">
            <a:avLst/>
          </a:prstGeom>
        </p:spPr>
      </p:pic>
    </p:spTree>
    <p:extLst>
      <p:ext uri="{BB962C8B-B14F-4D97-AF65-F5344CB8AC3E}">
        <p14:creationId xmlns:p14="http://schemas.microsoft.com/office/powerpoint/2010/main" val="3036239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034CE8-8D2C-40ED-9C8C-C7480CF1D89C}"/>
              </a:ext>
            </a:extLst>
          </p:cNvPr>
          <p:cNvSpPr>
            <a:spLocks noGrp="1"/>
          </p:cNvSpPr>
          <p:nvPr>
            <p:ph type="title"/>
          </p:nvPr>
        </p:nvSpPr>
        <p:spPr/>
        <p:txBody>
          <a:bodyPr/>
          <a:lstStyle/>
          <a:p>
            <a:r>
              <a:rPr lang="en-US" dirty="0"/>
              <a:t>Sine-fit to combine catch data w/ egg counts</a:t>
            </a:r>
          </a:p>
        </p:txBody>
      </p:sp>
      <p:pic>
        <p:nvPicPr>
          <p:cNvPr id="3" name="Picture 2">
            <a:extLst>
              <a:ext uri="{FF2B5EF4-FFF2-40B4-BE49-F238E27FC236}">
                <a16:creationId xmlns:a16="http://schemas.microsoft.com/office/drawing/2014/main" id="{617ED3FC-3BFB-47AA-A445-6BD8803210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3990" y="2102949"/>
            <a:ext cx="9144019" cy="4572009"/>
          </a:xfrm>
          <a:prstGeom prst="rect">
            <a:avLst/>
          </a:prstGeom>
        </p:spPr>
      </p:pic>
    </p:spTree>
    <p:extLst>
      <p:ext uri="{BB962C8B-B14F-4D97-AF65-F5344CB8AC3E}">
        <p14:creationId xmlns:p14="http://schemas.microsoft.com/office/powerpoint/2010/main" val="27651664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91C39-9C12-4525-AE41-EB7E08435AD5}"/>
              </a:ext>
            </a:extLst>
          </p:cNvPr>
          <p:cNvSpPr>
            <a:spLocks noGrp="1"/>
          </p:cNvSpPr>
          <p:nvPr>
            <p:ph type="title"/>
          </p:nvPr>
        </p:nvSpPr>
        <p:spPr>
          <a:xfrm>
            <a:off x="1" y="0"/>
            <a:ext cx="6096000" cy="1325563"/>
          </a:xfrm>
        </p:spPr>
        <p:txBody>
          <a:bodyPr/>
          <a:lstStyle/>
          <a:p>
            <a:r>
              <a:rPr lang="en-US" dirty="0"/>
              <a:t>Exposure indices tested</a:t>
            </a:r>
          </a:p>
        </p:txBody>
      </p:sp>
      <p:sp>
        <p:nvSpPr>
          <p:cNvPr id="4" name="Content Placeholder 3">
            <a:extLst>
              <a:ext uri="{FF2B5EF4-FFF2-40B4-BE49-F238E27FC236}">
                <a16:creationId xmlns:a16="http://schemas.microsoft.com/office/drawing/2014/main" id="{D119CE08-E1CF-4C71-B443-D1E153499FB4}"/>
              </a:ext>
            </a:extLst>
          </p:cNvPr>
          <p:cNvSpPr>
            <a:spLocks noGrp="1"/>
          </p:cNvSpPr>
          <p:nvPr>
            <p:ph idx="1"/>
          </p:nvPr>
        </p:nvSpPr>
        <p:spPr>
          <a:xfrm>
            <a:off x="530469" y="1868792"/>
            <a:ext cx="4753708" cy="4351338"/>
          </a:xfrm>
        </p:spPr>
        <p:txBody>
          <a:bodyPr>
            <a:normAutofit/>
          </a:bodyPr>
          <a:lstStyle/>
          <a:p>
            <a:r>
              <a:rPr lang="en-US" sz="1600" dirty="0" err="1"/>
              <a:t>Csl</a:t>
            </a:r>
            <a:r>
              <a:rPr lang="en-US" sz="1600" dirty="0"/>
              <a:t> count during the salmon run (sum/weekly avg)</a:t>
            </a:r>
          </a:p>
          <a:p>
            <a:r>
              <a:rPr lang="en-US" sz="1600" dirty="0"/>
              <a:t>CSL annual peak</a:t>
            </a:r>
          </a:p>
          <a:p>
            <a:r>
              <a:rPr lang="en-US" sz="1600" dirty="0" err="1"/>
              <a:t>N</a:t>
            </a:r>
            <a:r>
              <a:rPr lang="en-US" sz="1600" baseline="-25000" dirty="0" err="1"/>
              <a:t>total</a:t>
            </a:r>
            <a:r>
              <a:rPr lang="en-US" sz="1600" dirty="0"/>
              <a:t> chinook in estuary (sum over whole spring)</a:t>
            </a:r>
          </a:p>
          <a:p>
            <a:r>
              <a:rPr lang="en-US" sz="1600" dirty="0" err="1"/>
              <a:t>N</a:t>
            </a:r>
            <a:r>
              <a:rPr lang="en-US" sz="1600" baseline="-25000" dirty="0" err="1"/>
              <a:t>total</a:t>
            </a:r>
            <a:r>
              <a:rPr lang="en-US" sz="1600" dirty="0"/>
              <a:t> eulachon in estuary (sum over whole spring)</a:t>
            </a:r>
          </a:p>
          <a:p>
            <a:r>
              <a:rPr lang="en-US" sz="1600" dirty="0" err="1"/>
              <a:t>N</a:t>
            </a:r>
            <a:r>
              <a:rPr lang="en-US" sz="1600" baseline="-25000" dirty="0" err="1"/>
              <a:t>eul</a:t>
            </a:r>
            <a:r>
              <a:rPr lang="en-US" sz="1600" baseline="-25000" dirty="0"/>
              <a:t>(chin)</a:t>
            </a:r>
            <a:r>
              <a:rPr lang="en-US" sz="1600" dirty="0"/>
              <a:t> sum of eulachon during chinook run</a:t>
            </a:r>
          </a:p>
          <a:p>
            <a:r>
              <a:rPr lang="en-US" sz="1600" dirty="0" err="1"/>
              <a:t>N</a:t>
            </a:r>
            <a:r>
              <a:rPr lang="en-US" sz="1600" baseline="-25000" dirty="0" err="1"/>
              <a:t>shad</a:t>
            </a:r>
            <a:r>
              <a:rPr lang="en-US" sz="1600" baseline="-25000" dirty="0"/>
              <a:t>(chin)</a:t>
            </a:r>
            <a:r>
              <a:rPr lang="en-US" sz="1600" dirty="0"/>
              <a:t> sum of shad during chinook run</a:t>
            </a:r>
          </a:p>
          <a:p>
            <a:endParaRPr lang="en-US" sz="1600" dirty="0"/>
          </a:p>
          <a:p>
            <a:endParaRPr lang="en-US" sz="1600" dirty="0"/>
          </a:p>
          <a:p>
            <a:endParaRPr lang="en-US" sz="1600" dirty="0"/>
          </a:p>
          <a:p>
            <a:endParaRPr lang="en-US" sz="1600" dirty="0"/>
          </a:p>
          <a:p>
            <a:endParaRPr lang="en-US" sz="1600" dirty="0"/>
          </a:p>
        </p:txBody>
      </p:sp>
      <p:sp>
        <p:nvSpPr>
          <p:cNvPr id="5" name="TextBox 4">
            <a:extLst>
              <a:ext uri="{FF2B5EF4-FFF2-40B4-BE49-F238E27FC236}">
                <a16:creationId xmlns:a16="http://schemas.microsoft.com/office/drawing/2014/main" id="{66074D4D-893D-4721-B2ED-3045CB2227F0}"/>
              </a:ext>
            </a:extLst>
          </p:cNvPr>
          <p:cNvSpPr txBox="1"/>
          <p:nvPr/>
        </p:nvSpPr>
        <p:spPr>
          <a:xfrm>
            <a:off x="8669215" y="6242538"/>
            <a:ext cx="2865721" cy="369332"/>
          </a:xfrm>
          <a:prstGeom prst="rect">
            <a:avLst/>
          </a:prstGeom>
          <a:noFill/>
        </p:spPr>
        <p:txBody>
          <a:bodyPr wrap="none" rtlCol="0">
            <a:spAutoFit/>
          </a:bodyPr>
          <a:lstStyle/>
          <a:p>
            <a:r>
              <a:rPr lang="en-US" dirty="0"/>
              <a:t>Csl_05b_risktable_numeric.r</a:t>
            </a:r>
          </a:p>
        </p:txBody>
      </p:sp>
      <p:graphicFrame>
        <p:nvGraphicFramePr>
          <p:cNvPr id="8" name="Table 7">
            <a:extLst>
              <a:ext uri="{FF2B5EF4-FFF2-40B4-BE49-F238E27FC236}">
                <a16:creationId xmlns:a16="http://schemas.microsoft.com/office/drawing/2014/main" id="{261C8DE8-9D14-4235-8D8F-CFE40EB02598}"/>
              </a:ext>
            </a:extLst>
          </p:cNvPr>
          <p:cNvGraphicFramePr>
            <a:graphicFrameLocks noGrp="1"/>
          </p:cNvGraphicFramePr>
          <p:nvPr>
            <p:extLst>
              <p:ext uri="{D42A27DB-BD31-4B8C-83A1-F6EECF244321}">
                <p14:modId xmlns:p14="http://schemas.microsoft.com/office/powerpoint/2010/main" val="4163779457"/>
              </p:ext>
            </p:extLst>
          </p:nvPr>
        </p:nvGraphicFramePr>
        <p:xfrm>
          <a:off x="6541477" y="1951391"/>
          <a:ext cx="5354514" cy="4351350"/>
        </p:xfrm>
        <a:graphic>
          <a:graphicData uri="http://schemas.openxmlformats.org/drawingml/2006/table">
            <a:tbl>
              <a:tblPr/>
              <a:tblGrid>
                <a:gridCol w="5354514">
                  <a:extLst>
                    <a:ext uri="{9D8B030D-6E8A-4147-A177-3AD203B41FA5}">
                      <a16:colId xmlns:a16="http://schemas.microsoft.com/office/drawing/2014/main" val="1519860514"/>
                    </a:ext>
                  </a:extLst>
                </a:gridCol>
              </a:tblGrid>
              <a:tr h="145045">
                <a:tc>
                  <a:txBody>
                    <a:bodyPr/>
                    <a:lstStyle/>
                    <a:p>
                      <a:pPr algn="l" fontAlgn="b"/>
                      <a:r>
                        <a:rPr lang="en-US" sz="900" b="0" i="0" u="none" strike="noStrike">
                          <a:solidFill>
                            <a:srgbClr val="000000"/>
                          </a:solidFill>
                          <a:effectLst/>
                          <a:latin typeface="Calibri" panose="020F0502020204030204" pitchFamily="34" charset="0"/>
                        </a:rPr>
                        <a:t>   # 1. Sea Lion Exposure Tier (Absolute counts during Chinook run)</a:t>
                      </a:r>
                    </a:p>
                  </a:txBody>
                  <a:tcPr marL="6044" marR="6044" marT="6044" marB="0" anchor="b">
                    <a:lnL>
                      <a:noFill/>
                    </a:lnL>
                    <a:lnR>
                      <a:noFill/>
                    </a:lnR>
                    <a:lnT>
                      <a:noFill/>
                    </a:lnT>
                    <a:lnB>
                      <a:noFill/>
                    </a:lnB>
                  </a:tcPr>
                </a:tc>
                <a:extLst>
                  <a:ext uri="{0D108BD9-81ED-4DB2-BD59-A6C34878D82A}">
                    <a16:rowId xmlns:a16="http://schemas.microsoft.com/office/drawing/2014/main" val="2216279499"/>
                  </a:ext>
                </a:extLst>
              </a:tr>
              <a:tr h="145045">
                <a:tc>
                  <a:txBody>
                    <a:bodyPr/>
                    <a:lstStyle/>
                    <a:p>
                      <a:pPr algn="l" fontAlgn="b"/>
                      <a:r>
                        <a:rPr lang="en-US" sz="900" b="0" i="0" u="none" strike="noStrike">
                          <a:solidFill>
                            <a:srgbClr val="000000"/>
                          </a:solidFill>
                          <a:effectLst/>
                          <a:latin typeface="Calibri" panose="020F0502020204030204" pitchFamily="34" charset="0"/>
                        </a:rPr>
                        <a:t>    csl_threat_tier = case_when(</a:t>
                      </a:r>
                    </a:p>
                  </a:txBody>
                  <a:tcPr marL="6044" marR="6044" marT="6044" marB="0" anchor="b">
                    <a:lnL>
                      <a:noFill/>
                    </a:lnL>
                    <a:lnR>
                      <a:noFill/>
                    </a:lnR>
                    <a:lnT>
                      <a:noFill/>
                    </a:lnT>
                    <a:lnB>
                      <a:noFill/>
                    </a:lnB>
                  </a:tcPr>
                </a:tc>
                <a:extLst>
                  <a:ext uri="{0D108BD9-81ED-4DB2-BD59-A6C34878D82A}">
                    <a16:rowId xmlns:a16="http://schemas.microsoft.com/office/drawing/2014/main" val="1422931098"/>
                  </a:ext>
                </a:extLst>
              </a:tr>
              <a:tr h="145045">
                <a:tc>
                  <a:txBody>
                    <a:bodyPr/>
                    <a:lstStyle/>
                    <a:p>
                      <a:pPr algn="l" fontAlgn="b"/>
                      <a:r>
                        <a:rPr lang="en-US" sz="900" b="0" i="0" u="none" strike="noStrike">
                          <a:solidFill>
                            <a:srgbClr val="000000"/>
                          </a:solidFill>
                          <a:effectLst/>
                          <a:latin typeface="Calibri" panose="020F0502020204030204" pitchFamily="34" charset="0"/>
                        </a:rPr>
                        <a:t>      csl_during_chinook &gt;= 3000 ~ "High CSL Exposure (&gt;3k)",</a:t>
                      </a:r>
                    </a:p>
                  </a:txBody>
                  <a:tcPr marL="6044" marR="6044" marT="6044" marB="0" anchor="b">
                    <a:lnL>
                      <a:noFill/>
                    </a:lnL>
                    <a:lnR>
                      <a:noFill/>
                    </a:lnR>
                    <a:lnT>
                      <a:noFill/>
                    </a:lnT>
                    <a:lnB>
                      <a:noFill/>
                    </a:lnB>
                  </a:tcPr>
                </a:tc>
                <a:extLst>
                  <a:ext uri="{0D108BD9-81ED-4DB2-BD59-A6C34878D82A}">
                    <a16:rowId xmlns:a16="http://schemas.microsoft.com/office/drawing/2014/main" val="756021049"/>
                  </a:ext>
                </a:extLst>
              </a:tr>
              <a:tr h="145045">
                <a:tc>
                  <a:txBody>
                    <a:bodyPr/>
                    <a:lstStyle/>
                    <a:p>
                      <a:pPr algn="l" fontAlgn="b"/>
                      <a:r>
                        <a:rPr lang="en-US" sz="900" b="0" i="0" u="none" strike="noStrike">
                          <a:solidFill>
                            <a:srgbClr val="000000"/>
                          </a:solidFill>
                          <a:effectLst/>
                          <a:latin typeface="Calibri" panose="020F0502020204030204" pitchFamily="34" charset="0"/>
                        </a:rPr>
                        <a:t>      csl_during_chinook &gt;= 1000 ~ "Moderate CSL Exposure (1k-3k)",</a:t>
                      </a:r>
                    </a:p>
                  </a:txBody>
                  <a:tcPr marL="6044" marR="6044" marT="6044" marB="0" anchor="b">
                    <a:lnL>
                      <a:noFill/>
                    </a:lnL>
                    <a:lnR>
                      <a:noFill/>
                    </a:lnR>
                    <a:lnT>
                      <a:noFill/>
                    </a:lnT>
                    <a:lnB>
                      <a:noFill/>
                    </a:lnB>
                  </a:tcPr>
                </a:tc>
                <a:extLst>
                  <a:ext uri="{0D108BD9-81ED-4DB2-BD59-A6C34878D82A}">
                    <a16:rowId xmlns:a16="http://schemas.microsoft.com/office/drawing/2014/main" val="3366032798"/>
                  </a:ext>
                </a:extLst>
              </a:tr>
              <a:tr h="145045">
                <a:tc>
                  <a:txBody>
                    <a:bodyPr/>
                    <a:lstStyle/>
                    <a:p>
                      <a:pPr algn="l" fontAlgn="b"/>
                      <a:r>
                        <a:rPr lang="en-US" sz="900" b="0" i="0" u="none" strike="noStrike">
                          <a:solidFill>
                            <a:srgbClr val="000000"/>
                          </a:solidFill>
                          <a:effectLst/>
                          <a:latin typeface="Calibri" panose="020F0502020204030204" pitchFamily="34" charset="0"/>
                        </a:rPr>
                        <a:t>      TRUE                       ~ "Low CSL Exposure (&lt;1k)"</a:t>
                      </a:r>
                    </a:p>
                  </a:txBody>
                  <a:tcPr marL="6044" marR="6044" marT="6044" marB="0" anchor="b">
                    <a:lnL>
                      <a:noFill/>
                    </a:lnL>
                    <a:lnR>
                      <a:noFill/>
                    </a:lnR>
                    <a:lnT>
                      <a:noFill/>
                    </a:lnT>
                    <a:lnB>
                      <a:noFill/>
                    </a:lnB>
                  </a:tcPr>
                </a:tc>
                <a:extLst>
                  <a:ext uri="{0D108BD9-81ED-4DB2-BD59-A6C34878D82A}">
                    <a16:rowId xmlns:a16="http://schemas.microsoft.com/office/drawing/2014/main" val="389625305"/>
                  </a:ext>
                </a:extLst>
              </a:tr>
              <a:tr h="145045">
                <a:tc>
                  <a:txBody>
                    <a:bodyPr/>
                    <a:lstStyle/>
                    <a:p>
                      <a:pPr algn="l" fontAlgn="b"/>
                      <a:r>
                        <a:rPr lang="en-US" sz="900" b="0" i="0" u="none" strike="noStrike">
                          <a:solidFill>
                            <a:srgbClr val="000000"/>
                          </a:solidFill>
                          <a:effectLst/>
                          <a:latin typeface="Calibri" panose="020F0502020204030204" pitchFamily="34" charset="0"/>
                        </a:rPr>
                        <a:t>    ),</a:t>
                      </a:r>
                    </a:p>
                  </a:txBody>
                  <a:tcPr marL="6044" marR="6044" marT="6044" marB="0" anchor="b">
                    <a:lnL>
                      <a:noFill/>
                    </a:lnL>
                    <a:lnR>
                      <a:noFill/>
                    </a:lnR>
                    <a:lnT>
                      <a:noFill/>
                    </a:lnT>
                    <a:lnB>
                      <a:noFill/>
                    </a:lnB>
                  </a:tcPr>
                </a:tc>
                <a:extLst>
                  <a:ext uri="{0D108BD9-81ED-4DB2-BD59-A6C34878D82A}">
                    <a16:rowId xmlns:a16="http://schemas.microsoft.com/office/drawing/2014/main" val="3024687139"/>
                  </a:ext>
                </a:extLst>
              </a:tr>
              <a:tr h="145045">
                <a:tc>
                  <a:txBody>
                    <a:bodyPr/>
                    <a:lstStyle/>
                    <a:p>
                      <a:pPr algn="l" fontAlgn="b"/>
                      <a:r>
                        <a:rPr lang="en-US" sz="900" b="0" i="0" u="none" strike="noStrike">
                          <a:solidFill>
                            <a:srgbClr val="000000"/>
                          </a:solidFill>
                          <a:effectLst/>
                          <a:latin typeface="Calibri" panose="020F0502020204030204" pitchFamily="34" charset="0"/>
                        </a:rPr>
                        <a:t>    </a:t>
                      </a:r>
                    </a:p>
                  </a:txBody>
                  <a:tcPr marL="6044" marR="6044" marT="6044" marB="0" anchor="b">
                    <a:lnL>
                      <a:noFill/>
                    </a:lnL>
                    <a:lnR>
                      <a:noFill/>
                    </a:lnR>
                    <a:lnT>
                      <a:noFill/>
                    </a:lnT>
                    <a:lnB>
                      <a:noFill/>
                    </a:lnB>
                  </a:tcPr>
                </a:tc>
                <a:extLst>
                  <a:ext uri="{0D108BD9-81ED-4DB2-BD59-A6C34878D82A}">
                    <a16:rowId xmlns:a16="http://schemas.microsoft.com/office/drawing/2014/main" val="2048231021"/>
                  </a:ext>
                </a:extLst>
              </a:tr>
              <a:tr h="145045">
                <a:tc>
                  <a:txBody>
                    <a:bodyPr/>
                    <a:lstStyle/>
                    <a:p>
                      <a:pPr algn="l" fontAlgn="b"/>
                      <a:r>
                        <a:rPr lang="en-US" sz="900" b="0" i="0" u="none" strike="noStrike">
                          <a:solidFill>
                            <a:srgbClr val="000000"/>
                          </a:solidFill>
                          <a:effectLst/>
                          <a:latin typeface="Calibri" panose="020F0502020204030204" pitchFamily="34" charset="0"/>
                        </a:rPr>
                        <a:t>    # 2. Early Spring Eulachon Buffer Scale</a:t>
                      </a:r>
                    </a:p>
                  </a:txBody>
                  <a:tcPr marL="6044" marR="6044" marT="6044" marB="0" anchor="b">
                    <a:lnL>
                      <a:noFill/>
                    </a:lnL>
                    <a:lnR>
                      <a:noFill/>
                    </a:lnR>
                    <a:lnT>
                      <a:noFill/>
                    </a:lnT>
                    <a:lnB>
                      <a:noFill/>
                    </a:lnB>
                  </a:tcPr>
                </a:tc>
                <a:extLst>
                  <a:ext uri="{0D108BD9-81ED-4DB2-BD59-A6C34878D82A}">
                    <a16:rowId xmlns:a16="http://schemas.microsoft.com/office/drawing/2014/main" val="1003954717"/>
                  </a:ext>
                </a:extLst>
              </a:tr>
              <a:tr h="145045">
                <a:tc>
                  <a:txBody>
                    <a:bodyPr/>
                    <a:lstStyle/>
                    <a:p>
                      <a:pPr algn="l" fontAlgn="b"/>
                      <a:r>
                        <a:rPr lang="en-US" sz="900" b="0" i="0" u="none" strike="noStrike">
                          <a:solidFill>
                            <a:srgbClr val="000000"/>
                          </a:solidFill>
                          <a:effectLst/>
                          <a:latin typeface="Calibri" panose="020F0502020204030204" pitchFamily="34" charset="0"/>
                        </a:rPr>
                        <a:t>    eulachon_buffer_tier = case_when(</a:t>
                      </a:r>
                    </a:p>
                  </a:txBody>
                  <a:tcPr marL="6044" marR="6044" marT="6044" marB="0" anchor="b">
                    <a:lnL>
                      <a:noFill/>
                    </a:lnL>
                    <a:lnR>
                      <a:noFill/>
                    </a:lnR>
                    <a:lnT>
                      <a:noFill/>
                    </a:lnT>
                    <a:lnB>
                      <a:noFill/>
                    </a:lnB>
                  </a:tcPr>
                </a:tc>
                <a:extLst>
                  <a:ext uri="{0D108BD9-81ED-4DB2-BD59-A6C34878D82A}">
                    <a16:rowId xmlns:a16="http://schemas.microsoft.com/office/drawing/2014/main" val="3996145022"/>
                  </a:ext>
                </a:extLst>
              </a:tr>
              <a:tr h="145045">
                <a:tc>
                  <a:txBody>
                    <a:bodyPr/>
                    <a:lstStyle/>
                    <a:p>
                      <a:pPr algn="l" fontAlgn="b"/>
                      <a:r>
                        <a:rPr lang="en-US" sz="900" b="0" i="0" u="none" strike="noStrike">
                          <a:solidFill>
                            <a:srgbClr val="000000"/>
                          </a:solidFill>
                          <a:effectLst/>
                          <a:latin typeface="Calibri" panose="020F0502020204030204" pitchFamily="34" charset="0"/>
                        </a:rPr>
                        <a:t>      eulachon_during_chinook &gt;= 50000 ~ "Substantial Buffer (&gt;50k)",</a:t>
                      </a:r>
                    </a:p>
                  </a:txBody>
                  <a:tcPr marL="6044" marR="6044" marT="6044" marB="0" anchor="b">
                    <a:lnL>
                      <a:noFill/>
                    </a:lnL>
                    <a:lnR>
                      <a:noFill/>
                    </a:lnR>
                    <a:lnT>
                      <a:noFill/>
                    </a:lnT>
                    <a:lnB>
                      <a:noFill/>
                    </a:lnB>
                  </a:tcPr>
                </a:tc>
                <a:extLst>
                  <a:ext uri="{0D108BD9-81ED-4DB2-BD59-A6C34878D82A}">
                    <a16:rowId xmlns:a16="http://schemas.microsoft.com/office/drawing/2014/main" val="3988534035"/>
                  </a:ext>
                </a:extLst>
              </a:tr>
              <a:tr h="145045">
                <a:tc>
                  <a:txBody>
                    <a:bodyPr/>
                    <a:lstStyle/>
                    <a:p>
                      <a:pPr algn="l" fontAlgn="b"/>
                      <a:r>
                        <a:rPr lang="en-US" sz="900" b="0" i="0" u="none" strike="noStrike">
                          <a:solidFill>
                            <a:srgbClr val="000000"/>
                          </a:solidFill>
                          <a:effectLst/>
                          <a:latin typeface="Calibri" panose="020F0502020204030204" pitchFamily="34" charset="0"/>
                        </a:rPr>
                        <a:t>      eulachon_during_chinook &gt;= 10000 ~ "Moderate Buffer (10k-50k)",</a:t>
                      </a:r>
                    </a:p>
                  </a:txBody>
                  <a:tcPr marL="6044" marR="6044" marT="6044" marB="0" anchor="b">
                    <a:lnL>
                      <a:noFill/>
                    </a:lnL>
                    <a:lnR>
                      <a:noFill/>
                    </a:lnR>
                    <a:lnT>
                      <a:noFill/>
                    </a:lnT>
                    <a:lnB>
                      <a:noFill/>
                    </a:lnB>
                  </a:tcPr>
                </a:tc>
                <a:extLst>
                  <a:ext uri="{0D108BD9-81ED-4DB2-BD59-A6C34878D82A}">
                    <a16:rowId xmlns:a16="http://schemas.microsoft.com/office/drawing/2014/main" val="1911777532"/>
                  </a:ext>
                </a:extLst>
              </a:tr>
              <a:tr h="145045">
                <a:tc>
                  <a:txBody>
                    <a:bodyPr/>
                    <a:lstStyle/>
                    <a:p>
                      <a:pPr algn="l" fontAlgn="b"/>
                      <a:r>
                        <a:rPr lang="en-US" sz="900" b="0" i="0" u="none" strike="noStrike">
                          <a:solidFill>
                            <a:srgbClr val="000000"/>
                          </a:solidFill>
                          <a:effectLst/>
                          <a:latin typeface="Calibri" panose="020F0502020204030204" pitchFamily="34" charset="0"/>
                        </a:rPr>
                        <a:t>      TRUE                             ~ "Minimal Buffer (&lt;10k)"</a:t>
                      </a:r>
                    </a:p>
                  </a:txBody>
                  <a:tcPr marL="6044" marR="6044" marT="6044" marB="0" anchor="b">
                    <a:lnL>
                      <a:noFill/>
                    </a:lnL>
                    <a:lnR>
                      <a:noFill/>
                    </a:lnR>
                    <a:lnT>
                      <a:noFill/>
                    </a:lnT>
                    <a:lnB>
                      <a:noFill/>
                    </a:lnB>
                  </a:tcPr>
                </a:tc>
                <a:extLst>
                  <a:ext uri="{0D108BD9-81ED-4DB2-BD59-A6C34878D82A}">
                    <a16:rowId xmlns:a16="http://schemas.microsoft.com/office/drawing/2014/main" val="3731602231"/>
                  </a:ext>
                </a:extLst>
              </a:tr>
              <a:tr h="145045">
                <a:tc>
                  <a:txBody>
                    <a:bodyPr/>
                    <a:lstStyle/>
                    <a:p>
                      <a:pPr algn="l" fontAlgn="b"/>
                      <a:r>
                        <a:rPr lang="en-US" sz="900" b="0" i="0" u="none" strike="noStrike">
                          <a:solidFill>
                            <a:srgbClr val="000000"/>
                          </a:solidFill>
                          <a:effectLst/>
                          <a:latin typeface="Calibri" panose="020F0502020204030204" pitchFamily="34" charset="0"/>
                        </a:rPr>
                        <a:t>    ),</a:t>
                      </a:r>
                    </a:p>
                  </a:txBody>
                  <a:tcPr marL="6044" marR="6044" marT="6044" marB="0" anchor="b">
                    <a:lnL>
                      <a:noFill/>
                    </a:lnL>
                    <a:lnR>
                      <a:noFill/>
                    </a:lnR>
                    <a:lnT>
                      <a:noFill/>
                    </a:lnT>
                    <a:lnB>
                      <a:noFill/>
                    </a:lnB>
                  </a:tcPr>
                </a:tc>
                <a:extLst>
                  <a:ext uri="{0D108BD9-81ED-4DB2-BD59-A6C34878D82A}">
                    <a16:rowId xmlns:a16="http://schemas.microsoft.com/office/drawing/2014/main" val="2936457246"/>
                  </a:ext>
                </a:extLst>
              </a:tr>
              <a:tr h="145045">
                <a:tc>
                  <a:txBody>
                    <a:bodyPr/>
                    <a:lstStyle/>
                    <a:p>
                      <a:pPr algn="l" fontAlgn="b"/>
                      <a:r>
                        <a:rPr lang="en-US" sz="900" b="0" i="0" u="none" strike="noStrike">
                          <a:solidFill>
                            <a:srgbClr val="000000"/>
                          </a:solidFill>
                          <a:effectLst/>
                          <a:latin typeface="Calibri" panose="020F0502020204030204" pitchFamily="34" charset="0"/>
                        </a:rPr>
                        <a:t>    </a:t>
                      </a:r>
                    </a:p>
                  </a:txBody>
                  <a:tcPr marL="6044" marR="6044" marT="6044" marB="0" anchor="b">
                    <a:lnL>
                      <a:noFill/>
                    </a:lnL>
                    <a:lnR>
                      <a:noFill/>
                    </a:lnR>
                    <a:lnT>
                      <a:noFill/>
                    </a:lnT>
                    <a:lnB>
                      <a:noFill/>
                    </a:lnB>
                  </a:tcPr>
                </a:tc>
                <a:extLst>
                  <a:ext uri="{0D108BD9-81ED-4DB2-BD59-A6C34878D82A}">
                    <a16:rowId xmlns:a16="http://schemas.microsoft.com/office/drawing/2014/main" val="1425412853"/>
                  </a:ext>
                </a:extLst>
              </a:tr>
              <a:tr h="145045">
                <a:tc>
                  <a:txBody>
                    <a:bodyPr/>
                    <a:lstStyle/>
                    <a:p>
                      <a:pPr algn="l" fontAlgn="b"/>
                      <a:r>
                        <a:rPr lang="en-US" sz="900" b="0" i="0" u="none" strike="noStrike">
                          <a:solidFill>
                            <a:srgbClr val="000000"/>
                          </a:solidFill>
                          <a:effectLst/>
                          <a:latin typeface="Calibri" panose="020F0502020204030204" pitchFamily="34" charset="0"/>
                        </a:rPr>
                        <a:t>    # 3. Late Spring Shad Buffer Scale</a:t>
                      </a:r>
                    </a:p>
                  </a:txBody>
                  <a:tcPr marL="6044" marR="6044" marT="6044" marB="0" anchor="b">
                    <a:lnL>
                      <a:noFill/>
                    </a:lnL>
                    <a:lnR>
                      <a:noFill/>
                    </a:lnR>
                    <a:lnT>
                      <a:noFill/>
                    </a:lnT>
                    <a:lnB>
                      <a:noFill/>
                    </a:lnB>
                  </a:tcPr>
                </a:tc>
                <a:extLst>
                  <a:ext uri="{0D108BD9-81ED-4DB2-BD59-A6C34878D82A}">
                    <a16:rowId xmlns:a16="http://schemas.microsoft.com/office/drawing/2014/main" val="4063881864"/>
                  </a:ext>
                </a:extLst>
              </a:tr>
              <a:tr h="145045">
                <a:tc>
                  <a:txBody>
                    <a:bodyPr/>
                    <a:lstStyle/>
                    <a:p>
                      <a:pPr algn="l" fontAlgn="b"/>
                      <a:r>
                        <a:rPr lang="en-US" sz="900" b="0" i="0" u="none" strike="noStrike" dirty="0">
                          <a:solidFill>
                            <a:srgbClr val="000000"/>
                          </a:solidFill>
                          <a:effectLst/>
                          <a:latin typeface="Calibri" panose="020F0502020204030204" pitchFamily="34" charset="0"/>
                        </a:rPr>
                        <a:t>    </a:t>
                      </a:r>
                      <a:r>
                        <a:rPr lang="en-US" sz="900" b="0" i="0" u="none" strike="noStrike" dirty="0" err="1">
                          <a:solidFill>
                            <a:srgbClr val="000000"/>
                          </a:solidFill>
                          <a:effectLst/>
                          <a:latin typeface="Calibri" panose="020F0502020204030204" pitchFamily="34" charset="0"/>
                        </a:rPr>
                        <a:t>shad_buffer_tier</a:t>
                      </a:r>
                      <a:r>
                        <a:rPr lang="en-US" sz="900" b="0" i="0" u="none" strike="noStrike" dirty="0">
                          <a:solidFill>
                            <a:srgbClr val="000000"/>
                          </a:solidFill>
                          <a:effectLst/>
                          <a:latin typeface="Calibri" panose="020F0502020204030204" pitchFamily="34" charset="0"/>
                        </a:rPr>
                        <a:t> = </a:t>
                      </a:r>
                      <a:r>
                        <a:rPr lang="en-US" sz="900" b="0" i="0" u="none" strike="noStrike" dirty="0" err="1">
                          <a:solidFill>
                            <a:srgbClr val="000000"/>
                          </a:solidFill>
                          <a:effectLst/>
                          <a:latin typeface="Calibri" panose="020F0502020204030204" pitchFamily="34" charset="0"/>
                        </a:rPr>
                        <a:t>case_when</a:t>
                      </a:r>
                      <a:r>
                        <a:rPr lang="en-US" sz="900" b="0" i="0" u="none" strike="noStrike" dirty="0">
                          <a:solidFill>
                            <a:srgbClr val="000000"/>
                          </a:solidFill>
                          <a:effectLst/>
                          <a:latin typeface="Calibri" panose="020F0502020204030204" pitchFamily="34" charset="0"/>
                        </a:rPr>
                        <a:t>(</a:t>
                      </a:r>
                    </a:p>
                  </a:txBody>
                  <a:tcPr marL="6044" marR="6044" marT="6044" marB="0" anchor="b">
                    <a:lnL>
                      <a:noFill/>
                    </a:lnL>
                    <a:lnR>
                      <a:noFill/>
                    </a:lnR>
                    <a:lnT>
                      <a:noFill/>
                    </a:lnT>
                    <a:lnB>
                      <a:noFill/>
                    </a:lnB>
                  </a:tcPr>
                </a:tc>
                <a:extLst>
                  <a:ext uri="{0D108BD9-81ED-4DB2-BD59-A6C34878D82A}">
                    <a16:rowId xmlns:a16="http://schemas.microsoft.com/office/drawing/2014/main" val="4128120071"/>
                  </a:ext>
                </a:extLst>
              </a:tr>
              <a:tr h="145045">
                <a:tc>
                  <a:txBody>
                    <a:bodyPr/>
                    <a:lstStyle/>
                    <a:p>
                      <a:pPr algn="l" fontAlgn="b"/>
                      <a:r>
                        <a:rPr lang="en-US" sz="900" b="0" i="0" u="none" strike="noStrike">
                          <a:solidFill>
                            <a:srgbClr val="000000"/>
                          </a:solidFill>
                          <a:effectLst/>
                          <a:latin typeface="Calibri" panose="020F0502020204030204" pitchFamily="34" charset="0"/>
                        </a:rPr>
                        <a:t>      shad_during_chinook &gt;= 100000 ~ "Major Late Buffer (&gt;100k)",</a:t>
                      </a:r>
                    </a:p>
                  </a:txBody>
                  <a:tcPr marL="6044" marR="6044" marT="6044" marB="0" anchor="b">
                    <a:lnL>
                      <a:noFill/>
                    </a:lnL>
                    <a:lnR>
                      <a:noFill/>
                    </a:lnR>
                    <a:lnT>
                      <a:noFill/>
                    </a:lnT>
                    <a:lnB>
                      <a:noFill/>
                    </a:lnB>
                  </a:tcPr>
                </a:tc>
                <a:extLst>
                  <a:ext uri="{0D108BD9-81ED-4DB2-BD59-A6C34878D82A}">
                    <a16:rowId xmlns:a16="http://schemas.microsoft.com/office/drawing/2014/main" val="336332037"/>
                  </a:ext>
                </a:extLst>
              </a:tr>
              <a:tr h="145045">
                <a:tc>
                  <a:txBody>
                    <a:bodyPr/>
                    <a:lstStyle/>
                    <a:p>
                      <a:pPr algn="l" fontAlgn="b"/>
                      <a:r>
                        <a:rPr lang="en-US" sz="900" b="0" i="0" u="none" strike="noStrike">
                          <a:solidFill>
                            <a:srgbClr val="000000"/>
                          </a:solidFill>
                          <a:effectLst/>
                          <a:latin typeface="Calibri" panose="020F0502020204030204" pitchFamily="34" charset="0"/>
                        </a:rPr>
                        <a:t>      shad_during_chinook &gt;= 20000  ~ "Moderate Late Buffer (20k-100k)",</a:t>
                      </a:r>
                    </a:p>
                  </a:txBody>
                  <a:tcPr marL="6044" marR="6044" marT="6044" marB="0" anchor="b">
                    <a:lnL>
                      <a:noFill/>
                    </a:lnL>
                    <a:lnR>
                      <a:noFill/>
                    </a:lnR>
                    <a:lnT>
                      <a:noFill/>
                    </a:lnT>
                    <a:lnB>
                      <a:noFill/>
                    </a:lnB>
                  </a:tcPr>
                </a:tc>
                <a:extLst>
                  <a:ext uri="{0D108BD9-81ED-4DB2-BD59-A6C34878D82A}">
                    <a16:rowId xmlns:a16="http://schemas.microsoft.com/office/drawing/2014/main" val="3935235231"/>
                  </a:ext>
                </a:extLst>
              </a:tr>
              <a:tr h="145045">
                <a:tc>
                  <a:txBody>
                    <a:bodyPr/>
                    <a:lstStyle/>
                    <a:p>
                      <a:pPr algn="l" fontAlgn="b"/>
                      <a:r>
                        <a:rPr lang="en-US" sz="900" b="0" i="0" u="none" strike="noStrike">
                          <a:solidFill>
                            <a:srgbClr val="000000"/>
                          </a:solidFill>
                          <a:effectLst/>
                          <a:latin typeface="Calibri" panose="020F0502020204030204" pitchFamily="34" charset="0"/>
                        </a:rPr>
                        <a:t>      TRUE                          ~ "Minimal Late Buffer (&lt;20k)"</a:t>
                      </a:r>
                    </a:p>
                  </a:txBody>
                  <a:tcPr marL="6044" marR="6044" marT="6044" marB="0" anchor="b">
                    <a:lnL>
                      <a:noFill/>
                    </a:lnL>
                    <a:lnR>
                      <a:noFill/>
                    </a:lnR>
                    <a:lnT>
                      <a:noFill/>
                    </a:lnT>
                    <a:lnB>
                      <a:noFill/>
                    </a:lnB>
                  </a:tcPr>
                </a:tc>
                <a:extLst>
                  <a:ext uri="{0D108BD9-81ED-4DB2-BD59-A6C34878D82A}">
                    <a16:rowId xmlns:a16="http://schemas.microsoft.com/office/drawing/2014/main" val="3383711091"/>
                  </a:ext>
                </a:extLst>
              </a:tr>
              <a:tr h="145045">
                <a:tc>
                  <a:txBody>
                    <a:bodyPr/>
                    <a:lstStyle/>
                    <a:p>
                      <a:pPr algn="l" fontAlgn="b"/>
                      <a:r>
                        <a:rPr lang="en-US" sz="900" b="0" i="0" u="none" strike="noStrike">
                          <a:solidFill>
                            <a:srgbClr val="000000"/>
                          </a:solidFill>
                          <a:effectLst/>
                          <a:latin typeface="Calibri" panose="020F0502020204030204" pitchFamily="34" charset="0"/>
                        </a:rPr>
                        <a:t>    ),</a:t>
                      </a:r>
                    </a:p>
                  </a:txBody>
                  <a:tcPr marL="6044" marR="6044" marT="6044" marB="0" anchor="b">
                    <a:lnL>
                      <a:noFill/>
                    </a:lnL>
                    <a:lnR>
                      <a:noFill/>
                    </a:lnR>
                    <a:lnT>
                      <a:noFill/>
                    </a:lnT>
                    <a:lnB>
                      <a:noFill/>
                    </a:lnB>
                  </a:tcPr>
                </a:tc>
                <a:extLst>
                  <a:ext uri="{0D108BD9-81ED-4DB2-BD59-A6C34878D82A}">
                    <a16:rowId xmlns:a16="http://schemas.microsoft.com/office/drawing/2014/main" val="1103169066"/>
                  </a:ext>
                </a:extLst>
              </a:tr>
              <a:tr h="145045">
                <a:tc>
                  <a:txBody>
                    <a:bodyPr/>
                    <a:lstStyle/>
                    <a:p>
                      <a:pPr algn="l" fontAlgn="b"/>
                      <a:r>
                        <a:rPr lang="en-US" sz="900" b="0" i="0" u="none" strike="noStrike">
                          <a:solidFill>
                            <a:srgbClr val="000000"/>
                          </a:solidFill>
                          <a:effectLst/>
                          <a:latin typeface="Calibri" panose="020F0502020204030204" pitchFamily="34" charset="0"/>
                        </a:rPr>
                        <a:t>    </a:t>
                      </a:r>
                    </a:p>
                  </a:txBody>
                  <a:tcPr marL="6044" marR="6044" marT="6044" marB="0" anchor="b">
                    <a:lnL>
                      <a:noFill/>
                    </a:lnL>
                    <a:lnR>
                      <a:noFill/>
                    </a:lnR>
                    <a:lnT>
                      <a:noFill/>
                    </a:lnT>
                    <a:lnB>
                      <a:noFill/>
                    </a:lnB>
                  </a:tcPr>
                </a:tc>
                <a:extLst>
                  <a:ext uri="{0D108BD9-81ED-4DB2-BD59-A6C34878D82A}">
                    <a16:rowId xmlns:a16="http://schemas.microsoft.com/office/drawing/2014/main" val="2977780054"/>
                  </a:ext>
                </a:extLst>
              </a:tr>
              <a:tr h="145045">
                <a:tc>
                  <a:txBody>
                    <a:bodyPr/>
                    <a:lstStyle/>
                    <a:p>
                      <a:pPr algn="l" fontAlgn="b"/>
                      <a:endParaRPr lang="en-US" sz="900" b="0" i="0" u="none" strike="noStrike" dirty="0">
                        <a:solidFill>
                          <a:srgbClr val="000000"/>
                        </a:solidFill>
                        <a:effectLst/>
                        <a:latin typeface="Calibri" panose="020F0502020204030204" pitchFamily="34" charset="0"/>
                      </a:endParaRPr>
                    </a:p>
                  </a:txBody>
                  <a:tcPr marL="6044" marR="6044" marT="6044" marB="0" anchor="b">
                    <a:lnL>
                      <a:noFill/>
                    </a:lnL>
                    <a:lnR>
                      <a:noFill/>
                    </a:lnR>
                    <a:lnT>
                      <a:noFill/>
                    </a:lnT>
                    <a:lnB>
                      <a:noFill/>
                    </a:lnB>
                  </a:tcPr>
                </a:tc>
                <a:extLst>
                  <a:ext uri="{0D108BD9-81ED-4DB2-BD59-A6C34878D82A}">
                    <a16:rowId xmlns:a16="http://schemas.microsoft.com/office/drawing/2014/main" val="4187208724"/>
                  </a:ext>
                </a:extLst>
              </a:tr>
              <a:tr h="145045">
                <a:tc>
                  <a:txBody>
                    <a:bodyPr/>
                    <a:lstStyle/>
                    <a:p>
                      <a:pPr algn="l" fontAlgn="b"/>
                      <a:endParaRPr lang="en-US" sz="900" b="0" i="0" u="none" strike="noStrike">
                        <a:solidFill>
                          <a:srgbClr val="000000"/>
                        </a:solidFill>
                        <a:effectLst/>
                        <a:latin typeface="Calibri" panose="020F0502020204030204" pitchFamily="34" charset="0"/>
                      </a:endParaRPr>
                    </a:p>
                  </a:txBody>
                  <a:tcPr marL="6044" marR="6044" marT="6044" marB="0" anchor="b">
                    <a:lnL>
                      <a:noFill/>
                    </a:lnL>
                    <a:lnR>
                      <a:noFill/>
                    </a:lnR>
                    <a:lnT>
                      <a:noFill/>
                    </a:lnT>
                    <a:lnB>
                      <a:noFill/>
                    </a:lnB>
                  </a:tcPr>
                </a:tc>
                <a:extLst>
                  <a:ext uri="{0D108BD9-81ED-4DB2-BD59-A6C34878D82A}">
                    <a16:rowId xmlns:a16="http://schemas.microsoft.com/office/drawing/2014/main" val="1166932118"/>
                  </a:ext>
                </a:extLst>
              </a:tr>
              <a:tr h="145045">
                <a:tc>
                  <a:txBody>
                    <a:bodyPr/>
                    <a:lstStyle/>
                    <a:p>
                      <a:pPr algn="l" fontAlgn="b"/>
                      <a:endParaRPr lang="en-US" sz="900" b="0" i="0" u="none" strike="noStrike" dirty="0">
                        <a:solidFill>
                          <a:srgbClr val="000000"/>
                        </a:solidFill>
                        <a:effectLst/>
                        <a:latin typeface="Calibri" panose="020F0502020204030204" pitchFamily="34" charset="0"/>
                      </a:endParaRPr>
                    </a:p>
                  </a:txBody>
                  <a:tcPr marL="6044" marR="6044" marT="6044" marB="0" anchor="b">
                    <a:lnL>
                      <a:noFill/>
                    </a:lnL>
                    <a:lnR>
                      <a:noFill/>
                    </a:lnR>
                    <a:lnT>
                      <a:noFill/>
                    </a:lnT>
                    <a:lnB>
                      <a:noFill/>
                    </a:lnB>
                  </a:tcPr>
                </a:tc>
                <a:extLst>
                  <a:ext uri="{0D108BD9-81ED-4DB2-BD59-A6C34878D82A}">
                    <a16:rowId xmlns:a16="http://schemas.microsoft.com/office/drawing/2014/main" val="475393455"/>
                  </a:ext>
                </a:extLst>
              </a:tr>
              <a:tr h="145045">
                <a:tc>
                  <a:txBody>
                    <a:bodyPr/>
                    <a:lstStyle/>
                    <a:p>
                      <a:pPr algn="l" fontAlgn="b"/>
                      <a:endParaRPr lang="en-US" sz="900" b="0" i="0" u="none" strike="noStrike">
                        <a:solidFill>
                          <a:srgbClr val="000000"/>
                        </a:solidFill>
                        <a:effectLst/>
                        <a:latin typeface="Calibri" panose="020F0502020204030204" pitchFamily="34" charset="0"/>
                      </a:endParaRPr>
                    </a:p>
                  </a:txBody>
                  <a:tcPr marL="6044" marR="6044" marT="6044" marB="0" anchor="b">
                    <a:lnL>
                      <a:noFill/>
                    </a:lnL>
                    <a:lnR>
                      <a:noFill/>
                    </a:lnR>
                    <a:lnT>
                      <a:noFill/>
                    </a:lnT>
                    <a:lnB>
                      <a:noFill/>
                    </a:lnB>
                  </a:tcPr>
                </a:tc>
                <a:extLst>
                  <a:ext uri="{0D108BD9-81ED-4DB2-BD59-A6C34878D82A}">
                    <a16:rowId xmlns:a16="http://schemas.microsoft.com/office/drawing/2014/main" val="3723604987"/>
                  </a:ext>
                </a:extLst>
              </a:tr>
              <a:tr h="145045">
                <a:tc>
                  <a:txBody>
                    <a:bodyPr/>
                    <a:lstStyle/>
                    <a:p>
                      <a:pPr algn="l" fontAlgn="b"/>
                      <a:endParaRPr lang="en-US" sz="900" b="0" i="0" u="none" strike="noStrike" dirty="0">
                        <a:solidFill>
                          <a:srgbClr val="000000"/>
                        </a:solidFill>
                        <a:effectLst/>
                        <a:latin typeface="Calibri" panose="020F0502020204030204" pitchFamily="34" charset="0"/>
                      </a:endParaRPr>
                    </a:p>
                  </a:txBody>
                  <a:tcPr marL="6044" marR="6044" marT="6044" marB="0" anchor="b">
                    <a:lnL>
                      <a:noFill/>
                    </a:lnL>
                    <a:lnR>
                      <a:noFill/>
                    </a:lnR>
                    <a:lnT>
                      <a:noFill/>
                    </a:lnT>
                    <a:lnB>
                      <a:noFill/>
                    </a:lnB>
                  </a:tcPr>
                </a:tc>
                <a:extLst>
                  <a:ext uri="{0D108BD9-81ED-4DB2-BD59-A6C34878D82A}">
                    <a16:rowId xmlns:a16="http://schemas.microsoft.com/office/drawing/2014/main" val="3998619887"/>
                  </a:ext>
                </a:extLst>
              </a:tr>
              <a:tr h="145045">
                <a:tc>
                  <a:txBody>
                    <a:bodyPr/>
                    <a:lstStyle/>
                    <a:p>
                      <a:pPr algn="l" fontAlgn="b"/>
                      <a:endParaRPr lang="en-US" sz="900" b="0" i="0" u="none" strike="noStrike" dirty="0">
                        <a:solidFill>
                          <a:srgbClr val="000000"/>
                        </a:solidFill>
                        <a:effectLst/>
                        <a:latin typeface="Calibri" panose="020F0502020204030204" pitchFamily="34" charset="0"/>
                      </a:endParaRPr>
                    </a:p>
                  </a:txBody>
                  <a:tcPr marL="6044" marR="6044" marT="6044" marB="0" anchor="b">
                    <a:lnL>
                      <a:noFill/>
                    </a:lnL>
                    <a:lnR>
                      <a:noFill/>
                    </a:lnR>
                    <a:lnT>
                      <a:noFill/>
                    </a:lnT>
                    <a:lnB>
                      <a:noFill/>
                    </a:lnB>
                  </a:tcPr>
                </a:tc>
                <a:extLst>
                  <a:ext uri="{0D108BD9-81ED-4DB2-BD59-A6C34878D82A}">
                    <a16:rowId xmlns:a16="http://schemas.microsoft.com/office/drawing/2014/main" val="818405139"/>
                  </a:ext>
                </a:extLst>
              </a:tr>
              <a:tr h="145045">
                <a:tc>
                  <a:txBody>
                    <a:bodyPr/>
                    <a:lstStyle/>
                    <a:p>
                      <a:pPr algn="l" fontAlgn="b"/>
                      <a:endParaRPr lang="en-US" sz="900" b="0" i="0" u="none" strike="noStrike" dirty="0">
                        <a:solidFill>
                          <a:srgbClr val="000000"/>
                        </a:solidFill>
                        <a:effectLst/>
                        <a:latin typeface="Calibri" panose="020F0502020204030204" pitchFamily="34" charset="0"/>
                      </a:endParaRPr>
                    </a:p>
                  </a:txBody>
                  <a:tcPr marL="6044" marR="6044" marT="6044" marB="0" anchor="b">
                    <a:lnL>
                      <a:noFill/>
                    </a:lnL>
                    <a:lnR>
                      <a:noFill/>
                    </a:lnR>
                    <a:lnT>
                      <a:noFill/>
                    </a:lnT>
                    <a:lnB>
                      <a:noFill/>
                    </a:lnB>
                  </a:tcPr>
                </a:tc>
                <a:extLst>
                  <a:ext uri="{0D108BD9-81ED-4DB2-BD59-A6C34878D82A}">
                    <a16:rowId xmlns:a16="http://schemas.microsoft.com/office/drawing/2014/main" val="2348090431"/>
                  </a:ext>
                </a:extLst>
              </a:tr>
              <a:tr h="145045">
                <a:tc>
                  <a:txBody>
                    <a:bodyPr/>
                    <a:lstStyle/>
                    <a:p>
                      <a:pPr algn="l" fontAlgn="b"/>
                      <a:endParaRPr lang="en-US" sz="900" b="0" i="0" u="none" strike="noStrike" dirty="0">
                        <a:solidFill>
                          <a:srgbClr val="000000"/>
                        </a:solidFill>
                        <a:effectLst/>
                        <a:latin typeface="Calibri" panose="020F0502020204030204" pitchFamily="34" charset="0"/>
                      </a:endParaRPr>
                    </a:p>
                  </a:txBody>
                  <a:tcPr marL="6044" marR="6044" marT="6044" marB="0" anchor="b">
                    <a:lnL>
                      <a:noFill/>
                    </a:lnL>
                    <a:lnR>
                      <a:noFill/>
                    </a:lnR>
                    <a:lnT>
                      <a:noFill/>
                    </a:lnT>
                    <a:lnB>
                      <a:noFill/>
                    </a:lnB>
                  </a:tcPr>
                </a:tc>
                <a:extLst>
                  <a:ext uri="{0D108BD9-81ED-4DB2-BD59-A6C34878D82A}">
                    <a16:rowId xmlns:a16="http://schemas.microsoft.com/office/drawing/2014/main" val="1209137765"/>
                  </a:ext>
                </a:extLst>
              </a:tr>
              <a:tr h="145045">
                <a:tc>
                  <a:txBody>
                    <a:bodyPr/>
                    <a:lstStyle/>
                    <a:p>
                      <a:pPr algn="l" fontAlgn="b"/>
                      <a:endParaRPr lang="en-US" sz="900" b="0" i="0" u="none" strike="noStrike" dirty="0">
                        <a:solidFill>
                          <a:srgbClr val="000000"/>
                        </a:solidFill>
                        <a:effectLst/>
                        <a:latin typeface="Calibri" panose="020F0502020204030204" pitchFamily="34" charset="0"/>
                      </a:endParaRPr>
                    </a:p>
                  </a:txBody>
                  <a:tcPr marL="6044" marR="6044" marT="6044" marB="0" anchor="b">
                    <a:lnL>
                      <a:noFill/>
                    </a:lnL>
                    <a:lnR>
                      <a:noFill/>
                    </a:lnR>
                    <a:lnT>
                      <a:noFill/>
                    </a:lnT>
                    <a:lnB>
                      <a:noFill/>
                    </a:lnB>
                  </a:tcPr>
                </a:tc>
                <a:extLst>
                  <a:ext uri="{0D108BD9-81ED-4DB2-BD59-A6C34878D82A}">
                    <a16:rowId xmlns:a16="http://schemas.microsoft.com/office/drawing/2014/main" val="3001339185"/>
                  </a:ext>
                </a:extLst>
              </a:tr>
            </a:tbl>
          </a:graphicData>
        </a:graphic>
      </p:graphicFrame>
      <p:sp>
        <p:nvSpPr>
          <p:cNvPr id="9" name="Title 1">
            <a:extLst>
              <a:ext uri="{FF2B5EF4-FFF2-40B4-BE49-F238E27FC236}">
                <a16:creationId xmlns:a16="http://schemas.microsoft.com/office/drawing/2014/main" id="{4772DE9D-57D1-4196-AAD5-BEDD5F077080}"/>
              </a:ext>
            </a:extLst>
          </p:cNvPr>
          <p:cNvSpPr txBox="1">
            <a:spLocks/>
          </p:cNvSpPr>
          <p:nvPr/>
        </p:nvSpPr>
        <p:spPr>
          <a:xfrm>
            <a:off x="6359771" y="0"/>
            <a:ext cx="6096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Qualitative score</a:t>
            </a:r>
          </a:p>
        </p:txBody>
      </p:sp>
    </p:spTree>
    <p:extLst>
      <p:ext uri="{BB962C8B-B14F-4D97-AF65-F5344CB8AC3E}">
        <p14:creationId xmlns:p14="http://schemas.microsoft.com/office/powerpoint/2010/main" val="2444625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91C39-9C12-4525-AE41-EB7E08435AD5}"/>
              </a:ext>
            </a:extLst>
          </p:cNvPr>
          <p:cNvSpPr>
            <a:spLocks noGrp="1"/>
          </p:cNvSpPr>
          <p:nvPr>
            <p:ph type="title"/>
          </p:nvPr>
        </p:nvSpPr>
        <p:spPr>
          <a:xfrm>
            <a:off x="838200" y="365125"/>
            <a:ext cx="3065585" cy="1325563"/>
          </a:xfrm>
        </p:spPr>
        <p:txBody>
          <a:bodyPr/>
          <a:lstStyle/>
          <a:p>
            <a:r>
              <a:rPr lang="en-US" dirty="0"/>
              <a:t>Risk scoring</a:t>
            </a:r>
          </a:p>
        </p:txBody>
      </p:sp>
      <p:sp>
        <p:nvSpPr>
          <p:cNvPr id="6" name="Content Placeholder 5">
            <a:extLst>
              <a:ext uri="{FF2B5EF4-FFF2-40B4-BE49-F238E27FC236}">
                <a16:creationId xmlns:a16="http://schemas.microsoft.com/office/drawing/2014/main" id="{159A9836-D4E8-4FEE-8FDD-C1A3C9908317}"/>
              </a:ext>
            </a:extLst>
          </p:cNvPr>
          <p:cNvSpPr>
            <a:spLocks noGrp="1"/>
          </p:cNvSpPr>
          <p:nvPr>
            <p:ph idx="1"/>
          </p:nvPr>
        </p:nvSpPr>
        <p:spPr>
          <a:xfrm>
            <a:off x="838200" y="1825625"/>
            <a:ext cx="2406162" cy="513129"/>
          </a:xfrm>
        </p:spPr>
        <p:txBody>
          <a:bodyPr/>
          <a:lstStyle/>
          <a:p>
            <a:r>
              <a:rPr lang="en-US" dirty="0"/>
              <a:t>Threat tiers</a:t>
            </a:r>
          </a:p>
        </p:txBody>
      </p:sp>
      <p:graphicFrame>
        <p:nvGraphicFramePr>
          <p:cNvPr id="7" name="Table 6">
            <a:extLst>
              <a:ext uri="{FF2B5EF4-FFF2-40B4-BE49-F238E27FC236}">
                <a16:creationId xmlns:a16="http://schemas.microsoft.com/office/drawing/2014/main" id="{CE475EA0-B385-4147-9CCE-3DF4A653FBEE}"/>
              </a:ext>
            </a:extLst>
          </p:cNvPr>
          <p:cNvGraphicFramePr>
            <a:graphicFrameLocks noGrp="1"/>
          </p:cNvGraphicFramePr>
          <p:nvPr/>
        </p:nvGraphicFramePr>
        <p:xfrm>
          <a:off x="838200" y="2300656"/>
          <a:ext cx="10515599" cy="3401275"/>
        </p:xfrm>
        <a:graphic>
          <a:graphicData uri="http://schemas.openxmlformats.org/drawingml/2006/table">
            <a:tbl>
              <a:tblPr/>
              <a:tblGrid>
                <a:gridCol w="255095">
                  <a:extLst>
                    <a:ext uri="{9D8B030D-6E8A-4147-A177-3AD203B41FA5}">
                      <a16:colId xmlns:a16="http://schemas.microsoft.com/office/drawing/2014/main" val="4175556133"/>
                    </a:ext>
                  </a:extLst>
                </a:gridCol>
                <a:gridCol w="850318">
                  <a:extLst>
                    <a:ext uri="{9D8B030D-6E8A-4147-A177-3AD203B41FA5}">
                      <a16:colId xmlns:a16="http://schemas.microsoft.com/office/drawing/2014/main" val="2932523361"/>
                    </a:ext>
                  </a:extLst>
                </a:gridCol>
                <a:gridCol w="925902">
                  <a:extLst>
                    <a:ext uri="{9D8B030D-6E8A-4147-A177-3AD203B41FA5}">
                      <a16:colId xmlns:a16="http://schemas.microsoft.com/office/drawing/2014/main" val="1068480916"/>
                    </a:ext>
                  </a:extLst>
                </a:gridCol>
                <a:gridCol w="746390">
                  <a:extLst>
                    <a:ext uri="{9D8B030D-6E8A-4147-A177-3AD203B41FA5}">
                      <a16:colId xmlns:a16="http://schemas.microsoft.com/office/drawing/2014/main" val="718247623"/>
                    </a:ext>
                  </a:extLst>
                </a:gridCol>
                <a:gridCol w="1001486">
                  <a:extLst>
                    <a:ext uri="{9D8B030D-6E8A-4147-A177-3AD203B41FA5}">
                      <a16:colId xmlns:a16="http://schemas.microsoft.com/office/drawing/2014/main" val="3446355385"/>
                    </a:ext>
                  </a:extLst>
                </a:gridCol>
                <a:gridCol w="1133757">
                  <a:extLst>
                    <a:ext uri="{9D8B030D-6E8A-4147-A177-3AD203B41FA5}">
                      <a16:colId xmlns:a16="http://schemas.microsoft.com/office/drawing/2014/main" val="1793539705"/>
                    </a:ext>
                  </a:extLst>
                </a:gridCol>
                <a:gridCol w="944798">
                  <a:extLst>
                    <a:ext uri="{9D8B030D-6E8A-4147-A177-3AD203B41FA5}">
                      <a16:colId xmlns:a16="http://schemas.microsoft.com/office/drawing/2014/main" val="185109193"/>
                    </a:ext>
                  </a:extLst>
                </a:gridCol>
                <a:gridCol w="1369957">
                  <a:extLst>
                    <a:ext uri="{9D8B030D-6E8A-4147-A177-3AD203B41FA5}">
                      <a16:colId xmlns:a16="http://schemas.microsoft.com/office/drawing/2014/main" val="1633423962"/>
                    </a:ext>
                  </a:extLst>
                </a:gridCol>
                <a:gridCol w="1171549">
                  <a:extLst>
                    <a:ext uri="{9D8B030D-6E8A-4147-A177-3AD203B41FA5}">
                      <a16:colId xmlns:a16="http://schemas.microsoft.com/office/drawing/2014/main" val="129602971"/>
                    </a:ext>
                  </a:extLst>
                </a:gridCol>
                <a:gridCol w="1133757">
                  <a:extLst>
                    <a:ext uri="{9D8B030D-6E8A-4147-A177-3AD203B41FA5}">
                      <a16:colId xmlns:a16="http://schemas.microsoft.com/office/drawing/2014/main" val="4258332653"/>
                    </a:ext>
                  </a:extLst>
                </a:gridCol>
                <a:gridCol w="982590">
                  <a:extLst>
                    <a:ext uri="{9D8B030D-6E8A-4147-A177-3AD203B41FA5}">
                      <a16:colId xmlns:a16="http://schemas.microsoft.com/office/drawing/2014/main" val="3046362837"/>
                    </a:ext>
                  </a:extLst>
                </a:gridCol>
              </a:tblGrid>
              <a:tr h="136051">
                <a:tc>
                  <a:txBody>
                    <a:bodyPr/>
                    <a:lstStyle/>
                    <a:p>
                      <a:pPr algn="l" fontAlgn="b"/>
                      <a:r>
                        <a:rPr lang="en-US" sz="800" b="0" i="0" u="none" strike="noStrike">
                          <a:solidFill>
                            <a:srgbClr val="000000"/>
                          </a:solidFill>
                          <a:effectLst/>
                          <a:latin typeface="Calibri" panose="020F0502020204030204" pitchFamily="34" charset="0"/>
                        </a:rPr>
                        <a:t>year</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csl_during_chinook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csl_weekly_avg_chin</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csl_annual_peak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chinook_estuary_total</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eulachon_during_chinook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shad_during_chinook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csl_threat_tier</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eulachon_buffer_tier</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shad_buffer_tier</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overall_chinook_risk</a:t>
                      </a:r>
                    </a:p>
                  </a:txBody>
                  <a:tcPr marL="5669" marR="5669" marT="5669" marB="0" anchor="b">
                    <a:lnL>
                      <a:noFill/>
                    </a:lnL>
                    <a:lnR>
                      <a:noFill/>
                    </a:lnR>
                    <a:lnT>
                      <a:noFill/>
                    </a:lnT>
                    <a:lnB>
                      <a:noFill/>
                    </a:lnB>
                  </a:tcPr>
                </a:tc>
                <a:extLst>
                  <a:ext uri="{0D108BD9-81ED-4DB2-BD59-A6C34878D82A}">
                    <a16:rowId xmlns:a16="http://schemas.microsoft.com/office/drawing/2014/main" val="1109445522"/>
                  </a:ext>
                </a:extLst>
              </a:tr>
              <a:tr h="136051">
                <a:tc>
                  <a:txBody>
                    <a:bodyPr/>
                    <a:lstStyle/>
                    <a:p>
                      <a:pPr algn="r" fontAlgn="b"/>
                      <a:r>
                        <a:rPr lang="en-US" sz="800" b="0" i="0" u="none" strike="noStrike">
                          <a:solidFill>
                            <a:srgbClr val="000000"/>
                          </a:solidFill>
                          <a:effectLst/>
                          <a:latin typeface="Calibri" panose="020F0502020204030204" pitchFamily="34" charset="0"/>
                        </a:rPr>
                        <a:t>1998</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582</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45</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114</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51112</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161163</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1852775</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CSL Exposure (&lt;1k)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RISK</a:t>
                      </a:r>
                    </a:p>
                  </a:txBody>
                  <a:tcPr marL="5669" marR="5669" marT="5669" marB="0" anchor="b">
                    <a:lnL>
                      <a:noFill/>
                    </a:lnL>
                    <a:lnR>
                      <a:noFill/>
                    </a:lnR>
                    <a:lnT>
                      <a:noFill/>
                    </a:lnT>
                    <a:lnB>
                      <a:noFill/>
                    </a:lnB>
                  </a:tcPr>
                </a:tc>
                <a:extLst>
                  <a:ext uri="{0D108BD9-81ED-4DB2-BD59-A6C34878D82A}">
                    <a16:rowId xmlns:a16="http://schemas.microsoft.com/office/drawing/2014/main" val="1159040509"/>
                  </a:ext>
                </a:extLst>
              </a:tr>
              <a:tr h="136051">
                <a:tc>
                  <a:txBody>
                    <a:bodyPr/>
                    <a:lstStyle/>
                    <a:p>
                      <a:pPr algn="r" fontAlgn="b"/>
                      <a:r>
                        <a:rPr lang="en-US" sz="800" b="0" i="0" u="none" strike="noStrike">
                          <a:solidFill>
                            <a:srgbClr val="000000"/>
                          </a:solidFill>
                          <a:effectLst/>
                          <a:latin typeface="Calibri" panose="020F0502020204030204" pitchFamily="34" charset="0"/>
                        </a:rPr>
                        <a:t>1999</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238</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31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50744</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166093</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1521323</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CSL Exposure (&lt;1k)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RISK</a:t>
                      </a:r>
                    </a:p>
                  </a:txBody>
                  <a:tcPr marL="5669" marR="5669" marT="5669" marB="0" anchor="b">
                    <a:lnL>
                      <a:noFill/>
                    </a:lnL>
                    <a:lnR>
                      <a:noFill/>
                    </a:lnR>
                    <a:lnT>
                      <a:noFill/>
                    </a:lnT>
                    <a:lnB>
                      <a:noFill/>
                    </a:lnB>
                  </a:tcPr>
                </a:tc>
                <a:extLst>
                  <a:ext uri="{0D108BD9-81ED-4DB2-BD59-A6C34878D82A}">
                    <a16:rowId xmlns:a16="http://schemas.microsoft.com/office/drawing/2014/main" val="2911003249"/>
                  </a:ext>
                </a:extLst>
              </a:tr>
              <a:tr h="136051">
                <a:tc>
                  <a:txBody>
                    <a:bodyPr/>
                    <a:lstStyle/>
                    <a:p>
                      <a:pPr algn="r" fontAlgn="b"/>
                      <a:r>
                        <a:rPr lang="en-US" sz="800" b="0" i="0" u="none" strike="noStrike">
                          <a:solidFill>
                            <a:srgbClr val="000000"/>
                          </a:solidFill>
                          <a:effectLst/>
                          <a:latin typeface="Calibri" panose="020F0502020204030204" pitchFamily="34" charset="0"/>
                        </a:rPr>
                        <a:t>2000</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280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28</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44</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182233</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279254</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454228</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CSL Exposure (&lt;1k)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RISK</a:t>
                      </a:r>
                    </a:p>
                  </a:txBody>
                  <a:tcPr marL="5669" marR="5669" marT="5669" marB="0" anchor="b">
                    <a:lnL>
                      <a:noFill/>
                    </a:lnL>
                    <a:lnR>
                      <a:noFill/>
                    </a:lnR>
                    <a:lnT>
                      <a:noFill/>
                    </a:lnT>
                    <a:lnB>
                      <a:noFill/>
                    </a:lnB>
                  </a:tcPr>
                </a:tc>
                <a:extLst>
                  <a:ext uri="{0D108BD9-81ED-4DB2-BD59-A6C34878D82A}">
                    <a16:rowId xmlns:a16="http://schemas.microsoft.com/office/drawing/2014/main" val="73656234"/>
                  </a:ext>
                </a:extLst>
              </a:tr>
              <a:tr h="136051">
                <a:tc>
                  <a:txBody>
                    <a:bodyPr/>
                    <a:lstStyle/>
                    <a:p>
                      <a:pPr algn="r" fontAlgn="b"/>
                      <a:r>
                        <a:rPr lang="en-US" sz="800" b="0" i="0" u="none" strike="noStrike">
                          <a:solidFill>
                            <a:srgbClr val="000000"/>
                          </a:solidFill>
                          <a:effectLst/>
                          <a:latin typeface="Calibri" panose="020F0502020204030204" pitchFamily="34" charset="0"/>
                        </a:rPr>
                        <a:t>2001</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866</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79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111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405879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2043469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1539014</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CSL Exposure (&lt;1k)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RISK</a:t>
                      </a:r>
                    </a:p>
                  </a:txBody>
                  <a:tcPr marL="5669" marR="5669" marT="5669" marB="0" anchor="b">
                    <a:lnL>
                      <a:noFill/>
                    </a:lnL>
                    <a:lnR>
                      <a:noFill/>
                    </a:lnR>
                    <a:lnT>
                      <a:noFill/>
                    </a:lnT>
                    <a:lnB>
                      <a:noFill/>
                    </a:lnB>
                  </a:tcPr>
                </a:tc>
                <a:extLst>
                  <a:ext uri="{0D108BD9-81ED-4DB2-BD59-A6C34878D82A}">
                    <a16:rowId xmlns:a16="http://schemas.microsoft.com/office/drawing/2014/main" val="1715437170"/>
                  </a:ext>
                </a:extLst>
              </a:tr>
              <a:tr h="136051">
                <a:tc>
                  <a:txBody>
                    <a:bodyPr/>
                    <a:lstStyle/>
                    <a:p>
                      <a:pPr algn="r" fontAlgn="b"/>
                      <a:r>
                        <a:rPr lang="en-US" sz="800" b="0" i="0" u="none" strike="noStrike">
                          <a:solidFill>
                            <a:srgbClr val="000000"/>
                          </a:solidFill>
                          <a:effectLst/>
                          <a:latin typeface="Calibri" panose="020F0502020204030204" pitchFamily="34" charset="0"/>
                        </a:rPr>
                        <a:t>2002</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1183</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99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190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346306</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3531401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3069988</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Moderate CSL Exposure (1k-3k)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LOW-MODERATE RISK</a:t>
                      </a:r>
                    </a:p>
                  </a:txBody>
                  <a:tcPr marL="5669" marR="5669" marT="5669" marB="0" anchor="b">
                    <a:lnL>
                      <a:noFill/>
                    </a:lnL>
                    <a:lnR>
                      <a:noFill/>
                    </a:lnR>
                    <a:lnT>
                      <a:noFill/>
                    </a:lnT>
                    <a:lnB>
                      <a:noFill/>
                    </a:lnB>
                  </a:tcPr>
                </a:tc>
                <a:extLst>
                  <a:ext uri="{0D108BD9-81ED-4DB2-BD59-A6C34878D82A}">
                    <a16:rowId xmlns:a16="http://schemas.microsoft.com/office/drawing/2014/main" val="895132081"/>
                  </a:ext>
                </a:extLst>
              </a:tr>
              <a:tr h="136051">
                <a:tc>
                  <a:txBody>
                    <a:bodyPr/>
                    <a:lstStyle/>
                    <a:p>
                      <a:pPr algn="r" fontAlgn="b"/>
                      <a:r>
                        <a:rPr lang="en-US" sz="800" b="0" i="0" u="none" strike="noStrike">
                          <a:solidFill>
                            <a:srgbClr val="000000"/>
                          </a:solidFill>
                          <a:effectLst/>
                          <a:latin typeface="Calibri" panose="020F0502020204030204" pitchFamily="34" charset="0"/>
                        </a:rPr>
                        <a:t>2003</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1897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136</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299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263723</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8295187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4462176</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Moderate CSL Exposure (1k-3k)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LOW-MODERATE RISK</a:t>
                      </a:r>
                    </a:p>
                  </a:txBody>
                  <a:tcPr marL="5669" marR="5669" marT="5669" marB="0" anchor="b">
                    <a:lnL>
                      <a:noFill/>
                    </a:lnL>
                    <a:lnR>
                      <a:noFill/>
                    </a:lnR>
                    <a:lnT>
                      <a:noFill/>
                    </a:lnT>
                    <a:lnB>
                      <a:noFill/>
                    </a:lnB>
                  </a:tcPr>
                </a:tc>
                <a:extLst>
                  <a:ext uri="{0D108BD9-81ED-4DB2-BD59-A6C34878D82A}">
                    <a16:rowId xmlns:a16="http://schemas.microsoft.com/office/drawing/2014/main" val="1568194676"/>
                  </a:ext>
                </a:extLst>
              </a:tr>
              <a:tr h="136051">
                <a:tc>
                  <a:txBody>
                    <a:bodyPr/>
                    <a:lstStyle/>
                    <a:p>
                      <a:pPr algn="r" fontAlgn="b"/>
                      <a:r>
                        <a:rPr lang="en-US" sz="800" b="0" i="0" u="none" strike="noStrike">
                          <a:solidFill>
                            <a:srgbClr val="000000"/>
                          </a:solidFill>
                          <a:effectLst/>
                          <a:latin typeface="Calibri" panose="020F0502020204030204" pitchFamily="34" charset="0"/>
                        </a:rPr>
                        <a:t>2004</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652</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54</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89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231201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1178617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5206649</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CSL Exposure (&lt;1k)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RISK</a:t>
                      </a:r>
                    </a:p>
                  </a:txBody>
                  <a:tcPr marL="5669" marR="5669" marT="5669" marB="0" anchor="b">
                    <a:lnL>
                      <a:noFill/>
                    </a:lnL>
                    <a:lnR>
                      <a:noFill/>
                    </a:lnR>
                    <a:lnT>
                      <a:noFill/>
                    </a:lnT>
                    <a:lnB>
                      <a:noFill/>
                    </a:lnB>
                  </a:tcPr>
                </a:tc>
                <a:extLst>
                  <a:ext uri="{0D108BD9-81ED-4DB2-BD59-A6C34878D82A}">
                    <a16:rowId xmlns:a16="http://schemas.microsoft.com/office/drawing/2014/main" val="1806475847"/>
                  </a:ext>
                </a:extLst>
              </a:tr>
              <a:tr h="136051">
                <a:tc>
                  <a:txBody>
                    <a:bodyPr/>
                    <a:lstStyle/>
                    <a:p>
                      <a:pPr algn="r" fontAlgn="b"/>
                      <a:r>
                        <a:rPr lang="en-US" sz="800" b="0" i="0" u="none" strike="noStrike">
                          <a:solidFill>
                            <a:srgbClr val="000000"/>
                          </a:solidFill>
                          <a:effectLst/>
                          <a:latin typeface="Calibri" panose="020F0502020204030204" pitchFamily="34" charset="0"/>
                        </a:rPr>
                        <a:t>2005</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841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76</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139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125579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44592</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4094470</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CSL Exposure (&lt;1k)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Moderate Buffer (10k-50k)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RISK</a:t>
                      </a:r>
                    </a:p>
                  </a:txBody>
                  <a:tcPr marL="5669" marR="5669" marT="5669" marB="0" anchor="b">
                    <a:lnL>
                      <a:noFill/>
                    </a:lnL>
                    <a:lnR>
                      <a:noFill/>
                    </a:lnR>
                    <a:lnT>
                      <a:noFill/>
                    </a:lnT>
                    <a:lnB>
                      <a:noFill/>
                    </a:lnB>
                  </a:tcPr>
                </a:tc>
                <a:extLst>
                  <a:ext uri="{0D108BD9-81ED-4DB2-BD59-A6C34878D82A}">
                    <a16:rowId xmlns:a16="http://schemas.microsoft.com/office/drawing/2014/main" val="402791011"/>
                  </a:ext>
                </a:extLst>
              </a:tr>
              <a:tr h="136051">
                <a:tc>
                  <a:txBody>
                    <a:bodyPr/>
                    <a:lstStyle/>
                    <a:p>
                      <a:pPr algn="r" fontAlgn="b"/>
                      <a:r>
                        <a:rPr lang="en-US" sz="800" b="0" i="0" u="none" strike="noStrike">
                          <a:solidFill>
                            <a:srgbClr val="000000"/>
                          </a:solidFill>
                          <a:effectLst/>
                          <a:latin typeface="Calibri" panose="020F0502020204030204" pitchFamily="34" charset="0"/>
                        </a:rPr>
                        <a:t>2006</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535</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88</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163287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12157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3790099</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CSL Exposure (&lt;1k)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Moderate Buffer (10k-50k)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RISK</a:t>
                      </a:r>
                    </a:p>
                  </a:txBody>
                  <a:tcPr marL="5669" marR="5669" marT="5669" marB="0" anchor="b">
                    <a:lnL>
                      <a:noFill/>
                    </a:lnL>
                    <a:lnR>
                      <a:noFill/>
                    </a:lnR>
                    <a:lnT>
                      <a:noFill/>
                    </a:lnT>
                    <a:lnB>
                      <a:noFill/>
                    </a:lnB>
                  </a:tcPr>
                </a:tc>
                <a:extLst>
                  <a:ext uri="{0D108BD9-81ED-4DB2-BD59-A6C34878D82A}">
                    <a16:rowId xmlns:a16="http://schemas.microsoft.com/office/drawing/2014/main" val="2430356664"/>
                  </a:ext>
                </a:extLst>
              </a:tr>
              <a:tr h="136051">
                <a:tc>
                  <a:txBody>
                    <a:bodyPr/>
                    <a:lstStyle/>
                    <a:p>
                      <a:pPr algn="r" fontAlgn="b"/>
                      <a:r>
                        <a:rPr lang="en-US" sz="800" b="0" i="0" u="none" strike="noStrike">
                          <a:solidFill>
                            <a:srgbClr val="000000"/>
                          </a:solidFill>
                          <a:effectLst/>
                          <a:latin typeface="Calibri" panose="020F0502020204030204" pitchFamily="34" charset="0"/>
                        </a:rPr>
                        <a:t>2007</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804</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67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91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98562</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105591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2480456</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CSL Exposure (&lt;1k)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RISK</a:t>
                      </a:r>
                    </a:p>
                  </a:txBody>
                  <a:tcPr marL="5669" marR="5669" marT="5669" marB="0" anchor="b">
                    <a:lnL>
                      <a:noFill/>
                    </a:lnL>
                    <a:lnR>
                      <a:noFill/>
                    </a:lnR>
                    <a:lnT>
                      <a:noFill/>
                    </a:lnT>
                    <a:lnB>
                      <a:noFill/>
                    </a:lnB>
                  </a:tcPr>
                </a:tc>
                <a:extLst>
                  <a:ext uri="{0D108BD9-81ED-4DB2-BD59-A6C34878D82A}">
                    <a16:rowId xmlns:a16="http://schemas.microsoft.com/office/drawing/2014/main" val="550477877"/>
                  </a:ext>
                </a:extLst>
              </a:tr>
              <a:tr h="136051">
                <a:tc>
                  <a:txBody>
                    <a:bodyPr/>
                    <a:lstStyle/>
                    <a:p>
                      <a:pPr algn="r" fontAlgn="b"/>
                      <a:r>
                        <a:rPr lang="en-US" sz="800" b="0" i="0" u="none" strike="noStrike">
                          <a:solidFill>
                            <a:srgbClr val="000000"/>
                          </a:solidFill>
                          <a:effectLst/>
                          <a:latin typeface="Calibri" panose="020F0502020204030204" pitchFamily="34" charset="0"/>
                        </a:rPr>
                        <a:t>2008</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822</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69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134</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183975</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148793</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1923455</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CSL Exposure (&lt;1k)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RISK</a:t>
                      </a:r>
                    </a:p>
                  </a:txBody>
                  <a:tcPr marL="5669" marR="5669" marT="5669" marB="0" anchor="b">
                    <a:lnL>
                      <a:noFill/>
                    </a:lnL>
                    <a:lnR>
                      <a:noFill/>
                    </a:lnR>
                    <a:lnT>
                      <a:noFill/>
                    </a:lnT>
                    <a:lnB>
                      <a:noFill/>
                    </a:lnB>
                  </a:tcPr>
                </a:tc>
                <a:extLst>
                  <a:ext uri="{0D108BD9-81ED-4DB2-BD59-A6C34878D82A}">
                    <a16:rowId xmlns:a16="http://schemas.microsoft.com/office/drawing/2014/main" val="3773730215"/>
                  </a:ext>
                </a:extLst>
              </a:tr>
              <a:tr h="136051">
                <a:tc>
                  <a:txBody>
                    <a:bodyPr/>
                    <a:lstStyle/>
                    <a:p>
                      <a:pPr algn="r" fontAlgn="b"/>
                      <a:r>
                        <a:rPr lang="en-US" sz="800" b="0" i="0" u="none" strike="noStrike">
                          <a:solidFill>
                            <a:srgbClr val="000000"/>
                          </a:solidFill>
                          <a:effectLst/>
                          <a:latin typeface="Calibri" panose="020F0502020204030204" pitchFamily="34" charset="0"/>
                        </a:rPr>
                        <a:t>2009</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761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69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120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175173</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100704</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1346660</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CSL Exposure (&lt;1k)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RISK</a:t>
                      </a:r>
                    </a:p>
                  </a:txBody>
                  <a:tcPr marL="5669" marR="5669" marT="5669" marB="0" anchor="b">
                    <a:lnL>
                      <a:noFill/>
                    </a:lnL>
                    <a:lnR>
                      <a:noFill/>
                    </a:lnR>
                    <a:lnT>
                      <a:noFill/>
                    </a:lnT>
                    <a:lnB>
                      <a:noFill/>
                    </a:lnB>
                  </a:tcPr>
                </a:tc>
                <a:extLst>
                  <a:ext uri="{0D108BD9-81ED-4DB2-BD59-A6C34878D82A}">
                    <a16:rowId xmlns:a16="http://schemas.microsoft.com/office/drawing/2014/main" val="2619452522"/>
                  </a:ext>
                </a:extLst>
              </a:tr>
              <a:tr h="136051">
                <a:tc>
                  <a:txBody>
                    <a:bodyPr/>
                    <a:lstStyle/>
                    <a:p>
                      <a:pPr algn="r" fontAlgn="b"/>
                      <a:r>
                        <a:rPr lang="en-US" sz="800" b="0" i="0" u="none" strike="noStrike">
                          <a:solidFill>
                            <a:srgbClr val="000000"/>
                          </a:solidFill>
                          <a:effectLst/>
                          <a:latin typeface="Calibri" panose="020F0502020204030204" pitchFamily="34" charset="0"/>
                        </a:rPr>
                        <a:t>2010</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1450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121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181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316357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998134</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Moderate CSL Exposure (1k-3k)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Minimal Buffer (&lt;10k)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MODERATE RISK</a:t>
                      </a:r>
                    </a:p>
                  </a:txBody>
                  <a:tcPr marL="5669" marR="5669" marT="5669" marB="0" anchor="b">
                    <a:lnL>
                      <a:noFill/>
                    </a:lnL>
                    <a:lnR>
                      <a:noFill/>
                    </a:lnR>
                    <a:lnT>
                      <a:noFill/>
                    </a:lnT>
                    <a:lnB>
                      <a:noFill/>
                    </a:lnB>
                  </a:tcPr>
                </a:tc>
                <a:extLst>
                  <a:ext uri="{0D108BD9-81ED-4DB2-BD59-A6C34878D82A}">
                    <a16:rowId xmlns:a16="http://schemas.microsoft.com/office/drawing/2014/main" val="2487404997"/>
                  </a:ext>
                </a:extLst>
              </a:tr>
              <a:tr h="136051">
                <a:tc>
                  <a:txBody>
                    <a:bodyPr/>
                    <a:lstStyle/>
                    <a:p>
                      <a:pPr algn="r" fontAlgn="b"/>
                      <a:r>
                        <a:rPr lang="en-US" sz="800" b="0" i="0" u="none" strike="noStrike">
                          <a:solidFill>
                            <a:srgbClr val="000000"/>
                          </a:solidFill>
                          <a:effectLst/>
                          <a:latin typeface="Calibri" panose="020F0502020204030204" pitchFamily="34" charset="0"/>
                        </a:rPr>
                        <a:t>2011</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899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100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182</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235111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70238</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787066</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CSL Exposure (&lt;1k)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LOW RISK</a:t>
                      </a:r>
                    </a:p>
                  </a:txBody>
                  <a:tcPr marL="5669" marR="5669" marT="5669" marB="0" anchor="b">
                    <a:lnL>
                      <a:noFill/>
                    </a:lnL>
                    <a:lnR>
                      <a:noFill/>
                    </a:lnR>
                    <a:lnT>
                      <a:noFill/>
                    </a:lnT>
                    <a:lnB>
                      <a:noFill/>
                    </a:lnB>
                  </a:tcPr>
                </a:tc>
                <a:extLst>
                  <a:ext uri="{0D108BD9-81ED-4DB2-BD59-A6C34878D82A}">
                    <a16:rowId xmlns:a16="http://schemas.microsoft.com/office/drawing/2014/main" val="2658899000"/>
                  </a:ext>
                </a:extLst>
              </a:tr>
              <a:tr h="136051">
                <a:tc>
                  <a:txBody>
                    <a:bodyPr/>
                    <a:lstStyle/>
                    <a:p>
                      <a:pPr algn="r" fontAlgn="b"/>
                      <a:r>
                        <a:rPr lang="en-US" sz="800" b="0" i="0" u="none" strike="noStrike">
                          <a:solidFill>
                            <a:srgbClr val="000000"/>
                          </a:solidFill>
                          <a:effectLst/>
                          <a:latin typeface="Calibri" panose="020F0502020204030204" pitchFamily="34" charset="0"/>
                        </a:rPr>
                        <a:t>2012</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1017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102</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163</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209042</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2357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2349979</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Moderate CSL Exposure (1k-3k)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Minimal Buffer (&lt;10k)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MODERATE RISK</a:t>
                      </a:r>
                    </a:p>
                  </a:txBody>
                  <a:tcPr marL="5669" marR="5669" marT="5669" marB="0" anchor="b">
                    <a:lnL>
                      <a:noFill/>
                    </a:lnL>
                    <a:lnR>
                      <a:noFill/>
                    </a:lnR>
                    <a:lnT>
                      <a:noFill/>
                    </a:lnT>
                    <a:lnB>
                      <a:noFill/>
                    </a:lnB>
                  </a:tcPr>
                </a:tc>
                <a:extLst>
                  <a:ext uri="{0D108BD9-81ED-4DB2-BD59-A6C34878D82A}">
                    <a16:rowId xmlns:a16="http://schemas.microsoft.com/office/drawing/2014/main" val="4077340107"/>
                  </a:ext>
                </a:extLst>
              </a:tr>
              <a:tr h="136051">
                <a:tc>
                  <a:txBody>
                    <a:bodyPr/>
                    <a:lstStyle/>
                    <a:p>
                      <a:pPr algn="r" fontAlgn="b"/>
                      <a:r>
                        <a:rPr lang="en-US" sz="800" b="0" i="0" u="none" strike="noStrike">
                          <a:solidFill>
                            <a:srgbClr val="000000"/>
                          </a:solidFill>
                          <a:effectLst/>
                          <a:latin typeface="Calibri" panose="020F0502020204030204" pitchFamily="34" charset="0"/>
                        </a:rPr>
                        <a:t>2013</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4179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418</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628</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142293</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146334</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3690625</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High CSL Exposure (&gt;3k)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HIGH RISK</a:t>
                      </a:r>
                    </a:p>
                  </a:txBody>
                  <a:tcPr marL="5669" marR="5669" marT="5669" marB="0" anchor="b">
                    <a:lnL>
                      <a:noFill/>
                    </a:lnL>
                    <a:lnR>
                      <a:noFill/>
                    </a:lnR>
                    <a:lnT>
                      <a:noFill/>
                    </a:lnT>
                    <a:lnB>
                      <a:noFill/>
                    </a:lnB>
                  </a:tcPr>
                </a:tc>
                <a:extLst>
                  <a:ext uri="{0D108BD9-81ED-4DB2-BD59-A6C34878D82A}">
                    <a16:rowId xmlns:a16="http://schemas.microsoft.com/office/drawing/2014/main" val="1974591463"/>
                  </a:ext>
                </a:extLst>
              </a:tr>
              <a:tr h="136051">
                <a:tc>
                  <a:txBody>
                    <a:bodyPr/>
                    <a:lstStyle/>
                    <a:p>
                      <a:pPr algn="r" fontAlgn="b"/>
                      <a:r>
                        <a:rPr lang="en-US" sz="800" b="0" i="0" u="none" strike="noStrike">
                          <a:solidFill>
                            <a:srgbClr val="000000"/>
                          </a:solidFill>
                          <a:effectLst/>
                          <a:latin typeface="Calibri" panose="020F0502020204030204" pitchFamily="34" charset="0"/>
                        </a:rPr>
                        <a:t>2014</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4603</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418</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1129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254988</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1620949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2577160</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High CSL Exposure (&gt;3k)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HIGH RISK</a:t>
                      </a:r>
                    </a:p>
                  </a:txBody>
                  <a:tcPr marL="5669" marR="5669" marT="5669" marB="0" anchor="b">
                    <a:lnL>
                      <a:noFill/>
                    </a:lnL>
                    <a:lnR>
                      <a:noFill/>
                    </a:lnR>
                    <a:lnT>
                      <a:noFill/>
                    </a:lnT>
                    <a:lnB>
                      <a:noFill/>
                    </a:lnB>
                  </a:tcPr>
                </a:tc>
                <a:extLst>
                  <a:ext uri="{0D108BD9-81ED-4DB2-BD59-A6C34878D82A}">
                    <a16:rowId xmlns:a16="http://schemas.microsoft.com/office/drawing/2014/main" val="1182172093"/>
                  </a:ext>
                </a:extLst>
              </a:tr>
              <a:tr h="136051">
                <a:tc>
                  <a:txBody>
                    <a:bodyPr/>
                    <a:lstStyle/>
                    <a:p>
                      <a:pPr algn="r" fontAlgn="b"/>
                      <a:r>
                        <a:rPr lang="en-US" sz="800" b="0" i="0" u="none" strike="noStrike">
                          <a:solidFill>
                            <a:srgbClr val="000000"/>
                          </a:solidFill>
                          <a:effectLst/>
                          <a:latin typeface="Calibri" panose="020F0502020204030204" pitchFamily="34" charset="0"/>
                        </a:rPr>
                        <a:t>2015</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10640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887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1971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320168</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33026</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1672433</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High CSL Exposure (&gt;3k)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Moderate Buffer (10k-50k)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HIGH RISK</a:t>
                      </a:r>
                    </a:p>
                  </a:txBody>
                  <a:tcPr marL="5669" marR="5669" marT="5669" marB="0" anchor="b">
                    <a:lnL>
                      <a:noFill/>
                    </a:lnL>
                    <a:lnR>
                      <a:noFill/>
                    </a:lnR>
                    <a:lnT>
                      <a:noFill/>
                    </a:lnT>
                    <a:lnB>
                      <a:noFill/>
                    </a:lnB>
                  </a:tcPr>
                </a:tc>
                <a:extLst>
                  <a:ext uri="{0D108BD9-81ED-4DB2-BD59-A6C34878D82A}">
                    <a16:rowId xmlns:a16="http://schemas.microsoft.com/office/drawing/2014/main" val="1761863769"/>
                  </a:ext>
                </a:extLst>
              </a:tr>
              <a:tr h="136051">
                <a:tc>
                  <a:txBody>
                    <a:bodyPr/>
                    <a:lstStyle/>
                    <a:p>
                      <a:pPr algn="r" fontAlgn="b"/>
                      <a:r>
                        <a:rPr lang="en-US" sz="800" b="0" i="0" u="none" strike="noStrike">
                          <a:solidFill>
                            <a:srgbClr val="000000"/>
                          </a:solidFill>
                          <a:effectLst/>
                          <a:latin typeface="Calibri" panose="020F0502020204030204" pitchFamily="34" charset="0"/>
                        </a:rPr>
                        <a:t>2016</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7880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716</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2484</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213131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109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1594859</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High CSL Exposure (&gt;3k)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Minimal Buffer (&lt;10k)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VERY HIGH RISK</a:t>
                      </a:r>
                    </a:p>
                  </a:txBody>
                  <a:tcPr marL="5669" marR="5669" marT="5669" marB="0" anchor="b">
                    <a:lnL>
                      <a:noFill/>
                    </a:lnL>
                    <a:lnR>
                      <a:noFill/>
                    </a:lnR>
                    <a:lnT>
                      <a:noFill/>
                    </a:lnT>
                    <a:lnB>
                      <a:noFill/>
                    </a:lnB>
                  </a:tcPr>
                </a:tc>
                <a:extLst>
                  <a:ext uri="{0D108BD9-81ED-4DB2-BD59-A6C34878D82A}">
                    <a16:rowId xmlns:a16="http://schemas.microsoft.com/office/drawing/2014/main" val="1451060653"/>
                  </a:ext>
                </a:extLst>
              </a:tr>
              <a:tr h="136051">
                <a:tc>
                  <a:txBody>
                    <a:bodyPr/>
                    <a:lstStyle/>
                    <a:p>
                      <a:pPr algn="r" fontAlgn="b"/>
                      <a:r>
                        <a:rPr lang="en-US" sz="800" b="0" i="0" u="none" strike="noStrike">
                          <a:solidFill>
                            <a:srgbClr val="000000"/>
                          </a:solidFill>
                          <a:effectLst/>
                          <a:latin typeface="Calibri" panose="020F0502020204030204" pitchFamily="34" charset="0"/>
                        </a:rPr>
                        <a:t>2017</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6112</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679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1019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142017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2702859</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High CSL Exposure (&gt;3k)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Minimal Buffer (&lt;10k)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VERY HIGH RISK</a:t>
                      </a:r>
                    </a:p>
                  </a:txBody>
                  <a:tcPr marL="5669" marR="5669" marT="5669" marB="0" anchor="b">
                    <a:lnL>
                      <a:noFill/>
                    </a:lnL>
                    <a:lnR>
                      <a:noFill/>
                    </a:lnR>
                    <a:lnT>
                      <a:noFill/>
                    </a:lnT>
                    <a:lnB>
                      <a:noFill/>
                    </a:lnB>
                  </a:tcPr>
                </a:tc>
                <a:extLst>
                  <a:ext uri="{0D108BD9-81ED-4DB2-BD59-A6C34878D82A}">
                    <a16:rowId xmlns:a16="http://schemas.microsoft.com/office/drawing/2014/main" val="999013357"/>
                  </a:ext>
                </a:extLst>
              </a:tr>
              <a:tr h="136051">
                <a:tc>
                  <a:txBody>
                    <a:bodyPr/>
                    <a:lstStyle/>
                    <a:p>
                      <a:pPr algn="r" fontAlgn="b"/>
                      <a:r>
                        <a:rPr lang="en-US" sz="800" b="0" i="0" u="none" strike="noStrike">
                          <a:solidFill>
                            <a:srgbClr val="000000"/>
                          </a:solidFill>
                          <a:effectLst/>
                          <a:latin typeface="Calibri" panose="020F0502020204030204" pitchFamily="34" charset="0"/>
                        </a:rPr>
                        <a:t>2018</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5227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523</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893</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132480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5736863</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High CSL Exposure (&gt;3k)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Minimal Buffer (&lt;10k)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VERY HIGH RISK</a:t>
                      </a:r>
                    </a:p>
                  </a:txBody>
                  <a:tcPr marL="5669" marR="5669" marT="5669" marB="0" anchor="b">
                    <a:lnL>
                      <a:noFill/>
                    </a:lnL>
                    <a:lnR>
                      <a:noFill/>
                    </a:lnR>
                    <a:lnT>
                      <a:noFill/>
                    </a:lnT>
                    <a:lnB>
                      <a:noFill/>
                    </a:lnB>
                  </a:tcPr>
                </a:tc>
                <a:extLst>
                  <a:ext uri="{0D108BD9-81ED-4DB2-BD59-A6C34878D82A}">
                    <a16:rowId xmlns:a16="http://schemas.microsoft.com/office/drawing/2014/main" val="1099244607"/>
                  </a:ext>
                </a:extLst>
              </a:tr>
              <a:tr h="136051">
                <a:tc>
                  <a:txBody>
                    <a:bodyPr/>
                    <a:lstStyle/>
                    <a:p>
                      <a:pPr algn="r" fontAlgn="b"/>
                      <a:r>
                        <a:rPr lang="en-US" sz="800" b="0" i="0" u="none" strike="noStrike">
                          <a:solidFill>
                            <a:srgbClr val="000000"/>
                          </a:solidFill>
                          <a:effectLst/>
                          <a:latin typeface="Calibri" panose="020F0502020204030204" pitchFamily="34" charset="0"/>
                        </a:rPr>
                        <a:t>2019</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5298</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530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900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89043</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2269</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7124495</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High CSL Exposure (&gt;3k)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Minimal Buffer (&lt;10k)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VERY HIGH RISK</a:t>
                      </a:r>
                    </a:p>
                  </a:txBody>
                  <a:tcPr marL="5669" marR="5669" marT="5669" marB="0" anchor="b">
                    <a:lnL>
                      <a:noFill/>
                    </a:lnL>
                    <a:lnR>
                      <a:noFill/>
                    </a:lnR>
                    <a:lnT>
                      <a:noFill/>
                    </a:lnT>
                    <a:lnB>
                      <a:noFill/>
                    </a:lnB>
                  </a:tcPr>
                </a:tc>
                <a:extLst>
                  <a:ext uri="{0D108BD9-81ED-4DB2-BD59-A6C34878D82A}">
                    <a16:rowId xmlns:a16="http://schemas.microsoft.com/office/drawing/2014/main" val="2261406698"/>
                  </a:ext>
                </a:extLst>
              </a:tr>
              <a:tr h="136051">
                <a:tc>
                  <a:txBody>
                    <a:bodyPr/>
                    <a:lstStyle/>
                    <a:p>
                      <a:pPr algn="r" fontAlgn="b"/>
                      <a:r>
                        <a:rPr lang="en-US" sz="800" b="0" i="0" u="none" strike="noStrike">
                          <a:solidFill>
                            <a:srgbClr val="000000"/>
                          </a:solidFill>
                          <a:effectLst/>
                          <a:latin typeface="Calibri" panose="020F0502020204030204" pitchFamily="34" charset="0"/>
                        </a:rPr>
                        <a:t>2020</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5197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520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907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113255</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0</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5441196</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High CSL Exposure (&gt;3k)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Minimal Buffer (&lt;10k)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VERY HIGH RISK</a:t>
                      </a:r>
                    </a:p>
                  </a:txBody>
                  <a:tcPr marL="5669" marR="5669" marT="5669" marB="0" anchor="b">
                    <a:lnL>
                      <a:noFill/>
                    </a:lnL>
                    <a:lnR>
                      <a:noFill/>
                    </a:lnR>
                    <a:lnT>
                      <a:noFill/>
                    </a:lnT>
                    <a:lnB>
                      <a:noFill/>
                    </a:lnB>
                  </a:tcPr>
                </a:tc>
                <a:extLst>
                  <a:ext uri="{0D108BD9-81ED-4DB2-BD59-A6C34878D82A}">
                    <a16:rowId xmlns:a16="http://schemas.microsoft.com/office/drawing/2014/main" val="2316408085"/>
                  </a:ext>
                </a:extLst>
              </a:tr>
              <a:tr h="136051">
                <a:tc>
                  <a:txBody>
                    <a:bodyPr/>
                    <a:lstStyle/>
                    <a:p>
                      <a:pPr algn="r" fontAlgn="b"/>
                      <a:r>
                        <a:rPr lang="en-US" sz="800" b="0" i="0" u="none" strike="noStrike">
                          <a:solidFill>
                            <a:srgbClr val="000000"/>
                          </a:solidFill>
                          <a:effectLst/>
                          <a:latin typeface="Calibri" panose="020F0502020204030204" pitchFamily="34" charset="0"/>
                        </a:rPr>
                        <a:t>2021</a:t>
                      </a:r>
                    </a:p>
                  </a:txBody>
                  <a:tcPr marL="5669" marR="5669" marT="5669" marB="0" anchor="b">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4464</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406</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677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118817</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81831</a:t>
                      </a:r>
                    </a:p>
                  </a:txBody>
                  <a:tcPr marL="5669" marR="5669" marT="5669" marB="0" anchor="ctr">
                    <a:lnL>
                      <a:noFill/>
                    </a:lnL>
                    <a:lnR>
                      <a:noFill/>
                    </a:lnR>
                    <a:lnT>
                      <a:noFill/>
                    </a:lnT>
                    <a:lnB>
                      <a:noFill/>
                    </a:lnB>
                  </a:tcPr>
                </a:tc>
                <a:tc>
                  <a:txBody>
                    <a:bodyPr/>
                    <a:lstStyle/>
                    <a:p>
                      <a:pPr algn="ctr" fontAlgn="ctr"/>
                      <a:r>
                        <a:rPr lang="en-US" sz="800" b="0" i="0" u="none" strike="noStrike">
                          <a:solidFill>
                            <a:srgbClr val="000000"/>
                          </a:solidFill>
                          <a:effectLst/>
                          <a:latin typeface="Calibri" panose="020F0502020204030204" pitchFamily="34" charset="0"/>
                        </a:rPr>
                        <a:t>5326254</a:t>
                      </a:r>
                    </a:p>
                  </a:txBody>
                  <a:tcPr marL="5669" marR="5669" marT="5669" marB="0" anchor="ctr">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High CSL Exposure (&gt;3k)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Substantial Buffer (&gt;50k)</a:t>
                      </a:r>
                    </a:p>
                  </a:txBody>
                  <a:tcPr marL="5669" marR="5669" marT="5669" marB="0" anchor="b">
                    <a:lnL>
                      <a:noFill/>
                    </a:lnL>
                    <a:lnR>
                      <a:noFill/>
                    </a:lnR>
                    <a:lnT>
                      <a:noFill/>
                    </a:lnT>
                    <a:lnB>
                      <a:noFill/>
                    </a:lnB>
                  </a:tcPr>
                </a:tc>
                <a:tc>
                  <a:txBody>
                    <a:bodyPr/>
                    <a:lstStyle/>
                    <a:p>
                      <a:pPr algn="l" fontAlgn="b"/>
                      <a:r>
                        <a:rPr lang="en-US" sz="800" b="0" i="0" u="none" strike="noStrike">
                          <a:solidFill>
                            <a:srgbClr val="000000"/>
                          </a:solidFill>
                          <a:effectLst/>
                          <a:latin typeface="Calibri" panose="020F0502020204030204" pitchFamily="34" charset="0"/>
                        </a:rPr>
                        <a:t>Major Late Buffer (&gt;100k)</a:t>
                      </a:r>
                    </a:p>
                  </a:txBody>
                  <a:tcPr marL="5669" marR="5669" marT="5669" marB="0" anchor="b">
                    <a:lnL>
                      <a:noFill/>
                    </a:lnL>
                    <a:lnR>
                      <a:noFill/>
                    </a:lnR>
                    <a:lnT>
                      <a:noFill/>
                    </a:lnT>
                    <a:lnB>
                      <a:noFill/>
                    </a:lnB>
                  </a:tcPr>
                </a:tc>
                <a:tc>
                  <a:txBody>
                    <a:bodyPr/>
                    <a:lstStyle/>
                    <a:p>
                      <a:pPr algn="l" fontAlgn="b"/>
                      <a:r>
                        <a:rPr lang="en-US" sz="800" b="0" i="0" u="none" strike="noStrike" dirty="0">
                          <a:solidFill>
                            <a:srgbClr val="000000"/>
                          </a:solidFill>
                          <a:effectLst/>
                          <a:latin typeface="Calibri" panose="020F0502020204030204" pitchFamily="34" charset="0"/>
                        </a:rPr>
                        <a:t>HIGH RISK</a:t>
                      </a:r>
                    </a:p>
                  </a:txBody>
                  <a:tcPr marL="5669" marR="5669" marT="5669" marB="0" anchor="b">
                    <a:lnL>
                      <a:noFill/>
                    </a:lnL>
                    <a:lnR>
                      <a:noFill/>
                    </a:lnR>
                    <a:lnT>
                      <a:noFill/>
                    </a:lnT>
                    <a:lnB>
                      <a:noFill/>
                    </a:lnB>
                  </a:tcPr>
                </a:tc>
                <a:extLst>
                  <a:ext uri="{0D108BD9-81ED-4DB2-BD59-A6C34878D82A}">
                    <a16:rowId xmlns:a16="http://schemas.microsoft.com/office/drawing/2014/main" val="4069172093"/>
                  </a:ext>
                </a:extLst>
              </a:tr>
            </a:tbl>
          </a:graphicData>
        </a:graphic>
      </p:graphicFrame>
      <p:graphicFrame>
        <p:nvGraphicFramePr>
          <p:cNvPr id="8" name="Table 7">
            <a:extLst>
              <a:ext uri="{FF2B5EF4-FFF2-40B4-BE49-F238E27FC236}">
                <a16:creationId xmlns:a16="http://schemas.microsoft.com/office/drawing/2014/main" id="{8F775D93-70B1-46F5-B983-588BD0437350}"/>
              </a:ext>
            </a:extLst>
          </p:cNvPr>
          <p:cNvGraphicFramePr>
            <a:graphicFrameLocks noGrp="1"/>
          </p:cNvGraphicFramePr>
          <p:nvPr>
            <p:extLst>
              <p:ext uri="{D42A27DB-BD31-4B8C-83A1-F6EECF244321}">
                <p14:modId xmlns:p14="http://schemas.microsoft.com/office/powerpoint/2010/main" val="339877669"/>
              </p:ext>
            </p:extLst>
          </p:nvPr>
        </p:nvGraphicFramePr>
        <p:xfrm>
          <a:off x="5363308" y="445233"/>
          <a:ext cx="6421313" cy="1305405"/>
        </p:xfrm>
        <a:graphic>
          <a:graphicData uri="http://schemas.openxmlformats.org/drawingml/2006/table">
            <a:tbl>
              <a:tblPr/>
              <a:tblGrid>
                <a:gridCol w="6421313">
                  <a:extLst>
                    <a:ext uri="{9D8B030D-6E8A-4147-A177-3AD203B41FA5}">
                      <a16:colId xmlns:a16="http://schemas.microsoft.com/office/drawing/2014/main" val="2593797043"/>
                    </a:ext>
                  </a:extLst>
                </a:gridCol>
              </a:tblGrid>
              <a:tr h="145045">
                <a:tc>
                  <a:txBody>
                    <a:bodyPr/>
                    <a:lstStyle/>
                    <a:p>
                      <a:pPr algn="l" fontAlgn="b"/>
                      <a:r>
                        <a:rPr lang="en-US" sz="900" b="0" i="0" u="none" strike="noStrike" dirty="0">
                          <a:solidFill>
                            <a:srgbClr val="000000"/>
                          </a:solidFill>
                          <a:effectLst/>
                          <a:latin typeface="Calibri" panose="020F0502020204030204" pitchFamily="34" charset="0"/>
                        </a:rPr>
                        <a:t>    # Composite Qualitative Risk Ranking</a:t>
                      </a:r>
                    </a:p>
                  </a:txBody>
                  <a:tcPr marL="6044" marR="6044" marT="6044" marB="0" anchor="b">
                    <a:lnL>
                      <a:noFill/>
                    </a:lnL>
                    <a:lnR>
                      <a:noFill/>
                    </a:lnR>
                    <a:lnT>
                      <a:noFill/>
                    </a:lnT>
                    <a:lnB>
                      <a:noFill/>
                    </a:lnB>
                  </a:tcPr>
                </a:tc>
                <a:extLst>
                  <a:ext uri="{0D108BD9-81ED-4DB2-BD59-A6C34878D82A}">
                    <a16:rowId xmlns:a16="http://schemas.microsoft.com/office/drawing/2014/main" val="3251217731"/>
                  </a:ext>
                </a:extLst>
              </a:tr>
              <a:tr h="145045">
                <a:tc>
                  <a:txBody>
                    <a:bodyPr/>
                    <a:lstStyle/>
                    <a:p>
                      <a:pPr algn="l" fontAlgn="b"/>
                      <a:r>
                        <a:rPr lang="en-US" sz="900" b="0" i="0" u="none" strike="noStrike">
                          <a:solidFill>
                            <a:srgbClr val="000000"/>
                          </a:solidFill>
                          <a:effectLst/>
                          <a:latin typeface="Calibri" panose="020F0502020204030204" pitchFamily="34" charset="0"/>
                        </a:rPr>
                        <a:t>    overall_chinook_risk = case_when(</a:t>
                      </a:r>
                    </a:p>
                  </a:txBody>
                  <a:tcPr marL="6044" marR="6044" marT="6044" marB="0" anchor="b">
                    <a:lnL>
                      <a:noFill/>
                    </a:lnL>
                    <a:lnR>
                      <a:noFill/>
                    </a:lnR>
                    <a:lnT>
                      <a:noFill/>
                    </a:lnT>
                    <a:lnB>
                      <a:noFill/>
                    </a:lnB>
                  </a:tcPr>
                </a:tc>
                <a:extLst>
                  <a:ext uri="{0D108BD9-81ED-4DB2-BD59-A6C34878D82A}">
                    <a16:rowId xmlns:a16="http://schemas.microsoft.com/office/drawing/2014/main" val="2651624793"/>
                  </a:ext>
                </a:extLst>
              </a:tr>
              <a:tr h="145045">
                <a:tc>
                  <a:txBody>
                    <a:bodyPr/>
                    <a:lstStyle/>
                    <a:p>
                      <a:pPr algn="l" fontAlgn="b"/>
                      <a:r>
                        <a:rPr lang="en-US" sz="900" b="0" i="0" u="none" strike="noStrike" dirty="0">
                          <a:solidFill>
                            <a:srgbClr val="000000"/>
                          </a:solidFill>
                          <a:effectLst/>
                          <a:latin typeface="Calibri" panose="020F0502020204030204" pitchFamily="34" charset="0"/>
                        </a:rPr>
                        <a:t>      </a:t>
                      </a:r>
                      <a:r>
                        <a:rPr lang="en-US" sz="900" b="0" i="0" u="none" strike="noStrike" dirty="0" err="1">
                          <a:solidFill>
                            <a:srgbClr val="000000"/>
                          </a:solidFill>
                          <a:effectLst/>
                          <a:latin typeface="Calibri" panose="020F0502020204030204" pitchFamily="34" charset="0"/>
                        </a:rPr>
                        <a:t>csl_threat_tier</a:t>
                      </a:r>
                      <a:r>
                        <a:rPr lang="en-US" sz="900" b="0" i="0" u="none" strike="noStrike" dirty="0">
                          <a:solidFill>
                            <a:srgbClr val="000000"/>
                          </a:solidFill>
                          <a:effectLst/>
                          <a:latin typeface="Calibri" panose="020F0502020204030204" pitchFamily="34" charset="0"/>
                        </a:rPr>
                        <a:t> == "High CSL Exposure (&gt;3k)" &amp; </a:t>
                      </a:r>
                      <a:r>
                        <a:rPr lang="en-US" sz="900" b="0" i="0" u="none" strike="noStrike" dirty="0" err="1">
                          <a:solidFill>
                            <a:srgbClr val="000000"/>
                          </a:solidFill>
                          <a:effectLst/>
                          <a:latin typeface="Calibri" panose="020F0502020204030204" pitchFamily="34" charset="0"/>
                        </a:rPr>
                        <a:t>eulachon_buffer_tier</a:t>
                      </a:r>
                      <a:r>
                        <a:rPr lang="en-US" sz="900" b="0" i="0" u="none" strike="noStrike" dirty="0">
                          <a:solidFill>
                            <a:srgbClr val="000000"/>
                          </a:solidFill>
                          <a:effectLst/>
                          <a:latin typeface="Calibri" panose="020F0502020204030204" pitchFamily="34" charset="0"/>
                        </a:rPr>
                        <a:t> == "Minimal Buffer (&lt;10k)" ~ "VERY HIGH RISK",</a:t>
                      </a:r>
                    </a:p>
                  </a:txBody>
                  <a:tcPr marL="6044" marR="6044" marT="6044" marB="0" anchor="b">
                    <a:lnL>
                      <a:noFill/>
                    </a:lnL>
                    <a:lnR>
                      <a:noFill/>
                    </a:lnR>
                    <a:lnT>
                      <a:noFill/>
                    </a:lnT>
                    <a:lnB>
                      <a:noFill/>
                    </a:lnB>
                  </a:tcPr>
                </a:tc>
                <a:extLst>
                  <a:ext uri="{0D108BD9-81ED-4DB2-BD59-A6C34878D82A}">
                    <a16:rowId xmlns:a16="http://schemas.microsoft.com/office/drawing/2014/main" val="951891515"/>
                  </a:ext>
                </a:extLst>
              </a:tr>
              <a:tr h="145045">
                <a:tc>
                  <a:txBody>
                    <a:bodyPr/>
                    <a:lstStyle/>
                    <a:p>
                      <a:pPr algn="l" fontAlgn="b"/>
                      <a:r>
                        <a:rPr lang="en-US" sz="900" b="0" i="0" u="none" strike="noStrike">
                          <a:solidFill>
                            <a:srgbClr val="000000"/>
                          </a:solidFill>
                          <a:effectLst/>
                          <a:latin typeface="Calibri" panose="020F0502020204030204" pitchFamily="34" charset="0"/>
                        </a:rPr>
                        <a:t>      csl_threat_tier == "High CSL Exposure (&gt;3k)" ~ "HIGH RISK",</a:t>
                      </a:r>
                    </a:p>
                  </a:txBody>
                  <a:tcPr marL="6044" marR="6044" marT="6044" marB="0" anchor="b">
                    <a:lnL>
                      <a:noFill/>
                    </a:lnL>
                    <a:lnR>
                      <a:noFill/>
                    </a:lnR>
                    <a:lnT>
                      <a:noFill/>
                    </a:lnT>
                    <a:lnB>
                      <a:noFill/>
                    </a:lnB>
                  </a:tcPr>
                </a:tc>
                <a:extLst>
                  <a:ext uri="{0D108BD9-81ED-4DB2-BD59-A6C34878D82A}">
                    <a16:rowId xmlns:a16="http://schemas.microsoft.com/office/drawing/2014/main" val="3635531734"/>
                  </a:ext>
                </a:extLst>
              </a:tr>
              <a:tr h="145045">
                <a:tc>
                  <a:txBody>
                    <a:bodyPr/>
                    <a:lstStyle/>
                    <a:p>
                      <a:pPr algn="l" fontAlgn="b"/>
                      <a:r>
                        <a:rPr lang="en-US" sz="900" b="0" i="0" u="none" strike="noStrike" dirty="0">
                          <a:solidFill>
                            <a:srgbClr val="000000"/>
                          </a:solidFill>
                          <a:effectLst/>
                          <a:latin typeface="Calibri" panose="020F0502020204030204" pitchFamily="34" charset="0"/>
                        </a:rPr>
                        <a:t>      </a:t>
                      </a:r>
                      <a:r>
                        <a:rPr lang="en-US" sz="900" b="0" i="0" u="none" strike="noStrike" dirty="0" err="1">
                          <a:solidFill>
                            <a:srgbClr val="000000"/>
                          </a:solidFill>
                          <a:effectLst/>
                          <a:latin typeface="Calibri" panose="020F0502020204030204" pitchFamily="34" charset="0"/>
                        </a:rPr>
                        <a:t>csl_threat_tier</a:t>
                      </a:r>
                      <a:r>
                        <a:rPr lang="en-US" sz="900" b="0" i="0" u="none" strike="noStrike" dirty="0">
                          <a:solidFill>
                            <a:srgbClr val="000000"/>
                          </a:solidFill>
                          <a:effectLst/>
                          <a:latin typeface="Calibri" panose="020F0502020204030204" pitchFamily="34" charset="0"/>
                        </a:rPr>
                        <a:t> == "Moderate CSL Exposure (1k-3k)" &amp; </a:t>
                      </a:r>
                      <a:r>
                        <a:rPr lang="en-US" sz="900" b="0" i="0" u="none" strike="noStrike" dirty="0" err="1">
                          <a:solidFill>
                            <a:srgbClr val="000000"/>
                          </a:solidFill>
                          <a:effectLst/>
                          <a:latin typeface="Calibri" panose="020F0502020204030204" pitchFamily="34" charset="0"/>
                        </a:rPr>
                        <a:t>eulachon_buffer_tier</a:t>
                      </a:r>
                      <a:r>
                        <a:rPr lang="en-US" sz="900" b="0" i="0" u="none" strike="noStrike" dirty="0">
                          <a:solidFill>
                            <a:srgbClr val="000000"/>
                          </a:solidFill>
                          <a:effectLst/>
                          <a:latin typeface="Calibri" panose="020F0502020204030204" pitchFamily="34" charset="0"/>
                        </a:rPr>
                        <a:t> == "Substantial Buffer (&gt;50k)" ~ "LOW-MODERATE RISK",</a:t>
                      </a:r>
                    </a:p>
                  </a:txBody>
                  <a:tcPr marL="6044" marR="6044" marT="6044" marB="0" anchor="b">
                    <a:lnL>
                      <a:noFill/>
                    </a:lnL>
                    <a:lnR>
                      <a:noFill/>
                    </a:lnR>
                    <a:lnT>
                      <a:noFill/>
                    </a:lnT>
                    <a:lnB>
                      <a:noFill/>
                    </a:lnB>
                  </a:tcPr>
                </a:tc>
                <a:extLst>
                  <a:ext uri="{0D108BD9-81ED-4DB2-BD59-A6C34878D82A}">
                    <a16:rowId xmlns:a16="http://schemas.microsoft.com/office/drawing/2014/main" val="3539709543"/>
                  </a:ext>
                </a:extLst>
              </a:tr>
              <a:tr h="145045">
                <a:tc>
                  <a:txBody>
                    <a:bodyPr/>
                    <a:lstStyle/>
                    <a:p>
                      <a:pPr algn="l" fontAlgn="b"/>
                      <a:r>
                        <a:rPr lang="en-US" sz="900" b="0" i="0" u="none" strike="noStrike" dirty="0">
                          <a:solidFill>
                            <a:srgbClr val="000000"/>
                          </a:solidFill>
                          <a:effectLst/>
                          <a:latin typeface="Calibri" panose="020F0502020204030204" pitchFamily="34" charset="0"/>
                        </a:rPr>
                        <a:t>      </a:t>
                      </a:r>
                      <a:r>
                        <a:rPr lang="en-US" sz="900" b="0" i="0" u="none" strike="noStrike" dirty="0" err="1">
                          <a:solidFill>
                            <a:srgbClr val="000000"/>
                          </a:solidFill>
                          <a:effectLst/>
                          <a:latin typeface="Calibri" panose="020F0502020204030204" pitchFamily="34" charset="0"/>
                        </a:rPr>
                        <a:t>csl_threat_tier</a:t>
                      </a:r>
                      <a:r>
                        <a:rPr lang="en-US" sz="900" b="0" i="0" u="none" strike="noStrike" dirty="0">
                          <a:solidFill>
                            <a:srgbClr val="000000"/>
                          </a:solidFill>
                          <a:effectLst/>
                          <a:latin typeface="Calibri" panose="020F0502020204030204" pitchFamily="34" charset="0"/>
                        </a:rPr>
                        <a:t> == "Moderate CSL Exposure (1k-3k)" ~ "MODERATE RISK",</a:t>
                      </a:r>
                    </a:p>
                  </a:txBody>
                  <a:tcPr marL="6044" marR="6044" marT="6044" marB="0" anchor="b">
                    <a:lnL>
                      <a:noFill/>
                    </a:lnL>
                    <a:lnR>
                      <a:noFill/>
                    </a:lnR>
                    <a:lnT>
                      <a:noFill/>
                    </a:lnT>
                    <a:lnB>
                      <a:noFill/>
                    </a:lnB>
                  </a:tcPr>
                </a:tc>
                <a:extLst>
                  <a:ext uri="{0D108BD9-81ED-4DB2-BD59-A6C34878D82A}">
                    <a16:rowId xmlns:a16="http://schemas.microsoft.com/office/drawing/2014/main" val="648687005"/>
                  </a:ext>
                </a:extLst>
              </a:tr>
              <a:tr h="145045">
                <a:tc>
                  <a:txBody>
                    <a:bodyPr/>
                    <a:lstStyle/>
                    <a:p>
                      <a:pPr algn="l" fontAlgn="b"/>
                      <a:r>
                        <a:rPr lang="en-US" sz="900" b="0" i="0" u="none" strike="noStrike" dirty="0">
                          <a:solidFill>
                            <a:srgbClr val="000000"/>
                          </a:solidFill>
                          <a:effectLst/>
                          <a:latin typeface="Calibri" panose="020F0502020204030204" pitchFamily="34" charset="0"/>
                        </a:rPr>
                        <a:t>      TRUE ~ "LOW RISK"</a:t>
                      </a:r>
                    </a:p>
                  </a:txBody>
                  <a:tcPr marL="6044" marR="6044" marT="6044" marB="0" anchor="b">
                    <a:lnL>
                      <a:noFill/>
                    </a:lnL>
                    <a:lnR>
                      <a:noFill/>
                    </a:lnR>
                    <a:lnT>
                      <a:noFill/>
                    </a:lnT>
                    <a:lnB>
                      <a:noFill/>
                    </a:lnB>
                  </a:tcPr>
                </a:tc>
                <a:extLst>
                  <a:ext uri="{0D108BD9-81ED-4DB2-BD59-A6C34878D82A}">
                    <a16:rowId xmlns:a16="http://schemas.microsoft.com/office/drawing/2014/main" val="4010110065"/>
                  </a:ext>
                </a:extLst>
              </a:tr>
              <a:tr h="145045">
                <a:tc>
                  <a:txBody>
                    <a:bodyPr/>
                    <a:lstStyle/>
                    <a:p>
                      <a:pPr algn="l" fontAlgn="b"/>
                      <a:r>
                        <a:rPr lang="en-US" sz="900" b="0" i="0" u="none" strike="noStrike" dirty="0">
                          <a:solidFill>
                            <a:srgbClr val="000000"/>
                          </a:solidFill>
                          <a:effectLst/>
                          <a:latin typeface="Calibri" panose="020F0502020204030204" pitchFamily="34" charset="0"/>
                        </a:rPr>
                        <a:t>    )</a:t>
                      </a:r>
                    </a:p>
                  </a:txBody>
                  <a:tcPr marL="6044" marR="6044" marT="6044" marB="0" anchor="b">
                    <a:lnL>
                      <a:noFill/>
                    </a:lnL>
                    <a:lnR>
                      <a:noFill/>
                    </a:lnR>
                    <a:lnT>
                      <a:noFill/>
                    </a:lnT>
                    <a:lnB>
                      <a:noFill/>
                    </a:lnB>
                  </a:tcPr>
                </a:tc>
                <a:extLst>
                  <a:ext uri="{0D108BD9-81ED-4DB2-BD59-A6C34878D82A}">
                    <a16:rowId xmlns:a16="http://schemas.microsoft.com/office/drawing/2014/main" val="3703029395"/>
                  </a:ext>
                </a:extLst>
              </a:tr>
              <a:tr h="145045">
                <a:tc>
                  <a:txBody>
                    <a:bodyPr/>
                    <a:lstStyle/>
                    <a:p>
                      <a:pPr algn="l" fontAlgn="b"/>
                      <a:r>
                        <a:rPr lang="en-US" sz="900" b="0" i="0" u="none" strike="noStrike" dirty="0">
                          <a:solidFill>
                            <a:srgbClr val="000000"/>
                          </a:solidFill>
                          <a:effectLst/>
                          <a:latin typeface="Calibri" panose="020F0502020204030204" pitchFamily="34" charset="0"/>
                        </a:rPr>
                        <a:t>  )</a:t>
                      </a:r>
                    </a:p>
                  </a:txBody>
                  <a:tcPr marL="6044" marR="6044" marT="6044" marB="0" anchor="b">
                    <a:lnL>
                      <a:noFill/>
                    </a:lnL>
                    <a:lnR>
                      <a:noFill/>
                    </a:lnR>
                    <a:lnT>
                      <a:noFill/>
                    </a:lnT>
                    <a:lnB>
                      <a:noFill/>
                    </a:lnB>
                  </a:tcPr>
                </a:tc>
                <a:extLst>
                  <a:ext uri="{0D108BD9-81ED-4DB2-BD59-A6C34878D82A}">
                    <a16:rowId xmlns:a16="http://schemas.microsoft.com/office/drawing/2014/main" val="2220229382"/>
                  </a:ext>
                </a:extLst>
              </a:tr>
            </a:tbl>
          </a:graphicData>
        </a:graphic>
      </p:graphicFrame>
    </p:spTree>
    <p:extLst>
      <p:ext uri="{BB962C8B-B14F-4D97-AF65-F5344CB8AC3E}">
        <p14:creationId xmlns:p14="http://schemas.microsoft.com/office/powerpoint/2010/main" val="18729950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034CE8-8D2C-40ED-9C8C-C7480CF1D89C}"/>
              </a:ext>
            </a:extLst>
          </p:cNvPr>
          <p:cNvSpPr>
            <a:spLocks noGrp="1"/>
          </p:cNvSpPr>
          <p:nvPr>
            <p:ph type="title"/>
          </p:nvPr>
        </p:nvSpPr>
        <p:spPr/>
        <p:txBody>
          <a:bodyPr/>
          <a:lstStyle/>
          <a:p>
            <a:endParaRPr lang="en-US"/>
          </a:p>
        </p:txBody>
      </p:sp>
      <p:graphicFrame>
        <p:nvGraphicFramePr>
          <p:cNvPr id="2" name="Table 1">
            <a:extLst>
              <a:ext uri="{FF2B5EF4-FFF2-40B4-BE49-F238E27FC236}">
                <a16:creationId xmlns:a16="http://schemas.microsoft.com/office/drawing/2014/main" id="{4ED7298B-8112-4E97-BE8F-FEF864ECB7E8}"/>
              </a:ext>
            </a:extLst>
          </p:cNvPr>
          <p:cNvGraphicFramePr>
            <a:graphicFrameLocks noGrp="1"/>
          </p:cNvGraphicFramePr>
          <p:nvPr/>
        </p:nvGraphicFramePr>
        <p:xfrm>
          <a:off x="1895750" y="1825619"/>
          <a:ext cx="8400500" cy="4351350"/>
        </p:xfrm>
        <a:graphic>
          <a:graphicData uri="http://schemas.openxmlformats.org/drawingml/2006/table">
            <a:tbl>
              <a:tblPr/>
              <a:tblGrid>
                <a:gridCol w="1450446">
                  <a:extLst>
                    <a:ext uri="{9D8B030D-6E8A-4147-A177-3AD203B41FA5}">
                      <a16:colId xmlns:a16="http://schemas.microsoft.com/office/drawing/2014/main" val="4099739006"/>
                    </a:ext>
                  </a:extLst>
                </a:gridCol>
                <a:gridCol w="1450446">
                  <a:extLst>
                    <a:ext uri="{9D8B030D-6E8A-4147-A177-3AD203B41FA5}">
                      <a16:colId xmlns:a16="http://schemas.microsoft.com/office/drawing/2014/main" val="3808560840"/>
                    </a:ext>
                  </a:extLst>
                </a:gridCol>
                <a:gridCol w="1450446">
                  <a:extLst>
                    <a:ext uri="{9D8B030D-6E8A-4147-A177-3AD203B41FA5}">
                      <a16:colId xmlns:a16="http://schemas.microsoft.com/office/drawing/2014/main" val="294950089"/>
                    </a:ext>
                  </a:extLst>
                </a:gridCol>
                <a:gridCol w="1450446">
                  <a:extLst>
                    <a:ext uri="{9D8B030D-6E8A-4147-A177-3AD203B41FA5}">
                      <a16:colId xmlns:a16="http://schemas.microsoft.com/office/drawing/2014/main" val="3257034060"/>
                    </a:ext>
                  </a:extLst>
                </a:gridCol>
                <a:gridCol w="1450446">
                  <a:extLst>
                    <a:ext uri="{9D8B030D-6E8A-4147-A177-3AD203B41FA5}">
                      <a16:colId xmlns:a16="http://schemas.microsoft.com/office/drawing/2014/main" val="1723635054"/>
                    </a:ext>
                  </a:extLst>
                </a:gridCol>
                <a:gridCol w="1148270">
                  <a:extLst>
                    <a:ext uri="{9D8B030D-6E8A-4147-A177-3AD203B41FA5}">
                      <a16:colId xmlns:a16="http://schemas.microsoft.com/office/drawing/2014/main" val="2029606099"/>
                    </a:ext>
                  </a:extLst>
                </a:gridCol>
              </a:tblGrid>
              <a:tr h="174054">
                <a:tc>
                  <a:txBody>
                    <a:bodyPr/>
                    <a:lstStyle/>
                    <a:p>
                      <a:pPr algn="l" fontAlgn="b"/>
                      <a:r>
                        <a:rPr lang="en-US" sz="1000" b="0" i="0" u="none" strike="noStrike">
                          <a:solidFill>
                            <a:srgbClr val="000000"/>
                          </a:solidFill>
                          <a:effectLst/>
                          <a:latin typeface="Calibri" panose="020F0502020204030204" pitchFamily="34" charset="0"/>
                        </a:rPr>
                        <a:t>hake_age5plus_tier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sardine_tier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sitka_herring_tier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ncc_herring_tier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ncc_anchovy_tier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ocean_buffer_score</a:t>
                      </a:r>
                    </a:p>
                  </a:txBody>
                  <a:tcPr marL="7252" marR="7252" marT="7252" marB="0" anchor="b">
                    <a:lnL>
                      <a:noFill/>
                    </a:lnL>
                    <a:lnR>
                      <a:noFill/>
                    </a:lnR>
                    <a:lnT>
                      <a:noFill/>
                    </a:lnT>
                    <a:lnB>
                      <a:noFill/>
                    </a:lnB>
                  </a:tcPr>
                </a:tc>
                <a:extLst>
                  <a:ext uri="{0D108BD9-81ED-4DB2-BD59-A6C34878D82A}">
                    <a16:rowId xmlns:a16="http://schemas.microsoft.com/office/drawing/2014/main" val="273397796"/>
                  </a:ext>
                </a:extLst>
              </a:tr>
              <a:tr h="174054">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3</a:t>
                      </a:r>
                    </a:p>
                  </a:txBody>
                  <a:tcPr marL="7252" marR="7252" marT="7252" marB="0" anchor="b">
                    <a:lnL>
                      <a:noFill/>
                    </a:lnL>
                    <a:lnR>
                      <a:noFill/>
                    </a:lnR>
                    <a:lnT>
                      <a:noFill/>
                    </a:lnT>
                    <a:lnB>
                      <a:noFill/>
                    </a:lnB>
                  </a:tcPr>
                </a:tc>
                <a:extLst>
                  <a:ext uri="{0D108BD9-81ED-4DB2-BD59-A6C34878D82A}">
                    <a16:rowId xmlns:a16="http://schemas.microsoft.com/office/drawing/2014/main" val="2780028231"/>
                  </a:ext>
                </a:extLst>
              </a:tr>
              <a:tr h="174054">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2</a:t>
                      </a:r>
                    </a:p>
                  </a:txBody>
                  <a:tcPr marL="7252" marR="7252" marT="7252" marB="0" anchor="b">
                    <a:lnL>
                      <a:noFill/>
                    </a:lnL>
                    <a:lnR>
                      <a:noFill/>
                    </a:lnR>
                    <a:lnT>
                      <a:noFill/>
                    </a:lnT>
                    <a:lnB>
                      <a:noFill/>
                    </a:lnB>
                  </a:tcPr>
                </a:tc>
                <a:extLst>
                  <a:ext uri="{0D108BD9-81ED-4DB2-BD59-A6C34878D82A}">
                    <a16:rowId xmlns:a16="http://schemas.microsoft.com/office/drawing/2014/main" val="1383718995"/>
                  </a:ext>
                </a:extLst>
              </a:tr>
              <a:tr h="174054">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2</a:t>
                      </a:r>
                    </a:p>
                  </a:txBody>
                  <a:tcPr marL="7252" marR="7252" marT="7252" marB="0" anchor="b">
                    <a:lnL>
                      <a:noFill/>
                    </a:lnL>
                    <a:lnR>
                      <a:noFill/>
                    </a:lnR>
                    <a:lnT>
                      <a:noFill/>
                    </a:lnT>
                    <a:lnB>
                      <a:noFill/>
                    </a:lnB>
                  </a:tcPr>
                </a:tc>
                <a:extLst>
                  <a:ext uri="{0D108BD9-81ED-4DB2-BD59-A6C34878D82A}">
                    <a16:rowId xmlns:a16="http://schemas.microsoft.com/office/drawing/2014/main" val="2858900248"/>
                  </a:ext>
                </a:extLst>
              </a:tr>
              <a:tr h="174054">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4</a:t>
                      </a:r>
                    </a:p>
                  </a:txBody>
                  <a:tcPr marL="7252" marR="7252" marT="7252" marB="0" anchor="b">
                    <a:lnL>
                      <a:noFill/>
                    </a:lnL>
                    <a:lnR>
                      <a:noFill/>
                    </a:lnR>
                    <a:lnT>
                      <a:noFill/>
                    </a:lnT>
                    <a:lnB>
                      <a:noFill/>
                    </a:lnB>
                  </a:tcPr>
                </a:tc>
                <a:extLst>
                  <a:ext uri="{0D108BD9-81ED-4DB2-BD59-A6C34878D82A}">
                    <a16:rowId xmlns:a16="http://schemas.microsoft.com/office/drawing/2014/main" val="3936505686"/>
                  </a:ext>
                </a:extLst>
              </a:tr>
              <a:tr h="174054">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4</a:t>
                      </a:r>
                    </a:p>
                  </a:txBody>
                  <a:tcPr marL="7252" marR="7252" marT="7252" marB="0" anchor="b">
                    <a:lnL>
                      <a:noFill/>
                    </a:lnL>
                    <a:lnR>
                      <a:noFill/>
                    </a:lnR>
                    <a:lnT>
                      <a:noFill/>
                    </a:lnT>
                    <a:lnB>
                      <a:noFill/>
                    </a:lnB>
                  </a:tcPr>
                </a:tc>
                <a:extLst>
                  <a:ext uri="{0D108BD9-81ED-4DB2-BD59-A6C34878D82A}">
                    <a16:rowId xmlns:a16="http://schemas.microsoft.com/office/drawing/2014/main" val="2116655552"/>
                  </a:ext>
                </a:extLst>
              </a:tr>
              <a:tr h="174054">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5</a:t>
                      </a:r>
                    </a:p>
                  </a:txBody>
                  <a:tcPr marL="7252" marR="7252" marT="7252" marB="0" anchor="b">
                    <a:lnL>
                      <a:noFill/>
                    </a:lnL>
                    <a:lnR>
                      <a:noFill/>
                    </a:lnR>
                    <a:lnT>
                      <a:noFill/>
                    </a:lnT>
                    <a:lnB>
                      <a:noFill/>
                    </a:lnB>
                  </a:tcPr>
                </a:tc>
                <a:extLst>
                  <a:ext uri="{0D108BD9-81ED-4DB2-BD59-A6C34878D82A}">
                    <a16:rowId xmlns:a16="http://schemas.microsoft.com/office/drawing/2014/main" val="3201407668"/>
                  </a:ext>
                </a:extLst>
              </a:tr>
              <a:tr h="174054">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5</a:t>
                      </a:r>
                    </a:p>
                  </a:txBody>
                  <a:tcPr marL="7252" marR="7252" marT="7252" marB="0" anchor="b">
                    <a:lnL>
                      <a:noFill/>
                    </a:lnL>
                    <a:lnR>
                      <a:noFill/>
                    </a:lnR>
                    <a:lnT>
                      <a:noFill/>
                    </a:lnT>
                    <a:lnB>
                      <a:noFill/>
                    </a:lnB>
                  </a:tcPr>
                </a:tc>
                <a:extLst>
                  <a:ext uri="{0D108BD9-81ED-4DB2-BD59-A6C34878D82A}">
                    <a16:rowId xmlns:a16="http://schemas.microsoft.com/office/drawing/2014/main" val="249907421"/>
                  </a:ext>
                </a:extLst>
              </a:tr>
              <a:tr h="174054">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5</a:t>
                      </a:r>
                    </a:p>
                  </a:txBody>
                  <a:tcPr marL="7252" marR="7252" marT="7252" marB="0" anchor="b">
                    <a:lnL>
                      <a:noFill/>
                    </a:lnL>
                    <a:lnR>
                      <a:noFill/>
                    </a:lnR>
                    <a:lnT>
                      <a:noFill/>
                    </a:lnT>
                    <a:lnB>
                      <a:noFill/>
                    </a:lnB>
                  </a:tcPr>
                </a:tc>
                <a:extLst>
                  <a:ext uri="{0D108BD9-81ED-4DB2-BD59-A6C34878D82A}">
                    <a16:rowId xmlns:a16="http://schemas.microsoft.com/office/drawing/2014/main" val="1678683664"/>
                  </a:ext>
                </a:extLst>
              </a:tr>
              <a:tr h="174054">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4</a:t>
                      </a:r>
                    </a:p>
                  </a:txBody>
                  <a:tcPr marL="7252" marR="7252" marT="7252" marB="0" anchor="b">
                    <a:lnL>
                      <a:noFill/>
                    </a:lnL>
                    <a:lnR>
                      <a:noFill/>
                    </a:lnR>
                    <a:lnT>
                      <a:noFill/>
                    </a:lnT>
                    <a:lnB>
                      <a:noFill/>
                    </a:lnB>
                  </a:tcPr>
                </a:tc>
                <a:extLst>
                  <a:ext uri="{0D108BD9-81ED-4DB2-BD59-A6C34878D82A}">
                    <a16:rowId xmlns:a16="http://schemas.microsoft.com/office/drawing/2014/main" val="934822158"/>
                  </a:ext>
                </a:extLst>
              </a:tr>
              <a:tr h="174054">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4</a:t>
                      </a:r>
                    </a:p>
                  </a:txBody>
                  <a:tcPr marL="7252" marR="7252" marT="7252" marB="0" anchor="b">
                    <a:lnL>
                      <a:noFill/>
                    </a:lnL>
                    <a:lnR>
                      <a:noFill/>
                    </a:lnR>
                    <a:lnT>
                      <a:noFill/>
                    </a:lnT>
                    <a:lnB>
                      <a:noFill/>
                    </a:lnB>
                  </a:tcPr>
                </a:tc>
                <a:extLst>
                  <a:ext uri="{0D108BD9-81ED-4DB2-BD59-A6C34878D82A}">
                    <a16:rowId xmlns:a16="http://schemas.microsoft.com/office/drawing/2014/main" val="2200791441"/>
                  </a:ext>
                </a:extLst>
              </a:tr>
              <a:tr h="174054">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3</a:t>
                      </a:r>
                    </a:p>
                  </a:txBody>
                  <a:tcPr marL="7252" marR="7252" marT="7252" marB="0" anchor="b">
                    <a:lnL>
                      <a:noFill/>
                    </a:lnL>
                    <a:lnR>
                      <a:noFill/>
                    </a:lnR>
                    <a:lnT>
                      <a:noFill/>
                    </a:lnT>
                    <a:lnB>
                      <a:noFill/>
                    </a:lnB>
                  </a:tcPr>
                </a:tc>
                <a:extLst>
                  <a:ext uri="{0D108BD9-81ED-4DB2-BD59-A6C34878D82A}">
                    <a16:rowId xmlns:a16="http://schemas.microsoft.com/office/drawing/2014/main" val="2388185712"/>
                  </a:ext>
                </a:extLst>
              </a:tr>
              <a:tr h="174054">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2</a:t>
                      </a:r>
                    </a:p>
                  </a:txBody>
                  <a:tcPr marL="7252" marR="7252" marT="7252" marB="0" anchor="b">
                    <a:lnL>
                      <a:noFill/>
                    </a:lnL>
                    <a:lnR>
                      <a:noFill/>
                    </a:lnR>
                    <a:lnT>
                      <a:noFill/>
                    </a:lnT>
                    <a:lnB>
                      <a:noFill/>
                    </a:lnB>
                  </a:tcPr>
                </a:tc>
                <a:extLst>
                  <a:ext uri="{0D108BD9-81ED-4DB2-BD59-A6C34878D82A}">
                    <a16:rowId xmlns:a16="http://schemas.microsoft.com/office/drawing/2014/main" val="1835433235"/>
                  </a:ext>
                </a:extLst>
              </a:tr>
              <a:tr h="174054">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2</a:t>
                      </a:r>
                    </a:p>
                  </a:txBody>
                  <a:tcPr marL="7252" marR="7252" marT="7252" marB="0" anchor="b">
                    <a:lnL>
                      <a:noFill/>
                    </a:lnL>
                    <a:lnR>
                      <a:noFill/>
                    </a:lnR>
                    <a:lnT>
                      <a:noFill/>
                    </a:lnT>
                    <a:lnB>
                      <a:noFill/>
                    </a:lnB>
                  </a:tcPr>
                </a:tc>
                <a:extLst>
                  <a:ext uri="{0D108BD9-81ED-4DB2-BD59-A6C34878D82A}">
                    <a16:rowId xmlns:a16="http://schemas.microsoft.com/office/drawing/2014/main" val="857042961"/>
                  </a:ext>
                </a:extLst>
              </a:tr>
              <a:tr h="174054">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2</a:t>
                      </a:r>
                    </a:p>
                  </a:txBody>
                  <a:tcPr marL="7252" marR="7252" marT="7252" marB="0" anchor="b">
                    <a:lnL>
                      <a:noFill/>
                    </a:lnL>
                    <a:lnR>
                      <a:noFill/>
                    </a:lnR>
                    <a:lnT>
                      <a:noFill/>
                    </a:lnT>
                    <a:lnB>
                      <a:noFill/>
                    </a:lnB>
                  </a:tcPr>
                </a:tc>
                <a:extLst>
                  <a:ext uri="{0D108BD9-81ED-4DB2-BD59-A6C34878D82A}">
                    <a16:rowId xmlns:a16="http://schemas.microsoft.com/office/drawing/2014/main" val="3937959433"/>
                  </a:ext>
                </a:extLst>
              </a:tr>
              <a:tr h="174054">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2</a:t>
                      </a:r>
                    </a:p>
                  </a:txBody>
                  <a:tcPr marL="7252" marR="7252" marT="7252" marB="0" anchor="b">
                    <a:lnL>
                      <a:noFill/>
                    </a:lnL>
                    <a:lnR>
                      <a:noFill/>
                    </a:lnR>
                    <a:lnT>
                      <a:noFill/>
                    </a:lnT>
                    <a:lnB>
                      <a:noFill/>
                    </a:lnB>
                  </a:tcPr>
                </a:tc>
                <a:extLst>
                  <a:ext uri="{0D108BD9-81ED-4DB2-BD59-A6C34878D82A}">
                    <a16:rowId xmlns:a16="http://schemas.microsoft.com/office/drawing/2014/main" val="2861709154"/>
                  </a:ext>
                </a:extLst>
              </a:tr>
              <a:tr h="174054">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5</a:t>
                      </a:r>
                    </a:p>
                  </a:txBody>
                  <a:tcPr marL="7252" marR="7252" marT="7252" marB="0" anchor="b">
                    <a:lnL>
                      <a:noFill/>
                    </a:lnL>
                    <a:lnR>
                      <a:noFill/>
                    </a:lnR>
                    <a:lnT>
                      <a:noFill/>
                    </a:lnT>
                    <a:lnB>
                      <a:noFill/>
                    </a:lnB>
                  </a:tcPr>
                </a:tc>
                <a:extLst>
                  <a:ext uri="{0D108BD9-81ED-4DB2-BD59-A6C34878D82A}">
                    <a16:rowId xmlns:a16="http://schemas.microsoft.com/office/drawing/2014/main" val="1870153608"/>
                  </a:ext>
                </a:extLst>
              </a:tr>
              <a:tr h="174054">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4</a:t>
                      </a:r>
                    </a:p>
                  </a:txBody>
                  <a:tcPr marL="7252" marR="7252" marT="7252" marB="0" anchor="b">
                    <a:lnL>
                      <a:noFill/>
                    </a:lnL>
                    <a:lnR>
                      <a:noFill/>
                    </a:lnR>
                    <a:lnT>
                      <a:noFill/>
                    </a:lnT>
                    <a:lnB>
                      <a:noFill/>
                    </a:lnB>
                  </a:tcPr>
                </a:tc>
                <a:extLst>
                  <a:ext uri="{0D108BD9-81ED-4DB2-BD59-A6C34878D82A}">
                    <a16:rowId xmlns:a16="http://schemas.microsoft.com/office/drawing/2014/main" val="2406364541"/>
                  </a:ext>
                </a:extLst>
              </a:tr>
              <a:tr h="174054">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2</a:t>
                      </a:r>
                    </a:p>
                  </a:txBody>
                  <a:tcPr marL="7252" marR="7252" marT="7252" marB="0" anchor="b">
                    <a:lnL>
                      <a:noFill/>
                    </a:lnL>
                    <a:lnR>
                      <a:noFill/>
                    </a:lnR>
                    <a:lnT>
                      <a:noFill/>
                    </a:lnT>
                    <a:lnB>
                      <a:noFill/>
                    </a:lnB>
                  </a:tcPr>
                </a:tc>
                <a:extLst>
                  <a:ext uri="{0D108BD9-81ED-4DB2-BD59-A6C34878D82A}">
                    <a16:rowId xmlns:a16="http://schemas.microsoft.com/office/drawing/2014/main" val="2527995102"/>
                  </a:ext>
                </a:extLst>
              </a:tr>
              <a:tr h="174054">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Moderate Biomass</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3</a:t>
                      </a:r>
                    </a:p>
                  </a:txBody>
                  <a:tcPr marL="7252" marR="7252" marT="7252" marB="0" anchor="b">
                    <a:lnL>
                      <a:noFill/>
                    </a:lnL>
                    <a:lnR>
                      <a:noFill/>
                    </a:lnR>
                    <a:lnT>
                      <a:noFill/>
                    </a:lnT>
                    <a:lnB>
                      <a:noFill/>
                    </a:lnB>
                  </a:tcPr>
                </a:tc>
                <a:extLst>
                  <a:ext uri="{0D108BD9-81ED-4DB2-BD59-A6C34878D82A}">
                    <a16:rowId xmlns:a16="http://schemas.microsoft.com/office/drawing/2014/main" val="1010718950"/>
                  </a:ext>
                </a:extLst>
              </a:tr>
              <a:tr h="174054">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2</a:t>
                      </a:r>
                    </a:p>
                  </a:txBody>
                  <a:tcPr marL="7252" marR="7252" marT="7252" marB="0" anchor="b">
                    <a:lnL>
                      <a:noFill/>
                    </a:lnL>
                    <a:lnR>
                      <a:noFill/>
                    </a:lnR>
                    <a:lnT>
                      <a:noFill/>
                    </a:lnT>
                    <a:lnB>
                      <a:noFill/>
                    </a:lnB>
                  </a:tcPr>
                </a:tc>
                <a:extLst>
                  <a:ext uri="{0D108BD9-81ED-4DB2-BD59-A6C34878D82A}">
                    <a16:rowId xmlns:a16="http://schemas.microsoft.com/office/drawing/2014/main" val="3535646981"/>
                  </a:ext>
                </a:extLst>
              </a:tr>
              <a:tr h="174054">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3</a:t>
                      </a:r>
                    </a:p>
                  </a:txBody>
                  <a:tcPr marL="7252" marR="7252" marT="7252" marB="0" anchor="b">
                    <a:lnL>
                      <a:noFill/>
                    </a:lnL>
                    <a:lnR>
                      <a:noFill/>
                    </a:lnR>
                    <a:lnT>
                      <a:noFill/>
                    </a:lnT>
                    <a:lnB>
                      <a:noFill/>
                    </a:lnB>
                  </a:tcPr>
                </a:tc>
                <a:extLst>
                  <a:ext uri="{0D108BD9-81ED-4DB2-BD59-A6C34878D82A}">
                    <a16:rowId xmlns:a16="http://schemas.microsoft.com/office/drawing/2014/main" val="1039898631"/>
                  </a:ext>
                </a:extLst>
              </a:tr>
              <a:tr h="174054">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4</a:t>
                      </a:r>
                    </a:p>
                  </a:txBody>
                  <a:tcPr marL="7252" marR="7252" marT="7252" marB="0" anchor="b">
                    <a:lnL>
                      <a:noFill/>
                    </a:lnL>
                    <a:lnR>
                      <a:noFill/>
                    </a:lnR>
                    <a:lnT>
                      <a:noFill/>
                    </a:lnT>
                    <a:lnB>
                      <a:noFill/>
                    </a:lnB>
                  </a:tcPr>
                </a:tc>
                <a:extLst>
                  <a:ext uri="{0D108BD9-81ED-4DB2-BD59-A6C34878D82A}">
                    <a16:rowId xmlns:a16="http://schemas.microsoft.com/office/drawing/2014/main" val="2097380969"/>
                  </a:ext>
                </a:extLst>
              </a:tr>
              <a:tr h="174054">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r" fontAlgn="b"/>
                      <a:r>
                        <a:rPr lang="en-US" sz="1000" b="0" i="0" u="none" strike="noStrike">
                          <a:solidFill>
                            <a:srgbClr val="000000"/>
                          </a:solidFill>
                          <a:effectLst/>
                          <a:latin typeface="Calibri" panose="020F0502020204030204" pitchFamily="34" charset="0"/>
                        </a:rPr>
                        <a:t>4</a:t>
                      </a:r>
                    </a:p>
                  </a:txBody>
                  <a:tcPr marL="7252" marR="7252" marT="7252" marB="0" anchor="b">
                    <a:lnL>
                      <a:noFill/>
                    </a:lnL>
                    <a:lnR>
                      <a:noFill/>
                    </a:lnR>
                    <a:lnT>
                      <a:noFill/>
                    </a:lnT>
                    <a:lnB>
                      <a:noFill/>
                    </a:lnB>
                  </a:tcPr>
                </a:tc>
                <a:extLst>
                  <a:ext uri="{0D108BD9-81ED-4DB2-BD59-A6C34878D82A}">
                    <a16:rowId xmlns:a16="http://schemas.microsoft.com/office/drawing/2014/main" val="2172672705"/>
                  </a:ext>
                </a:extLst>
              </a:tr>
              <a:tr h="174054">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Low Biomass (Upper Risk)</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l" fontAlgn="b"/>
                      <a:r>
                        <a:rPr lang="en-US" sz="1000" b="0" i="0" u="none" strike="noStrike">
                          <a:solidFill>
                            <a:srgbClr val="000000"/>
                          </a:solidFill>
                          <a:effectLst/>
                          <a:latin typeface="Calibri" panose="020F0502020204030204" pitchFamily="34" charset="0"/>
                        </a:rPr>
                        <a:t>High Biomass (Buffer)</a:t>
                      </a:r>
                    </a:p>
                  </a:txBody>
                  <a:tcPr marL="7252" marR="7252" marT="7252" marB="0" anchor="b">
                    <a:lnL>
                      <a:noFill/>
                    </a:lnL>
                    <a:lnR>
                      <a:noFill/>
                    </a:lnR>
                    <a:lnT>
                      <a:noFill/>
                    </a:lnT>
                    <a:lnB>
                      <a:noFill/>
                    </a:lnB>
                  </a:tcPr>
                </a:tc>
                <a:tc>
                  <a:txBody>
                    <a:bodyPr/>
                    <a:lstStyle/>
                    <a:p>
                      <a:pPr algn="r" fontAlgn="b"/>
                      <a:r>
                        <a:rPr lang="en-US" sz="1000" b="0" i="0" u="none" strike="noStrike" dirty="0">
                          <a:solidFill>
                            <a:srgbClr val="000000"/>
                          </a:solidFill>
                          <a:effectLst/>
                          <a:latin typeface="Calibri" panose="020F0502020204030204" pitchFamily="34" charset="0"/>
                        </a:rPr>
                        <a:t>4</a:t>
                      </a:r>
                    </a:p>
                  </a:txBody>
                  <a:tcPr marL="7252" marR="7252" marT="7252" marB="0" anchor="b">
                    <a:lnL>
                      <a:noFill/>
                    </a:lnL>
                    <a:lnR>
                      <a:noFill/>
                    </a:lnR>
                    <a:lnT>
                      <a:noFill/>
                    </a:lnT>
                    <a:lnB>
                      <a:noFill/>
                    </a:lnB>
                  </a:tcPr>
                </a:tc>
                <a:extLst>
                  <a:ext uri="{0D108BD9-81ED-4DB2-BD59-A6C34878D82A}">
                    <a16:rowId xmlns:a16="http://schemas.microsoft.com/office/drawing/2014/main" val="3101208504"/>
                  </a:ext>
                </a:extLst>
              </a:tr>
            </a:tbl>
          </a:graphicData>
        </a:graphic>
      </p:graphicFrame>
    </p:spTree>
    <p:extLst>
      <p:ext uri="{BB962C8B-B14F-4D97-AF65-F5344CB8AC3E}">
        <p14:creationId xmlns:p14="http://schemas.microsoft.com/office/powerpoint/2010/main" val="22525012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528E6B-7FC8-4DFE-8D89-17BCA9BFCF92}"/>
              </a:ext>
            </a:extLst>
          </p:cNvPr>
          <p:cNvSpPr>
            <a:spLocks noGrp="1"/>
          </p:cNvSpPr>
          <p:nvPr>
            <p:ph type="title"/>
          </p:nvPr>
        </p:nvSpPr>
        <p:spPr>
          <a:xfrm>
            <a:off x="720969" y="0"/>
            <a:ext cx="10984523" cy="712177"/>
          </a:xfrm>
        </p:spPr>
        <p:txBody>
          <a:bodyPr>
            <a:normAutofit fontScale="90000"/>
          </a:bodyPr>
          <a:lstStyle/>
          <a:p>
            <a:r>
              <a:rPr lang="en-US" dirty="0"/>
              <a:t>Selection of ocean indices – all hake and forage fish</a:t>
            </a:r>
          </a:p>
        </p:txBody>
      </p:sp>
      <p:pic>
        <p:nvPicPr>
          <p:cNvPr id="4" name="Picture 3">
            <a:extLst>
              <a:ext uri="{FF2B5EF4-FFF2-40B4-BE49-F238E27FC236}">
                <a16:creationId xmlns:a16="http://schemas.microsoft.com/office/drawing/2014/main" id="{DAAF9BBC-D269-4383-A5DB-E826DD7251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2423" y="899643"/>
            <a:ext cx="8326036" cy="5724150"/>
          </a:xfrm>
          <a:prstGeom prst="rect">
            <a:avLst/>
          </a:prstGeom>
        </p:spPr>
      </p:pic>
    </p:spTree>
    <p:extLst>
      <p:ext uri="{BB962C8B-B14F-4D97-AF65-F5344CB8AC3E}">
        <p14:creationId xmlns:p14="http://schemas.microsoft.com/office/powerpoint/2010/main" val="28563626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F086949-C2FD-41A4-AA50-A1C25A427399}"/>
              </a:ext>
            </a:extLst>
          </p:cNvPr>
          <p:cNvSpPr>
            <a:spLocks noGrp="1"/>
          </p:cNvSpPr>
          <p:nvPr>
            <p:ph type="title"/>
          </p:nvPr>
        </p:nvSpPr>
        <p:spPr>
          <a:xfrm>
            <a:off x="838200" y="365125"/>
            <a:ext cx="4964723" cy="3547452"/>
          </a:xfrm>
        </p:spPr>
        <p:txBody>
          <a:bodyPr/>
          <a:lstStyle/>
          <a:p>
            <a:r>
              <a:rPr lang="en-US" dirty="0"/>
              <a:t>Ocean prey:</a:t>
            </a:r>
            <a:br>
              <a:rPr lang="en-US" dirty="0"/>
            </a:br>
            <a:r>
              <a:rPr lang="en-US" dirty="0"/>
              <a:t>Hake</a:t>
            </a:r>
            <a:br>
              <a:rPr lang="en-US" dirty="0"/>
            </a:br>
            <a:r>
              <a:rPr lang="en-US" dirty="0"/>
              <a:t>Sardine/herring</a:t>
            </a:r>
            <a:br>
              <a:rPr lang="en-US" dirty="0"/>
            </a:br>
            <a:r>
              <a:rPr lang="en-US" dirty="0"/>
              <a:t>Anchovy</a:t>
            </a:r>
          </a:p>
        </p:txBody>
      </p:sp>
      <p:pic>
        <p:nvPicPr>
          <p:cNvPr id="4" name="Picture 3">
            <a:extLst>
              <a:ext uri="{FF2B5EF4-FFF2-40B4-BE49-F238E27FC236}">
                <a16:creationId xmlns:a16="http://schemas.microsoft.com/office/drawing/2014/main" id="{1BBC4DFD-6F4A-46B3-AD1A-719098C1F4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0"/>
            <a:ext cx="5561763" cy="6488723"/>
          </a:xfrm>
          <a:prstGeom prst="rect">
            <a:avLst/>
          </a:prstGeom>
        </p:spPr>
      </p:pic>
    </p:spTree>
    <p:extLst>
      <p:ext uri="{BB962C8B-B14F-4D97-AF65-F5344CB8AC3E}">
        <p14:creationId xmlns:p14="http://schemas.microsoft.com/office/powerpoint/2010/main" val="40745144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FE625-1BF4-4A51-AFEC-683CE72A275B}"/>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1DDFBD20-ED6E-4D6E-8B29-5034166784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9380" y="1825625"/>
            <a:ext cx="8033239" cy="4351338"/>
          </a:xfrm>
          <a:prstGeom prst="rect">
            <a:avLst/>
          </a:prstGeom>
        </p:spPr>
      </p:pic>
    </p:spTree>
    <p:extLst>
      <p:ext uri="{BB962C8B-B14F-4D97-AF65-F5344CB8AC3E}">
        <p14:creationId xmlns:p14="http://schemas.microsoft.com/office/powerpoint/2010/main" val="33412375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3F6E4-D5BD-431A-BD61-CA265962A4B7}"/>
              </a:ext>
            </a:extLst>
          </p:cNvPr>
          <p:cNvSpPr>
            <a:spLocks noGrp="1"/>
          </p:cNvSpPr>
          <p:nvPr>
            <p:ph type="title"/>
          </p:nvPr>
        </p:nvSpPr>
        <p:spPr/>
        <p:txBody>
          <a:bodyPr/>
          <a:lstStyle/>
          <a:p>
            <a:r>
              <a:rPr lang="en-US" dirty="0"/>
              <a:t>Estuary vs Ocean scores</a:t>
            </a:r>
          </a:p>
        </p:txBody>
      </p:sp>
      <p:pic>
        <p:nvPicPr>
          <p:cNvPr id="5" name="Content Placeholder 4">
            <a:extLst>
              <a:ext uri="{FF2B5EF4-FFF2-40B4-BE49-F238E27FC236}">
                <a16:creationId xmlns:a16="http://schemas.microsoft.com/office/drawing/2014/main" id="{018C5C96-0029-4DDD-AAD9-266D697CDA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5197" y="1825625"/>
            <a:ext cx="5221605" cy="4351338"/>
          </a:xfrm>
        </p:spPr>
      </p:pic>
    </p:spTree>
    <p:extLst>
      <p:ext uri="{BB962C8B-B14F-4D97-AF65-F5344CB8AC3E}">
        <p14:creationId xmlns:p14="http://schemas.microsoft.com/office/powerpoint/2010/main" val="1716606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53BEE-82BD-4762-A05E-415A808C7D6E}"/>
              </a:ext>
            </a:extLst>
          </p:cNvPr>
          <p:cNvSpPr>
            <a:spLocks noGrp="1"/>
          </p:cNvSpPr>
          <p:nvPr>
            <p:ph type="title"/>
          </p:nvPr>
        </p:nvSpPr>
        <p:spPr/>
        <p:txBody>
          <a:bodyPr>
            <a:normAutofit fontScale="90000"/>
          </a:bodyPr>
          <a:lstStyle/>
          <a:p>
            <a:r>
              <a:rPr lang="en-US" dirty="0"/>
              <a:t>Smolt year (by </a:t>
            </a:r>
            <a:r>
              <a:rPr lang="en-US" dirty="0" err="1"/>
              <a:t>mistakie</a:t>
            </a:r>
            <a:r>
              <a:rPr lang="en-US" dirty="0"/>
              <a:t>) With 2-yr lead for adult predator, had to drop ocean prey for now</a:t>
            </a:r>
          </a:p>
        </p:txBody>
      </p:sp>
      <p:graphicFrame>
        <p:nvGraphicFramePr>
          <p:cNvPr id="4" name="Content Placeholder 3">
            <a:extLst>
              <a:ext uri="{FF2B5EF4-FFF2-40B4-BE49-F238E27FC236}">
                <a16:creationId xmlns:a16="http://schemas.microsoft.com/office/drawing/2014/main" id="{E8E9B84B-D6F7-4715-B9AF-80F1EB215743}"/>
              </a:ext>
            </a:extLst>
          </p:cNvPr>
          <p:cNvGraphicFramePr>
            <a:graphicFrameLocks noGrp="1"/>
          </p:cNvGraphicFramePr>
          <p:nvPr>
            <p:ph idx="1"/>
          </p:nvPr>
        </p:nvGraphicFramePr>
        <p:xfrm>
          <a:off x="3917950" y="2904014"/>
          <a:ext cx="5270012" cy="2194560"/>
        </p:xfrm>
        <a:graphic>
          <a:graphicData uri="http://schemas.openxmlformats.org/drawingml/2006/table">
            <a:tbl>
              <a:tblPr/>
              <a:tblGrid>
                <a:gridCol w="5270012">
                  <a:extLst>
                    <a:ext uri="{9D8B030D-6E8A-4147-A177-3AD203B41FA5}">
                      <a16:colId xmlns:a16="http://schemas.microsoft.com/office/drawing/2014/main" val="1810188792"/>
                    </a:ext>
                  </a:extLst>
                </a:gridCol>
              </a:tblGrid>
              <a:tr h="182880">
                <a:tc>
                  <a:txBody>
                    <a:bodyPr/>
                    <a:lstStyle/>
                    <a:p>
                      <a:pPr algn="l" fontAlgn="b"/>
                      <a:r>
                        <a:rPr lang="en-US" sz="1100" b="0" i="0" u="none" strike="noStrike">
                          <a:solidFill>
                            <a:srgbClr val="000000"/>
                          </a:solidFill>
                          <a:effectLst/>
                          <a:latin typeface="Calibri" panose="020F0502020204030204" pitchFamily="34" charset="0"/>
                        </a:rPr>
                        <a:t># Candidate CSL indices (higher = higher predicted predation pressure)</a:t>
                      </a:r>
                    </a:p>
                  </a:txBody>
                  <a:tcPr marL="7620" marR="7620" marT="7620" marB="0" anchor="b">
                    <a:lnL>
                      <a:noFill/>
                    </a:lnL>
                    <a:lnR>
                      <a:noFill/>
                    </a:lnR>
                    <a:lnT>
                      <a:noFill/>
                    </a:lnT>
                    <a:lnB>
                      <a:noFill/>
                    </a:lnB>
                  </a:tcPr>
                </a:tc>
                <a:extLst>
                  <a:ext uri="{0D108BD9-81ED-4DB2-BD59-A6C34878D82A}">
                    <a16:rowId xmlns:a16="http://schemas.microsoft.com/office/drawing/2014/main" val="3943506728"/>
                  </a:ext>
                </a:extLst>
              </a:tr>
              <a:tr h="182880">
                <a:tc>
                  <a:txBody>
                    <a:bodyPr/>
                    <a:lstStyle/>
                    <a:p>
                      <a:pPr algn="l" fontAlgn="b"/>
                      <a:r>
                        <a:rPr lang="en-US" sz="1100" b="0" i="0" u="none" strike="noStrike">
                          <a:solidFill>
                            <a:srgbClr val="000000"/>
                          </a:solidFill>
                          <a:effectLst/>
                          <a:latin typeface="Calibri" panose="020F0502020204030204" pitchFamily="34" charset="0"/>
                        </a:rPr>
                        <a:t>d &lt;- d %&gt;%</a:t>
                      </a:r>
                    </a:p>
                  </a:txBody>
                  <a:tcPr marL="7620" marR="7620" marT="7620" marB="0" anchor="b">
                    <a:lnL>
                      <a:noFill/>
                    </a:lnL>
                    <a:lnR>
                      <a:noFill/>
                    </a:lnR>
                    <a:lnT>
                      <a:noFill/>
                    </a:lnT>
                    <a:lnB>
                      <a:noFill/>
                    </a:lnB>
                  </a:tcPr>
                </a:tc>
                <a:extLst>
                  <a:ext uri="{0D108BD9-81ED-4DB2-BD59-A6C34878D82A}">
                    <a16:rowId xmlns:a16="http://schemas.microsoft.com/office/drawing/2014/main" val="4170980197"/>
                  </a:ext>
                </a:extLst>
              </a:tr>
              <a:tr h="182880">
                <a:tc>
                  <a:txBody>
                    <a:bodyPr/>
                    <a:lstStyle/>
                    <a:p>
                      <a:pPr algn="l" fontAlgn="b"/>
                      <a:r>
                        <a:rPr lang="en-US" sz="1100" b="0" i="0" u="none" strike="noStrike">
                          <a:solidFill>
                            <a:srgbClr val="000000"/>
                          </a:solidFill>
                          <a:effectLst/>
                          <a:latin typeface="Calibri" panose="020F0502020204030204" pitchFamily="34" charset="0"/>
                        </a:rPr>
                        <a:t>  mutate(</a:t>
                      </a:r>
                    </a:p>
                  </a:txBody>
                  <a:tcPr marL="7620" marR="7620" marT="7620" marB="0" anchor="b">
                    <a:lnL>
                      <a:noFill/>
                    </a:lnL>
                    <a:lnR>
                      <a:noFill/>
                    </a:lnR>
                    <a:lnT>
                      <a:noFill/>
                    </a:lnT>
                    <a:lnB>
                      <a:noFill/>
                    </a:lnB>
                  </a:tcPr>
                </a:tc>
                <a:extLst>
                  <a:ext uri="{0D108BD9-81ED-4DB2-BD59-A6C34878D82A}">
                    <a16:rowId xmlns:a16="http://schemas.microsoft.com/office/drawing/2014/main" val="445396394"/>
                  </a:ext>
                </a:extLst>
              </a:tr>
              <a:tr h="182880">
                <a:tc>
                  <a:txBody>
                    <a:bodyPr/>
                    <a:lstStyle/>
                    <a:p>
                      <a:pPr algn="l" fontAlgn="b"/>
                      <a:r>
                        <a:rPr lang="en-US" sz="1100" b="0" i="0" u="none" strike="noStrike">
                          <a:solidFill>
                            <a:srgbClr val="000000"/>
                          </a:solidFill>
                          <a:effectLst/>
                          <a:latin typeface="Calibri" panose="020F0502020204030204" pitchFamily="34" charset="0"/>
                        </a:rPr>
                        <a:t>    idx1_csl_only          = csl_z,</a:t>
                      </a:r>
                    </a:p>
                  </a:txBody>
                  <a:tcPr marL="7620" marR="7620" marT="7620" marB="0" anchor="b">
                    <a:lnL>
                      <a:noFill/>
                    </a:lnL>
                    <a:lnR>
                      <a:noFill/>
                    </a:lnR>
                    <a:lnT>
                      <a:noFill/>
                    </a:lnT>
                    <a:lnB>
                      <a:noFill/>
                    </a:lnB>
                  </a:tcPr>
                </a:tc>
                <a:extLst>
                  <a:ext uri="{0D108BD9-81ED-4DB2-BD59-A6C34878D82A}">
                    <a16:rowId xmlns:a16="http://schemas.microsoft.com/office/drawing/2014/main" val="2031317955"/>
                  </a:ext>
                </a:extLst>
              </a:tr>
              <a:tr h="182880">
                <a:tc>
                  <a:txBody>
                    <a:bodyPr/>
                    <a:lstStyle/>
                    <a:p>
                      <a:pPr algn="l" fontAlgn="b"/>
                      <a:r>
                        <a:rPr lang="en-US" sz="1100" b="0" i="0" u="none" strike="noStrike">
                          <a:solidFill>
                            <a:srgbClr val="000000"/>
                          </a:solidFill>
                          <a:effectLst/>
                          <a:latin typeface="Calibri" panose="020F0502020204030204" pitchFamily="34" charset="0"/>
                        </a:rPr>
                        <a:t>    idx2_csl_oceanrisk     = csl_z + ocean_risk_z,</a:t>
                      </a:r>
                    </a:p>
                  </a:txBody>
                  <a:tcPr marL="7620" marR="7620" marT="7620" marB="0" anchor="b">
                    <a:lnL>
                      <a:noFill/>
                    </a:lnL>
                    <a:lnR>
                      <a:noFill/>
                    </a:lnR>
                    <a:lnT>
                      <a:noFill/>
                    </a:lnT>
                    <a:lnB>
                      <a:noFill/>
                    </a:lnB>
                  </a:tcPr>
                </a:tc>
                <a:extLst>
                  <a:ext uri="{0D108BD9-81ED-4DB2-BD59-A6C34878D82A}">
                    <a16:rowId xmlns:a16="http://schemas.microsoft.com/office/drawing/2014/main" val="3612091217"/>
                  </a:ext>
                </a:extLst>
              </a:tr>
              <a:tr h="182880">
                <a:tc>
                  <a:txBody>
                    <a:bodyPr/>
                    <a:lstStyle/>
                    <a:p>
                      <a:pPr algn="l" fontAlgn="b"/>
                      <a:r>
                        <a:rPr lang="en-US" sz="1100" b="0" i="0" u="none" strike="noStrike">
                          <a:solidFill>
                            <a:srgbClr val="000000"/>
                          </a:solidFill>
                          <a:effectLst/>
                          <a:latin typeface="Calibri" panose="020F0502020204030204" pitchFamily="34" charset="0"/>
                        </a:rPr>
                        <a:t>    idx3_csl_minus_buffer  = csl_z - ocean_buffer_z,</a:t>
                      </a:r>
                    </a:p>
                  </a:txBody>
                  <a:tcPr marL="7620" marR="7620" marT="7620" marB="0" anchor="b">
                    <a:lnL>
                      <a:noFill/>
                    </a:lnL>
                    <a:lnR>
                      <a:noFill/>
                    </a:lnR>
                    <a:lnT>
                      <a:noFill/>
                    </a:lnT>
                    <a:lnB>
                      <a:noFill/>
                    </a:lnB>
                  </a:tcPr>
                </a:tc>
                <a:extLst>
                  <a:ext uri="{0D108BD9-81ED-4DB2-BD59-A6C34878D82A}">
                    <a16:rowId xmlns:a16="http://schemas.microsoft.com/office/drawing/2014/main" val="1850751371"/>
                  </a:ext>
                </a:extLst>
              </a:tr>
              <a:tr h="182880">
                <a:tc>
                  <a:txBody>
                    <a:bodyPr/>
                    <a:lstStyle/>
                    <a:p>
                      <a:pPr algn="l" fontAlgn="b"/>
                      <a:r>
                        <a:rPr lang="en-US" sz="1100" b="0" i="0" u="none" strike="noStrike">
                          <a:solidFill>
                            <a:srgbClr val="000000"/>
                          </a:solidFill>
                          <a:effectLst/>
                          <a:latin typeface="Calibri" panose="020F0502020204030204" pitchFamily="34" charset="0"/>
                        </a:rPr>
                        <a:t>    idx4_csl_buffer_mult   = csl_z * (1 + ocean_risk_z),</a:t>
                      </a:r>
                    </a:p>
                  </a:txBody>
                  <a:tcPr marL="7620" marR="7620" marT="7620" marB="0" anchor="b">
                    <a:lnL>
                      <a:noFill/>
                    </a:lnL>
                    <a:lnR>
                      <a:noFill/>
                    </a:lnR>
                    <a:lnT>
                      <a:noFill/>
                    </a:lnT>
                    <a:lnB>
                      <a:noFill/>
                    </a:lnB>
                  </a:tcPr>
                </a:tc>
                <a:extLst>
                  <a:ext uri="{0D108BD9-81ED-4DB2-BD59-A6C34878D82A}">
                    <a16:rowId xmlns:a16="http://schemas.microsoft.com/office/drawing/2014/main" val="901312750"/>
                  </a:ext>
                </a:extLst>
              </a:tr>
              <a:tr h="182880">
                <a:tc>
                  <a:txBody>
                    <a:bodyPr/>
                    <a:lstStyle/>
                    <a:p>
                      <a:pPr algn="l" fontAlgn="b"/>
                      <a:r>
                        <a:rPr lang="pl-PL" sz="1100" b="0" i="0" u="none" strike="noStrike">
                          <a:solidFill>
                            <a:srgbClr val="000000"/>
                          </a:solidFill>
                          <a:effectLst/>
                          <a:latin typeface="Calibri" panose="020F0502020204030204" pitchFamily="34" charset="0"/>
                        </a:rPr>
                        <a:t>    idx5_csl_estuary_prey  = csl_z - 0.5*eulachon_z - 0.5*shad_z,</a:t>
                      </a:r>
                    </a:p>
                  </a:txBody>
                  <a:tcPr marL="7620" marR="7620" marT="7620" marB="0" anchor="b">
                    <a:lnL>
                      <a:noFill/>
                    </a:lnL>
                    <a:lnR>
                      <a:noFill/>
                    </a:lnR>
                    <a:lnT>
                      <a:noFill/>
                    </a:lnT>
                    <a:lnB>
                      <a:noFill/>
                    </a:lnB>
                  </a:tcPr>
                </a:tc>
                <a:extLst>
                  <a:ext uri="{0D108BD9-81ED-4DB2-BD59-A6C34878D82A}">
                    <a16:rowId xmlns:a16="http://schemas.microsoft.com/office/drawing/2014/main" val="4162580137"/>
                  </a:ext>
                </a:extLst>
              </a:tr>
              <a:tr h="182880">
                <a:tc>
                  <a:txBody>
                    <a:bodyPr/>
                    <a:lstStyle/>
                    <a:p>
                      <a:pPr algn="l" fontAlgn="b"/>
                      <a:r>
                        <a:rPr lang="en-US" sz="1100" b="0" i="0" u="none" strike="noStrike">
                          <a:solidFill>
                            <a:srgbClr val="000000"/>
                          </a:solidFill>
                          <a:effectLst/>
                          <a:latin typeface="Calibri" panose="020F0502020204030204" pitchFamily="34" charset="0"/>
                        </a:rPr>
                        <a:t>    idx6_full_quant        = csl_z + ocean_risk_z - 0.5*eulachon_z - 0.5*shad_z,</a:t>
                      </a:r>
                    </a:p>
                  </a:txBody>
                  <a:tcPr marL="7620" marR="7620" marT="7620" marB="0" anchor="b">
                    <a:lnL>
                      <a:noFill/>
                    </a:lnL>
                    <a:lnR>
                      <a:noFill/>
                    </a:lnR>
                    <a:lnT>
                      <a:noFill/>
                    </a:lnT>
                    <a:lnB>
                      <a:noFill/>
                    </a:lnB>
                  </a:tcPr>
                </a:tc>
                <a:extLst>
                  <a:ext uri="{0D108BD9-81ED-4DB2-BD59-A6C34878D82A}">
                    <a16:rowId xmlns:a16="http://schemas.microsoft.com/office/drawing/2014/main" val="2809611155"/>
                  </a:ext>
                </a:extLst>
              </a:tr>
              <a:tr h="182880">
                <a:tc>
                  <a:txBody>
                    <a:bodyPr/>
                    <a:lstStyle/>
                    <a:p>
                      <a:pPr algn="l" fontAlgn="b"/>
                      <a:r>
                        <a:rPr lang="en-US" sz="1100" b="0" i="0" u="none" strike="noStrike">
                          <a:solidFill>
                            <a:srgbClr val="000000"/>
                          </a:solidFill>
                          <a:effectLst/>
                          <a:latin typeface="Calibri" panose="020F0502020204030204" pitchFamily="34" charset="0"/>
                        </a:rPr>
                        <a:t>    idx7_with_ocean5       = csl_z - 0.5*ocean5_mean_z</a:t>
                      </a:r>
                    </a:p>
                  </a:txBody>
                  <a:tcPr marL="7620" marR="7620" marT="7620" marB="0" anchor="b">
                    <a:lnL>
                      <a:noFill/>
                    </a:lnL>
                    <a:lnR>
                      <a:noFill/>
                    </a:lnR>
                    <a:lnT>
                      <a:noFill/>
                    </a:lnT>
                    <a:lnB>
                      <a:noFill/>
                    </a:lnB>
                  </a:tcPr>
                </a:tc>
                <a:extLst>
                  <a:ext uri="{0D108BD9-81ED-4DB2-BD59-A6C34878D82A}">
                    <a16:rowId xmlns:a16="http://schemas.microsoft.com/office/drawing/2014/main" val="3606971307"/>
                  </a:ext>
                </a:extLst>
              </a:tr>
              <a:tr h="182880">
                <a:tc>
                  <a:txBody>
                    <a:bodyPr/>
                    <a:lstStyle/>
                    <a:p>
                      <a:pPr algn="l" fontAlgn="b"/>
                      <a:r>
                        <a:rPr lang="en-US"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tcPr>
                </a:tc>
                <a:extLst>
                  <a:ext uri="{0D108BD9-81ED-4DB2-BD59-A6C34878D82A}">
                    <a16:rowId xmlns:a16="http://schemas.microsoft.com/office/drawing/2014/main" val="1077264727"/>
                  </a:ext>
                </a:extLst>
              </a:tr>
              <a:tr h="182880">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678533386"/>
                  </a:ext>
                </a:extLst>
              </a:tr>
            </a:tbl>
          </a:graphicData>
        </a:graphic>
      </p:graphicFrame>
    </p:spTree>
    <p:extLst>
      <p:ext uri="{BB962C8B-B14F-4D97-AF65-F5344CB8AC3E}">
        <p14:creationId xmlns:p14="http://schemas.microsoft.com/office/powerpoint/2010/main" val="807934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53BEE-82BD-4762-A05E-415A808C7D6E}"/>
              </a:ext>
            </a:extLst>
          </p:cNvPr>
          <p:cNvSpPr>
            <a:spLocks noGrp="1"/>
          </p:cNvSpPr>
          <p:nvPr>
            <p:ph type="title"/>
          </p:nvPr>
        </p:nvSpPr>
        <p:spPr>
          <a:xfrm>
            <a:off x="838200" y="0"/>
            <a:ext cx="10515600" cy="1325563"/>
          </a:xfrm>
        </p:spPr>
        <p:txBody>
          <a:bodyPr>
            <a:normAutofit/>
          </a:bodyPr>
          <a:lstStyle/>
          <a:p>
            <a:r>
              <a:rPr lang="en-US" dirty="0"/>
              <a:t>With 2-yr lead for adult predator, </a:t>
            </a:r>
            <a:br>
              <a:rPr lang="en-US" dirty="0"/>
            </a:br>
            <a:r>
              <a:rPr lang="en-US" dirty="0"/>
              <a:t>had to drop ocean prey for now</a:t>
            </a:r>
          </a:p>
        </p:txBody>
      </p:sp>
      <p:graphicFrame>
        <p:nvGraphicFramePr>
          <p:cNvPr id="10" name="Content Placeholder 9">
            <a:extLst>
              <a:ext uri="{FF2B5EF4-FFF2-40B4-BE49-F238E27FC236}">
                <a16:creationId xmlns:a16="http://schemas.microsoft.com/office/drawing/2014/main" id="{8353845D-7F2C-484E-AA7E-41E8A0DA5526}"/>
              </a:ext>
            </a:extLst>
          </p:cNvPr>
          <p:cNvGraphicFramePr>
            <a:graphicFrameLocks noGrp="1"/>
          </p:cNvGraphicFramePr>
          <p:nvPr>
            <p:ph idx="1"/>
            <p:extLst>
              <p:ext uri="{D42A27DB-BD31-4B8C-83A1-F6EECF244321}">
                <p14:modId xmlns:p14="http://schemas.microsoft.com/office/powerpoint/2010/main" val="3492383546"/>
              </p:ext>
            </p:extLst>
          </p:nvPr>
        </p:nvGraphicFramePr>
        <p:xfrm>
          <a:off x="465993" y="1270403"/>
          <a:ext cx="5791200" cy="2560320"/>
        </p:xfrm>
        <a:graphic>
          <a:graphicData uri="http://schemas.openxmlformats.org/drawingml/2006/table">
            <a:tbl>
              <a:tblPr/>
              <a:tblGrid>
                <a:gridCol w="5791200">
                  <a:extLst>
                    <a:ext uri="{9D8B030D-6E8A-4147-A177-3AD203B41FA5}">
                      <a16:colId xmlns:a16="http://schemas.microsoft.com/office/drawing/2014/main" val="1448602624"/>
                    </a:ext>
                  </a:extLst>
                </a:gridCol>
              </a:tblGrid>
              <a:tr h="182880">
                <a:tc>
                  <a:txBody>
                    <a:bodyPr/>
                    <a:lstStyle/>
                    <a:p>
                      <a:pPr algn="l" fontAlgn="b"/>
                      <a:r>
                        <a:rPr lang="en-US" sz="1100" b="0" i="0" u="none" strike="noStrike">
                          <a:solidFill>
                            <a:srgbClr val="000000"/>
                          </a:solidFill>
                          <a:effectLst/>
                          <a:latin typeface="Calibri" panose="020F0502020204030204" pitchFamily="34" charset="0"/>
                        </a:rPr>
                        <a:t>    # candidate risk indices</a:t>
                      </a:r>
                    </a:p>
                  </a:txBody>
                  <a:tcPr marL="7620" marR="7620" marT="7620" marB="0" anchor="b">
                    <a:lnL>
                      <a:noFill/>
                    </a:lnL>
                    <a:lnR>
                      <a:noFill/>
                    </a:lnR>
                    <a:lnT>
                      <a:noFill/>
                    </a:lnT>
                    <a:lnB>
                      <a:noFill/>
                    </a:lnB>
                  </a:tcPr>
                </a:tc>
                <a:extLst>
                  <a:ext uri="{0D108BD9-81ED-4DB2-BD59-A6C34878D82A}">
                    <a16:rowId xmlns:a16="http://schemas.microsoft.com/office/drawing/2014/main" val="1597504674"/>
                  </a:ext>
                </a:extLst>
              </a:tr>
              <a:tr h="182880">
                <a:tc>
                  <a:txBody>
                    <a:bodyPr/>
                    <a:lstStyle/>
                    <a:p>
                      <a:pPr algn="l" fontAlgn="b"/>
                      <a:r>
                        <a:rPr lang="en-US" sz="1100" b="0" i="0" u="none" strike="noStrike">
                          <a:solidFill>
                            <a:srgbClr val="000000"/>
                          </a:solidFill>
                          <a:effectLst/>
                          <a:latin typeface="Calibri" panose="020F0502020204030204" pitchFamily="34" charset="0"/>
                        </a:rPr>
                        <a:t>    idxE1_csl_only_count      = csl_z,</a:t>
                      </a:r>
                    </a:p>
                  </a:txBody>
                  <a:tcPr marL="7620" marR="7620" marT="7620" marB="0" anchor="b">
                    <a:lnL>
                      <a:noFill/>
                    </a:lnL>
                    <a:lnR>
                      <a:noFill/>
                    </a:lnR>
                    <a:lnT>
                      <a:noFill/>
                    </a:lnT>
                    <a:lnB>
                      <a:noFill/>
                    </a:lnB>
                  </a:tcPr>
                </a:tc>
                <a:extLst>
                  <a:ext uri="{0D108BD9-81ED-4DB2-BD59-A6C34878D82A}">
                    <a16:rowId xmlns:a16="http://schemas.microsoft.com/office/drawing/2014/main" val="1912379127"/>
                  </a:ext>
                </a:extLst>
              </a:tr>
              <a:tr h="182880">
                <a:tc>
                  <a:txBody>
                    <a:bodyPr/>
                    <a:lstStyle/>
                    <a:p>
                      <a:pPr algn="l" fontAlgn="b"/>
                      <a:r>
                        <a:rPr lang="en-US" sz="1100" b="0" i="0" u="none" strike="noStrike">
                          <a:solidFill>
                            <a:srgbClr val="000000"/>
                          </a:solidFill>
                          <a:effectLst/>
                          <a:latin typeface="Calibri" panose="020F0502020204030204" pitchFamily="34" charset="0"/>
                        </a:rPr>
                        <a:t>    idxE2_csl_only_weekly     = csl_week_z,</a:t>
                      </a:r>
                    </a:p>
                  </a:txBody>
                  <a:tcPr marL="7620" marR="7620" marT="7620" marB="0" anchor="b">
                    <a:lnL>
                      <a:noFill/>
                    </a:lnL>
                    <a:lnR>
                      <a:noFill/>
                    </a:lnR>
                    <a:lnT>
                      <a:noFill/>
                    </a:lnT>
                    <a:lnB>
                      <a:noFill/>
                    </a:lnB>
                  </a:tcPr>
                </a:tc>
                <a:extLst>
                  <a:ext uri="{0D108BD9-81ED-4DB2-BD59-A6C34878D82A}">
                    <a16:rowId xmlns:a16="http://schemas.microsoft.com/office/drawing/2014/main" val="1700791377"/>
                  </a:ext>
                </a:extLst>
              </a:tr>
              <a:tr h="182880">
                <a:tc>
                  <a:txBody>
                    <a:bodyPr/>
                    <a:lstStyle/>
                    <a:p>
                      <a:pPr algn="l" fontAlgn="b"/>
                      <a:r>
                        <a:rPr lang="en-US" sz="1100" b="0" i="0" u="none" strike="noStrike" dirty="0">
                          <a:solidFill>
                            <a:srgbClr val="000000"/>
                          </a:solidFill>
                          <a:effectLst/>
                          <a:latin typeface="Calibri" panose="020F0502020204030204" pitchFamily="34" charset="0"/>
                        </a:rPr>
                        <a:t>    idxE3_csl_only_peak       = </a:t>
                      </a:r>
                      <a:r>
                        <a:rPr lang="en-US" sz="1100" b="0" i="0" u="none" strike="noStrike" dirty="0" err="1">
                          <a:solidFill>
                            <a:srgbClr val="000000"/>
                          </a:solidFill>
                          <a:effectLst/>
                          <a:latin typeface="Calibri" panose="020F0502020204030204" pitchFamily="34" charset="0"/>
                        </a:rPr>
                        <a:t>csl_peak_z</a:t>
                      </a:r>
                      <a:r>
                        <a:rPr lang="en-US" sz="1100" b="0" i="0" u="none" strike="noStrike" dirty="0">
                          <a:solidFill>
                            <a:srgbClr val="000000"/>
                          </a:solidFill>
                          <a:effectLst/>
                          <a:latin typeface="Calibri" panose="020F0502020204030204" pitchFamily="34" charset="0"/>
                        </a:rPr>
                        <a:t>,</a:t>
                      </a:r>
                    </a:p>
                  </a:txBody>
                  <a:tcPr marL="7620" marR="7620" marT="7620" marB="0" anchor="b">
                    <a:lnL>
                      <a:noFill/>
                    </a:lnL>
                    <a:lnR>
                      <a:noFill/>
                    </a:lnR>
                    <a:lnT>
                      <a:noFill/>
                    </a:lnT>
                    <a:lnB>
                      <a:noFill/>
                    </a:lnB>
                  </a:tcPr>
                </a:tc>
                <a:extLst>
                  <a:ext uri="{0D108BD9-81ED-4DB2-BD59-A6C34878D82A}">
                    <a16:rowId xmlns:a16="http://schemas.microsoft.com/office/drawing/2014/main" val="1264479968"/>
                  </a:ext>
                </a:extLst>
              </a:tr>
              <a:tr h="182880">
                <a:tc>
                  <a:txBody>
                    <a:bodyPr/>
                    <a:lstStyle/>
                    <a:p>
                      <a:pPr algn="l" fontAlgn="b"/>
                      <a:r>
                        <a:rPr lang="en-US" sz="1100" b="0" i="0" u="none" strike="noStrike">
                          <a:solidFill>
                            <a:srgbClr val="000000"/>
                          </a:solidFill>
                          <a:effectLst/>
                          <a:latin typeface="Calibri" panose="020F0502020204030204" pitchFamily="34" charset="0"/>
                        </a:rPr>
                        <a:t>    idxE4_csl_minus_buffer    = safe_z(csl_z + est_risk_eul_heavy),</a:t>
                      </a:r>
                    </a:p>
                  </a:txBody>
                  <a:tcPr marL="7620" marR="7620" marT="7620" marB="0" anchor="b">
                    <a:lnL>
                      <a:noFill/>
                    </a:lnL>
                    <a:lnR>
                      <a:noFill/>
                    </a:lnR>
                    <a:lnT>
                      <a:noFill/>
                    </a:lnT>
                    <a:lnB>
                      <a:noFill/>
                    </a:lnB>
                  </a:tcPr>
                </a:tc>
                <a:extLst>
                  <a:ext uri="{0D108BD9-81ED-4DB2-BD59-A6C34878D82A}">
                    <a16:rowId xmlns:a16="http://schemas.microsoft.com/office/drawing/2014/main" val="3612474245"/>
                  </a:ext>
                </a:extLst>
              </a:tr>
              <a:tr h="182880">
                <a:tc>
                  <a:txBody>
                    <a:bodyPr/>
                    <a:lstStyle/>
                    <a:p>
                      <a:pPr algn="l" fontAlgn="b"/>
                      <a:r>
                        <a:rPr lang="en-US" sz="1100" b="0" i="0" u="none" strike="noStrike" dirty="0">
                          <a:solidFill>
                            <a:srgbClr val="000000"/>
                          </a:solidFill>
                          <a:effectLst/>
                          <a:latin typeface="Calibri" panose="020F0502020204030204" pitchFamily="34" charset="0"/>
                        </a:rPr>
                        <a:t>    idxE5_csl_week_minus_buf  = </a:t>
                      </a:r>
                      <a:r>
                        <a:rPr lang="en-US" sz="1100" b="0" i="0" u="none" strike="noStrike" dirty="0" err="1">
                          <a:solidFill>
                            <a:srgbClr val="000000"/>
                          </a:solidFill>
                          <a:effectLst/>
                          <a:latin typeface="Calibri" panose="020F0502020204030204" pitchFamily="34" charset="0"/>
                        </a:rPr>
                        <a:t>safe_z</a:t>
                      </a:r>
                      <a:r>
                        <a:rPr lang="en-US" sz="1100" b="0" i="0" u="none" strike="noStrike" dirty="0">
                          <a:solidFill>
                            <a:srgbClr val="000000"/>
                          </a:solidFill>
                          <a:effectLst/>
                          <a:latin typeface="Calibri" panose="020F0502020204030204" pitchFamily="34" charset="0"/>
                        </a:rPr>
                        <a:t>(</a:t>
                      </a:r>
                      <a:r>
                        <a:rPr lang="en-US" sz="1100" b="0" i="0" u="none" strike="noStrike" dirty="0" err="1">
                          <a:solidFill>
                            <a:srgbClr val="000000"/>
                          </a:solidFill>
                          <a:effectLst/>
                          <a:latin typeface="Calibri" panose="020F0502020204030204" pitchFamily="34" charset="0"/>
                        </a:rPr>
                        <a:t>csl_week_z</a:t>
                      </a:r>
                      <a:r>
                        <a:rPr lang="en-US" sz="1100" b="0" i="0" u="none" strike="noStrike" dirty="0">
                          <a:solidFill>
                            <a:srgbClr val="000000"/>
                          </a:solidFill>
                          <a:effectLst/>
                          <a:latin typeface="Calibri" panose="020F0502020204030204" pitchFamily="34" charset="0"/>
                        </a:rPr>
                        <a:t> + </a:t>
                      </a:r>
                      <a:r>
                        <a:rPr lang="en-US" sz="1100" b="0" i="0" u="none" strike="noStrike" dirty="0" err="1">
                          <a:solidFill>
                            <a:srgbClr val="000000"/>
                          </a:solidFill>
                          <a:effectLst/>
                          <a:latin typeface="Calibri" panose="020F0502020204030204" pitchFamily="34" charset="0"/>
                        </a:rPr>
                        <a:t>est_risk_eul_heavy</a:t>
                      </a:r>
                      <a:r>
                        <a:rPr lang="en-US" sz="1100" b="0" i="0" u="none" strike="noStrike" dirty="0">
                          <a:solidFill>
                            <a:srgbClr val="000000"/>
                          </a:solidFill>
                          <a:effectLst/>
                          <a:latin typeface="Calibri" panose="020F0502020204030204" pitchFamily="34" charset="0"/>
                        </a:rPr>
                        <a:t>),</a:t>
                      </a:r>
                    </a:p>
                  </a:txBody>
                  <a:tcPr marL="7620" marR="7620" marT="7620" marB="0" anchor="b">
                    <a:lnL>
                      <a:noFill/>
                    </a:lnL>
                    <a:lnR>
                      <a:noFill/>
                    </a:lnR>
                    <a:lnT>
                      <a:noFill/>
                    </a:lnT>
                    <a:lnB>
                      <a:noFill/>
                    </a:lnB>
                  </a:tcPr>
                </a:tc>
                <a:extLst>
                  <a:ext uri="{0D108BD9-81ED-4DB2-BD59-A6C34878D82A}">
                    <a16:rowId xmlns:a16="http://schemas.microsoft.com/office/drawing/2014/main" val="4013002265"/>
                  </a:ext>
                </a:extLst>
              </a:tr>
              <a:tr h="182880">
                <a:tc>
                  <a:txBody>
                    <a:bodyPr/>
                    <a:lstStyle/>
                    <a:p>
                      <a:pPr algn="l" fontAlgn="b"/>
                      <a:r>
                        <a:rPr lang="en-US" sz="1100" b="0" i="0" u="none" strike="noStrike">
                          <a:solidFill>
                            <a:srgbClr val="000000"/>
                          </a:solidFill>
                          <a:effectLst/>
                          <a:latin typeface="Calibri" panose="020F0502020204030204" pitchFamily="34" charset="0"/>
                        </a:rPr>
                        <a:t>    idxE6_csl_peak_minus_buf  = safe_z(csl_peak_z + est_risk_eul_heavy),</a:t>
                      </a:r>
                    </a:p>
                  </a:txBody>
                  <a:tcPr marL="7620" marR="7620" marT="7620" marB="0" anchor="b">
                    <a:lnL>
                      <a:noFill/>
                    </a:lnL>
                    <a:lnR>
                      <a:noFill/>
                    </a:lnR>
                    <a:lnT>
                      <a:noFill/>
                    </a:lnT>
                    <a:lnB>
                      <a:noFill/>
                    </a:lnB>
                  </a:tcPr>
                </a:tc>
                <a:extLst>
                  <a:ext uri="{0D108BD9-81ED-4DB2-BD59-A6C34878D82A}">
                    <a16:rowId xmlns:a16="http://schemas.microsoft.com/office/drawing/2014/main" val="2844611309"/>
                  </a:ext>
                </a:extLst>
              </a:tr>
              <a:tr h="182880">
                <a:tc>
                  <a:txBody>
                    <a:bodyPr/>
                    <a:lstStyle/>
                    <a:p>
                      <a:pPr algn="l" fontAlgn="b"/>
                      <a:r>
                        <a:rPr lang="en-US" sz="1100" b="0" i="0" u="none" strike="noStrike">
                          <a:solidFill>
                            <a:srgbClr val="000000"/>
                          </a:solidFill>
                          <a:effectLst/>
                          <a:latin typeface="Calibri" panose="020F0502020204030204" pitchFamily="34" charset="0"/>
                        </a:rPr>
                        <a:t>    idxE7_mult_count          = safe_z(csl_z * (1 + est_risk_eul_heavy)),</a:t>
                      </a:r>
                    </a:p>
                  </a:txBody>
                  <a:tcPr marL="7620" marR="7620" marT="7620" marB="0" anchor="b">
                    <a:lnL>
                      <a:noFill/>
                    </a:lnL>
                    <a:lnR>
                      <a:noFill/>
                    </a:lnR>
                    <a:lnT>
                      <a:noFill/>
                    </a:lnT>
                    <a:lnB>
                      <a:noFill/>
                    </a:lnB>
                  </a:tcPr>
                </a:tc>
                <a:extLst>
                  <a:ext uri="{0D108BD9-81ED-4DB2-BD59-A6C34878D82A}">
                    <a16:rowId xmlns:a16="http://schemas.microsoft.com/office/drawing/2014/main" val="216336335"/>
                  </a:ext>
                </a:extLst>
              </a:tr>
              <a:tr h="182880">
                <a:tc>
                  <a:txBody>
                    <a:bodyPr/>
                    <a:lstStyle/>
                    <a:p>
                      <a:pPr algn="l" fontAlgn="b"/>
                      <a:r>
                        <a:rPr lang="en-US" sz="1100" b="0" i="0" u="none" strike="noStrike">
                          <a:solidFill>
                            <a:srgbClr val="000000"/>
                          </a:solidFill>
                          <a:effectLst/>
                          <a:latin typeface="Calibri" panose="020F0502020204030204" pitchFamily="34" charset="0"/>
                        </a:rPr>
                        <a:t>    idxE8_mult_weekly         = safe_z(csl_week_z * (1 + est_risk_eul_heavy)),</a:t>
                      </a:r>
                    </a:p>
                  </a:txBody>
                  <a:tcPr marL="7620" marR="7620" marT="7620" marB="0" anchor="b">
                    <a:lnL>
                      <a:noFill/>
                    </a:lnL>
                    <a:lnR>
                      <a:noFill/>
                    </a:lnR>
                    <a:lnT>
                      <a:noFill/>
                    </a:lnT>
                    <a:lnB>
                      <a:noFill/>
                    </a:lnB>
                  </a:tcPr>
                </a:tc>
                <a:extLst>
                  <a:ext uri="{0D108BD9-81ED-4DB2-BD59-A6C34878D82A}">
                    <a16:rowId xmlns:a16="http://schemas.microsoft.com/office/drawing/2014/main" val="2551104000"/>
                  </a:ext>
                </a:extLst>
              </a:tr>
              <a:tr h="182880">
                <a:tc>
                  <a:txBody>
                    <a:bodyPr/>
                    <a:lstStyle/>
                    <a:p>
                      <a:pPr algn="l" fontAlgn="b"/>
                      <a:r>
                        <a:rPr lang="en-US" sz="1100" b="0" i="0" u="none" strike="noStrike">
                          <a:solidFill>
                            <a:srgbClr val="000000"/>
                          </a:solidFill>
                          <a:effectLst/>
                          <a:latin typeface="Calibri" panose="020F0502020204030204" pitchFamily="34" charset="0"/>
                        </a:rPr>
                        <a:t>    idxE9_mult_peak           = safe_z(csl_peak_z * (1 + est_risk_eul_heavy)),</a:t>
                      </a:r>
                    </a:p>
                  </a:txBody>
                  <a:tcPr marL="7620" marR="7620" marT="7620" marB="0" anchor="b">
                    <a:lnL>
                      <a:noFill/>
                    </a:lnL>
                    <a:lnR>
                      <a:noFill/>
                    </a:lnR>
                    <a:lnT>
                      <a:noFill/>
                    </a:lnT>
                    <a:lnB>
                      <a:noFill/>
                    </a:lnB>
                  </a:tcPr>
                </a:tc>
                <a:extLst>
                  <a:ext uri="{0D108BD9-81ED-4DB2-BD59-A6C34878D82A}">
                    <a16:rowId xmlns:a16="http://schemas.microsoft.com/office/drawing/2014/main" val="833412262"/>
                  </a:ext>
                </a:extLst>
              </a:tr>
              <a:tr h="182880">
                <a:tc>
                  <a:txBody>
                    <a:bodyPr/>
                    <a:lstStyle/>
                    <a:p>
                      <a:pPr algn="l" fontAlgn="b"/>
                      <a:r>
                        <a:rPr lang="en-US" sz="1100" b="0" i="0" u="none" strike="noStrike">
                          <a:solidFill>
                            <a:srgbClr val="000000"/>
                          </a:solidFill>
                          <a:effectLst/>
                          <a:latin typeface="Calibri" panose="020F0502020204030204" pitchFamily="34" charset="0"/>
                        </a:rPr>
                        <a:t>    idxE10_csl_chinook_ratio  = safe_z(log1p(csl_during_chinook) - log1p(chinook_estuary_total)),</a:t>
                      </a:r>
                    </a:p>
                  </a:txBody>
                  <a:tcPr marL="7620" marR="7620" marT="7620" marB="0" anchor="b">
                    <a:lnL>
                      <a:noFill/>
                    </a:lnL>
                    <a:lnR>
                      <a:noFill/>
                    </a:lnR>
                    <a:lnT>
                      <a:noFill/>
                    </a:lnT>
                    <a:lnB>
                      <a:noFill/>
                    </a:lnB>
                  </a:tcPr>
                </a:tc>
                <a:extLst>
                  <a:ext uri="{0D108BD9-81ED-4DB2-BD59-A6C34878D82A}">
                    <a16:rowId xmlns:a16="http://schemas.microsoft.com/office/drawing/2014/main" val="4129727054"/>
                  </a:ext>
                </a:extLst>
              </a:tr>
              <a:tr h="182880">
                <a:tc>
                  <a:txBody>
                    <a:bodyPr/>
                    <a:lstStyle/>
                    <a:p>
                      <a:pPr algn="l" fontAlgn="b"/>
                      <a:r>
                        <a:rPr lang="en-US" sz="1100" b="0" i="0" u="none" strike="noStrike">
                          <a:solidFill>
                            <a:srgbClr val="000000"/>
                          </a:solidFill>
                          <a:effectLst/>
                          <a:latin typeface="Calibri" panose="020F0502020204030204" pitchFamily="34" charset="0"/>
                        </a:rPr>
                        <a:t>    idxE11_csl_eul_ratio      = safe_z(log1p(csl_during_chinook) - log1p(eulachon_during_chinook + 1)),</a:t>
                      </a:r>
                    </a:p>
                  </a:txBody>
                  <a:tcPr marL="7620" marR="7620" marT="7620" marB="0" anchor="b">
                    <a:lnL>
                      <a:noFill/>
                    </a:lnL>
                    <a:lnR>
                      <a:noFill/>
                    </a:lnR>
                    <a:lnT>
                      <a:noFill/>
                    </a:lnT>
                    <a:lnB>
                      <a:noFill/>
                    </a:lnB>
                  </a:tcPr>
                </a:tc>
                <a:extLst>
                  <a:ext uri="{0D108BD9-81ED-4DB2-BD59-A6C34878D82A}">
                    <a16:rowId xmlns:a16="http://schemas.microsoft.com/office/drawing/2014/main" val="2092301969"/>
                  </a:ext>
                </a:extLst>
              </a:tr>
              <a:tr h="182880">
                <a:tc>
                  <a:txBody>
                    <a:bodyPr/>
                    <a:lstStyle/>
                    <a:p>
                      <a:pPr algn="l" fontAlgn="b"/>
                      <a:r>
                        <a:rPr lang="en-US" sz="1100" b="0" i="0" u="none" strike="noStrike">
                          <a:solidFill>
                            <a:srgbClr val="000000"/>
                          </a:solidFill>
                          <a:effectLst/>
                          <a:latin typeface="Calibri" panose="020F0502020204030204" pitchFamily="34" charset="0"/>
                        </a:rPr>
                        <a:t>    idxE12_csl_shad_ratio     = safe_z(log1p(csl_during_chinook) - log1p(shad_during_chinook + 1))</a:t>
                      </a:r>
                    </a:p>
                  </a:txBody>
                  <a:tcPr marL="7620" marR="7620" marT="7620" marB="0" anchor="b">
                    <a:lnL>
                      <a:noFill/>
                    </a:lnL>
                    <a:lnR>
                      <a:noFill/>
                    </a:lnR>
                    <a:lnT>
                      <a:noFill/>
                    </a:lnT>
                    <a:lnB>
                      <a:noFill/>
                    </a:lnB>
                  </a:tcPr>
                </a:tc>
                <a:extLst>
                  <a:ext uri="{0D108BD9-81ED-4DB2-BD59-A6C34878D82A}">
                    <a16:rowId xmlns:a16="http://schemas.microsoft.com/office/drawing/2014/main" val="3750100705"/>
                  </a:ext>
                </a:extLst>
              </a:tr>
              <a:tr h="182880">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78135530"/>
                  </a:ext>
                </a:extLst>
              </a:tr>
            </a:tbl>
          </a:graphicData>
        </a:graphic>
      </p:graphicFrame>
      <p:graphicFrame>
        <p:nvGraphicFramePr>
          <p:cNvPr id="13" name="Table 12">
            <a:extLst>
              <a:ext uri="{FF2B5EF4-FFF2-40B4-BE49-F238E27FC236}">
                <a16:creationId xmlns:a16="http://schemas.microsoft.com/office/drawing/2014/main" id="{253F64EB-E0E0-494C-A23E-A8BEB1079112}"/>
              </a:ext>
            </a:extLst>
          </p:cNvPr>
          <p:cNvGraphicFramePr>
            <a:graphicFrameLocks noGrp="1"/>
          </p:cNvGraphicFramePr>
          <p:nvPr>
            <p:extLst>
              <p:ext uri="{D42A27DB-BD31-4B8C-83A1-F6EECF244321}">
                <p14:modId xmlns:p14="http://schemas.microsoft.com/office/powerpoint/2010/main" val="4049858192"/>
              </p:ext>
            </p:extLst>
          </p:nvPr>
        </p:nvGraphicFramePr>
        <p:xfrm>
          <a:off x="6734908" y="1802423"/>
          <a:ext cx="5791200" cy="914400"/>
        </p:xfrm>
        <a:graphic>
          <a:graphicData uri="http://schemas.openxmlformats.org/drawingml/2006/table">
            <a:tbl>
              <a:tblPr/>
              <a:tblGrid>
                <a:gridCol w="5791200">
                  <a:extLst>
                    <a:ext uri="{9D8B030D-6E8A-4147-A177-3AD203B41FA5}">
                      <a16:colId xmlns:a16="http://schemas.microsoft.com/office/drawing/2014/main" val="437349346"/>
                    </a:ext>
                  </a:extLst>
                </a:gridCol>
              </a:tblGrid>
              <a:tr h="182880">
                <a:tc>
                  <a:txBody>
                    <a:bodyPr/>
                    <a:lstStyle/>
                    <a:p>
                      <a:pPr algn="l" fontAlgn="b"/>
                      <a:r>
                        <a:rPr lang="en-US" sz="1100" b="0" i="0" u="none" strike="noStrike">
                          <a:solidFill>
                            <a:srgbClr val="000000"/>
                          </a:solidFill>
                          <a:effectLst/>
                          <a:latin typeface="Calibri" panose="020F0502020204030204" pitchFamily="34" charset="0"/>
                        </a:rPr>
                        <a:t>req_guild &lt;- c(</a:t>
                      </a:r>
                    </a:p>
                  </a:txBody>
                  <a:tcPr marL="7620" marR="7620" marT="7620" marB="0" anchor="b">
                    <a:lnL>
                      <a:noFill/>
                    </a:lnL>
                    <a:lnR>
                      <a:noFill/>
                    </a:lnR>
                    <a:lnT>
                      <a:noFill/>
                    </a:lnT>
                    <a:lnB>
                      <a:noFill/>
                    </a:lnB>
                  </a:tcPr>
                </a:tc>
                <a:extLst>
                  <a:ext uri="{0D108BD9-81ED-4DB2-BD59-A6C34878D82A}">
                    <a16:rowId xmlns:a16="http://schemas.microsoft.com/office/drawing/2014/main" val="2076257221"/>
                  </a:ext>
                </a:extLst>
              </a:tr>
              <a:tr h="182880">
                <a:tc>
                  <a:txBody>
                    <a:bodyPr/>
                    <a:lstStyle/>
                    <a:p>
                      <a:pPr algn="l" fontAlgn="b"/>
                      <a:r>
                        <a:rPr lang="en-US" sz="1100" b="0" i="0" u="none" strike="noStrike">
                          <a:solidFill>
                            <a:srgbClr val="000000"/>
                          </a:solidFill>
                          <a:effectLst/>
                          <a:latin typeface="Calibri" panose="020F0502020204030204" pitchFamily="34" charset="0"/>
                        </a:rPr>
                        <a:t>  "year","x07_dfa_cpue_int_spr_jun_hw","x09_dfa_hake_age5plus","x16_sar",</a:t>
                      </a:r>
                    </a:p>
                  </a:txBody>
                  <a:tcPr marL="7620" marR="7620" marT="7620" marB="0" anchor="b">
                    <a:lnL>
                      <a:noFill/>
                    </a:lnL>
                    <a:lnR>
                      <a:noFill/>
                    </a:lnR>
                    <a:lnT>
                      <a:noFill/>
                    </a:lnT>
                    <a:lnB>
                      <a:noFill/>
                    </a:lnB>
                  </a:tcPr>
                </a:tc>
                <a:extLst>
                  <a:ext uri="{0D108BD9-81ED-4DB2-BD59-A6C34878D82A}">
                    <a16:rowId xmlns:a16="http://schemas.microsoft.com/office/drawing/2014/main" val="480522074"/>
                  </a:ext>
                </a:extLst>
              </a:tr>
              <a:tr h="182880">
                <a:tc>
                  <a:txBody>
                    <a:bodyPr/>
                    <a:lstStyle/>
                    <a:p>
                      <a:pPr algn="l" fontAlgn="b"/>
                      <a:r>
                        <a:rPr lang="en-US" sz="1100" b="0" i="0" u="none" strike="noStrike" dirty="0">
                          <a:solidFill>
                            <a:srgbClr val="000000"/>
                          </a:solidFill>
                          <a:effectLst/>
                          <a:latin typeface="Calibri" panose="020F0502020204030204" pitchFamily="34" charset="0"/>
                        </a:rPr>
                        <a:t>  "x15_dfa_sleeper_shark_bsai_pred_ak","x15_issl_z"</a:t>
                      </a:r>
                    </a:p>
                  </a:txBody>
                  <a:tcPr marL="7620" marR="7620" marT="7620" marB="0" anchor="b">
                    <a:lnL>
                      <a:noFill/>
                    </a:lnL>
                    <a:lnR>
                      <a:noFill/>
                    </a:lnR>
                    <a:lnT>
                      <a:noFill/>
                    </a:lnT>
                    <a:lnB>
                      <a:noFill/>
                    </a:lnB>
                  </a:tcPr>
                </a:tc>
                <a:extLst>
                  <a:ext uri="{0D108BD9-81ED-4DB2-BD59-A6C34878D82A}">
                    <a16:rowId xmlns:a16="http://schemas.microsoft.com/office/drawing/2014/main" val="4026413530"/>
                  </a:ext>
                </a:extLst>
              </a:tr>
              <a:tr h="182880">
                <a:tc>
                  <a:txBody>
                    <a:bodyPr/>
                    <a:lstStyle/>
                    <a:p>
                      <a:pPr algn="l" fontAlgn="b"/>
                      <a:r>
                        <a:rPr lang="en-US" sz="1100" b="0" i="0" u="none" strike="noStrike">
                          <a:solidFill>
                            <a:srgbClr val="000000"/>
                          </a:solidFill>
                          <a:effectLst/>
                          <a:latin typeface="Calibri" panose="020F0502020204030204" pitchFamily="34" charset="0"/>
                        </a:rPr>
                        <a:t>)</a:t>
                      </a:r>
                    </a:p>
                  </a:txBody>
                  <a:tcPr marL="7620" marR="7620" marT="7620" marB="0" anchor="b">
                    <a:lnL>
                      <a:noFill/>
                    </a:lnL>
                    <a:lnR>
                      <a:noFill/>
                    </a:lnR>
                    <a:lnT>
                      <a:noFill/>
                    </a:lnT>
                    <a:lnB>
                      <a:noFill/>
                    </a:lnB>
                  </a:tcPr>
                </a:tc>
                <a:extLst>
                  <a:ext uri="{0D108BD9-81ED-4DB2-BD59-A6C34878D82A}">
                    <a16:rowId xmlns:a16="http://schemas.microsoft.com/office/drawing/2014/main" val="1863774526"/>
                  </a:ext>
                </a:extLst>
              </a:tr>
              <a:tr h="182880">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525692901"/>
                  </a:ext>
                </a:extLst>
              </a:tr>
            </a:tbl>
          </a:graphicData>
        </a:graphic>
      </p:graphicFrame>
      <p:graphicFrame>
        <p:nvGraphicFramePr>
          <p:cNvPr id="16" name="Table 15">
            <a:extLst>
              <a:ext uri="{FF2B5EF4-FFF2-40B4-BE49-F238E27FC236}">
                <a16:creationId xmlns:a16="http://schemas.microsoft.com/office/drawing/2014/main" id="{BF0564D4-9BBF-449E-9556-AC4B7DE02B50}"/>
              </a:ext>
            </a:extLst>
          </p:cNvPr>
          <p:cNvGraphicFramePr>
            <a:graphicFrameLocks noGrp="1"/>
          </p:cNvGraphicFramePr>
          <p:nvPr>
            <p:extLst>
              <p:ext uri="{D42A27DB-BD31-4B8C-83A1-F6EECF244321}">
                <p14:modId xmlns:p14="http://schemas.microsoft.com/office/powerpoint/2010/main" val="290929942"/>
              </p:ext>
            </p:extLst>
          </p:nvPr>
        </p:nvGraphicFramePr>
        <p:xfrm>
          <a:off x="5551854" y="3929197"/>
          <a:ext cx="6223000" cy="2377440"/>
        </p:xfrm>
        <a:graphic>
          <a:graphicData uri="http://schemas.openxmlformats.org/drawingml/2006/table">
            <a:tbl>
              <a:tblPr/>
              <a:tblGrid>
                <a:gridCol w="952500">
                  <a:extLst>
                    <a:ext uri="{9D8B030D-6E8A-4147-A177-3AD203B41FA5}">
                      <a16:colId xmlns:a16="http://schemas.microsoft.com/office/drawing/2014/main" val="4032441446"/>
                    </a:ext>
                  </a:extLst>
                </a:gridCol>
                <a:gridCol w="203200">
                  <a:extLst>
                    <a:ext uri="{9D8B030D-6E8A-4147-A177-3AD203B41FA5}">
                      <a16:colId xmlns:a16="http://schemas.microsoft.com/office/drawing/2014/main" val="3748566049"/>
                    </a:ext>
                  </a:extLst>
                </a:gridCol>
                <a:gridCol w="419100">
                  <a:extLst>
                    <a:ext uri="{9D8B030D-6E8A-4147-A177-3AD203B41FA5}">
                      <a16:colId xmlns:a16="http://schemas.microsoft.com/office/drawing/2014/main" val="158052750"/>
                    </a:ext>
                  </a:extLst>
                </a:gridCol>
                <a:gridCol w="279400">
                  <a:extLst>
                    <a:ext uri="{9D8B030D-6E8A-4147-A177-3AD203B41FA5}">
                      <a16:colId xmlns:a16="http://schemas.microsoft.com/office/drawing/2014/main" val="2247580256"/>
                    </a:ext>
                  </a:extLst>
                </a:gridCol>
                <a:gridCol w="279400">
                  <a:extLst>
                    <a:ext uri="{9D8B030D-6E8A-4147-A177-3AD203B41FA5}">
                      <a16:colId xmlns:a16="http://schemas.microsoft.com/office/drawing/2014/main" val="905607249"/>
                    </a:ext>
                  </a:extLst>
                </a:gridCol>
                <a:gridCol w="406400">
                  <a:extLst>
                    <a:ext uri="{9D8B030D-6E8A-4147-A177-3AD203B41FA5}">
                      <a16:colId xmlns:a16="http://schemas.microsoft.com/office/drawing/2014/main" val="1936593514"/>
                    </a:ext>
                  </a:extLst>
                </a:gridCol>
                <a:gridCol w="482600">
                  <a:extLst>
                    <a:ext uri="{9D8B030D-6E8A-4147-A177-3AD203B41FA5}">
                      <a16:colId xmlns:a16="http://schemas.microsoft.com/office/drawing/2014/main" val="2675004190"/>
                    </a:ext>
                  </a:extLst>
                </a:gridCol>
                <a:gridCol w="457200">
                  <a:extLst>
                    <a:ext uri="{9D8B030D-6E8A-4147-A177-3AD203B41FA5}">
                      <a16:colId xmlns:a16="http://schemas.microsoft.com/office/drawing/2014/main" val="3807652650"/>
                    </a:ext>
                  </a:extLst>
                </a:gridCol>
                <a:gridCol w="558800">
                  <a:extLst>
                    <a:ext uri="{9D8B030D-6E8A-4147-A177-3AD203B41FA5}">
                      <a16:colId xmlns:a16="http://schemas.microsoft.com/office/drawing/2014/main" val="2531751695"/>
                    </a:ext>
                  </a:extLst>
                </a:gridCol>
                <a:gridCol w="1371600">
                  <a:extLst>
                    <a:ext uri="{9D8B030D-6E8A-4147-A177-3AD203B41FA5}">
                      <a16:colId xmlns:a16="http://schemas.microsoft.com/office/drawing/2014/main" val="152287086"/>
                    </a:ext>
                  </a:extLst>
                </a:gridCol>
                <a:gridCol w="812800">
                  <a:extLst>
                    <a:ext uri="{9D8B030D-6E8A-4147-A177-3AD203B41FA5}">
                      <a16:colId xmlns:a16="http://schemas.microsoft.com/office/drawing/2014/main" val="67661169"/>
                    </a:ext>
                  </a:extLst>
                </a:gridCol>
              </a:tblGrid>
              <a:tr h="182880">
                <a:tc>
                  <a:txBody>
                    <a:bodyPr/>
                    <a:lstStyle/>
                    <a:p>
                      <a:pPr algn="l" fontAlgn="b"/>
                      <a:r>
                        <a:rPr lang="en-US" sz="1100" b="0" i="0" u="none" strike="noStrike">
                          <a:solidFill>
                            <a:srgbClr val="000000"/>
                          </a:solidFill>
                          <a:effectLst/>
                          <a:latin typeface="Calibri" panose="020F0502020204030204" pitchFamily="34" charset="0"/>
                        </a:rPr>
                        <a:t>csl_term</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sar_r2</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aic</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bic</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cfi</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rmsea</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csl_est</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csl_p</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delta_r2_vs_base delta</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_aic_vs_base</a:t>
                      </a:r>
                    </a:p>
                  </a:txBody>
                  <a:tcPr marL="7620" marR="7620" marT="7620" marB="0" anchor="b">
                    <a:lnL>
                      <a:noFill/>
                    </a:lnL>
                    <a:lnR>
                      <a:noFill/>
                    </a:lnR>
                    <a:lnT>
                      <a:noFill/>
                    </a:lnT>
                    <a:lnB>
                      <a:noFill/>
                    </a:lnB>
                  </a:tcPr>
                </a:tc>
                <a:extLst>
                  <a:ext uri="{0D108BD9-81ED-4DB2-BD59-A6C34878D82A}">
                    <a16:rowId xmlns:a16="http://schemas.microsoft.com/office/drawing/2014/main" val="1430431979"/>
                  </a:ext>
                </a:extLst>
              </a:tr>
              <a:tr h="182880">
                <a:tc>
                  <a:txBody>
                    <a:bodyPr/>
                    <a:lstStyle/>
                    <a:p>
                      <a:pPr algn="l" fontAlgn="b"/>
                      <a:r>
                        <a:rPr lang="en-US" sz="1100" b="0" i="0" u="none" strike="noStrike">
                          <a:solidFill>
                            <a:srgbClr val="000000"/>
                          </a:solidFill>
                          <a:effectLst/>
                          <a:latin typeface="Calibri" panose="020F0502020204030204" pitchFamily="34" charset="0"/>
                        </a:rPr>
                        <a:t>idxE10_csl_c…</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0.82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-0.615</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6.08E-05</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0.119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-10.3</a:t>
                      </a:r>
                    </a:p>
                  </a:txBody>
                  <a:tcPr marL="7620" marR="7620" marT="7620" marB="0" anchor="b">
                    <a:lnL>
                      <a:noFill/>
                    </a:lnL>
                    <a:lnR>
                      <a:noFill/>
                    </a:lnR>
                    <a:lnT>
                      <a:noFill/>
                    </a:lnT>
                    <a:lnB>
                      <a:noFill/>
                    </a:lnB>
                  </a:tcPr>
                </a:tc>
                <a:extLst>
                  <a:ext uri="{0D108BD9-81ED-4DB2-BD59-A6C34878D82A}">
                    <a16:rowId xmlns:a16="http://schemas.microsoft.com/office/drawing/2014/main" val="4256496611"/>
                  </a:ext>
                </a:extLst>
              </a:tr>
              <a:tr h="182880">
                <a:tc>
                  <a:txBody>
                    <a:bodyPr/>
                    <a:lstStyle/>
                    <a:p>
                      <a:pPr algn="l" fontAlgn="b"/>
                      <a:r>
                        <a:rPr lang="en-US" sz="1100" b="0" i="0" u="none" strike="noStrike">
                          <a:solidFill>
                            <a:srgbClr val="000000"/>
                          </a:solidFill>
                          <a:effectLst/>
                          <a:latin typeface="Calibri" panose="020F0502020204030204" pitchFamily="34" charset="0"/>
                        </a:rPr>
                        <a:t>idxE8_mult_w…</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0.762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108</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0.999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0.0235</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-0.285</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1.74E-02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0.0611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-3.08</a:t>
                      </a:r>
                    </a:p>
                  </a:txBody>
                  <a:tcPr marL="7620" marR="7620" marT="7620" marB="0" anchor="b">
                    <a:lnL>
                      <a:noFill/>
                    </a:lnL>
                    <a:lnR>
                      <a:noFill/>
                    </a:lnR>
                    <a:lnT>
                      <a:noFill/>
                    </a:lnT>
                    <a:lnB>
                      <a:noFill/>
                    </a:lnB>
                  </a:tcPr>
                </a:tc>
                <a:extLst>
                  <a:ext uri="{0D108BD9-81ED-4DB2-BD59-A6C34878D82A}">
                    <a16:rowId xmlns:a16="http://schemas.microsoft.com/office/drawing/2014/main" val="405396874"/>
                  </a:ext>
                </a:extLst>
              </a:tr>
              <a:tr h="182880">
                <a:tc>
                  <a:txBody>
                    <a:bodyPr/>
                    <a:lstStyle/>
                    <a:p>
                      <a:pPr algn="l" fontAlgn="b"/>
                      <a:r>
                        <a:rPr lang="en-US" sz="1100" b="0" i="0" u="none" strike="noStrike">
                          <a:solidFill>
                            <a:srgbClr val="000000"/>
                          </a:solidFill>
                          <a:effectLst/>
                          <a:latin typeface="Calibri" panose="020F0502020204030204" pitchFamily="34" charset="0"/>
                        </a:rPr>
                        <a:t>idxE2_csl_on…</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0.761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108</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-0.356</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2.30E-02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0.0604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-2.68</a:t>
                      </a:r>
                    </a:p>
                  </a:txBody>
                  <a:tcPr marL="7620" marR="7620" marT="7620" marB="0" anchor="b">
                    <a:lnL>
                      <a:noFill/>
                    </a:lnL>
                    <a:lnR>
                      <a:noFill/>
                    </a:lnR>
                    <a:lnT>
                      <a:noFill/>
                    </a:lnT>
                    <a:lnB>
                      <a:noFill/>
                    </a:lnB>
                  </a:tcPr>
                </a:tc>
                <a:extLst>
                  <a:ext uri="{0D108BD9-81ED-4DB2-BD59-A6C34878D82A}">
                    <a16:rowId xmlns:a16="http://schemas.microsoft.com/office/drawing/2014/main" val="4287489215"/>
                  </a:ext>
                </a:extLst>
              </a:tr>
              <a:tr h="182880">
                <a:tc>
                  <a:txBody>
                    <a:bodyPr/>
                    <a:lstStyle/>
                    <a:p>
                      <a:pPr algn="l" fontAlgn="b"/>
                      <a:r>
                        <a:rPr lang="en-US" sz="1100" b="0" i="0" u="none" strike="noStrike">
                          <a:solidFill>
                            <a:srgbClr val="000000"/>
                          </a:solidFill>
                          <a:effectLst/>
                          <a:latin typeface="Calibri" panose="020F0502020204030204" pitchFamily="34" charset="0"/>
                        </a:rPr>
                        <a:t>idxE11_csl_e…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0.759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110</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121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0.85</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0.26</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-0.353</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8.46E-02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0.0586</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-0.803</a:t>
                      </a:r>
                    </a:p>
                  </a:txBody>
                  <a:tcPr marL="7620" marR="7620" marT="7620" marB="0" anchor="b">
                    <a:lnL>
                      <a:noFill/>
                    </a:lnL>
                    <a:lnR>
                      <a:noFill/>
                    </a:lnR>
                    <a:lnT>
                      <a:noFill/>
                    </a:lnT>
                    <a:lnB>
                      <a:noFill/>
                    </a:lnB>
                  </a:tcPr>
                </a:tc>
                <a:extLst>
                  <a:ext uri="{0D108BD9-81ED-4DB2-BD59-A6C34878D82A}">
                    <a16:rowId xmlns:a16="http://schemas.microsoft.com/office/drawing/2014/main" val="2656622782"/>
                  </a:ext>
                </a:extLst>
              </a:tr>
              <a:tr h="182880">
                <a:tc>
                  <a:txBody>
                    <a:bodyPr/>
                    <a:lstStyle/>
                    <a:p>
                      <a:pPr algn="l" fontAlgn="b"/>
                      <a:r>
                        <a:rPr lang="en-US" sz="1100" b="0" i="0" u="none" strike="noStrike">
                          <a:solidFill>
                            <a:srgbClr val="000000"/>
                          </a:solidFill>
                          <a:effectLst/>
                          <a:latin typeface="Calibri" panose="020F0502020204030204" pitchFamily="34" charset="0"/>
                        </a:rPr>
                        <a:t>est_risk_eul…</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0.756</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107</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118</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0.966</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0.12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0.343</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9.98E-03</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0.0551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-3.86</a:t>
                      </a:r>
                    </a:p>
                  </a:txBody>
                  <a:tcPr marL="7620" marR="7620" marT="7620" marB="0" anchor="b">
                    <a:lnL>
                      <a:noFill/>
                    </a:lnL>
                    <a:lnR>
                      <a:noFill/>
                    </a:lnR>
                    <a:lnT>
                      <a:noFill/>
                    </a:lnT>
                    <a:lnB>
                      <a:noFill/>
                    </a:lnB>
                  </a:tcPr>
                </a:tc>
                <a:extLst>
                  <a:ext uri="{0D108BD9-81ED-4DB2-BD59-A6C34878D82A}">
                    <a16:rowId xmlns:a16="http://schemas.microsoft.com/office/drawing/2014/main" val="1892107026"/>
                  </a:ext>
                </a:extLst>
              </a:tr>
              <a:tr h="182880">
                <a:tc>
                  <a:txBody>
                    <a:bodyPr/>
                    <a:lstStyle/>
                    <a:p>
                      <a:pPr algn="l" fontAlgn="b"/>
                      <a:r>
                        <a:rPr lang="en-US" sz="1100" b="0" i="0" u="none" strike="noStrike">
                          <a:solidFill>
                            <a:srgbClr val="000000"/>
                          </a:solidFill>
                          <a:effectLst/>
                          <a:latin typeface="Calibri" panose="020F0502020204030204" pitchFamily="34" charset="0"/>
                        </a:rPr>
                        <a:t>idxE1_csl_on…</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0.754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120</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-0.304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3.84E-02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0.0532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-1.95</a:t>
                      </a:r>
                    </a:p>
                  </a:txBody>
                  <a:tcPr marL="7620" marR="7620" marT="7620" marB="0" anchor="b">
                    <a:lnL>
                      <a:noFill/>
                    </a:lnL>
                    <a:lnR>
                      <a:noFill/>
                    </a:lnR>
                    <a:lnT>
                      <a:noFill/>
                    </a:lnT>
                    <a:lnB>
                      <a:noFill/>
                    </a:lnB>
                  </a:tcPr>
                </a:tc>
                <a:extLst>
                  <a:ext uri="{0D108BD9-81ED-4DB2-BD59-A6C34878D82A}">
                    <a16:rowId xmlns:a16="http://schemas.microsoft.com/office/drawing/2014/main" val="1263461717"/>
                  </a:ext>
                </a:extLst>
              </a:tr>
              <a:tr h="182880">
                <a:tc>
                  <a:txBody>
                    <a:bodyPr/>
                    <a:lstStyle/>
                    <a:p>
                      <a:pPr algn="l" fontAlgn="b"/>
                      <a:r>
                        <a:rPr lang="en-US" sz="1100" b="0" i="0" u="none" strike="noStrike">
                          <a:solidFill>
                            <a:srgbClr val="000000"/>
                          </a:solidFill>
                          <a:effectLst/>
                          <a:latin typeface="Calibri" panose="020F0502020204030204" pitchFamily="34" charset="0"/>
                        </a:rPr>
                        <a:t>idxE7_mult_c…</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0.749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109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120</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0.995</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0.0425</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-0.242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4.55E-02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0.0486</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-1.7</a:t>
                      </a:r>
                    </a:p>
                  </a:txBody>
                  <a:tcPr marL="7620" marR="7620" marT="7620" marB="0" anchor="b">
                    <a:lnL>
                      <a:noFill/>
                    </a:lnL>
                    <a:lnR>
                      <a:noFill/>
                    </a:lnR>
                    <a:lnT>
                      <a:noFill/>
                    </a:lnT>
                    <a:lnB>
                      <a:noFill/>
                    </a:lnB>
                  </a:tcPr>
                </a:tc>
                <a:extLst>
                  <a:ext uri="{0D108BD9-81ED-4DB2-BD59-A6C34878D82A}">
                    <a16:rowId xmlns:a16="http://schemas.microsoft.com/office/drawing/2014/main" val="712049500"/>
                  </a:ext>
                </a:extLst>
              </a:tr>
              <a:tr h="182880">
                <a:tc>
                  <a:txBody>
                    <a:bodyPr/>
                    <a:lstStyle/>
                    <a:p>
                      <a:pPr algn="l" fontAlgn="b"/>
                      <a:r>
                        <a:rPr lang="en-US" sz="1100" b="0" i="0" u="none" strike="noStrike">
                          <a:solidFill>
                            <a:srgbClr val="000000"/>
                          </a:solidFill>
                          <a:effectLst/>
                          <a:latin typeface="Calibri" panose="020F0502020204030204" pitchFamily="34" charset="0"/>
                        </a:rPr>
                        <a:t>idxE9_mult_p…</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0.73</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121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0.983</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0.0803</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-0.188</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1.12E-01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0.0297</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-0.4</a:t>
                      </a:r>
                    </a:p>
                  </a:txBody>
                  <a:tcPr marL="7620" marR="7620" marT="7620" marB="0" anchor="b">
                    <a:lnL>
                      <a:noFill/>
                    </a:lnL>
                    <a:lnR>
                      <a:noFill/>
                    </a:lnR>
                    <a:lnT>
                      <a:noFill/>
                    </a:lnT>
                    <a:lnB>
                      <a:noFill/>
                    </a:lnB>
                  </a:tcPr>
                </a:tc>
                <a:extLst>
                  <a:ext uri="{0D108BD9-81ED-4DB2-BD59-A6C34878D82A}">
                    <a16:rowId xmlns:a16="http://schemas.microsoft.com/office/drawing/2014/main" val="1885149750"/>
                  </a:ext>
                </a:extLst>
              </a:tr>
              <a:tr h="182880">
                <a:tc>
                  <a:txBody>
                    <a:bodyPr/>
                    <a:lstStyle/>
                    <a:p>
                      <a:pPr algn="l" fontAlgn="b"/>
                      <a:r>
                        <a:rPr lang="en-US" sz="1100" b="0" i="0" u="none" strike="noStrike">
                          <a:solidFill>
                            <a:srgbClr val="000000"/>
                          </a:solidFill>
                          <a:effectLst/>
                          <a:latin typeface="Calibri" panose="020F0502020204030204" pitchFamily="34" charset="0"/>
                        </a:rPr>
                        <a:t>idxE3_csl_on…</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0.728</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122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-0.208</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1.38E-01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0.0279</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-0.109</a:t>
                      </a:r>
                    </a:p>
                  </a:txBody>
                  <a:tcPr marL="7620" marR="7620" marT="7620" marB="0" anchor="b">
                    <a:lnL>
                      <a:noFill/>
                    </a:lnL>
                    <a:lnR>
                      <a:noFill/>
                    </a:lnR>
                    <a:lnT>
                      <a:noFill/>
                    </a:lnT>
                    <a:lnB>
                      <a:noFill/>
                    </a:lnB>
                  </a:tcPr>
                </a:tc>
                <a:extLst>
                  <a:ext uri="{0D108BD9-81ED-4DB2-BD59-A6C34878D82A}">
                    <a16:rowId xmlns:a16="http://schemas.microsoft.com/office/drawing/2014/main" val="2583184747"/>
                  </a:ext>
                </a:extLst>
              </a:tr>
              <a:tr h="182880">
                <a:tc>
                  <a:txBody>
                    <a:bodyPr/>
                    <a:lstStyle/>
                    <a:p>
                      <a:pPr algn="l" fontAlgn="b"/>
                      <a:r>
                        <a:rPr lang="en-US" sz="1100" b="0" i="0" u="none" strike="noStrike">
                          <a:solidFill>
                            <a:srgbClr val="000000"/>
                          </a:solidFill>
                          <a:effectLst/>
                          <a:latin typeface="Calibri" panose="020F0502020204030204" pitchFamily="34" charset="0"/>
                        </a:rPr>
                        <a:t>idxE12_csl_s…</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0.713</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113</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123</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0.931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0.164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-0.127</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4.72E-01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0.0125</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1.49</a:t>
                      </a:r>
                    </a:p>
                  </a:txBody>
                  <a:tcPr marL="7620" marR="7620" marT="7620" marB="0" anchor="b">
                    <a:lnL>
                      <a:noFill/>
                    </a:lnL>
                    <a:lnR>
                      <a:noFill/>
                    </a:lnR>
                    <a:lnT>
                      <a:noFill/>
                    </a:lnT>
                    <a:lnB>
                      <a:noFill/>
                    </a:lnB>
                  </a:tcPr>
                </a:tc>
                <a:extLst>
                  <a:ext uri="{0D108BD9-81ED-4DB2-BD59-A6C34878D82A}">
                    <a16:rowId xmlns:a16="http://schemas.microsoft.com/office/drawing/2014/main" val="262806754"/>
                  </a:ext>
                </a:extLst>
              </a:tr>
              <a:tr h="182880">
                <a:tc>
                  <a:txBody>
                    <a:bodyPr/>
                    <a:lstStyle/>
                    <a:p>
                      <a:pPr algn="l" fontAlgn="b"/>
                      <a:r>
                        <a:rPr lang="en-US" sz="1100" b="0" i="0" u="none" strike="noStrike">
                          <a:solidFill>
                            <a:srgbClr val="000000"/>
                          </a:solidFill>
                          <a:effectLst/>
                          <a:latin typeface="Calibri" panose="020F0502020204030204" pitchFamily="34" charset="0"/>
                        </a:rPr>
                        <a:t>idxE6_csl_pe…</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0.702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113</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123</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0.938</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0.155</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0.102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5.04E-01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0.00117</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1.56</a:t>
                      </a:r>
                    </a:p>
                  </a:txBody>
                  <a:tcPr marL="7620" marR="7620" marT="7620" marB="0" anchor="b">
                    <a:lnL>
                      <a:noFill/>
                    </a:lnL>
                    <a:lnR>
                      <a:noFill/>
                    </a:lnR>
                    <a:lnT>
                      <a:noFill/>
                    </a:lnT>
                    <a:lnB>
                      <a:noFill/>
                    </a:lnB>
                  </a:tcPr>
                </a:tc>
                <a:extLst>
                  <a:ext uri="{0D108BD9-81ED-4DB2-BD59-A6C34878D82A}">
                    <a16:rowId xmlns:a16="http://schemas.microsoft.com/office/drawing/2014/main" val="1715621847"/>
                  </a:ext>
                </a:extLst>
              </a:tr>
              <a:tr h="182880">
                <a:tc>
                  <a:txBody>
                    <a:bodyPr/>
                    <a:lstStyle/>
                    <a:p>
                      <a:pPr algn="l" fontAlgn="b"/>
                      <a:r>
                        <a:rPr lang="en-US" sz="1100" b="0" i="0" u="none" strike="noStrike">
                          <a:solidFill>
                            <a:srgbClr val="000000"/>
                          </a:solidFill>
                          <a:effectLst/>
                          <a:latin typeface="Calibri" panose="020F0502020204030204" pitchFamily="34" charset="0"/>
                        </a:rPr>
                        <a:t>BASE_NO_CSL</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24</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0.7</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111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121</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0.962</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0.14</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NA</a:t>
                      </a:r>
                    </a:p>
                  </a:txBody>
                  <a:tcPr marL="7620" marR="7620" marT="7620" marB="0" anchor="b">
                    <a:lnL>
                      <a:noFill/>
                    </a:lnL>
                    <a:lnR>
                      <a:noFill/>
                    </a:lnR>
                    <a:lnT>
                      <a:noFill/>
                    </a:lnT>
                    <a:lnB>
                      <a:noFill/>
                    </a:lnB>
                  </a:tcPr>
                </a:tc>
                <a:tc>
                  <a:txBody>
                    <a:bodyPr/>
                    <a:lstStyle/>
                    <a:p>
                      <a:pPr algn="l" fontAlgn="b"/>
                      <a:r>
                        <a:rPr lang="en-US" sz="1100" b="0" i="0" u="none" strike="noStrike">
                          <a:solidFill>
                            <a:srgbClr val="000000"/>
                          </a:solidFill>
                          <a:effectLst/>
                          <a:latin typeface="Calibri" panose="020F0502020204030204" pitchFamily="34" charset="0"/>
                        </a:rPr>
                        <a:t>NA</a:t>
                      </a:r>
                    </a:p>
                  </a:txBody>
                  <a:tcPr marL="7620" marR="7620" marT="7620" marB="0" anchor="b">
                    <a:lnL>
                      <a:noFill/>
                    </a:lnL>
                    <a:lnR>
                      <a:noFill/>
                    </a:lnR>
                    <a:lnT>
                      <a:noFill/>
                    </a:lnT>
                    <a:lnB>
                      <a:noFill/>
                    </a:lnB>
                  </a:tcPr>
                </a:tc>
                <a:tc>
                  <a:txBody>
                    <a:bodyPr/>
                    <a:lstStyle/>
                    <a:p>
                      <a:pPr algn="r" fontAlgn="b"/>
                      <a:r>
                        <a:rPr lang="en-US" sz="1100" b="0" i="0" u="none" strike="noStrike">
                          <a:solidFill>
                            <a:srgbClr val="000000"/>
                          </a:solidFill>
                          <a:effectLst/>
                          <a:latin typeface="Calibri" panose="020F0502020204030204" pitchFamily="34" charset="0"/>
                        </a:rPr>
                        <a:t>0</a:t>
                      </a:r>
                    </a:p>
                  </a:txBody>
                  <a:tcPr marL="7620" marR="7620" marT="7620" marB="0" anchor="b">
                    <a:lnL>
                      <a:noFill/>
                    </a:lnL>
                    <a:lnR>
                      <a:noFill/>
                    </a:lnR>
                    <a:lnT>
                      <a:noFill/>
                    </a:lnT>
                    <a:lnB>
                      <a:noFill/>
                    </a:lnB>
                  </a:tcPr>
                </a:tc>
                <a:tc>
                  <a:txBody>
                    <a:bodyPr/>
                    <a:lstStyle/>
                    <a:p>
                      <a:pPr algn="r" fontAlgn="b"/>
                      <a:r>
                        <a:rPr lang="en-US" sz="1100" b="0" i="0" u="none" strike="noStrike" dirty="0">
                          <a:solidFill>
                            <a:srgbClr val="000000"/>
                          </a:solidFill>
                          <a:effectLst/>
                          <a:latin typeface="Calibri" panose="020F0502020204030204" pitchFamily="34" charset="0"/>
                        </a:rPr>
                        <a:t>0</a:t>
                      </a:r>
                    </a:p>
                  </a:txBody>
                  <a:tcPr marL="7620" marR="7620" marT="7620" marB="0" anchor="b">
                    <a:lnL>
                      <a:noFill/>
                    </a:lnL>
                    <a:lnR>
                      <a:noFill/>
                    </a:lnR>
                    <a:lnT>
                      <a:noFill/>
                    </a:lnT>
                    <a:lnB>
                      <a:noFill/>
                    </a:lnB>
                  </a:tcPr>
                </a:tc>
                <a:extLst>
                  <a:ext uri="{0D108BD9-81ED-4DB2-BD59-A6C34878D82A}">
                    <a16:rowId xmlns:a16="http://schemas.microsoft.com/office/drawing/2014/main" val="3661250764"/>
                  </a:ext>
                </a:extLst>
              </a:tr>
            </a:tbl>
          </a:graphicData>
        </a:graphic>
      </p:graphicFrame>
      <p:graphicFrame>
        <p:nvGraphicFramePr>
          <p:cNvPr id="17" name="Table 16">
            <a:extLst>
              <a:ext uri="{FF2B5EF4-FFF2-40B4-BE49-F238E27FC236}">
                <a16:creationId xmlns:a16="http://schemas.microsoft.com/office/drawing/2014/main" id="{328AE570-12E4-4785-9AB5-9E6DDC8B52C1}"/>
              </a:ext>
            </a:extLst>
          </p:cNvPr>
          <p:cNvGraphicFramePr>
            <a:graphicFrameLocks noGrp="1"/>
          </p:cNvGraphicFramePr>
          <p:nvPr>
            <p:extLst>
              <p:ext uri="{D42A27DB-BD31-4B8C-83A1-F6EECF244321}">
                <p14:modId xmlns:p14="http://schemas.microsoft.com/office/powerpoint/2010/main" val="972038088"/>
              </p:ext>
            </p:extLst>
          </p:nvPr>
        </p:nvGraphicFramePr>
        <p:xfrm>
          <a:off x="4313116" y="4134937"/>
          <a:ext cx="2159000" cy="2194560"/>
        </p:xfrm>
        <a:graphic>
          <a:graphicData uri="http://schemas.openxmlformats.org/drawingml/2006/table">
            <a:tbl>
              <a:tblPr/>
              <a:tblGrid>
                <a:gridCol w="2159000">
                  <a:extLst>
                    <a:ext uri="{9D8B030D-6E8A-4147-A177-3AD203B41FA5}">
                      <a16:colId xmlns:a16="http://schemas.microsoft.com/office/drawing/2014/main" val="2039690360"/>
                    </a:ext>
                  </a:extLst>
                </a:gridCol>
              </a:tblGrid>
              <a:tr h="182880">
                <a:tc>
                  <a:txBody>
                    <a:bodyPr/>
                    <a:lstStyle/>
                    <a:p>
                      <a:pPr algn="l" fontAlgn="ctr"/>
                      <a:r>
                        <a:rPr lang="en-US" sz="1000" b="0" i="0" u="none" strike="noStrike">
                          <a:solidFill>
                            <a:srgbClr val="BCBCBC"/>
                          </a:solidFill>
                          <a:effectLst/>
                          <a:latin typeface="Lucida Console" panose="020B0609040504020204" pitchFamily="49" charset="0"/>
                        </a:rPr>
                        <a:t> 1</a:t>
                      </a:r>
                      <a:r>
                        <a:rPr lang="en-US" sz="1000" b="0" i="0" u="none" strike="noStrike">
                          <a:solidFill>
                            <a:srgbClr val="000000"/>
                          </a:solidFill>
                          <a:effectLst/>
                          <a:latin typeface="Lucida Console" panose="020B0609040504020204" pitchFamily="49" charset="0"/>
                        </a:rPr>
                        <a:t> idxE10_csl_chinook_ratio</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3964626395"/>
                  </a:ext>
                </a:extLst>
              </a:tr>
              <a:tr h="182880">
                <a:tc>
                  <a:txBody>
                    <a:bodyPr/>
                    <a:lstStyle/>
                    <a:p>
                      <a:pPr algn="l" fontAlgn="ctr"/>
                      <a:r>
                        <a:rPr lang="en-US" sz="1000" b="0" i="0" u="none" strike="noStrike">
                          <a:solidFill>
                            <a:srgbClr val="BCBCBC"/>
                          </a:solidFill>
                          <a:effectLst/>
                          <a:latin typeface="Lucida Console" panose="020B0609040504020204" pitchFamily="49" charset="0"/>
                        </a:rPr>
                        <a:t> 2</a:t>
                      </a:r>
                      <a:r>
                        <a:rPr lang="en-US" sz="1000" b="0" i="0" u="none" strike="noStrike">
                          <a:solidFill>
                            <a:srgbClr val="000000"/>
                          </a:solidFill>
                          <a:effectLst/>
                          <a:latin typeface="Lucida Console" panose="020B0609040504020204" pitchFamily="49" charset="0"/>
                        </a:rPr>
                        <a:t> idxE8_mult_weekly       </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2851953145"/>
                  </a:ext>
                </a:extLst>
              </a:tr>
              <a:tr h="182880">
                <a:tc>
                  <a:txBody>
                    <a:bodyPr/>
                    <a:lstStyle/>
                    <a:p>
                      <a:pPr algn="l" fontAlgn="ctr"/>
                      <a:r>
                        <a:rPr lang="en-US" sz="1000" b="0" i="0" u="none" strike="noStrike">
                          <a:solidFill>
                            <a:srgbClr val="BCBCBC"/>
                          </a:solidFill>
                          <a:effectLst/>
                          <a:latin typeface="Lucida Console" panose="020B0609040504020204" pitchFamily="49" charset="0"/>
                        </a:rPr>
                        <a:t> 3</a:t>
                      </a:r>
                      <a:r>
                        <a:rPr lang="en-US" sz="1000" b="0" i="0" u="none" strike="noStrike">
                          <a:solidFill>
                            <a:srgbClr val="000000"/>
                          </a:solidFill>
                          <a:effectLst/>
                          <a:latin typeface="Lucida Console" panose="020B0609040504020204" pitchFamily="49" charset="0"/>
                        </a:rPr>
                        <a:t> idxE2_csl_only_weekly   </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1664068879"/>
                  </a:ext>
                </a:extLst>
              </a:tr>
              <a:tr h="182880">
                <a:tc>
                  <a:txBody>
                    <a:bodyPr/>
                    <a:lstStyle/>
                    <a:p>
                      <a:pPr algn="l" fontAlgn="ctr"/>
                      <a:r>
                        <a:rPr lang="fr-FR" sz="1000" b="0" i="0" u="none" strike="noStrike">
                          <a:solidFill>
                            <a:srgbClr val="BCBCBC"/>
                          </a:solidFill>
                          <a:effectLst/>
                          <a:latin typeface="Lucida Console" panose="020B0609040504020204" pitchFamily="49" charset="0"/>
                        </a:rPr>
                        <a:t> 4</a:t>
                      </a:r>
                      <a:r>
                        <a:rPr lang="fr-FR" sz="1000" b="0" i="0" u="none" strike="noStrike">
                          <a:solidFill>
                            <a:srgbClr val="000000"/>
                          </a:solidFill>
                          <a:effectLst/>
                          <a:latin typeface="Lucida Console" panose="020B0609040504020204" pitchFamily="49" charset="0"/>
                        </a:rPr>
                        <a:t> idxE11_csl_eul_ratio    </a:t>
                      </a:r>
                      <a:endParaRPr lang="fr-FR"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2244942881"/>
                  </a:ext>
                </a:extLst>
              </a:tr>
              <a:tr h="182880">
                <a:tc>
                  <a:txBody>
                    <a:bodyPr/>
                    <a:lstStyle/>
                    <a:p>
                      <a:pPr algn="l" fontAlgn="ctr"/>
                      <a:r>
                        <a:rPr lang="en-US" sz="1000" b="0" i="0" u="none" strike="noStrike">
                          <a:solidFill>
                            <a:srgbClr val="BCBCBC"/>
                          </a:solidFill>
                          <a:effectLst/>
                          <a:latin typeface="Lucida Console" panose="020B0609040504020204" pitchFamily="49" charset="0"/>
                        </a:rPr>
                        <a:t> 5</a:t>
                      </a:r>
                      <a:r>
                        <a:rPr lang="en-US" sz="1000" b="0" i="0" u="none" strike="noStrike">
                          <a:solidFill>
                            <a:srgbClr val="000000"/>
                          </a:solidFill>
                          <a:effectLst/>
                          <a:latin typeface="Lucida Console" panose="020B0609040504020204" pitchFamily="49" charset="0"/>
                        </a:rPr>
                        <a:t> est_risk_eul_heavy      </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511516762"/>
                  </a:ext>
                </a:extLst>
              </a:tr>
              <a:tr h="182880">
                <a:tc>
                  <a:txBody>
                    <a:bodyPr/>
                    <a:lstStyle/>
                    <a:p>
                      <a:pPr algn="l" fontAlgn="ctr"/>
                      <a:r>
                        <a:rPr lang="en-US" sz="1000" b="0" i="0" u="none" strike="noStrike">
                          <a:solidFill>
                            <a:srgbClr val="BCBCBC"/>
                          </a:solidFill>
                          <a:effectLst/>
                          <a:latin typeface="Lucida Console" panose="020B0609040504020204" pitchFamily="49" charset="0"/>
                        </a:rPr>
                        <a:t> 6</a:t>
                      </a:r>
                      <a:r>
                        <a:rPr lang="en-US" sz="1000" b="0" i="0" u="none" strike="noStrike">
                          <a:solidFill>
                            <a:srgbClr val="000000"/>
                          </a:solidFill>
                          <a:effectLst/>
                          <a:latin typeface="Lucida Console" panose="020B0609040504020204" pitchFamily="49" charset="0"/>
                        </a:rPr>
                        <a:t> idxE1_csl_only_count    </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1780335753"/>
                  </a:ext>
                </a:extLst>
              </a:tr>
              <a:tr h="182880">
                <a:tc>
                  <a:txBody>
                    <a:bodyPr/>
                    <a:lstStyle/>
                    <a:p>
                      <a:pPr algn="l" fontAlgn="ctr"/>
                      <a:r>
                        <a:rPr lang="en-US" sz="1000" b="0" i="0" u="none" strike="noStrike">
                          <a:solidFill>
                            <a:srgbClr val="BCBCBC"/>
                          </a:solidFill>
                          <a:effectLst/>
                          <a:latin typeface="Lucida Console" panose="020B0609040504020204" pitchFamily="49" charset="0"/>
                        </a:rPr>
                        <a:t> 7</a:t>
                      </a:r>
                      <a:r>
                        <a:rPr lang="en-US" sz="1000" b="0" i="0" u="none" strike="noStrike">
                          <a:solidFill>
                            <a:srgbClr val="000000"/>
                          </a:solidFill>
                          <a:effectLst/>
                          <a:latin typeface="Lucida Console" panose="020B0609040504020204" pitchFamily="49" charset="0"/>
                        </a:rPr>
                        <a:t> idxE7_mult_count        </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1267664619"/>
                  </a:ext>
                </a:extLst>
              </a:tr>
              <a:tr h="182880">
                <a:tc>
                  <a:txBody>
                    <a:bodyPr/>
                    <a:lstStyle/>
                    <a:p>
                      <a:pPr algn="l" fontAlgn="ctr"/>
                      <a:r>
                        <a:rPr lang="en-US" sz="1000" b="0" i="0" u="none" strike="noStrike">
                          <a:solidFill>
                            <a:srgbClr val="BCBCBC"/>
                          </a:solidFill>
                          <a:effectLst/>
                          <a:latin typeface="Lucida Console" panose="020B0609040504020204" pitchFamily="49" charset="0"/>
                        </a:rPr>
                        <a:t> 8</a:t>
                      </a:r>
                      <a:r>
                        <a:rPr lang="en-US" sz="1000" b="0" i="0" u="none" strike="noStrike">
                          <a:solidFill>
                            <a:srgbClr val="000000"/>
                          </a:solidFill>
                          <a:effectLst/>
                          <a:latin typeface="Lucida Console" panose="020B0609040504020204" pitchFamily="49" charset="0"/>
                        </a:rPr>
                        <a:t> idxE9_mult_peak         </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3690091740"/>
                  </a:ext>
                </a:extLst>
              </a:tr>
              <a:tr h="182880">
                <a:tc>
                  <a:txBody>
                    <a:bodyPr/>
                    <a:lstStyle/>
                    <a:p>
                      <a:pPr algn="l" fontAlgn="ctr"/>
                      <a:r>
                        <a:rPr lang="en-US" sz="1000" b="0" i="0" u="none" strike="noStrike">
                          <a:solidFill>
                            <a:srgbClr val="BCBCBC"/>
                          </a:solidFill>
                          <a:effectLst/>
                          <a:latin typeface="Lucida Console" panose="020B0609040504020204" pitchFamily="49" charset="0"/>
                        </a:rPr>
                        <a:t> 9</a:t>
                      </a:r>
                      <a:r>
                        <a:rPr lang="en-US" sz="1000" b="0" i="0" u="none" strike="noStrike">
                          <a:solidFill>
                            <a:srgbClr val="000000"/>
                          </a:solidFill>
                          <a:effectLst/>
                          <a:latin typeface="Lucida Console" panose="020B0609040504020204" pitchFamily="49" charset="0"/>
                        </a:rPr>
                        <a:t> idxE3_csl_only_peak     </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964074893"/>
                  </a:ext>
                </a:extLst>
              </a:tr>
              <a:tr h="182880">
                <a:tc>
                  <a:txBody>
                    <a:bodyPr/>
                    <a:lstStyle/>
                    <a:p>
                      <a:pPr algn="l" fontAlgn="ctr"/>
                      <a:r>
                        <a:rPr lang="en-US" sz="1000" b="0" i="0" u="none" strike="noStrike">
                          <a:solidFill>
                            <a:srgbClr val="BCBCBC"/>
                          </a:solidFill>
                          <a:effectLst/>
                          <a:latin typeface="Lucida Console" panose="020B0609040504020204" pitchFamily="49" charset="0"/>
                        </a:rPr>
                        <a:t>10</a:t>
                      </a:r>
                      <a:r>
                        <a:rPr lang="en-US" sz="1000" b="0" i="0" u="none" strike="noStrike">
                          <a:solidFill>
                            <a:srgbClr val="000000"/>
                          </a:solidFill>
                          <a:effectLst/>
                          <a:latin typeface="Lucida Console" panose="020B0609040504020204" pitchFamily="49" charset="0"/>
                        </a:rPr>
                        <a:t> idxE12_csl_shad_ratio   </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3822227073"/>
                  </a:ext>
                </a:extLst>
              </a:tr>
              <a:tr h="182880">
                <a:tc>
                  <a:txBody>
                    <a:bodyPr/>
                    <a:lstStyle/>
                    <a:p>
                      <a:pPr algn="l" fontAlgn="ctr"/>
                      <a:r>
                        <a:rPr lang="en-US" sz="1000" b="0" i="0" u="none" strike="noStrike">
                          <a:solidFill>
                            <a:srgbClr val="BCBCBC"/>
                          </a:solidFill>
                          <a:effectLst/>
                          <a:latin typeface="Lucida Console" panose="020B0609040504020204" pitchFamily="49" charset="0"/>
                        </a:rPr>
                        <a:t>11</a:t>
                      </a:r>
                      <a:r>
                        <a:rPr lang="en-US" sz="1000" b="0" i="0" u="none" strike="noStrike">
                          <a:solidFill>
                            <a:srgbClr val="000000"/>
                          </a:solidFill>
                          <a:effectLst/>
                          <a:latin typeface="Lucida Console" panose="020B0609040504020204" pitchFamily="49" charset="0"/>
                        </a:rPr>
                        <a:t> idxE6_csl_peak_minus_buf</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3101660475"/>
                  </a:ext>
                </a:extLst>
              </a:tr>
              <a:tr h="182880">
                <a:tc>
                  <a:txBody>
                    <a:bodyPr/>
                    <a:lstStyle/>
                    <a:p>
                      <a:pPr algn="l" fontAlgn="ctr"/>
                      <a:r>
                        <a:rPr lang="en-US" sz="1000" b="0" i="0" u="none" strike="noStrike" dirty="0">
                          <a:solidFill>
                            <a:srgbClr val="BCBCBC"/>
                          </a:solidFill>
                          <a:effectLst/>
                          <a:latin typeface="Lucida Console" panose="020B0609040504020204" pitchFamily="49" charset="0"/>
                        </a:rPr>
                        <a:t>12</a:t>
                      </a:r>
                      <a:r>
                        <a:rPr lang="en-US" sz="1000" b="0" i="0" u="none" strike="noStrike" dirty="0">
                          <a:solidFill>
                            <a:srgbClr val="000000"/>
                          </a:solidFill>
                          <a:effectLst/>
                          <a:latin typeface="Lucida Console" panose="020B0609040504020204" pitchFamily="49" charset="0"/>
                        </a:rPr>
                        <a:t> BASE_NO_CSL             </a:t>
                      </a:r>
                      <a:endParaRPr lang="en-US" sz="1000" b="0" i="0" u="none" strike="noStrike" dirty="0">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1131003508"/>
                  </a:ext>
                </a:extLst>
              </a:tr>
            </a:tbl>
          </a:graphicData>
        </a:graphic>
      </p:graphicFrame>
    </p:spTree>
    <p:extLst>
      <p:ext uri="{BB962C8B-B14F-4D97-AF65-F5344CB8AC3E}">
        <p14:creationId xmlns:p14="http://schemas.microsoft.com/office/powerpoint/2010/main" val="12510862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79646-A22D-46C3-9A8F-8C63B5D94948}"/>
              </a:ext>
            </a:extLst>
          </p:cNvPr>
          <p:cNvSpPr>
            <a:spLocks noGrp="1"/>
          </p:cNvSpPr>
          <p:nvPr>
            <p:ph type="title"/>
          </p:nvPr>
        </p:nvSpPr>
        <p:spPr>
          <a:xfrm>
            <a:off x="0" y="1"/>
            <a:ext cx="12192000" cy="697584"/>
          </a:xfrm>
        </p:spPr>
        <p:txBody>
          <a:bodyPr/>
          <a:lstStyle/>
          <a:p>
            <a:r>
              <a:rPr lang="en-US" dirty="0"/>
              <a:t>Model selection with 2- and 3-variable models</a:t>
            </a:r>
          </a:p>
        </p:txBody>
      </p:sp>
      <p:graphicFrame>
        <p:nvGraphicFramePr>
          <p:cNvPr id="4" name="Content Placeholder 3">
            <a:extLst>
              <a:ext uri="{FF2B5EF4-FFF2-40B4-BE49-F238E27FC236}">
                <a16:creationId xmlns:a16="http://schemas.microsoft.com/office/drawing/2014/main" id="{8F7FA51B-BFF3-4F23-B495-AE0C3B11C1D2}"/>
              </a:ext>
            </a:extLst>
          </p:cNvPr>
          <p:cNvGraphicFramePr>
            <a:graphicFrameLocks noGrp="1"/>
          </p:cNvGraphicFramePr>
          <p:nvPr>
            <p:ph idx="1"/>
            <p:extLst>
              <p:ext uri="{D42A27DB-BD31-4B8C-83A1-F6EECF244321}">
                <p14:modId xmlns:p14="http://schemas.microsoft.com/office/powerpoint/2010/main" val="1897261602"/>
              </p:ext>
            </p:extLst>
          </p:nvPr>
        </p:nvGraphicFramePr>
        <p:xfrm>
          <a:off x="959152" y="695876"/>
          <a:ext cx="9740900" cy="3108960"/>
        </p:xfrm>
        <a:graphic>
          <a:graphicData uri="http://schemas.openxmlformats.org/drawingml/2006/table">
            <a:tbl>
              <a:tblPr/>
              <a:tblGrid>
                <a:gridCol w="9740900">
                  <a:extLst>
                    <a:ext uri="{9D8B030D-6E8A-4147-A177-3AD203B41FA5}">
                      <a16:colId xmlns:a16="http://schemas.microsoft.com/office/drawing/2014/main" val="2101221016"/>
                    </a:ext>
                  </a:extLst>
                </a:gridCol>
              </a:tblGrid>
              <a:tr h="182880">
                <a:tc>
                  <a:txBody>
                    <a:bodyPr/>
                    <a:lstStyle/>
                    <a:p>
                      <a:pPr algn="l" fontAlgn="ctr"/>
                      <a:r>
                        <a:rPr lang="en-US" sz="1000" b="0" i="0" u="none" strike="noStrike">
                          <a:solidFill>
                            <a:srgbClr val="000000"/>
                          </a:solidFill>
                          <a:effectLst/>
                          <a:latin typeface="Lucida Console" panose="020B0609040504020204" pitchFamily="49" charset="0"/>
                        </a:rPr>
                        <a:t> model_type  terms                                                                                              aic sar_r2</a:t>
                      </a: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2133109269"/>
                  </a:ext>
                </a:extLst>
              </a:tr>
              <a:tr h="182880">
                <a:tc>
                  <a:txBody>
                    <a:bodyPr/>
                    <a:lstStyle/>
                    <a:p>
                      <a:pPr algn="l" fontAlgn="ctr"/>
                      <a:r>
                        <a:rPr lang="en-US" sz="1000" b="0" i="0" u="none" strike="noStrike">
                          <a:solidFill>
                            <a:srgbClr val="000000"/>
                          </a:solidFill>
                          <a:effectLst/>
                          <a:latin typeface="Lucida Console" panose="020B0609040504020204" pitchFamily="49" charset="0"/>
                        </a:rPr>
                        <a:t>  </a:t>
                      </a:r>
                      <a:r>
                        <a:rPr lang="en-US" sz="1000" b="0" i="1" u="none" strike="noStrike">
                          <a:solidFill>
                            <a:srgbClr val="949494"/>
                          </a:solidFill>
                          <a:effectLst/>
                          <a:latin typeface="Lucida Console" panose="020B0609040504020204" pitchFamily="49" charset="0"/>
                        </a:rPr>
                        <a:t>&lt;chr&gt;</a:t>
                      </a:r>
                      <a:r>
                        <a:rPr lang="en-US" sz="1000" b="0" i="0" u="none" strike="noStrike">
                          <a:solidFill>
                            <a:srgbClr val="000000"/>
                          </a:solidFill>
                          <a:effectLst/>
                          <a:latin typeface="Lucida Console" panose="020B0609040504020204" pitchFamily="49" charset="0"/>
                        </a:rPr>
                        <a:t>       </a:t>
                      </a:r>
                      <a:r>
                        <a:rPr lang="en-US" sz="1000" b="0" i="1" u="none" strike="noStrike">
                          <a:solidFill>
                            <a:srgbClr val="949494"/>
                          </a:solidFill>
                          <a:effectLst/>
                          <a:latin typeface="Lucida Console" panose="020B0609040504020204" pitchFamily="49" charset="0"/>
                        </a:rPr>
                        <a:t>&lt;chr&gt;</a:t>
                      </a:r>
                      <a:r>
                        <a:rPr lang="en-US" sz="1000" b="0" i="0" u="none" strike="noStrike">
                          <a:solidFill>
                            <a:srgbClr val="000000"/>
                          </a:solidFill>
                          <a:effectLst/>
                          <a:latin typeface="Lucida Console" panose="020B0609040504020204" pitchFamily="49" charset="0"/>
                        </a:rPr>
                        <a:t>                                                                                            </a:t>
                      </a:r>
                      <a:r>
                        <a:rPr lang="en-US" sz="1000" b="0" i="1" u="none" strike="noStrike">
                          <a:solidFill>
                            <a:srgbClr val="949494"/>
                          </a:solidFill>
                          <a:effectLst/>
                          <a:latin typeface="Lucida Console" panose="020B0609040504020204" pitchFamily="49" charset="0"/>
                        </a:rPr>
                        <a:t>&lt;dbl&gt;</a:t>
                      </a:r>
                      <a:r>
                        <a:rPr lang="en-US" sz="1000" b="0" i="0" u="none" strike="noStrike">
                          <a:solidFill>
                            <a:srgbClr val="000000"/>
                          </a:solidFill>
                          <a:effectLst/>
                          <a:latin typeface="Lucida Console" panose="020B0609040504020204" pitchFamily="49" charset="0"/>
                        </a:rPr>
                        <a:t>  </a:t>
                      </a:r>
                      <a:r>
                        <a:rPr lang="en-US" sz="1000" b="0" i="1" u="none" strike="noStrike">
                          <a:solidFill>
                            <a:srgbClr val="949494"/>
                          </a:solidFill>
                          <a:effectLst/>
                          <a:latin typeface="Lucida Console" panose="020B0609040504020204" pitchFamily="49" charset="0"/>
                        </a:rPr>
                        <a:t>&lt;dbl&gt;</a:t>
                      </a:r>
                      <a:endParaRPr lang="en-US" sz="1000" b="0" i="0" u="none" strike="noStrike">
                        <a:solidFill>
                          <a:srgbClr val="000000"/>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3884419216"/>
                  </a:ext>
                </a:extLst>
              </a:tr>
              <a:tr h="182880">
                <a:tc>
                  <a:txBody>
                    <a:bodyPr/>
                    <a:lstStyle/>
                    <a:p>
                      <a:pPr algn="l" fontAlgn="ctr"/>
                      <a:r>
                        <a:rPr lang="en-US" sz="1000" b="0" i="0" u="none" strike="noStrike">
                          <a:solidFill>
                            <a:srgbClr val="BCBCBC"/>
                          </a:solidFill>
                          <a:effectLst/>
                          <a:latin typeface="Lucida Console" panose="020B0609040504020204" pitchFamily="49" charset="0"/>
                        </a:rPr>
                        <a:t>1</a:t>
                      </a:r>
                      <a:r>
                        <a:rPr lang="en-US" sz="1000" b="0" i="0" u="none" strike="noStrike">
                          <a:solidFill>
                            <a:srgbClr val="000000"/>
                          </a:solidFill>
                          <a:effectLst/>
                          <a:latin typeface="Lucida Console" panose="020B0609040504020204" pitchFamily="49" charset="0"/>
                        </a:rPr>
                        <a:t> 3var_global x12_dfa_biomass_euph_shelf_sum + x15_arrowtooth_flounder_biomass_pred_ak + x15_pacific_cod_biom…  104.  0.789</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1237541580"/>
                  </a:ext>
                </a:extLst>
              </a:tr>
              <a:tr h="182880">
                <a:tc>
                  <a:txBody>
                    <a:bodyPr/>
                    <a:lstStyle/>
                    <a:p>
                      <a:pPr algn="l" fontAlgn="ctr"/>
                      <a:r>
                        <a:rPr lang="en-US" sz="1000" b="0" i="0" u="none" strike="noStrike">
                          <a:solidFill>
                            <a:srgbClr val="BCBCBC"/>
                          </a:solidFill>
                          <a:effectLst/>
                          <a:latin typeface="Lucida Console" panose="020B0609040504020204" pitchFamily="49" charset="0"/>
                        </a:rPr>
                        <a:t>2</a:t>
                      </a:r>
                      <a:r>
                        <a:rPr lang="en-US" sz="1000" b="0" i="0" u="none" strike="noStrike">
                          <a:solidFill>
                            <a:srgbClr val="000000"/>
                          </a:solidFill>
                          <a:effectLst/>
                          <a:latin typeface="Lucida Console" panose="020B0609040504020204" pitchFamily="49" charset="0"/>
                        </a:rPr>
                        <a:t> 3var_global x13_dfa_wgoa_dfa_seabirds + x15_issl_z + x15_ishark_df_asleeper_z                                 105.  0.780</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2831708621"/>
                  </a:ext>
                </a:extLst>
              </a:tr>
              <a:tr h="182880">
                <a:tc>
                  <a:txBody>
                    <a:bodyPr/>
                    <a:lstStyle/>
                    <a:p>
                      <a:pPr algn="l" fontAlgn="ctr"/>
                      <a:r>
                        <a:rPr lang="en-US" sz="1000" b="0" i="0" u="none" strike="noStrike" dirty="0">
                          <a:solidFill>
                            <a:srgbClr val="BCBCBC"/>
                          </a:solidFill>
                          <a:effectLst/>
                          <a:latin typeface="Lucida Console" panose="020B0609040504020204" pitchFamily="49" charset="0"/>
                        </a:rPr>
                        <a:t>3</a:t>
                      </a:r>
                      <a:r>
                        <a:rPr lang="en-US" sz="1000" b="0" i="0" u="none" strike="noStrike" dirty="0">
                          <a:solidFill>
                            <a:srgbClr val="000000"/>
                          </a:solidFill>
                          <a:effectLst/>
                          <a:latin typeface="Lucida Console" panose="020B0609040504020204" pitchFamily="49" charset="0"/>
                        </a:rPr>
                        <a:t> 3var_global x12_dfa_biomass_euph_shelf_sum + x15_issl_z + x15_ishark_df_asleeper_z                            105.  0.779</a:t>
                      </a:r>
                      <a:endParaRPr lang="en-US" sz="1000" b="0" i="0" u="none" strike="noStrike" dirty="0">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2155196500"/>
                  </a:ext>
                </a:extLst>
              </a:tr>
              <a:tr h="182880">
                <a:tc>
                  <a:txBody>
                    <a:bodyPr/>
                    <a:lstStyle/>
                    <a:p>
                      <a:pPr algn="l" fontAlgn="ctr"/>
                      <a:r>
                        <a:rPr lang="nn-NO" sz="1000" b="0" i="0" u="none" strike="noStrike">
                          <a:solidFill>
                            <a:srgbClr val="BCBCBC"/>
                          </a:solidFill>
                          <a:effectLst/>
                          <a:latin typeface="Lucida Console" panose="020B0609040504020204" pitchFamily="49" charset="0"/>
                        </a:rPr>
                        <a:t>4</a:t>
                      </a:r>
                      <a:r>
                        <a:rPr lang="nn-NO" sz="1000" b="0" i="0" u="none" strike="noStrike">
                          <a:solidFill>
                            <a:srgbClr val="000000"/>
                          </a:solidFill>
                          <a:effectLst/>
                          <a:latin typeface="Lucida Console" panose="020B0609040504020204" pitchFamily="49" charset="0"/>
                        </a:rPr>
                        <a:t> 3var_global x12_dfa_biomass_euph_shelf_sum + x13_ammod_wai + x13_hexagram_eai                                 105.  0.764</a:t>
                      </a:r>
                      <a:endParaRPr lang="nn-NO"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911846632"/>
                  </a:ext>
                </a:extLst>
              </a:tr>
              <a:tr h="182880">
                <a:tc>
                  <a:txBody>
                    <a:bodyPr/>
                    <a:lstStyle/>
                    <a:p>
                      <a:pPr algn="l" fontAlgn="ctr"/>
                      <a:r>
                        <a:rPr lang="en-US" sz="1000" b="0" i="0" u="none" strike="noStrike">
                          <a:solidFill>
                            <a:srgbClr val="BCBCBC"/>
                          </a:solidFill>
                          <a:effectLst/>
                          <a:latin typeface="Lucida Console" panose="020B0609040504020204" pitchFamily="49" charset="0"/>
                        </a:rPr>
                        <a:t>5</a:t>
                      </a:r>
                      <a:r>
                        <a:rPr lang="en-US" sz="1000" b="0" i="0" u="none" strike="noStrike">
                          <a:solidFill>
                            <a:srgbClr val="000000"/>
                          </a:solidFill>
                          <a:effectLst/>
                          <a:latin typeface="Lucida Console" panose="020B0609040504020204" pitchFamily="49" charset="0"/>
                        </a:rPr>
                        <a:t> 3var_global x12_dfa_biomass_euph_shelf_sum + x15_dfa_sleeper_shark_bsai_pred_ak + x15_issl_z                  106.  0.778</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535126850"/>
                  </a:ext>
                </a:extLst>
              </a:tr>
              <a:tr h="182880">
                <a:tc>
                  <a:txBody>
                    <a:bodyPr/>
                    <a:lstStyle/>
                    <a:p>
                      <a:pPr algn="l" fontAlgn="t"/>
                      <a:r>
                        <a:rPr lang="en-US" sz="1000" b="0" i="0" u="none" strike="noStrike">
                          <a:solidFill>
                            <a:srgbClr val="000000"/>
                          </a:solidFill>
                          <a:effectLst/>
                          <a:latin typeface="Lucida Console" panose="020B0609040504020204" pitchFamily="49" charset="0"/>
                        </a:rPr>
                        <a:t> </a:t>
                      </a:r>
                    </a:p>
                  </a:txBody>
                  <a:tcPr marL="7620" marR="7620" marT="7620" marB="0">
                    <a:lnL>
                      <a:noFill/>
                    </a:lnL>
                    <a:lnR>
                      <a:noFill/>
                    </a:lnR>
                    <a:lnT>
                      <a:noFill/>
                    </a:lnT>
                    <a:lnB>
                      <a:noFill/>
                    </a:lnB>
                    <a:solidFill>
                      <a:srgbClr val="FFFFFF"/>
                    </a:solidFill>
                  </a:tcPr>
                </a:tc>
                <a:extLst>
                  <a:ext uri="{0D108BD9-81ED-4DB2-BD59-A6C34878D82A}">
                    <a16:rowId xmlns:a16="http://schemas.microsoft.com/office/drawing/2014/main" val="3292644031"/>
                  </a:ext>
                </a:extLst>
              </a:tr>
              <a:tr h="182880">
                <a:tc>
                  <a:txBody>
                    <a:bodyPr/>
                    <a:lstStyle/>
                    <a:p>
                      <a:pPr algn="l" fontAlgn="ctr"/>
                      <a:endParaRPr lang="en-US" sz="1000" b="0" i="0" u="none" strike="noStrike" dirty="0">
                        <a:solidFill>
                          <a:srgbClr val="0000FF"/>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2963972000"/>
                  </a:ext>
                </a:extLst>
              </a:tr>
              <a:tr h="182880">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4180231241"/>
                  </a:ext>
                </a:extLst>
              </a:tr>
              <a:tr h="182880">
                <a:tc>
                  <a:txBody>
                    <a:bodyPr/>
                    <a:lstStyle/>
                    <a:p>
                      <a:pPr algn="l" fontAlgn="ctr"/>
                      <a:r>
                        <a:rPr lang="en-US" sz="1000" b="0" i="0" u="none" strike="noStrike">
                          <a:solidFill>
                            <a:srgbClr val="000000"/>
                          </a:solidFill>
                          <a:effectLst/>
                          <a:latin typeface="Lucida Console" panose="020B0609040504020204" pitchFamily="49" charset="0"/>
                        </a:rPr>
                        <a:t> model_type  terms                                                       aic sar_r2</a:t>
                      </a: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1116647735"/>
                  </a:ext>
                </a:extLst>
              </a:tr>
              <a:tr h="182880">
                <a:tc>
                  <a:txBody>
                    <a:bodyPr/>
                    <a:lstStyle/>
                    <a:p>
                      <a:pPr algn="l" fontAlgn="ctr"/>
                      <a:r>
                        <a:rPr lang="en-US" sz="1000" b="0" i="0" u="none" strike="noStrike">
                          <a:solidFill>
                            <a:srgbClr val="000000"/>
                          </a:solidFill>
                          <a:effectLst/>
                          <a:latin typeface="Lucida Console" panose="020B0609040504020204" pitchFamily="49" charset="0"/>
                        </a:rPr>
                        <a:t>  </a:t>
                      </a:r>
                      <a:r>
                        <a:rPr lang="en-US" sz="1000" b="0" i="1" u="none" strike="noStrike">
                          <a:solidFill>
                            <a:srgbClr val="949494"/>
                          </a:solidFill>
                          <a:effectLst/>
                          <a:latin typeface="Lucida Console" panose="020B0609040504020204" pitchFamily="49" charset="0"/>
                        </a:rPr>
                        <a:t>&lt;chr&gt;</a:t>
                      </a:r>
                      <a:r>
                        <a:rPr lang="en-US" sz="1000" b="0" i="0" u="none" strike="noStrike">
                          <a:solidFill>
                            <a:srgbClr val="000000"/>
                          </a:solidFill>
                          <a:effectLst/>
                          <a:latin typeface="Lucida Console" panose="020B0609040504020204" pitchFamily="49" charset="0"/>
                        </a:rPr>
                        <a:t>       </a:t>
                      </a:r>
                      <a:r>
                        <a:rPr lang="en-US" sz="1000" b="0" i="1" u="none" strike="noStrike">
                          <a:solidFill>
                            <a:srgbClr val="949494"/>
                          </a:solidFill>
                          <a:effectLst/>
                          <a:latin typeface="Lucida Console" panose="020B0609040504020204" pitchFamily="49" charset="0"/>
                        </a:rPr>
                        <a:t>&lt;chr&gt;</a:t>
                      </a:r>
                      <a:r>
                        <a:rPr lang="en-US" sz="1000" b="0" i="0" u="none" strike="noStrike">
                          <a:solidFill>
                            <a:srgbClr val="000000"/>
                          </a:solidFill>
                          <a:effectLst/>
                          <a:latin typeface="Lucida Console" panose="020B0609040504020204" pitchFamily="49" charset="0"/>
                        </a:rPr>
                        <a:t>                                                     </a:t>
                      </a:r>
                      <a:r>
                        <a:rPr lang="en-US" sz="1000" b="0" i="1" u="none" strike="noStrike">
                          <a:solidFill>
                            <a:srgbClr val="949494"/>
                          </a:solidFill>
                          <a:effectLst/>
                          <a:latin typeface="Lucida Console" panose="020B0609040504020204" pitchFamily="49" charset="0"/>
                        </a:rPr>
                        <a:t>&lt;dbl&gt;</a:t>
                      </a:r>
                      <a:r>
                        <a:rPr lang="en-US" sz="1000" b="0" i="0" u="none" strike="noStrike">
                          <a:solidFill>
                            <a:srgbClr val="000000"/>
                          </a:solidFill>
                          <a:effectLst/>
                          <a:latin typeface="Lucida Console" panose="020B0609040504020204" pitchFamily="49" charset="0"/>
                        </a:rPr>
                        <a:t>  </a:t>
                      </a:r>
                      <a:r>
                        <a:rPr lang="en-US" sz="1000" b="0" i="1" u="none" strike="noStrike">
                          <a:solidFill>
                            <a:srgbClr val="949494"/>
                          </a:solidFill>
                          <a:effectLst/>
                          <a:latin typeface="Lucida Console" panose="020B0609040504020204" pitchFamily="49" charset="0"/>
                        </a:rPr>
                        <a:t>&lt;dbl&gt;</a:t>
                      </a:r>
                      <a:endParaRPr lang="en-US" sz="1000" b="0" i="0" u="none" strike="noStrike">
                        <a:solidFill>
                          <a:srgbClr val="000000"/>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3263583027"/>
                  </a:ext>
                </a:extLst>
              </a:tr>
              <a:tr h="182880">
                <a:tc>
                  <a:txBody>
                    <a:bodyPr/>
                    <a:lstStyle/>
                    <a:p>
                      <a:pPr algn="l" fontAlgn="ctr"/>
                      <a:r>
                        <a:rPr lang="en-US" sz="1000" b="0" i="0" u="none" strike="noStrike">
                          <a:solidFill>
                            <a:srgbClr val="BCBCBC"/>
                          </a:solidFill>
                          <a:effectLst/>
                          <a:latin typeface="Lucida Console" panose="020B0609040504020204" pitchFamily="49" charset="0"/>
                        </a:rPr>
                        <a:t>1</a:t>
                      </a:r>
                      <a:r>
                        <a:rPr lang="en-US" sz="1000" b="0" i="0" u="none" strike="noStrike">
                          <a:solidFill>
                            <a:srgbClr val="000000"/>
                          </a:solidFill>
                          <a:effectLst/>
                          <a:latin typeface="Lucida Console" panose="020B0609040504020204" pitchFamily="49" charset="0"/>
                        </a:rPr>
                        <a:t> 2var_global x15_dfa_sleeper_shark_bsai_pred_ak + x15_issl_z            111.  0.700</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2114320875"/>
                  </a:ext>
                </a:extLst>
              </a:tr>
              <a:tr h="182880">
                <a:tc>
                  <a:txBody>
                    <a:bodyPr/>
                    <a:lstStyle/>
                    <a:p>
                      <a:pPr algn="l" fontAlgn="ctr"/>
                      <a:r>
                        <a:rPr lang="en-US" sz="1000" b="0" i="0" u="none" strike="noStrike">
                          <a:solidFill>
                            <a:srgbClr val="BCBCBC"/>
                          </a:solidFill>
                          <a:effectLst/>
                          <a:latin typeface="Lucida Console" panose="020B0609040504020204" pitchFamily="49" charset="0"/>
                        </a:rPr>
                        <a:t>2</a:t>
                      </a:r>
                      <a:r>
                        <a:rPr lang="en-US" sz="1000" b="0" i="0" u="none" strike="noStrike">
                          <a:solidFill>
                            <a:srgbClr val="000000"/>
                          </a:solidFill>
                          <a:effectLst/>
                          <a:latin typeface="Lucida Console" panose="020B0609040504020204" pitchFamily="49" charset="0"/>
                        </a:rPr>
                        <a:t> 2var_global x15_issl_z + x15_ishark_df_asleeper_z                      114.  0.651</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3913025760"/>
                  </a:ext>
                </a:extLst>
              </a:tr>
              <a:tr h="182880">
                <a:tc>
                  <a:txBody>
                    <a:bodyPr/>
                    <a:lstStyle/>
                    <a:p>
                      <a:pPr algn="l" fontAlgn="ctr"/>
                      <a:r>
                        <a:rPr lang="en-US" sz="1000" b="0" i="0" u="none" strike="noStrike">
                          <a:solidFill>
                            <a:srgbClr val="BCBCBC"/>
                          </a:solidFill>
                          <a:effectLst/>
                          <a:latin typeface="Lucida Console" panose="020B0609040504020204" pitchFamily="49" charset="0"/>
                        </a:rPr>
                        <a:t>3</a:t>
                      </a:r>
                      <a:r>
                        <a:rPr lang="en-US" sz="1000" b="0" i="0" u="none" strike="noStrike">
                          <a:solidFill>
                            <a:srgbClr val="000000"/>
                          </a:solidFill>
                          <a:effectLst/>
                          <a:latin typeface="Lucida Console" panose="020B0609040504020204" pitchFamily="49" charset="0"/>
                        </a:rPr>
                        <a:t> 2var_global x13_ammod_wai + x15_issl_z                                 115.  0.595</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984543100"/>
                  </a:ext>
                </a:extLst>
              </a:tr>
              <a:tr h="182880">
                <a:tc>
                  <a:txBody>
                    <a:bodyPr/>
                    <a:lstStyle/>
                    <a:p>
                      <a:pPr algn="l" fontAlgn="ctr"/>
                      <a:r>
                        <a:rPr lang="en-US" sz="1000" b="0" i="0" u="none" strike="noStrike">
                          <a:solidFill>
                            <a:srgbClr val="BCBCBC"/>
                          </a:solidFill>
                          <a:effectLst/>
                          <a:latin typeface="Lucida Console" panose="020B0609040504020204" pitchFamily="49" charset="0"/>
                        </a:rPr>
                        <a:t>4</a:t>
                      </a:r>
                      <a:r>
                        <a:rPr lang="en-US" sz="1000" b="0" i="0" u="none" strike="noStrike">
                          <a:solidFill>
                            <a:srgbClr val="000000"/>
                          </a:solidFill>
                          <a:effectLst/>
                          <a:latin typeface="Lucida Console" panose="020B0609040504020204" pitchFamily="49" charset="0"/>
                        </a:rPr>
                        <a:t> 2var_global x12_dfa_biomass_euph_shelf_sum + x15_ishark_df_asleeper_z  116.  0.623</a:t>
                      </a:r>
                      <a:endParaRPr lang="en-US" sz="10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470676799"/>
                  </a:ext>
                </a:extLst>
              </a:tr>
              <a:tr h="182880">
                <a:tc>
                  <a:txBody>
                    <a:bodyPr/>
                    <a:lstStyle/>
                    <a:p>
                      <a:pPr algn="l" fontAlgn="ctr"/>
                      <a:r>
                        <a:rPr lang="en-US" sz="1000" b="0" i="0" u="none" strike="noStrike" dirty="0">
                          <a:solidFill>
                            <a:srgbClr val="BCBCBC"/>
                          </a:solidFill>
                          <a:effectLst/>
                          <a:latin typeface="Lucida Console" panose="020B0609040504020204" pitchFamily="49" charset="0"/>
                        </a:rPr>
                        <a:t>5</a:t>
                      </a:r>
                      <a:r>
                        <a:rPr lang="en-US" sz="1000" b="0" i="0" u="none" strike="noStrike" dirty="0">
                          <a:solidFill>
                            <a:srgbClr val="000000"/>
                          </a:solidFill>
                          <a:effectLst/>
                          <a:latin typeface="Lucida Console" panose="020B0609040504020204" pitchFamily="49" charset="0"/>
                        </a:rPr>
                        <a:t> 2var_global x12_dfa_biomass_euph_shelf_sum + x13_ammod_wai             116.  0.587</a:t>
                      </a:r>
                      <a:endParaRPr lang="en-US" sz="1000" b="0" i="0" u="none" strike="noStrike" dirty="0">
                        <a:solidFill>
                          <a:srgbClr val="BCBCBC"/>
                        </a:solidFill>
                        <a:effectLst/>
                        <a:latin typeface="Lucida Console" panose="020B0609040504020204" pitchFamily="49" charset="0"/>
                      </a:endParaRPr>
                    </a:p>
                  </a:txBody>
                  <a:tcPr marL="7620" marR="7620" marT="7620" marB="0" anchor="ctr">
                    <a:lnL>
                      <a:noFill/>
                    </a:lnL>
                    <a:lnR>
                      <a:noFill/>
                    </a:lnR>
                    <a:lnT>
                      <a:noFill/>
                    </a:lnT>
                    <a:lnB>
                      <a:noFill/>
                    </a:lnB>
                    <a:solidFill>
                      <a:srgbClr val="FFFFFF"/>
                    </a:solidFill>
                  </a:tcPr>
                </a:tc>
                <a:extLst>
                  <a:ext uri="{0D108BD9-81ED-4DB2-BD59-A6C34878D82A}">
                    <a16:rowId xmlns:a16="http://schemas.microsoft.com/office/drawing/2014/main" val="3537168723"/>
                  </a:ext>
                </a:extLst>
              </a:tr>
            </a:tbl>
          </a:graphicData>
        </a:graphic>
      </p:graphicFrame>
      <p:graphicFrame>
        <p:nvGraphicFramePr>
          <p:cNvPr id="5" name="Table 4">
            <a:extLst>
              <a:ext uri="{FF2B5EF4-FFF2-40B4-BE49-F238E27FC236}">
                <a16:creationId xmlns:a16="http://schemas.microsoft.com/office/drawing/2014/main" id="{4D75EF6C-3A49-4DCD-8DE8-1D6B9C36FA28}"/>
              </a:ext>
            </a:extLst>
          </p:cNvPr>
          <p:cNvGraphicFramePr>
            <a:graphicFrameLocks noGrp="1"/>
          </p:cNvGraphicFramePr>
          <p:nvPr>
            <p:extLst>
              <p:ext uri="{D42A27DB-BD31-4B8C-83A1-F6EECF244321}">
                <p14:modId xmlns:p14="http://schemas.microsoft.com/office/powerpoint/2010/main" val="3282731048"/>
              </p:ext>
            </p:extLst>
          </p:nvPr>
        </p:nvGraphicFramePr>
        <p:xfrm>
          <a:off x="235670" y="5674056"/>
          <a:ext cx="11240678" cy="1052604"/>
        </p:xfrm>
        <a:graphic>
          <a:graphicData uri="http://schemas.openxmlformats.org/drawingml/2006/table">
            <a:tbl>
              <a:tblPr/>
              <a:tblGrid>
                <a:gridCol w="11240678">
                  <a:extLst>
                    <a:ext uri="{9D8B030D-6E8A-4147-A177-3AD203B41FA5}">
                      <a16:colId xmlns:a16="http://schemas.microsoft.com/office/drawing/2014/main" val="943111846"/>
                    </a:ext>
                  </a:extLst>
                </a:gridCol>
              </a:tblGrid>
              <a:tr h="150372">
                <a:tc>
                  <a:txBody>
                    <a:bodyPr/>
                    <a:lstStyle/>
                    <a:p>
                      <a:pPr algn="l" fontAlgn="ctr"/>
                      <a:r>
                        <a:rPr lang="en-US" sz="700" b="0" i="0" u="none" strike="noStrike">
                          <a:solidFill>
                            <a:srgbClr val="000000"/>
                          </a:solidFill>
                          <a:effectLst/>
                          <a:latin typeface="Lucida Console" panose="020B0609040504020204" pitchFamily="49" charset="0"/>
                        </a:rPr>
                        <a:t>  model_type  terms             n   aic   bic   cfi  rmsea sar_r2 term1 term2 term3     b1       p1     b2       p2     b3       p3 n_terms has_ishark has_issl has_icsl has_any_index index_count model_label</a:t>
                      </a:r>
                    </a:p>
                  </a:txBody>
                  <a:tcPr marL="6266" marR="6266" marT="6266" marB="0" anchor="ctr">
                    <a:lnL>
                      <a:noFill/>
                    </a:lnL>
                    <a:lnR>
                      <a:noFill/>
                    </a:lnR>
                    <a:lnT>
                      <a:noFill/>
                    </a:lnT>
                    <a:lnB>
                      <a:noFill/>
                    </a:lnB>
                  </a:tcPr>
                </a:tc>
                <a:extLst>
                  <a:ext uri="{0D108BD9-81ED-4DB2-BD59-A6C34878D82A}">
                    <a16:rowId xmlns:a16="http://schemas.microsoft.com/office/drawing/2014/main" val="3829503971"/>
                  </a:ext>
                </a:extLst>
              </a:tr>
              <a:tr h="150372">
                <a:tc>
                  <a:txBody>
                    <a:bodyPr/>
                    <a:lstStyle/>
                    <a:p>
                      <a:pPr algn="l" fontAlgn="ct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&lt;chr&gt;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&lt;chr&gt;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&lt;int&gt;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&lt;dbl&gt;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&lt;dbl&gt;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&lt;dbl&gt;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&lt;dbl&gt;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&lt;dbl&gt;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&lt;chr&gt;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&lt;chr&gt;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&lt;chr&gt;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&lt;dbl&gt;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&lt;dbl&gt;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&lt;dbl&gt;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&lt;dbl&gt;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&lt;dbl&gt;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&lt;dbl&gt;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&lt;int&gt;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&lt;lgl&gt;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&lt;lgl&gt;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&lt;lgl&gt;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&lt;lgl&gt;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&lt;int&gt;</a:t>
                      </a:r>
                      <a:r>
                        <a:rPr lang="en-US" sz="700" b="0" i="0" u="none" strike="noStrike">
                          <a:solidFill>
                            <a:srgbClr val="000000"/>
                          </a:solidFill>
                          <a:effectLst/>
                          <a:latin typeface="Lucida Console" panose="020B0609040504020204" pitchFamily="49" charset="0"/>
                        </a:rPr>
                        <a:t> </a:t>
                      </a:r>
                      <a:r>
                        <a:rPr lang="en-US" sz="700" b="0" i="1" u="none" strike="noStrike">
                          <a:solidFill>
                            <a:srgbClr val="949494"/>
                          </a:solidFill>
                          <a:effectLst/>
                          <a:latin typeface="Lucida Console" panose="020B0609040504020204" pitchFamily="49" charset="0"/>
                        </a:rPr>
                        <a:t>&lt;chr&gt;</a:t>
                      </a:r>
                      <a:r>
                        <a:rPr lang="en-US" sz="700" b="0" i="0" u="none" strike="noStrike">
                          <a:solidFill>
                            <a:srgbClr val="000000"/>
                          </a:solidFill>
                          <a:effectLst/>
                          <a:latin typeface="Lucida Console" panose="020B0609040504020204" pitchFamily="49" charset="0"/>
                        </a:rPr>
                        <a:t>      </a:t>
                      </a:r>
                    </a:p>
                  </a:txBody>
                  <a:tcPr marL="6266" marR="6266" marT="6266" marB="0" anchor="ctr">
                    <a:lnL>
                      <a:noFill/>
                    </a:lnL>
                    <a:lnR>
                      <a:noFill/>
                    </a:lnR>
                    <a:lnT>
                      <a:noFill/>
                    </a:lnT>
                    <a:lnB>
                      <a:noFill/>
                    </a:lnB>
                  </a:tcPr>
                </a:tc>
                <a:extLst>
                  <a:ext uri="{0D108BD9-81ED-4DB2-BD59-A6C34878D82A}">
                    <a16:rowId xmlns:a16="http://schemas.microsoft.com/office/drawing/2014/main" val="2296600848"/>
                  </a:ext>
                </a:extLst>
              </a:tr>
              <a:tr h="150372">
                <a:tc>
                  <a:txBody>
                    <a:bodyPr/>
                    <a:lstStyle/>
                    <a:p>
                      <a:pPr algn="l" fontAlgn="ctr"/>
                      <a:r>
                        <a:rPr lang="en-US" sz="700" b="0" i="0" u="none" strike="noStrike">
                          <a:solidFill>
                            <a:srgbClr val="BCBCBC"/>
                          </a:solidFill>
                          <a:effectLst/>
                          <a:latin typeface="Lucida Console" panose="020B0609040504020204" pitchFamily="49" charset="0"/>
                        </a:rPr>
                        <a:t>1</a:t>
                      </a:r>
                      <a:r>
                        <a:rPr lang="en-US" sz="700" b="0" i="0" u="none" strike="noStrike">
                          <a:solidFill>
                            <a:srgbClr val="000000"/>
                          </a:solidFill>
                          <a:effectLst/>
                          <a:latin typeface="Lucida Console" panose="020B0609040504020204" pitchFamily="49" charset="0"/>
                        </a:rPr>
                        <a:t> 3var_global x12_dfa_biom…    24  104.  114. 1     0       0.789 x12_… x15_… x15_… -</a:t>
                      </a:r>
                      <a:r>
                        <a:rPr lang="en-US" sz="700" b="0" i="0" u="none" strike="noStrike">
                          <a:solidFill>
                            <a:srgbClr val="CC0000"/>
                          </a:solidFill>
                          <a:effectLst/>
                          <a:latin typeface="Lucida Console" panose="020B0609040504020204" pitchFamily="49" charset="0"/>
                        </a:rPr>
                        <a:t>0.935</a:t>
                      </a:r>
                      <a:r>
                        <a:rPr lang="en-US" sz="700" b="0" i="0" u="none" strike="noStrike">
                          <a:solidFill>
                            <a:srgbClr val="000000"/>
                          </a:solidFill>
                          <a:effectLst/>
                          <a:latin typeface="Lucida Console" panose="020B0609040504020204" pitchFamily="49" charset="0"/>
                        </a:rPr>
                        <a:t> 5.96</a:t>
                      </a:r>
                      <a:r>
                        <a:rPr lang="en-US" sz="700" b="0" i="0" u="none" strike="noStrike">
                          <a:solidFill>
                            <a:srgbClr val="949494"/>
                          </a:solidFill>
                          <a:effectLst/>
                          <a:latin typeface="Lucida Console" panose="020B0609040504020204" pitchFamily="49" charset="0"/>
                        </a:rPr>
                        <a:t>e</a:t>
                      </a:r>
                      <a:r>
                        <a:rPr lang="en-US" sz="700" b="0" i="0" u="none" strike="noStrike">
                          <a:solidFill>
                            <a:srgbClr val="CC0000"/>
                          </a:solidFill>
                          <a:effectLst/>
                          <a:latin typeface="Lucida Console" panose="020B0609040504020204" pitchFamily="49" charset="0"/>
                        </a:rPr>
                        <a:t>-12</a:t>
                      </a:r>
                      <a:r>
                        <a:rPr lang="en-US" sz="700" b="0" i="0" u="none" strike="noStrike">
                          <a:solidFill>
                            <a:srgbClr val="000000"/>
                          </a:solidFill>
                          <a:effectLst/>
                          <a:latin typeface="Lucida Console" panose="020B0609040504020204" pitchFamily="49" charset="0"/>
                        </a:rPr>
                        <a:t> -</a:t>
                      </a:r>
                      <a:r>
                        <a:rPr lang="en-US" sz="700" b="0" i="0" u="none" strike="noStrike">
                          <a:solidFill>
                            <a:srgbClr val="CC0000"/>
                          </a:solidFill>
                          <a:effectLst/>
                          <a:latin typeface="Lucida Console" panose="020B0609040504020204" pitchFamily="49" charset="0"/>
                        </a:rPr>
                        <a:t>0.916</a:t>
                      </a:r>
                      <a:r>
                        <a:rPr lang="en-US" sz="700" b="0" i="0" u="none" strike="noStrike">
                          <a:solidFill>
                            <a:srgbClr val="000000"/>
                          </a:solidFill>
                          <a:effectLst/>
                          <a:latin typeface="Lucida Console" panose="020B0609040504020204" pitchFamily="49" charset="0"/>
                        </a:rPr>
                        <a:t> 1.26</a:t>
                      </a:r>
                      <a:r>
                        <a:rPr lang="en-US" sz="700" b="0" i="0" u="none" strike="noStrike">
                          <a:solidFill>
                            <a:srgbClr val="949494"/>
                          </a:solidFill>
                          <a:effectLst/>
                          <a:latin typeface="Lucida Console" panose="020B0609040504020204" pitchFamily="49" charset="0"/>
                        </a:rPr>
                        <a:t>e</a:t>
                      </a:r>
                      <a:r>
                        <a:rPr lang="en-US" sz="700" b="0" i="0" u="none" strike="noStrike">
                          <a:solidFill>
                            <a:srgbClr val="CC0000"/>
                          </a:solidFill>
                          <a:effectLst/>
                          <a:latin typeface="Lucida Console" panose="020B0609040504020204" pitchFamily="49" charset="0"/>
                        </a:rPr>
                        <a:t>-10</a:t>
                      </a:r>
                      <a:r>
                        <a:rPr lang="en-US" sz="700" b="0" i="0" u="none" strike="noStrike">
                          <a:solidFill>
                            <a:srgbClr val="000000"/>
                          </a:solidFill>
                          <a:effectLst/>
                          <a:latin typeface="Lucida Console" panose="020B0609040504020204" pitchFamily="49" charset="0"/>
                        </a:rPr>
                        <a:t>  0.763 5.05</a:t>
                      </a:r>
                      <a:r>
                        <a:rPr lang="en-US" sz="700" b="0" i="0" u="none" strike="noStrike">
                          <a:solidFill>
                            <a:srgbClr val="949494"/>
                          </a:solidFill>
                          <a:effectLst/>
                          <a:latin typeface="Lucida Console" panose="020B0609040504020204" pitchFamily="49" charset="0"/>
                        </a:rPr>
                        <a:t>e</a:t>
                      </a:r>
                      <a:r>
                        <a:rPr lang="en-US" sz="700" b="0" i="0" u="none" strike="noStrike">
                          <a:solidFill>
                            <a:srgbClr val="CC0000"/>
                          </a:solidFill>
                          <a:effectLst/>
                          <a:latin typeface="Lucida Console" panose="020B0609040504020204" pitchFamily="49" charset="0"/>
                        </a:rPr>
                        <a:t>- 8</a:t>
                      </a:r>
                      <a:r>
                        <a:rPr lang="en-US" sz="700" b="0" i="0" u="none" strike="noStrike">
                          <a:solidFill>
                            <a:srgbClr val="000000"/>
                          </a:solidFill>
                          <a:effectLst/>
                          <a:latin typeface="Lucida Console" panose="020B0609040504020204" pitchFamily="49" charset="0"/>
                        </a:rPr>
                        <a:t>       3 FALSE      FALSE    FALSE    FALSE                   0 M3247      </a:t>
                      </a:r>
                      <a:endParaRPr lang="en-US" sz="700" b="0" i="0" u="none" strike="noStrike">
                        <a:solidFill>
                          <a:srgbClr val="BCBCBC"/>
                        </a:solidFill>
                        <a:effectLst/>
                        <a:latin typeface="Lucida Console" panose="020B0609040504020204" pitchFamily="49" charset="0"/>
                      </a:endParaRPr>
                    </a:p>
                  </a:txBody>
                  <a:tcPr marL="6266" marR="6266" marT="6266" marB="0" anchor="ctr">
                    <a:lnL>
                      <a:noFill/>
                    </a:lnL>
                    <a:lnR>
                      <a:noFill/>
                    </a:lnR>
                    <a:lnT>
                      <a:noFill/>
                    </a:lnT>
                    <a:lnB>
                      <a:noFill/>
                    </a:lnB>
                  </a:tcPr>
                </a:tc>
                <a:extLst>
                  <a:ext uri="{0D108BD9-81ED-4DB2-BD59-A6C34878D82A}">
                    <a16:rowId xmlns:a16="http://schemas.microsoft.com/office/drawing/2014/main" val="666587420"/>
                  </a:ext>
                </a:extLst>
              </a:tr>
              <a:tr h="150372">
                <a:tc>
                  <a:txBody>
                    <a:bodyPr/>
                    <a:lstStyle/>
                    <a:p>
                      <a:pPr algn="l" fontAlgn="ctr"/>
                      <a:r>
                        <a:rPr lang="en-US" sz="700" b="0" i="0" u="none" strike="noStrike">
                          <a:solidFill>
                            <a:srgbClr val="BCBCBC"/>
                          </a:solidFill>
                          <a:effectLst/>
                          <a:latin typeface="Lucida Console" panose="020B0609040504020204" pitchFamily="49" charset="0"/>
                        </a:rPr>
                        <a:t>2</a:t>
                      </a:r>
                      <a:r>
                        <a:rPr lang="en-US" sz="700" b="0" i="0" u="none" strike="noStrike">
                          <a:solidFill>
                            <a:srgbClr val="000000"/>
                          </a:solidFill>
                          <a:effectLst/>
                          <a:latin typeface="Lucida Console" panose="020B0609040504020204" pitchFamily="49" charset="0"/>
                        </a:rPr>
                        <a:t> 3var_global x13_dfa_wgoa…    24  105.  116. 1     0       0.780 x13_… x15_… x15_… -</a:t>
                      </a:r>
                      <a:r>
                        <a:rPr lang="en-US" sz="700" b="0" i="0" u="none" strike="noStrike">
                          <a:solidFill>
                            <a:srgbClr val="CC0000"/>
                          </a:solidFill>
                          <a:effectLst/>
                          <a:latin typeface="Lucida Console" panose="020B0609040504020204" pitchFamily="49" charset="0"/>
                        </a:rPr>
                        <a:t>0.439</a:t>
                      </a:r>
                      <a:r>
                        <a:rPr lang="en-US" sz="700" b="0" i="0" u="none" strike="noStrike">
                          <a:solidFill>
                            <a:srgbClr val="000000"/>
                          </a:solidFill>
                          <a:effectLst/>
                          <a:latin typeface="Lucida Console" panose="020B0609040504020204" pitchFamily="49" charset="0"/>
                        </a:rPr>
                        <a:t> 1.78</a:t>
                      </a:r>
                      <a:r>
                        <a:rPr lang="en-US" sz="700" b="0" i="0" u="none" strike="noStrike">
                          <a:solidFill>
                            <a:srgbClr val="949494"/>
                          </a:solidFill>
                          <a:effectLst/>
                          <a:latin typeface="Lucida Console" panose="020B0609040504020204" pitchFamily="49" charset="0"/>
                        </a:rPr>
                        <a:t>e</a:t>
                      </a:r>
                      <a:r>
                        <a:rPr lang="en-US" sz="700" b="0" i="0" u="none" strike="noStrike">
                          <a:solidFill>
                            <a:srgbClr val="CC0000"/>
                          </a:solidFill>
                          <a:effectLst/>
                          <a:latin typeface="Lucida Console" panose="020B0609040504020204" pitchFamily="49" charset="0"/>
                        </a:rPr>
                        <a:t>- 4</a:t>
                      </a:r>
                      <a:r>
                        <a:rPr lang="en-US" sz="700" b="0" i="0" u="none" strike="noStrike">
                          <a:solidFill>
                            <a:srgbClr val="000000"/>
                          </a:solidFill>
                          <a:effectLst/>
                          <a:latin typeface="Lucida Console" panose="020B0609040504020204" pitchFamily="49" charset="0"/>
                        </a:rPr>
                        <a:t> -</a:t>
                      </a:r>
                      <a:r>
                        <a:rPr lang="en-US" sz="700" b="0" i="0" u="none" strike="noStrike">
                          <a:solidFill>
                            <a:srgbClr val="CC0000"/>
                          </a:solidFill>
                          <a:effectLst/>
                          <a:latin typeface="Lucida Console" panose="020B0609040504020204" pitchFamily="49" charset="0"/>
                        </a:rPr>
                        <a:t>0.765</a:t>
                      </a:r>
                      <a:r>
                        <a:rPr lang="en-US" sz="700" b="0" i="0" u="none" strike="noStrike">
                          <a:solidFill>
                            <a:srgbClr val="000000"/>
                          </a:solidFill>
                          <a:effectLst/>
                          <a:latin typeface="Lucida Console" panose="020B0609040504020204" pitchFamily="49" charset="0"/>
                        </a:rPr>
                        <a:t> 3.89</a:t>
                      </a:r>
                      <a:r>
                        <a:rPr lang="en-US" sz="700" b="0" i="0" u="none" strike="noStrike">
                          <a:solidFill>
                            <a:srgbClr val="949494"/>
                          </a:solidFill>
                          <a:effectLst/>
                          <a:latin typeface="Lucida Console" panose="020B0609040504020204" pitchFamily="49" charset="0"/>
                        </a:rPr>
                        <a:t>e</a:t>
                      </a:r>
                      <a:r>
                        <a:rPr lang="en-US" sz="700" b="0" i="0" u="none" strike="noStrike">
                          <a:solidFill>
                            <a:srgbClr val="CC0000"/>
                          </a:solidFill>
                          <a:effectLst/>
                          <a:latin typeface="Lucida Console" panose="020B0609040504020204" pitchFamily="49" charset="0"/>
                        </a:rPr>
                        <a:t>- 9</a:t>
                      </a:r>
                      <a:r>
                        <a:rPr lang="en-US" sz="700" b="0" i="0" u="none" strike="noStrike">
                          <a:solidFill>
                            <a:srgbClr val="000000"/>
                          </a:solidFill>
                          <a:effectLst/>
                          <a:latin typeface="Lucida Console" panose="020B0609040504020204" pitchFamily="49" charset="0"/>
                        </a:rPr>
                        <a:t> -</a:t>
                      </a:r>
                      <a:r>
                        <a:rPr lang="en-US" sz="700" b="0" i="0" u="none" strike="noStrike">
                          <a:solidFill>
                            <a:srgbClr val="CC0000"/>
                          </a:solidFill>
                          <a:effectLst/>
                          <a:latin typeface="Lucida Console" panose="020B0609040504020204" pitchFamily="49" charset="0"/>
                        </a:rPr>
                        <a:t>0.582</a:t>
                      </a:r>
                      <a:r>
                        <a:rPr lang="en-US" sz="700" b="0" i="0" u="none" strike="noStrike">
                          <a:solidFill>
                            <a:srgbClr val="000000"/>
                          </a:solidFill>
                          <a:effectLst/>
                          <a:latin typeface="Lucida Console" panose="020B0609040504020204" pitchFamily="49" charset="0"/>
                        </a:rPr>
                        <a:t> 4.62</a:t>
                      </a:r>
                      <a:r>
                        <a:rPr lang="en-US" sz="700" b="0" i="0" u="none" strike="noStrike">
                          <a:solidFill>
                            <a:srgbClr val="949494"/>
                          </a:solidFill>
                          <a:effectLst/>
                          <a:latin typeface="Lucida Console" panose="020B0609040504020204" pitchFamily="49" charset="0"/>
                        </a:rPr>
                        <a:t>e</a:t>
                      </a:r>
                      <a:r>
                        <a:rPr lang="en-US" sz="700" b="0" i="0" u="none" strike="noStrike">
                          <a:solidFill>
                            <a:srgbClr val="CC0000"/>
                          </a:solidFill>
                          <a:effectLst/>
                          <a:latin typeface="Lucida Console" panose="020B0609040504020204" pitchFamily="49" charset="0"/>
                        </a:rPr>
                        <a:t>- 6</a:t>
                      </a:r>
                      <a:r>
                        <a:rPr lang="en-US" sz="700" b="0" i="0" u="none" strike="noStrike">
                          <a:solidFill>
                            <a:srgbClr val="000000"/>
                          </a:solidFill>
                          <a:effectLst/>
                          <a:latin typeface="Lucida Console" panose="020B0609040504020204" pitchFamily="49" charset="0"/>
                        </a:rPr>
                        <a:t>       3 TRUE       TRUE     FALSE    TRUE                    2 M6221      </a:t>
                      </a:r>
                      <a:endParaRPr lang="en-US" sz="700" b="0" i="0" u="none" strike="noStrike">
                        <a:solidFill>
                          <a:srgbClr val="BCBCBC"/>
                        </a:solidFill>
                        <a:effectLst/>
                        <a:latin typeface="Lucida Console" panose="020B0609040504020204" pitchFamily="49" charset="0"/>
                      </a:endParaRPr>
                    </a:p>
                  </a:txBody>
                  <a:tcPr marL="6266" marR="6266" marT="6266" marB="0" anchor="ctr">
                    <a:lnL>
                      <a:noFill/>
                    </a:lnL>
                    <a:lnR>
                      <a:noFill/>
                    </a:lnR>
                    <a:lnT>
                      <a:noFill/>
                    </a:lnT>
                    <a:lnB>
                      <a:noFill/>
                    </a:lnB>
                  </a:tcPr>
                </a:tc>
                <a:extLst>
                  <a:ext uri="{0D108BD9-81ED-4DB2-BD59-A6C34878D82A}">
                    <a16:rowId xmlns:a16="http://schemas.microsoft.com/office/drawing/2014/main" val="1202238057"/>
                  </a:ext>
                </a:extLst>
              </a:tr>
              <a:tr h="150372">
                <a:tc>
                  <a:txBody>
                    <a:bodyPr/>
                    <a:lstStyle/>
                    <a:p>
                      <a:pPr algn="l" fontAlgn="ctr"/>
                      <a:r>
                        <a:rPr lang="en-US" sz="700" b="0" i="0" u="none" strike="noStrike">
                          <a:solidFill>
                            <a:srgbClr val="BCBCBC"/>
                          </a:solidFill>
                          <a:effectLst/>
                          <a:latin typeface="Lucida Console" panose="020B0609040504020204" pitchFamily="49" charset="0"/>
                        </a:rPr>
                        <a:t>3</a:t>
                      </a:r>
                      <a:r>
                        <a:rPr lang="en-US" sz="700" b="0" i="0" u="none" strike="noStrike">
                          <a:solidFill>
                            <a:srgbClr val="000000"/>
                          </a:solidFill>
                          <a:effectLst/>
                          <a:latin typeface="Lucida Console" panose="020B0609040504020204" pitchFamily="49" charset="0"/>
                        </a:rPr>
                        <a:t> 3var_global x12_dfa_biom…    24  105.  116. 1     0       0.779 x12_… x15_… x15_… -</a:t>
                      </a:r>
                      <a:r>
                        <a:rPr lang="en-US" sz="700" b="0" i="0" u="none" strike="noStrike">
                          <a:solidFill>
                            <a:srgbClr val="CC0000"/>
                          </a:solidFill>
                          <a:effectLst/>
                          <a:latin typeface="Lucida Console" panose="020B0609040504020204" pitchFamily="49" charset="0"/>
                        </a:rPr>
                        <a:t>0.414</a:t>
                      </a:r>
                      <a:r>
                        <a:rPr lang="en-US" sz="700" b="0" i="0" u="none" strike="noStrike">
                          <a:solidFill>
                            <a:srgbClr val="000000"/>
                          </a:solidFill>
                          <a:effectLst/>
                          <a:latin typeface="Lucida Console" panose="020B0609040504020204" pitchFamily="49" charset="0"/>
                        </a:rPr>
                        <a:t> 1.86</a:t>
                      </a:r>
                      <a:r>
                        <a:rPr lang="en-US" sz="700" b="0" i="0" u="none" strike="noStrike">
                          <a:solidFill>
                            <a:srgbClr val="949494"/>
                          </a:solidFill>
                          <a:effectLst/>
                          <a:latin typeface="Lucida Console" panose="020B0609040504020204" pitchFamily="49" charset="0"/>
                        </a:rPr>
                        <a:t>e</a:t>
                      </a:r>
                      <a:r>
                        <a:rPr lang="en-US" sz="700" b="0" i="0" u="none" strike="noStrike">
                          <a:solidFill>
                            <a:srgbClr val="CC0000"/>
                          </a:solidFill>
                          <a:effectLst/>
                          <a:latin typeface="Lucida Console" panose="020B0609040504020204" pitchFamily="49" charset="0"/>
                        </a:rPr>
                        <a:t>- 4</a:t>
                      </a:r>
                      <a:r>
                        <a:rPr lang="en-US" sz="700" b="0" i="0" u="none" strike="noStrike">
                          <a:solidFill>
                            <a:srgbClr val="000000"/>
                          </a:solidFill>
                          <a:effectLst/>
                          <a:latin typeface="Lucida Console" panose="020B0609040504020204" pitchFamily="49" charset="0"/>
                        </a:rPr>
                        <a:t> -</a:t>
                      </a:r>
                      <a:r>
                        <a:rPr lang="en-US" sz="700" b="0" i="0" u="none" strike="noStrike">
                          <a:solidFill>
                            <a:srgbClr val="CC0000"/>
                          </a:solidFill>
                          <a:effectLst/>
                          <a:latin typeface="Lucida Console" panose="020B0609040504020204" pitchFamily="49" charset="0"/>
                        </a:rPr>
                        <a:t>0.528</a:t>
                      </a:r>
                      <a:r>
                        <a:rPr lang="en-US" sz="700" b="0" i="0" u="none" strike="noStrike">
                          <a:solidFill>
                            <a:srgbClr val="000000"/>
                          </a:solidFill>
                          <a:effectLst/>
                          <a:latin typeface="Lucida Console" panose="020B0609040504020204" pitchFamily="49" charset="0"/>
                        </a:rPr>
                        <a:t> 3.64</a:t>
                      </a:r>
                      <a:r>
                        <a:rPr lang="en-US" sz="700" b="0" i="0" u="none" strike="noStrike">
                          <a:solidFill>
                            <a:srgbClr val="949494"/>
                          </a:solidFill>
                          <a:effectLst/>
                          <a:latin typeface="Lucida Console" panose="020B0609040504020204" pitchFamily="49" charset="0"/>
                        </a:rPr>
                        <a:t>e</a:t>
                      </a:r>
                      <a:r>
                        <a:rPr lang="en-US" sz="700" b="0" i="0" u="none" strike="noStrike">
                          <a:solidFill>
                            <a:srgbClr val="CC0000"/>
                          </a:solidFill>
                          <a:effectLst/>
                          <a:latin typeface="Lucida Console" panose="020B0609040504020204" pitchFamily="49" charset="0"/>
                        </a:rPr>
                        <a:t>- 5</a:t>
                      </a:r>
                      <a:r>
                        <a:rPr lang="en-US" sz="700" b="0" i="0" u="none" strike="noStrike">
                          <a:solidFill>
                            <a:srgbClr val="000000"/>
                          </a:solidFill>
                          <a:effectLst/>
                          <a:latin typeface="Lucida Console" panose="020B0609040504020204" pitchFamily="49" charset="0"/>
                        </a:rPr>
                        <a:t> -</a:t>
                      </a:r>
                      <a:r>
                        <a:rPr lang="en-US" sz="700" b="0" i="0" u="none" strike="noStrike">
                          <a:solidFill>
                            <a:srgbClr val="CC0000"/>
                          </a:solidFill>
                          <a:effectLst/>
                          <a:latin typeface="Lucida Console" panose="020B0609040504020204" pitchFamily="49" charset="0"/>
                        </a:rPr>
                        <a:t>0.789</a:t>
                      </a:r>
                      <a:r>
                        <a:rPr lang="en-US" sz="700" b="0" i="0" u="none" strike="noStrike">
                          <a:solidFill>
                            <a:srgbClr val="000000"/>
                          </a:solidFill>
                          <a:effectLst/>
                          <a:latin typeface="Lucida Console" panose="020B0609040504020204" pitchFamily="49" charset="0"/>
                        </a:rPr>
                        <a:t> 2.60</a:t>
                      </a:r>
                      <a:r>
                        <a:rPr lang="en-US" sz="700" b="0" i="0" u="none" strike="noStrike">
                          <a:solidFill>
                            <a:srgbClr val="949494"/>
                          </a:solidFill>
                          <a:effectLst/>
                          <a:latin typeface="Lucida Console" panose="020B0609040504020204" pitchFamily="49" charset="0"/>
                        </a:rPr>
                        <a:t>e</a:t>
                      </a:r>
                      <a:r>
                        <a:rPr lang="en-US" sz="700" b="0" i="0" u="none" strike="noStrike">
                          <a:solidFill>
                            <a:srgbClr val="CC0000"/>
                          </a:solidFill>
                          <a:effectLst/>
                          <a:latin typeface="Lucida Console" panose="020B0609040504020204" pitchFamily="49" charset="0"/>
                        </a:rPr>
                        <a:t>-10</a:t>
                      </a:r>
                      <a:r>
                        <a:rPr lang="en-US" sz="700" b="0" i="0" u="none" strike="noStrike">
                          <a:solidFill>
                            <a:srgbClr val="000000"/>
                          </a:solidFill>
                          <a:effectLst/>
                          <a:latin typeface="Lucida Console" panose="020B0609040504020204" pitchFamily="49" charset="0"/>
                        </a:rPr>
                        <a:t>       3 TRUE       TRUE     FALSE    TRUE                    2 M3330      </a:t>
                      </a:r>
                      <a:endParaRPr lang="en-US" sz="700" b="0" i="0" u="none" strike="noStrike">
                        <a:solidFill>
                          <a:srgbClr val="BCBCBC"/>
                        </a:solidFill>
                        <a:effectLst/>
                        <a:latin typeface="Lucida Console" panose="020B0609040504020204" pitchFamily="49" charset="0"/>
                      </a:endParaRPr>
                    </a:p>
                  </a:txBody>
                  <a:tcPr marL="6266" marR="6266" marT="6266" marB="0" anchor="ctr">
                    <a:lnL>
                      <a:noFill/>
                    </a:lnL>
                    <a:lnR>
                      <a:noFill/>
                    </a:lnR>
                    <a:lnT>
                      <a:noFill/>
                    </a:lnT>
                    <a:lnB>
                      <a:noFill/>
                    </a:lnB>
                  </a:tcPr>
                </a:tc>
                <a:extLst>
                  <a:ext uri="{0D108BD9-81ED-4DB2-BD59-A6C34878D82A}">
                    <a16:rowId xmlns:a16="http://schemas.microsoft.com/office/drawing/2014/main" val="766873422"/>
                  </a:ext>
                </a:extLst>
              </a:tr>
              <a:tr h="150372">
                <a:tc>
                  <a:txBody>
                    <a:bodyPr/>
                    <a:lstStyle/>
                    <a:p>
                      <a:pPr algn="l" fontAlgn="ctr"/>
                      <a:r>
                        <a:rPr lang="en-US" sz="700" b="0" i="0" u="none" strike="noStrike">
                          <a:solidFill>
                            <a:srgbClr val="BCBCBC"/>
                          </a:solidFill>
                          <a:effectLst/>
                          <a:latin typeface="Lucida Console" panose="020B0609040504020204" pitchFamily="49" charset="0"/>
                        </a:rPr>
                        <a:t>4</a:t>
                      </a:r>
                      <a:r>
                        <a:rPr lang="en-US" sz="700" b="0" i="0" u="none" strike="noStrike">
                          <a:solidFill>
                            <a:srgbClr val="000000"/>
                          </a:solidFill>
                          <a:effectLst/>
                          <a:latin typeface="Lucida Console" panose="020B0609040504020204" pitchFamily="49" charset="0"/>
                        </a:rPr>
                        <a:t> 3var_global x12_dfa_biom…    24  105.  116. 0.981 0.092</a:t>
                      </a:r>
                      <a:r>
                        <a:rPr lang="en-US" sz="700" b="0" i="0" u="sng" strike="noStrike">
                          <a:solidFill>
                            <a:srgbClr val="000000"/>
                          </a:solidFill>
                          <a:effectLst/>
                          <a:latin typeface="Lucida Console" panose="020B0609040504020204" pitchFamily="49" charset="0"/>
                        </a:rPr>
                        <a:t>9</a:t>
                      </a:r>
                      <a:r>
                        <a:rPr lang="en-US" sz="700" b="0" i="0" u="none" strike="noStrike">
                          <a:solidFill>
                            <a:srgbClr val="000000"/>
                          </a:solidFill>
                          <a:effectLst/>
                          <a:latin typeface="Lucida Console" panose="020B0609040504020204" pitchFamily="49" charset="0"/>
                        </a:rPr>
                        <a:t>  0.764 x12_… x13_… x13_… -</a:t>
                      </a:r>
                      <a:r>
                        <a:rPr lang="en-US" sz="700" b="0" i="0" u="none" strike="noStrike">
                          <a:solidFill>
                            <a:srgbClr val="CC0000"/>
                          </a:solidFill>
                          <a:effectLst/>
                          <a:latin typeface="Lucida Console" panose="020B0609040504020204" pitchFamily="49" charset="0"/>
                        </a:rPr>
                        <a:t>0.595</a:t>
                      </a:r>
                      <a:r>
                        <a:rPr lang="en-US" sz="700" b="0" i="0" u="none" strike="noStrike">
                          <a:solidFill>
                            <a:srgbClr val="000000"/>
                          </a:solidFill>
                          <a:effectLst/>
                          <a:latin typeface="Lucida Console" panose="020B0609040504020204" pitchFamily="49" charset="0"/>
                        </a:rPr>
                        <a:t> 7.11</a:t>
                      </a:r>
                      <a:r>
                        <a:rPr lang="en-US" sz="700" b="0" i="0" u="none" strike="noStrike">
                          <a:solidFill>
                            <a:srgbClr val="949494"/>
                          </a:solidFill>
                          <a:effectLst/>
                          <a:latin typeface="Lucida Console" panose="020B0609040504020204" pitchFamily="49" charset="0"/>
                        </a:rPr>
                        <a:t>e</a:t>
                      </a:r>
                      <a:r>
                        <a:rPr lang="en-US" sz="700" b="0" i="0" u="none" strike="noStrike">
                          <a:solidFill>
                            <a:srgbClr val="CC0000"/>
                          </a:solidFill>
                          <a:effectLst/>
                          <a:latin typeface="Lucida Console" panose="020B0609040504020204" pitchFamily="49" charset="0"/>
                        </a:rPr>
                        <a:t>- 8</a:t>
                      </a:r>
                      <a:r>
                        <a:rPr lang="en-US" sz="700" b="0" i="0" u="none" strike="noStrike">
                          <a:solidFill>
                            <a:srgbClr val="000000"/>
                          </a:solidFill>
                          <a:effectLst/>
                          <a:latin typeface="Lucida Console" panose="020B0609040504020204" pitchFamily="49" charset="0"/>
                        </a:rPr>
                        <a:t> -</a:t>
                      </a:r>
                      <a:r>
                        <a:rPr lang="en-US" sz="700" b="0" i="0" u="none" strike="noStrike">
                          <a:solidFill>
                            <a:srgbClr val="CC0000"/>
                          </a:solidFill>
                          <a:effectLst/>
                          <a:latin typeface="Lucida Console" panose="020B0609040504020204" pitchFamily="49" charset="0"/>
                        </a:rPr>
                        <a:t>0.460</a:t>
                      </a:r>
                      <a:r>
                        <a:rPr lang="en-US" sz="700" b="0" i="0" u="none" strike="noStrike">
                          <a:solidFill>
                            <a:srgbClr val="000000"/>
                          </a:solidFill>
                          <a:effectLst/>
                          <a:latin typeface="Lucida Console" panose="020B0609040504020204" pitchFamily="49" charset="0"/>
                        </a:rPr>
                        <a:t> 6.16</a:t>
                      </a:r>
                      <a:r>
                        <a:rPr lang="en-US" sz="700" b="0" i="0" u="none" strike="noStrike">
                          <a:solidFill>
                            <a:srgbClr val="949494"/>
                          </a:solidFill>
                          <a:effectLst/>
                          <a:latin typeface="Lucida Console" panose="020B0609040504020204" pitchFamily="49" charset="0"/>
                        </a:rPr>
                        <a:t>e</a:t>
                      </a:r>
                      <a:r>
                        <a:rPr lang="en-US" sz="700" b="0" i="0" u="none" strike="noStrike">
                          <a:solidFill>
                            <a:srgbClr val="CC0000"/>
                          </a:solidFill>
                          <a:effectLst/>
                          <a:latin typeface="Lucida Console" panose="020B0609040504020204" pitchFamily="49" charset="0"/>
                        </a:rPr>
                        <a:t>- 6</a:t>
                      </a:r>
                      <a:r>
                        <a:rPr lang="en-US" sz="700" b="0" i="0" u="none" strike="noStrike">
                          <a:solidFill>
                            <a:srgbClr val="000000"/>
                          </a:solidFill>
                          <a:effectLst/>
                          <a:latin typeface="Lucida Console" panose="020B0609040504020204" pitchFamily="49" charset="0"/>
                        </a:rPr>
                        <a:t> -</a:t>
                      </a:r>
                      <a:r>
                        <a:rPr lang="en-US" sz="700" b="0" i="0" u="none" strike="noStrike">
                          <a:solidFill>
                            <a:srgbClr val="CC0000"/>
                          </a:solidFill>
                          <a:effectLst/>
                          <a:latin typeface="Lucida Console" panose="020B0609040504020204" pitchFamily="49" charset="0"/>
                        </a:rPr>
                        <a:t>0.437</a:t>
                      </a:r>
                      <a:r>
                        <a:rPr lang="en-US" sz="700" b="0" i="0" u="none" strike="noStrike">
                          <a:solidFill>
                            <a:srgbClr val="000000"/>
                          </a:solidFill>
                          <a:effectLst/>
                          <a:latin typeface="Lucida Console" panose="020B0609040504020204" pitchFamily="49" charset="0"/>
                        </a:rPr>
                        <a:t> 3.07</a:t>
                      </a:r>
                      <a:r>
                        <a:rPr lang="en-US" sz="700" b="0" i="0" u="none" strike="noStrike">
                          <a:solidFill>
                            <a:srgbClr val="949494"/>
                          </a:solidFill>
                          <a:effectLst/>
                          <a:latin typeface="Lucida Console" panose="020B0609040504020204" pitchFamily="49" charset="0"/>
                        </a:rPr>
                        <a:t>e</a:t>
                      </a:r>
                      <a:r>
                        <a:rPr lang="en-US" sz="700" b="0" i="0" u="none" strike="noStrike">
                          <a:solidFill>
                            <a:srgbClr val="CC0000"/>
                          </a:solidFill>
                          <a:effectLst/>
                          <a:latin typeface="Lucida Console" panose="020B0609040504020204" pitchFamily="49" charset="0"/>
                        </a:rPr>
                        <a:t>- 5</a:t>
                      </a:r>
                      <a:r>
                        <a:rPr lang="en-US" sz="700" b="0" i="0" u="none" strike="noStrike">
                          <a:solidFill>
                            <a:srgbClr val="000000"/>
                          </a:solidFill>
                          <a:effectLst/>
                          <a:latin typeface="Lucida Console" panose="020B0609040504020204" pitchFamily="49" charset="0"/>
                        </a:rPr>
                        <a:t>       3 FALSE      FALSE    FALSE    FALSE                   0 M2742      </a:t>
                      </a:r>
                      <a:endParaRPr lang="en-US" sz="700" b="0" i="0" u="none" strike="noStrike">
                        <a:solidFill>
                          <a:srgbClr val="BCBCBC"/>
                        </a:solidFill>
                        <a:effectLst/>
                        <a:latin typeface="Lucida Console" panose="020B0609040504020204" pitchFamily="49" charset="0"/>
                      </a:endParaRPr>
                    </a:p>
                  </a:txBody>
                  <a:tcPr marL="6266" marR="6266" marT="6266" marB="0" anchor="ctr">
                    <a:lnL>
                      <a:noFill/>
                    </a:lnL>
                    <a:lnR>
                      <a:noFill/>
                    </a:lnR>
                    <a:lnT>
                      <a:noFill/>
                    </a:lnT>
                    <a:lnB>
                      <a:noFill/>
                    </a:lnB>
                  </a:tcPr>
                </a:tc>
                <a:extLst>
                  <a:ext uri="{0D108BD9-81ED-4DB2-BD59-A6C34878D82A}">
                    <a16:rowId xmlns:a16="http://schemas.microsoft.com/office/drawing/2014/main" val="91219635"/>
                  </a:ext>
                </a:extLst>
              </a:tr>
              <a:tr h="150372">
                <a:tc>
                  <a:txBody>
                    <a:bodyPr/>
                    <a:lstStyle/>
                    <a:p>
                      <a:pPr algn="l" fontAlgn="ctr"/>
                      <a:r>
                        <a:rPr lang="en-US" sz="700" b="0" i="0" u="none" strike="noStrike" dirty="0">
                          <a:solidFill>
                            <a:srgbClr val="BCBCBC"/>
                          </a:solidFill>
                          <a:effectLst/>
                          <a:latin typeface="Lucida Console" panose="020B0609040504020204" pitchFamily="49" charset="0"/>
                        </a:rPr>
                        <a:t>5</a:t>
                      </a:r>
                      <a:r>
                        <a:rPr lang="en-US" sz="700" b="0" i="0" u="none" strike="noStrike" dirty="0">
                          <a:solidFill>
                            <a:srgbClr val="000000"/>
                          </a:solidFill>
                          <a:effectLst/>
                          <a:latin typeface="Lucida Console" panose="020B0609040504020204" pitchFamily="49" charset="0"/>
                        </a:rPr>
                        <a:t> 3var_global x12_dfa_biom…    24  106.  116. 1     0       0.778 x12_… x15_… x15_… -</a:t>
                      </a:r>
                      <a:r>
                        <a:rPr lang="en-US" sz="700" b="0" i="0" u="none" strike="noStrike" dirty="0">
                          <a:solidFill>
                            <a:srgbClr val="CC0000"/>
                          </a:solidFill>
                          <a:effectLst/>
                          <a:latin typeface="Lucida Console" panose="020B0609040504020204" pitchFamily="49" charset="0"/>
                        </a:rPr>
                        <a:t>0.324</a:t>
                      </a:r>
                      <a:r>
                        <a:rPr lang="en-US" sz="700" b="0" i="0" u="none" strike="noStrike" dirty="0">
                          <a:solidFill>
                            <a:srgbClr val="000000"/>
                          </a:solidFill>
                          <a:effectLst/>
                          <a:latin typeface="Lucida Console" panose="020B0609040504020204" pitchFamily="49" charset="0"/>
                        </a:rPr>
                        <a:t> 3.45</a:t>
                      </a:r>
                      <a:r>
                        <a:rPr lang="en-US" sz="700" b="0" i="0" u="none" strike="noStrike" dirty="0">
                          <a:solidFill>
                            <a:srgbClr val="949494"/>
                          </a:solidFill>
                          <a:effectLst/>
                          <a:latin typeface="Lucida Console" panose="020B0609040504020204" pitchFamily="49" charset="0"/>
                        </a:rPr>
                        <a:t>e</a:t>
                      </a:r>
                      <a:r>
                        <a:rPr lang="en-US" sz="700" b="0" i="0" u="none" strike="noStrike" dirty="0">
                          <a:solidFill>
                            <a:srgbClr val="CC0000"/>
                          </a:solidFill>
                          <a:effectLst/>
                          <a:latin typeface="Lucida Console" panose="020B0609040504020204" pitchFamily="49" charset="0"/>
                        </a:rPr>
                        <a:t>- 3</a:t>
                      </a:r>
                      <a:r>
                        <a:rPr lang="en-US" sz="700" b="0" i="0" u="none" strike="noStrike" dirty="0">
                          <a:solidFill>
                            <a:srgbClr val="000000"/>
                          </a:solidFill>
                          <a:effectLst/>
                          <a:latin typeface="Lucida Console" panose="020B0609040504020204" pitchFamily="49" charset="0"/>
                        </a:rPr>
                        <a:t> -</a:t>
                      </a:r>
                      <a:r>
                        <a:rPr lang="en-US" sz="700" b="0" i="0" u="none" strike="noStrike" dirty="0">
                          <a:solidFill>
                            <a:srgbClr val="CC0000"/>
                          </a:solidFill>
                          <a:effectLst/>
                          <a:latin typeface="Lucida Console" panose="020B0609040504020204" pitchFamily="49" charset="0"/>
                        </a:rPr>
                        <a:t>0.770</a:t>
                      </a:r>
                      <a:r>
                        <a:rPr lang="en-US" sz="700" b="0" i="0" u="none" strike="noStrike" dirty="0">
                          <a:solidFill>
                            <a:srgbClr val="000000"/>
                          </a:solidFill>
                          <a:effectLst/>
                          <a:latin typeface="Lucida Console" panose="020B0609040504020204" pitchFamily="49" charset="0"/>
                        </a:rPr>
                        <a:t> 6.84</a:t>
                      </a:r>
                      <a:r>
                        <a:rPr lang="en-US" sz="700" b="0" i="0" u="none" strike="noStrike" dirty="0">
                          <a:solidFill>
                            <a:srgbClr val="949494"/>
                          </a:solidFill>
                          <a:effectLst/>
                          <a:latin typeface="Lucida Console" panose="020B0609040504020204" pitchFamily="49" charset="0"/>
                        </a:rPr>
                        <a:t>e</a:t>
                      </a:r>
                      <a:r>
                        <a:rPr lang="en-US" sz="700" b="0" i="0" u="none" strike="noStrike" dirty="0">
                          <a:solidFill>
                            <a:srgbClr val="CC0000"/>
                          </a:solidFill>
                          <a:effectLst/>
                          <a:latin typeface="Lucida Console" panose="020B0609040504020204" pitchFamily="49" charset="0"/>
                        </a:rPr>
                        <a:t>-10</a:t>
                      </a:r>
                      <a:r>
                        <a:rPr lang="en-US" sz="700" b="0" i="0" u="none" strike="noStrike" dirty="0">
                          <a:solidFill>
                            <a:srgbClr val="000000"/>
                          </a:solidFill>
                          <a:effectLst/>
                          <a:latin typeface="Lucida Console" panose="020B0609040504020204" pitchFamily="49" charset="0"/>
                        </a:rPr>
                        <a:t> -</a:t>
                      </a:r>
                      <a:r>
                        <a:rPr lang="en-US" sz="700" b="0" i="0" u="none" strike="noStrike" dirty="0">
                          <a:solidFill>
                            <a:srgbClr val="CC0000"/>
                          </a:solidFill>
                          <a:effectLst/>
                          <a:latin typeface="Lucida Console" panose="020B0609040504020204" pitchFamily="49" charset="0"/>
                        </a:rPr>
                        <a:t>0.546</a:t>
                      </a:r>
                      <a:r>
                        <a:rPr lang="en-US" sz="700" b="0" i="0" u="none" strike="noStrike" dirty="0">
                          <a:solidFill>
                            <a:srgbClr val="000000"/>
                          </a:solidFill>
                          <a:effectLst/>
                          <a:latin typeface="Lucida Console" panose="020B0609040504020204" pitchFamily="49" charset="0"/>
                        </a:rPr>
                        <a:t> 3.44</a:t>
                      </a:r>
                      <a:r>
                        <a:rPr lang="en-US" sz="700" b="0" i="0" u="none" strike="noStrike" dirty="0">
                          <a:solidFill>
                            <a:srgbClr val="949494"/>
                          </a:solidFill>
                          <a:effectLst/>
                          <a:latin typeface="Lucida Console" panose="020B0609040504020204" pitchFamily="49" charset="0"/>
                        </a:rPr>
                        <a:t>e</a:t>
                      </a:r>
                      <a:r>
                        <a:rPr lang="en-US" sz="700" b="0" i="0" u="none" strike="noStrike" dirty="0">
                          <a:solidFill>
                            <a:srgbClr val="CC0000"/>
                          </a:solidFill>
                          <a:effectLst/>
                          <a:latin typeface="Lucida Console" panose="020B0609040504020204" pitchFamily="49" charset="0"/>
                        </a:rPr>
                        <a:t>- 5</a:t>
                      </a:r>
                      <a:r>
                        <a:rPr lang="en-US" sz="700" b="0" i="0" u="none" strike="noStrike" dirty="0">
                          <a:solidFill>
                            <a:srgbClr val="000000"/>
                          </a:solidFill>
                          <a:effectLst/>
                          <a:latin typeface="Lucida Console" panose="020B0609040504020204" pitchFamily="49" charset="0"/>
                        </a:rPr>
                        <a:t>       3 FALSE      TRUE     FALSE    TRUE                    1 M3322      </a:t>
                      </a:r>
                      <a:endParaRPr lang="en-US" sz="700" b="0" i="0" u="none" strike="noStrike" dirty="0">
                        <a:solidFill>
                          <a:srgbClr val="BCBCBC"/>
                        </a:solidFill>
                        <a:effectLst/>
                        <a:latin typeface="Lucida Console" panose="020B0609040504020204" pitchFamily="49" charset="0"/>
                      </a:endParaRPr>
                    </a:p>
                  </a:txBody>
                  <a:tcPr marL="6266" marR="6266" marT="6266" marB="0" anchor="ctr">
                    <a:lnL>
                      <a:noFill/>
                    </a:lnL>
                    <a:lnR>
                      <a:noFill/>
                    </a:lnR>
                    <a:lnT>
                      <a:noFill/>
                    </a:lnT>
                    <a:lnB>
                      <a:noFill/>
                    </a:lnB>
                  </a:tcPr>
                </a:tc>
                <a:extLst>
                  <a:ext uri="{0D108BD9-81ED-4DB2-BD59-A6C34878D82A}">
                    <a16:rowId xmlns:a16="http://schemas.microsoft.com/office/drawing/2014/main" val="1666819416"/>
                  </a:ext>
                </a:extLst>
              </a:tr>
            </a:tbl>
          </a:graphicData>
        </a:graphic>
      </p:graphicFrame>
      <p:graphicFrame>
        <p:nvGraphicFramePr>
          <p:cNvPr id="8" name="Table 7">
            <a:extLst>
              <a:ext uri="{FF2B5EF4-FFF2-40B4-BE49-F238E27FC236}">
                <a16:creationId xmlns:a16="http://schemas.microsoft.com/office/drawing/2014/main" id="{4114CF5C-F658-43E1-83D6-60123158C049}"/>
              </a:ext>
            </a:extLst>
          </p:cNvPr>
          <p:cNvGraphicFramePr>
            <a:graphicFrameLocks noGrp="1"/>
          </p:cNvGraphicFramePr>
          <p:nvPr>
            <p:extLst>
              <p:ext uri="{D42A27DB-BD31-4B8C-83A1-F6EECF244321}">
                <p14:modId xmlns:p14="http://schemas.microsoft.com/office/powerpoint/2010/main" val="932300810"/>
              </p:ext>
            </p:extLst>
          </p:nvPr>
        </p:nvGraphicFramePr>
        <p:xfrm>
          <a:off x="490195" y="4139279"/>
          <a:ext cx="10730780" cy="1280160"/>
        </p:xfrm>
        <a:graphic>
          <a:graphicData uri="http://schemas.openxmlformats.org/drawingml/2006/table">
            <a:tbl>
              <a:tblPr/>
              <a:tblGrid>
                <a:gridCol w="10730780">
                  <a:extLst>
                    <a:ext uri="{9D8B030D-6E8A-4147-A177-3AD203B41FA5}">
                      <a16:colId xmlns:a16="http://schemas.microsoft.com/office/drawing/2014/main" val="2153689798"/>
                    </a:ext>
                  </a:extLst>
                </a:gridCol>
              </a:tblGrid>
              <a:tr h="182880">
                <a:tc>
                  <a:txBody>
                    <a:bodyPr/>
                    <a:lstStyle/>
                    <a:p>
                      <a:pPr algn="l" fontAlgn="ctr"/>
                      <a:r>
                        <a:rPr lang="en-US" sz="800" b="0" i="0" u="none" strike="noStrike">
                          <a:solidFill>
                            <a:srgbClr val="000000"/>
                          </a:solidFill>
                          <a:effectLst/>
                          <a:latin typeface="Lucida Console" panose="020B0609040504020204" pitchFamily="49" charset="0"/>
                        </a:rPr>
                        <a:t> model_type  terms              n   aic   bic   cfi  rmsea sar_r2 term1 term2 term3     b1      p1     b2      p2    b3    p3 n_terms has_ishark has_issl has_icsl</a:t>
                      </a:r>
                    </a:p>
                  </a:txBody>
                  <a:tcPr marL="7620" marR="7620" marT="7620" marB="0" anchor="ctr">
                    <a:lnL>
                      <a:noFill/>
                    </a:lnL>
                    <a:lnR>
                      <a:noFill/>
                    </a:lnR>
                    <a:lnT>
                      <a:noFill/>
                    </a:lnT>
                    <a:lnB>
                      <a:noFill/>
                    </a:lnB>
                  </a:tcPr>
                </a:tc>
                <a:extLst>
                  <a:ext uri="{0D108BD9-81ED-4DB2-BD59-A6C34878D82A}">
                    <a16:rowId xmlns:a16="http://schemas.microsoft.com/office/drawing/2014/main" val="214552459"/>
                  </a:ext>
                </a:extLst>
              </a:tr>
              <a:tr h="182880">
                <a:tc>
                  <a:txBody>
                    <a:bodyPr/>
                    <a:lstStyle/>
                    <a:p>
                      <a:pPr algn="l" fontAlgn="ct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&lt;chr&gt;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&lt;chr&gt;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&lt;int&gt;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&lt;dbl&gt;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&lt;dbl&gt;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&lt;dbl&gt;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&lt;dbl&gt;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&lt;dbl&gt;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&lt;chr&gt;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&lt;chr&gt;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&lt;chr&gt;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&lt;dbl&gt;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&lt;dbl&gt;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&lt;dbl&gt;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&lt;dbl&gt;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&lt;dbl&gt;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&lt;dbl&gt;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&lt;int&gt;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&lt;lgl&gt;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&lt;lgl&gt;</a:t>
                      </a:r>
                      <a:r>
                        <a:rPr lang="en-US" sz="800" b="0" i="0" u="none" strike="noStrike">
                          <a:solidFill>
                            <a:srgbClr val="000000"/>
                          </a:solidFill>
                          <a:effectLst/>
                          <a:latin typeface="Lucida Console" panose="020B0609040504020204" pitchFamily="49" charset="0"/>
                        </a:rPr>
                        <a:t>    </a:t>
                      </a:r>
                      <a:r>
                        <a:rPr lang="en-US" sz="800" b="0" i="1" u="none" strike="noStrike">
                          <a:solidFill>
                            <a:srgbClr val="949494"/>
                          </a:solidFill>
                          <a:effectLst/>
                          <a:latin typeface="Lucida Console" panose="020B0609040504020204" pitchFamily="49" charset="0"/>
                        </a:rPr>
                        <a:t>&lt;lgl&gt;</a:t>
                      </a:r>
                      <a:r>
                        <a:rPr lang="en-US" sz="800" b="0" i="0" u="none" strike="noStrike">
                          <a:solidFill>
                            <a:srgbClr val="000000"/>
                          </a:solidFill>
                          <a:effectLst/>
                          <a:latin typeface="Lucida Console" panose="020B0609040504020204" pitchFamily="49" charset="0"/>
                        </a:rPr>
                        <a:t>   </a:t>
                      </a:r>
                    </a:p>
                  </a:txBody>
                  <a:tcPr marL="7620" marR="7620" marT="7620" marB="0" anchor="ctr">
                    <a:lnL>
                      <a:noFill/>
                    </a:lnL>
                    <a:lnR>
                      <a:noFill/>
                    </a:lnR>
                    <a:lnT>
                      <a:noFill/>
                    </a:lnT>
                    <a:lnB>
                      <a:noFill/>
                    </a:lnB>
                  </a:tcPr>
                </a:tc>
                <a:extLst>
                  <a:ext uri="{0D108BD9-81ED-4DB2-BD59-A6C34878D82A}">
                    <a16:rowId xmlns:a16="http://schemas.microsoft.com/office/drawing/2014/main" val="3665204740"/>
                  </a:ext>
                </a:extLst>
              </a:tr>
              <a:tr h="182880">
                <a:tc>
                  <a:txBody>
                    <a:bodyPr/>
                    <a:lstStyle/>
                    <a:p>
                      <a:pPr algn="l" fontAlgn="ctr"/>
                      <a:r>
                        <a:rPr lang="pt-BR" sz="800" b="0" i="0" u="none" strike="noStrike">
                          <a:solidFill>
                            <a:srgbClr val="BCBCBC"/>
                          </a:solidFill>
                          <a:effectLst/>
                          <a:latin typeface="Lucida Console" panose="020B0609040504020204" pitchFamily="49" charset="0"/>
                        </a:rPr>
                        <a:t>1</a:t>
                      </a:r>
                      <a:r>
                        <a:rPr lang="pt-BR" sz="800" b="0" i="0" u="none" strike="noStrike">
                          <a:solidFill>
                            <a:srgbClr val="000000"/>
                          </a:solidFill>
                          <a:effectLst/>
                          <a:latin typeface="Lucida Console" panose="020B0609040504020204" pitchFamily="49" charset="0"/>
                        </a:rPr>
                        <a:t> 2var_global x15_dfa_sleep…    24  111.  121. 0.962 0.140   0.700 x15_… x15_… </a:t>
                      </a:r>
                      <a:r>
                        <a:rPr lang="pt-BR" sz="800" b="0" i="0" u="none" strike="noStrike">
                          <a:solidFill>
                            <a:srgbClr val="CC0000"/>
                          </a:solidFill>
                          <a:effectLst/>
                          <a:latin typeface="Lucida Console" panose="020B0609040504020204" pitchFamily="49" charset="0"/>
                        </a:rPr>
                        <a:t>NA</a:t>
                      </a:r>
                      <a:r>
                        <a:rPr lang="pt-BR" sz="800" b="0" i="0" u="none" strike="noStrike">
                          <a:solidFill>
                            <a:srgbClr val="000000"/>
                          </a:solidFill>
                          <a:effectLst/>
                          <a:latin typeface="Lucida Console" panose="020B0609040504020204" pitchFamily="49" charset="0"/>
                        </a:rPr>
                        <a:t>    -</a:t>
                      </a:r>
                      <a:r>
                        <a:rPr lang="pt-BR" sz="800" b="0" i="0" u="none" strike="noStrike">
                          <a:solidFill>
                            <a:srgbClr val="CC0000"/>
                          </a:solidFill>
                          <a:effectLst/>
                          <a:latin typeface="Lucida Console" panose="020B0609040504020204" pitchFamily="49" charset="0"/>
                        </a:rPr>
                        <a:t>0.749</a:t>
                      </a:r>
                      <a:r>
                        <a:rPr lang="pt-BR" sz="800" b="0" i="0" u="none" strike="noStrike">
                          <a:solidFill>
                            <a:srgbClr val="000000"/>
                          </a:solidFill>
                          <a:effectLst/>
                          <a:latin typeface="Lucida Console" panose="020B0609040504020204" pitchFamily="49" charset="0"/>
                        </a:rPr>
                        <a:t> 2.39</a:t>
                      </a:r>
                      <a:r>
                        <a:rPr lang="pt-BR" sz="800" b="0" i="0" u="none" strike="noStrike">
                          <a:solidFill>
                            <a:srgbClr val="949494"/>
                          </a:solidFill>
                          <a:effectLst/>
                          <a:latin typeface="Lucida Console" panose="020B0609040504020204" pitchFamily="49" charset="0"/>
                        </a:rPr>
                        <a:t>e</a:t>
                      </a:r>
                      <a:r>
                        <a:rPr lang="pt-BR" sz="800" b="0" i="0" u="none" strike="noStrike">
                          <a:solidFill>
                            <a:srgbClr val="CC0000"/>
                          </a:solidFill>
                          <a:effectLst/>
                          <a:latin typeface="Lucida Console" panose="020B0609040504020204" pitchFamily="49" charset="0"/>
                        </a:rPr>
                        <a:t>-7</a:t>
                      </a:r>
                      <a:r>
                        <a:rPr lang="pt-BR" sz="800" b="0" i="0" u="none" strike="noStrike">
                          <a:solidFill>
                            <a:srgbClr val="000000"/>
                          </a:solidFill>
                          <a:effectLst/>
                          <a:latin typeface="Lucida Console" panose="020B0609040504020204" pitchFamily="49" charset="0"/>
                        </a:rPr>
                        <a:t> -</a:t>
                      </a:r>
                      <a:r>
                        <a:rPr lang="pt-BR" sz="800" b="0" i="0" u="none" strike="noStrike">
                          <a:solidFill>
                            <a:srgbClr val="CC0000"/>
                          </a:solidFill>
                          <a:effectLst/>
                          <a:latin typeface="Lucida Console" panose="020B0609040504020204" pitchFamily="49" charset="0"/>
                        </a:rPr>
                        <a:t>0.654</a:t>
                      </a:r>
                      <a:r>
                        <a:rPr lang="pt-BR" sz="800" b="0" i="0" u="none" strike="noStrike">
                          <a:solidFill>
                            <a:srgbClr val="000000"/>
                          </a:solidFill>
                          <a:effectLst/>
                          <a:latin typeface="Lucida Console" panose="020B0609040504020204" pitchFamily="49" charset="0"/>
                        </a:rPr>
                        <a:t> 8.79</a:t>
                      </a:r>
                      <a:r>
                        <a:rPr lang="pt-BR" sz="800" b="0" i="0" u="none" strike="noStrike">
                          <a:solidFill>
                            <a:srgbClr val="949494"/>
                          </a:solidFill>
                          <a:effectLst/>
                          <a:latin typeface="Lucida Console" panose="020B0609040504020204" pitchFamily="49" charset="0"/>
                        </a:rPr>
                        <a:t>e</a:t>
                      </a:r>
                      <a:r>
                        <a:rPr lang="pt-BR" sz="800" b="0" i="0" u="none" strike="noStrike">
                          <a:solidFill>
                            <a:srgbClr val="CC0000"/>
                          </a:solidFill>
                          <a:effectLst/>
                          <a:latin typeface="Lucida Console" panose="020B0609040504020204" pitchFamily="49" charset="0"/>
                        </a:rPr>
                        <a:t>-6</a:t>
                      </a:r>
                      <a:r>
                        <a:rPr lang="pt-BR" sz="800" b="0" i="0" u="none" strike="noStrike">
                          <a:solidFill>
                            <a:srgbClr val="000000"/>
                          </a:solidFill>
                          <a:effectLst/>
                          <a:latin typeface="Lucida Console" panose="020B0609040504020204" pitchFamily="49" charset="0"/>
                        </a:rPr>
                        <a:t>    </a:t>
                      </a:r>
                      <a:r>
                        <a:rPr lang="pt-BR" sz="800" b="0" i="0" u="none" strike="noStrike">
                          <a:solidFill>
                            <a:srgbClr val="CC0000"/>
                          </a:solidFill>
                          <a:effectLst/>
                          <a:latin typeface="Lucida Console" panose="020B0609040504020204" pitchFamily="49" charset="0"/>
                        </a:rPr>
                        <a:t>NA</a:t>
                      </a:r>
                      <a:r>
                        <a:rPr lang="pt-BR" sz="800" b="0" i="0" u="none" strike="noStrike">
                          <a:solidFill>
                            <a:srgbClr val="000000"/>
                          </a:solidFill>
                          <a:effectLst/>
                          <a:latin typeface="Lucida Console" panose="020B0609040504020204" pitchFamily="49" charset="0"/>
                        </a:rPr>
                        <a:t>    </a:t>
                      </a:r>
                      <a:r>
                        <a:rPr lang="pt-BR" sz="800" b="0" i="0" u="none" strike="noStrike">
                          <a:solidFill>
                            <a:srgbClr val="CC0000"/>
                          </a:solidFill>
                          <a:effectLst/>
                          <a:latin typeface="Lucida Console" panose="020B0609040504020204" pitchFamily="49" charset="0"/>
                        </a:rPr>
                        <a:t>NA</a:t>
                      </a:r>
                      <a:r>
                        <a:rPr lang="pt-BR" sz="800" b="0" i="0" u="none" strike="noStrike">
                          <a:solidFill>
                            <a:srgbClr val="000000"/>
                          </a:solidFill>
                          <a:effectLst/>
                          <a:latin typeface="Lucida Console" panose="020B0609040504020204" pitchFamily="49" charset="0"/>
                        </a:rPr>
                        <a:t>       2 FALSE      TRUE     FALSE   </a:t>
                      </a:r>
                      <a:endParaRPr lang="pt-BR" sz="8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tcPr>
                </a:tc>
                <a:extLst>
                  <a:ext uri="{0D108BD9-81ED-4DB2-BD59-A6C34878D82A}">
                    <a16:rowId xmlns:a16="http://schemas.microsoft.com/office/drawing/2014/main" val="1915298050"/>
                  </a:ext>
                </a:extLst>
              </a:tr>
              <a:tr h="182880">
                <a:tc>
                  <a:txBody>
                    <a:bodyPr/>
                    <a:lstStyle/>
                    <a:p>
                      <a:pPr algn="l" fontAlgn="ctr"/>
                      <a:r>
                        <a:rPr lang="pt-BR" sz="800" b="0" i="0" u="none" strike="noStrike">
                          <a:solidFill>
                            <a:srgbClr val="BCBCBC"/>
                          </a:solidFill>
                          <a:effectLst/>
                          <a:latin typeface="Lucida Console" panose="020B0609040504020204" pitchFamily="49" charset="0"/>
                        </a:rPr>
                        <a:t>2</a:t>
                      </a:r>
                      <a:r>
                        <a:rPr lang="pt-BR" sz="800" b="0" i="0" u="none" strike="noStrike">
                          <a:solidFill>
                            <a:srgbClr val="000000"/>
                          </a:solidFill>
                          <a:effectLst/>
                          <a:latin typeface="Lucida Console" panose="020B0609040504020204" pitchFamily="49" charset="0"/>
                        </a:rPr>
                        <a:t> 2var_global x15_issl_z + …    24  114.  123. 0.936 0.175   0.651 x15_… x15_… </a:t>
                      </a:r>
                      <a:r>
                        <a:rPr lang="pt-BR" sz="800" b="0" i="0" u="none" strike="noStrike">
                          <a:solidFill>
                            <a:srgbClr val="CC0000"/>
                          </a:solidFill>
                          <a:effectLst/>
                          <a:latin typeface="Lucida Console" panose="020B0609040504020204" pitchFamily="49" charset="0"/>
                        </a:rPr>
                        <a:t>NA</a:t>
                      </a:r>
                      <a:r>
                        <a:rPr lang="pt-BR" sz="800" b="0" i="0" u="none" strike="noStrike">
                          <a:solidFill>
                            <a:srgbClr val="000000"/>
                          </a:solidFill>
                          <a:effectLst/>
                          <a:latin typeface="Lucida Console" panose="020B0609040504020204" pitchFamily="49" charset="0"/>
                        </a:rPr>
                        <a:t>    -</a:t>
                      </a:r>
                      <a:r>
                        <a:rPr lang="pt-BR" sz="800" b="0" i="0" u="none" strike="noStrike">
                          <a:solidFill>
                            <a:srgbClr val="CC0000"/>
                          </a:solidFill>
                          <a:effectLst/>
                          <a:latin typeface="Lucida Console" panose="020B0609040504020204" pitchFamily="49" charset="0"/>
                        </a:rPr>
                        <a:t>0.630</a:t>
                      </a:r>
                      <a:r>
                        <a:rPr lang="pt-BR" sz="800" b="0" i="0" u="none" strike="noStrike">
                          <a:solidFill>
                            <a:srgbClr val="000000"/>
                          </a:solidFill>
                          <a:effectLst/>
                          <a:latin typeface="Lucida Console" panose="020B0609040504020204" pitchFamily="49" charset="0"/>
                        </a:rPr>
                        <a:t> 6.12</a:t>
                      </a:r>
                      <a:r>
                        <a:rPr lang="pt-BR" sz="800" b="0" i="0" u="none" strike="noStrike">
                          <a:solidFill>
                            <a:srgbClr val="949494"/>
                          </a:solidFill>
                          <a:effectLst/>
                          <a:latin typeface="Lucida Console" panose="020B0609040504020204" pitchFamily="49" charset="0"/>
                        </a:rPr>
                        <a:t>e</a:t>
                      </a:r>
                      <a:r>
                        <a:rPr lang="pt-BR" sz="800" b="0" i="0" u="none" strike="noStrike">
                          <a:solidFill>
                            <a:srgbClr val="CC0000"/>
                          </a:solidFill>
                          <a:effectLst/>
                          <a:latin typeface="Lucida Console" panose="020B0609040504020204" pitchFamily="49" charset="0"/>
                        </a:rPr>
                        <a:t>-5</a:t>
                      </a:r>
                      <a:r>
                        <a:rPr lang="pt-BR" sz="800" b="0" i="0" u="none" strike="noStrike">
                          <a:solidFill>
                            <a:srgbClr val="000000"/>
                          </a:solidFill>
                          <a:effectLst/>
                          <a:latin typeface="Lucida Console" panose="020B0609040504020204" pitchFamily="49" charset="0"/>
                        </a:rPr>
                        <a:t> -</a:t>
                      </a:r>
                      <a:r>
                        <a:rPr lang="pt-BR" sz="800" b="0" i="0" u="none" strike="noStrike">
                          <a:solidFill>
                            <a:srgbClr val="CC0000"/>
                          </a:solidFill>
                          <a:effectLst/>
                          <a:latin typeface="Lucida Console" panose="020B0609040504020204" pitchFamily="49" charset="0"/>
                        </a:rPr>
                        <a:t>0.704</a:t>
                      </a:r>
                      <a:r>
                        <a:rPr lang="pt-BR" sz="800" b="0" i="0" u="none" strike="noStrike">
                          <a:solidFill>
                            <a:srgbClr val="000000"/>
                          </a:solidFill>
                          <a:effectLst/>
                          <a:latin typeface="Lucida Console" panose="020B0609040504020204" pitchFamily="49" charset="0"/>
                        </a:rPr>
                        <a:t> 5.15</a:t>
                      </a:r>
                      <a:r>
                        <a:rPr lang="pt-BR" sz="800" b="0" i="0" u="none" strike="noStrike">
                          <a:solidFill>
                            <a:srgbClr val="949494"/>
                          </a:solidFill>
                          <a:effectLst/>
                          <a:latin typeface="Lucida Console" panose="020B0609040504020204" pitchFamily="49" charset="0"/>
                        </a:rPr>
                        <a:t>e</a:t>
                      </a:r>
                      <a:r>
                        <a:rPr lang="pt-BR" sz="800" b="0" i="0" u="none" strike="noStrike">
                          <a:solidFill>
                            <a:srgbClr val="CC0000"/>
                          </a:solidFill>
                          <a:effectLst/>
                          <a:latin typeface="Lucida Console" panose="020B0609040504020204" pitchFamily="49" charset="0"/>
                        </a:rPr>
                        <a:t>-6</a:t>
                      </a:r>
                      <a:r>
                        <a:rPr lang="pt-BR" sz="800" b="0" i="0" u="none" strike="noStrike">
                          <a:solidFill>
                            <a:srgbClr val="000000"/>
                          </a:solidFill>
                          <a:effectLst/>
                          <a:latin typeface="Lucida Console" panose="020B0609040504020204" pitchFamily="49" charset="0"/>
                        </a:rPr>
                        <a:t>    </a:t>
                      </a:r>
                      <a:r>
                        <a:rPr lang="pt-BR" sz="800" b="0" i="0" u="none" strike="noStrike">
                          <a:solidFill>
                            <a:srgbClr val="CC0000"/>
                          </a:solidFill>
                          <a:effectLst/>
                          <a:latin typeface="Lucida Console" panose="020B0609040504020204" pitchFamily="49" charset="0"/>
                        </a:rPr>
                        <a:t>NA</a:t>
                      </a:r>
                      <a:r>
                        <a:rPr lang="pt-BR" sz="800" b="0" i="0" u="none" strike="noStrike">
                          <a:solidFill>
                            <a:srgbClr val="000000"/>
                          </a:solidFill>
                          <a:effectLst/>
                          <a:latin typeface="Lucida Console" panose="020B0609040504020204" pitchFamily="49" charset="0"/>
                        </a:rPr>
                        <a:t>    </a:t>
                      </a:r>
                      <a:r>
                        <a:rPr lang="pt-BR" sz="800" b="0" i="0" u="none" strike="noStrike">
                          <a:solidFill>
                            <a:srgbClr val="CC0000"/>
                          </a:solidFill>
                          <a:effectLst/>
                          <a:latin typeface="Lucida Console" panose="020B0609040504020204" pitchFamily="49" charset="0"/>
                        </a:rPr>
                        <a:t>NA</a:t>
                      </a:r>
                      <a:r>
                        <a:rPr lang="pt-BR" sz="800" b="0" i="0" u="none" strike="noStrike">
                          <a:solidFill>
                            <a:srgbClr val="000000"/>
                          </a:solidFill>
                          <a:effectLst/>
                          <a:latin typeface="Lucida Console" panose="020B0609040504020204" pitchFamily="49" charset="0"/>
                        </a:rPr>
                        <a:t>       2 TRUE       TRUE     FALSE   </a:t>
                      </a:r>
                      <a:endParaRPr lang="pt-BR" sz="8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tcPr>
                </a:tc>
                <a:extLst>
                  <a:ext uri="{0D108BD9-81ED-4DB2-BD59-A6C34878D82A}">
                    <a16:rowId xmlns:a16="http://schemas.microsoft.com/office/drawing/2014/main" val="1421604321"/>
                  </a:ext>
                </a:extLst>
              </a:tr>
              <a:tr h="182880">
                <a:tc>
                  <a:txBody>
                    <a:bodyPr/>
                    <a:lstStyle/>
                    <a:p>
                      <a:pPr algn="l" fontAlgn="ctr"/>
                      <a:r>
                        <a:rPr lang="pt-BR" sz="800" b="0" i="0" u="none" strike="noStrike" dirty="0">
                          <a:solidFill>
                            <a:srgbClr val="BCBCBC"/>
                          </a:solidFill>
                          <a:effectLst/>
                          <a:latin typeface="Lucida Console" panose="020B0609040504020204" pitchFamily="49" charset="0"/>
                        </a:rPr>
                        <a:t>3</a:t>
                      </a:r>
                      <a:r>
                        <a:rPr lang="pt-BR" sz="800" b="0" i="0" u="none" strike="noStrike" dirty="0">
                          <a:solidFill>
                            <a:srgbClr val="000000"/>
                          </a:solidFill>
                          <a:effectLst/>
                          <a:latin typeface="Lucida Console" panose="020B0609040504020204" pitchFamily="49" charset="0"/>
                        </a:rPr>
                        <a:t> 2var_global x13_ammod_wai…    24  115.  125. 0.743 0.385   0.595 x13_… x15_… </a:t>
                      </a:r>
                      <a:r>
                        <a:rPr lang="pt-BR" sz="800" b="0" i="0" u="none" strike="noStrike" dirty="0">
                          <a:solidFill>
                            <a:srgbClr val="CC0000"/>
                          </a:solidFill>
                          <a:effectLst/>
                          <a:latin typeface="Lucida Console" panose="020B0609040504020204" pitchFamily="49" charset="0"/>
                        </a:rPr>
                        <a:t>NA</a:t>
                      </a:r>
                      <a:r>
                        <a:rPr lang="pt-BR" sz="800" b="0" i="0" u="none" strike="noStrike" dirty="0">
                          <a:solidFill>
                            <a:srgbClr val="000000"/>
                          </a:solidFill>
                          <a:effectLst/>
                          <a:latin typeface="Lucida Console" panose="020B0609040504020204" pitchFamily="49" charset="0"/>
                        </a:rPr>
                        <a:t>    -</a:t>
                      </a:r>
                      <a:r>
                        <a:rPr lang="pt-BR" sz="800" b="0" i="0" u="none" strike="noStrike" dirty="0">
                          <a:solidFill>
                            <a:srgbClr val="CC0000"/>
                          </a:solidFill>
                          <a:effectLst/>
                          <a:latin typeface="Lucida Console" panose="020B0609040504020204" pitchFamily="49" charset="0"/>
                        </a:rPr>
                        <a:t>0.634</a:t>
                      </a:r>
                      <a:r>
                        <a:rPr lang="pt-BR" sz="800" b="0" i="0" u="none" strike="noStrike" dirty="0">
                          <a:solidFill>
                            <a:srgbClr val="000000"/>
                          </a:solidFill>
                          <a:effectLst/>
                          <a:latin typeface="Lucida Console" panose="020B0609040504020204" pitchFamily="49" charset="0"/>
                        </a:rPr>
                        <a:t> 1.71</a:t>
                      </a:r>
                      <a:r>
                        <a:rPr lang="pt-BR" sz="800" b="0" i="0" u="none" strike="noStrike" dirty="0">
                          <a:solidFill>
                            <a:srgbClr val="949494"/>
                          </a:solidFill>
                          <a:effectLst/>
                          <a:latin typeface="Lucida Console" panose="020B0609040504020204" pitchFamily="49" charset="0"/>
                        </a:rPr>
                        <a:t>e</a:t>
                      </a:r>
                      <a:r>
                        <a:rPr lang="pt-BR" sz="800" b="0" i="0" u="none" strike="noStrike" dirty="0">
                          <a:solidFill>
                            <a:srgbClr val="CC0000"/>
                          </a:solidFill>
                          <a:effectLst/>
                          <a:latin typeface="Lucida Console" panose="020B0609040504020204" pitchFamily="49" charset="0"/>
                        </a:rPr>
                        <a:t>-5</a:t>
                      </a:r>
                      <a:r>
                        <a:rPr lang="pt-BR" sz="800" b="0" i="0" u="none" strike="noStrike" dirty="0">
                          <a:solidFill>
                            <a:srgbClr val="000000"/>
                          </a:solidFill>
                          <a:effectLst/>
                          <a:latin typeface="Lucida Console" panose="020B0609040504020204" pitchFamily="49" charset="0"/>
                        </a:rPr>
                        <a:t> -</a:t>
                      </a:r>
                      <a:r>
                        <a:rPr lang="pt-BR" sz="800" b="0" i="0" u="none" strike="noStrike" dirty="0">
                          <a:solidFill>
                            <a:srgbClr val="CC0000"/>
                          </a:solidFill>
                          <a:effectLst/>
                          <a:latin typeface="Lucida Console" panose="020B0609040504020204" pitchFamily="49" charset="0"/>
                        </a:rPr>
                        <a:t>0.535</a:t>
                      </a:r>
                      <a:r>
                        <a:rPr lang="pt-BR" sz="800" b="0" i="0" u="none" strike="noStrike" dirty="0">
                          <a:solidFill>
                            <a:srgbClr val="000000"/>
                          </a:solidFill>
                          <a:effectLst/>
                          <a:latin typeface="Lucida Console" panose="020B0609040504020204" pitchFamily="49" charset="0"/>
                        </a:rPr>
                        <a:t> 3.82</a:t>
                      </a:r>
                      <a:r>
                        <a:rPr lang="pt-BR" sz="800" b="0" i="0" u="none" strike="noStrike" dirty="0">
                          <a:solidFill>
                            <a:srgbClr val="949494"/>
                          </a:solidFill>
                          <a:effectLst/>
                          <a:latin typeface="Lucida Console" panose="020B0609040504020204" pitchFamily="49" charset="0"/>
                        </a:rPr>
                        <a:t>e</a:t>
                      </a:r>
                      <a:r>
                        <a:rPr lang="pt-BR" sz="800" b="0" i="0" u="none" strike="noStrike" dirty="0">
                          <a:solidFill>
                            <a:srgbClr val="CC0000"/>
                          </a:solidFill>
                          <a:effectLst/>
                          <a:latin typeface="Lucida Console" panose="020B0609040504020204" pitchFamily="49" charset="0"/>
                        </a:rPr>
                        <a:t>-4</a:t>
                      </a:r>
                      <a:r>
                        <a:rPr lang="pt-BR" sz="800" b="0" i="0" u="none" strike="noStrike" dirty="0">
                          <a:solidFill>
                            <a:srgbClr val="000000"/>
                          </a:solidFill>
                          <a:effectLst/>
                          <a:latin typeface="Lucida Console" panose="020B0609040504020204" pitchFamily="49" charset="0"/>
                        </a:rPr>
                        <a:t>    </a:t>
                      </a:r>
                      <a:r>
                        <a:rPr lang="pt-BR" sz="800" b="0" i="0" u="none" strike="noStrike" dirty="0">
                          <a:solidFill>
                            <a:srgbClr val="CC0000"/>
                          </a:solidFill>
                          <a:effectLst/>
                          <a:latin typeface="Lucida Console" panose="020B0609040504020204" pitchFamily="49" charset="0"/>
                        </a:rPr>
                        <a:t>NA</a:t>
                      </a:r>
                      <a:r>
                        <a:rPr lang="pt-BR" sz="800" b="0" i="0" u="none" strike="noStrike" dirty="0">
                          <a:solidFill>
                            <a:srgbClr val="000000"/>
                          </a:solidFill>
                          <a:effectLst/>
                          <a:latin typeface="Lucida Console" panose="020B0609040504020204" pitchFamily="49" charset="0"/>
                        </a:rPr>
                        <a:t>    </a:t>
                      </a:r>
                      <a:r>
                        <a:rPr lang="pt-BR" sz="800" b="0" i="0" u="none" strike="noStrike" dirty="0">
                          <a:solidFill>
                            <a:srgbClr val="CC0000"/>
                          </a:solidFill>
                          <a:effectLst/>
                          <a:latin typeface="Lucida Console" panose="020B0609040504020204" pitchFamily="49" charset="0"/>
                        </a:rPr>
                        <a:t>NA</a:t>
                      </a:r>
                      <a:r>
                        <a:rPr lang="pt-BR" sz="800" b="0" i="0" u="none" strike="noStrike" dirty="0">
                          <a:solidFill>
                            <a:srgbClr val="000000"/>
                          </a:solidFill>
                          <a:effectLst/>
                          <a:latin typeface="Lucida Console" panose="020B0609040504020204" pitchFamily="49" charset="0"/>
                        </a:rPr>
                        <a:t>       2 FALSE      TRUE     FALSE   </a:t>
                      </a:r>
                      <a:endParaRPr lang="pt-BR" sz="800" b="0" i="0" u="none" strike="noStrike" dirty="0">
                        <a:solidFill>
                          <a:srgbClr val="BCBCBC"/>
                        </a:solidFill>
                        <a:effectLst/>
                        <a:latin typeface="Lucida Console" panose="020B0609040504020204" pitchFamily="49" charset="0"/>
                      </a:endParaRPr>
                    </a:p>
                  </a:txBody>
                  <a:tcPr marL="7620" marR="7620" marT="7620" marB="0" anchor="ctr">
                    <a:lnL>
                      <a:noFill/>
                    </a:lnL>
                    <a:lnR>
                      <a:noFill/>
                    </a:lnR>
                    <a:lnT>
                      <a:noFill/>
                    </a:lnT>
                    <a:lnB>
                      <a:noFill/>
                    </a:lnB>
                  </a:tcPr>
                </a:tc>
                <a:extLst>
                  <a:ext uri="{0D108BD9-81ED-4DB2-BD59-A6C34878D82A}">
                    <a16:rowId xmlns:a16="http://schemas.microsoft.com/office/drawing/2014/main" val="2664678279"/>
                  </a:ext>
                </a:extLst>
              </a:tr>
              <a:tr h="182880">
                <a:tc>
                  <a:txBody>
                    <a:bodyPr/>
                    <a:lstStyle/>
                    <a:p>
                      <a:pPr algn="l" fontAlgn="ctr"/>
                      <a:r>
                        <a:rPr lang="pt-BR" sz="800" b="0" i="0" u="none" strike="noStrike">
                          <a:solidFill>
                            <a:srgbClr val="BCBCBC"/>
                          </a:solidFill>
                          <a:effectLst/>
                          <a:latin typeface="Lucida Console" panose="020B0609040504020204" pitchFamily="49" charset="0"/>
                        </a:rPr>
                        <a:t>4</a:t>
                      </a:r>
                      <a:r>
                        <a:rPr lang="pt-BR" sz="800" b="0" i="0" u="none" strike="noStrike">
                          <a:solidFill>
                            <a:srgbClr val="000000"/>
                          </a:solidFill>
                          <a:effectLst/>
                          <a:latin typeface="Lucida Console" panose="020B0609040504020204" pitchFamily="49" charset="0"/>
                        </a:rPr>
                        <a:t> 2var_global x12_dfa_bioma…    24  116.  125. 0.984 0.082</a:t>
                      </a:r>
                      <a:r>
                        <a:rPr lang="pt-BR" sz="800" b="0" i="0" u="sng" strike="noStrike">
                          <a:solidFill>
                            <a:srgbClr val="000000"/>
                          </a:solidFill>
                          <a:effectLst/>
                          <a:latin typeface="Lucida Console" panose="020B0609040504020204" pitchFamily="49" charset="0"/>
                        </a:rPr>
                        <a:t>3</a:t>
                      </a:r>
                      <a:r>
                        <a:rPr lang="pt-BR" sz="800" b="0" i="0" u="none" strike="noStrike">
                          <a:solidFill>
                            <a:srgbClr val="000000"/>
                          </a:solidFill>
                          <a:effectLst/>
                          <a:latin typeface="Lucida Console" panose="020B0609040504020204" pitchFamily="49" charset="0"/>
                        </a:rPr>
                        <a:t>  0.623 x12_… x15_… </a:t>
                      </a:r>
                      <a:r>
                        <a:rPr lang="pt-BR" sz="800" b="0" i="0" u="none" strike="noStrike">
                          <a:solidFill>
                            <a:srgbClr val="CC0000"/>
                          </a:solidFill>
                          <a:effectLst/>
                          <a:latin typeface="Lucida Console" panose="020B0609040504020204" pitchFamily="49" charset="0"/>
                        </a:rPr>
                        <a:t>NA</a:t>
                      </a:r>
                      <a:r>
                        <a:rPr lang="pt-BR" sz="800" b="0" i="0" u="none" strike="noStrike">
                          <a:solidFill>
                            <a:srgbClr val="000000"/>
                          </a:solidFill>
                          <a:effectLst/>
                          <a:latin typeface="Lucida Console" panose="020B0609040504020204" pitchFamily="49" charset="0"/>
                        </a:rPr>
                        <a:t>    -</a:t>
                      </a:r>
                      <a:r>
                        <a:rPr lang="pt-BR" sz="800" b="0" i="0" u="none" strike="noStrike">
                          <a:solidFill>
                            <a:srgbClr val="CC0000"/>
                          </a:solidFill>
                          <a:effectLst/>
                          <a:latin typeface="Lucida Console" panose="020B0609040504020204" pitchFamily="49" charset="0"/>
                        </a:rPr>
                        <a:t>0.511</a:t>
                      </a:r>
                      <a:r>
                        <a:rPr lang="pt-BR" sz="800" b="0" i="0" u="none" strike="noStrike">
                          <a:solidFill>
                            <a:srgbClr val="000000"/>
                          </a:solidFill>
                          <a:effectLst/>
                          <a:latin typeface="Lucida Console" panose="020B0609040504020204" pitchFamily="49" charset="0"/>
                        </a:rPr>
                        <a:t> 3.03</a:t>
                      </a:r>
                      <a:r>
                        <a:rPr lang="pt-BR" sz="800" b="0" i="0" u="none" strike="noStrike">
                          <a:solidFill>
                            <a:srgbClr val="949494"/>
                          </a:solidFill>
                          <a:effectLst/>
                          <a:latin typeface="Lucida Console" panose="020B0609040504020204" pitchFamily="49" charset="0"/>
                        </a:rPr>
                        <a:t>e</a:t>
                      </a:r>
                      <a:r>
                        <a:rPr lang="pt-BR" sz="800" b="0" i="0" u="none" strike="noStrike">
                          <a:solidFill>
                            <a:srgbClr val="CC0000"/>
                          </a:solidFill>
                          <a:effectLst/>
                          <a:latin typeface="Lucida Console" panose="020B0609040504020204" pitchFamily="49" charset="0"/>
                        </a:rPr>
                        <a:t>-4</a:t>
                      </a:r>
                      <a:r>
                        <a:rPr lang="pt-BR" sz="800" b="0" i="0" u="none" strike="noStrike">
                          <a:solidFill>
                            <a:srgbClr val="000000"/>
                          </a:solidFill>
                          <a:effectLst/>
                          <a:latin typeface="Lucida Console" panose="020B0609040504020204" pitchFamily="49" charset="0"/>
                        </a:rPr>
                        <a:t> -</a:t>
                      </a:r>
                      <a:r>
                        <a:rPr lang="pt-BR" sz="800" b="0" i="0" u="none" strike="noStrike">
                          <a:solidFill>
                            <a:srgbClr val="CC0000"/>
                          </a:solidFill>
                          <a:effectLst/>
                          <a:latin typeface="Lucida Console" panose="020B0609040504020204" pitchFamily="49" charset="0"/>
                        </a:rPr>
                        <a:t>0.507</a:t>
                      </a:r>
                      <a:r>
                        <a:rPr lang="pt-BR" sz="800" b="0" i="0" u="none" strike="noStrike">
                          <a:solidFill>
                            <a:srgbClr val="000000"/>
                          </a:solidFill>
                          <a:effectLst/>
                          <a:latin typeface="Lucida Console" panose="020B0609040504020204" pitchFamily="49" charset="0"/>
                        </a:rPr>
                        <a:t> 2.07</a:t>
                      </a:r>
                      <a:r>
                        <a:rPr lang="pt-BR" sz="800" b="0" i="0" u="none" strike="noStrike">
                          <a:solidFill>
                            <a:srgbClr val="949494"/>
                          </a:solidFill>
                          <a:effectLst/>
                          <a:latin typeface="Lucida Console" panose="020B0609040504020204" pitchFamily="49" charset="0"/>
                        </a:rPr>
                        <a:t>e</a:t>
                      </a:r>
                      <a:r>
                        <a:rPr lang="pt-BR" sz="800" b="0" i="0" u="none" strike="noStrike">
                          <a:solidFill>
                            <a:srgbClr val="CC0000"/>
                          </a:solidFill>
                          <a:effectLst/>
                          <a:latin typeface="Lucida Console" panose="020B0609040504020204" pitchFamily="49" charset="0"/>
                        </a:rPr>
                        <a:t>-4</a:t>
                      </a:r>
                      <a:r>
                        <a:rPr lang="pt-BR" sz="800" b="0" i="0" u="none" strike="noStrike">
                          <a:solidFill>
                            <a:srgbClr val="000000"/>
                          </a:solidFill>
                          <a:effectLst/>
                          <a:latin typeface="Lucida Console" panose="020B0609040504020204" pitchFamily="49" charset="0"/>
                        </a:rPr>
                        <a:t>    </a:t>
                      </a:r>
                      <a:r>
                        <a:rPr lang="pt-BR" sz="800" b="0" i="0" u="none" strike="noStrike">
                          <a:solidFill>
                            <a:srgbClr val="CC0000"/>
                          </a:solidFill>
                          <a:effectLst/>
                          <a:latin typeface="Lucida Console" panose="020B0609040504020204" pitchFamily="49" charset="0"/>
                        </a:rPr>
                        <a:t>NA</a:t>
                      </a:r>
                      <a:r>
                        <a:rPr lang="pt-BR" sz="800" b="0" i="0" u="none" strike="noStrike">
                          <a:solidFill>
                            <a:srgbClr val="000000"/>
                          </a:solidFill>
                          <a:effectLst/>
                          <a:latin typeface="Lucida Console" panose="020B0609040504020204" pitchFamily="49" charset="0"/>
                        </a:rPr>
                        <a:t>    </a:t>
                      </a:r>
                      <a:r>
                        <a:rPr lang="pt-BR" sz="800" b="0" i="0" u="none" strike="noStrike">
                          <a:solidFill>
                            <a:srgbClr val="CC0000"/>
                          </a:solidFill>
                          <a:effectLst/>
                          <a:latin typeface="Lucida Console" panose="020B0609040504020204" pitchFamily="49" charset="0"/>
                        </a:rPr>
                        <a:t>NA</a:t>
                      </a:r>
                      <a:r>
                        <a:rPr lang="pt-BR" sz="800" b="0" i="0" u="none" strike="noStrike">
                          <a:solidFill>
                            <a:srgbClr val="000000"/>
                          </a:solidFill>
                          <a:effectLst/>
                          <a:latin typeface="Lucida Console" panose="020B0609040504020204" pitchFamily="49" charset="0"/>
                        </a:rPr>
                        <a:t>       2 TRUE       FALSE    FALSE   </a:t>
                      </a:r>
                      <a:endParaRPr lang="pt-BR" sz="800" b="0" i="0" u="none" strike="noStrike">
                        <a:solidFill>
                          <a:srgbClr val="BCBCBC"/>
                        </a:solidFill>
                        <a:effectLst/>
                        <a:latin typeface="Lucida Console" panose="020B0609040504020204" pitchFamily="49" charset="0"/>
                      </a:endParaRPr>
                    </a:p>
                  </a:txBody>
                  <a:tcPr marL="7620" marR="7620" marT="7620" marB="0" anchor="ctr">
                    <a:lnL>
                      <a:noFill/>
                    </a:lnL>
                    <a:lnR>
                      <a:noFill/>
                    </a:lnR>
                    <a:lnT>
                      <a:noFill/>
                    </a:lnT>
                    <a:lnB>
                      <a:noFill/>
                    </a:lnB>
                  </a:tcPr>
                </a:tc>
                <a:extLst>
                  <a:ext uri="{0D108BD9-81ED-4DB2-BD59-A6C34878D82A}">
                    <a16:rowId xmlns:a16="http://schemas.microsoft.com/office/drawing/2014/main" val="404900480"/>
                  </a:ext>
                </a:extLst>
              </a:tr>
              <a:tr h="182880">
                <a:tc>
                  <a:txBody>
                    <a:bodyPr/>
                    <a:lstStyle/>
                    <a:p>
                      <a:pPr algn="l" fontAlgn="ctr"/>
                      <a:r>
                        <a:rPr lang="pt-BR" sz="800" b="0" i="0" u="none" strike="noStrike" dirty="0">
                          <a:solidFill>
                            <a:srgbClr val="BCBCBC"/>
                          </a:solidFill>
                          <a:effectLst/>
                          <a:latin typeface="Lucida Console" panose="020B0609040504020204" pitchFamily="49" charset="0"/>
                        </a:rPr>
                        <a:t>5</a:t>
                      </a:r>
                      <a:r>
                        <a:rPr lang="pt-BR" sz="800" b="0" i="0" u="none" strike="noStrike" dirty="0">
                          <a:solidFill>
                            <a:srgbClr val="000000"/>
                          </a:solidFill>
                          <a:effectLst/>
                          <a:latin typeface="Lucida Console" panose="020B0609040504020204" pitchFamily="49" charset="0"/>
                        </a:rPr>
                        <a:t> 2var_global x12_dfa_bioma…    24  116.  126. 0.843 0.277   0.587 x12_… x13_… </a:t>
                      </a:r>
                      <a:r>
                        <a:rPr lang="pt-BR" sz="800" b="0" i="0" u="none" strike="noStrike" dirty="0">
                          <a:solidFill>
                            <a:srgbClr val="CC0000"/>
                          </a:solidFill>
                          <a:effectLst/>
                          <a:latin typeface="Lucida Console" panose="020B0609040504020204" pitchFamily="49" charset="0"/>
                        </a:rPr>
                        <a:t>NA</a:t>
                      </a:r>
                      <a:r>
                        <a:rPr lang="pt-BR" sz="800" b="0" i="0" u="none" strike="noStrike" dirty="0">
                          <a:solidFill>
                            <a:srgbClr val="000000"/>
                          </a:solidFill>
                          <a:effectLst/>
                          <a:latin typeface="Lucida Console" panose="020B0609040504020204" pitchFamily="49" charset="0"/>
                        </a:rPr>
                        <a:t>    -</a:t>
                      </a:r>
                      <a:r>
                        <a:rPr lang="pt-BR" sz="800" b="0" i="0" u="none" strike="noStrike" dirty="0">
                          <a:solidFill>
                            <a:srgbClr val="CC0000"/>
                          </a:solidFill>
                          <a:effectLst/>
                          <a:latin typeface="Lucida Console" panose="020B0609040504020204" pitchFamily="49" charset="0"/>
                        </a:rPr>
                        <a:t>0.459</a:t>
                      </a:r>
                      <a:r>
                        <a:rPr lang="pt-BR" sz="800" b="0" i="0" u="none" strike="noStrike" dirty="0">
                          <a:solidFill>
                            <a:srgbClr val="000000"/>
                          </a:solidFill>
                          <a:effectLst/>
                          <a:latin typeface="Lucida Console" panose="020B0609040504020204" pitchFamily="49" charset="0"/>
                        </a:rPr>
                        <a:t> 9.15</a:t>
                      </a:r>
                      <a:r>
                        <a:rPr lang="pt-BR" sz="800" b="0" i="0" u="none" strike="noStrike" dirty="0">
                          <a:solidFill>
                            <a:srgbClr val="949494"/>
                          </a:solidFill>
                          <a:effectLst/>
                          <a:latin typeface="Lucida Console" panose="020B0609040504020204" pitchFamily="49" charset="0"/>
                        </a:rPr>
                        <a:t>e</a:t>
                      </a:r>
                      <a:r>
                        <a:rPr lang="pt-BR" sz="800" b="0" i="0" u="none" strike="noStrike" dirty="0">
                          <a:solidFill>
                            <a:srgbClr val="CC0000"/>
                          </a:solidFill>
                          <a:effectLst/>
                          <a:latin typeface="Lucida Console" panose="020B0609040504020204" pitchFamily="49" charset="0"/>
                        </a:rPr>
                        <a:t>-4</a:t>
                      </a:r>
                      <a:r>
                        <a:rPr lang="pt-BR" sz="800" b="0" i="0" u="none" strike="noStrike" dirty="0">
                          <a:solidFill>
                            <a:srgbClr val="000000"/>
                          </a:solidFill>
                          <a:effectLst/>
                          <a:latin typeface="Lucida Console" panose="020B0609040504020204" pitchFamily="49" charset="0"/>
                        </a:rPr>
                        <a:t> -</a:t>
                      </a:r>
                      <a:r>
                        <a:rPr lang="pt-BR" sz="800" b="0" i="0" u="none" strike="noStrike" dirty="0">
                          <a:solidFill>
                            <a:srgbClr val="CC0000"/>
                          </a:solidFill>
                          <a:effectLst/>
                          <a:latin typeface="Lucida Console" panose="020B0609040504020204" pitchFamily="49" charset="0"/>
                        </a:rPr>
                        <a:t>0.481</a:t>
                      </a:r>
                      <a:r>
                        <a:rPr lang="pt-BR" sz="800" b="0" i="0" u="none" strike="noStrike" dirty="0">
                          <a:solidFill>
                            <a:srgbClr val="000000"/>
                          </a:solidFill>
                          <a:effectLst/>
                          <a:latin typeface="Lucida Console" panose="020B0609040504020204" pitchFamily="49" charset="0"/>
                        </a:rPr>
                        <a:t> 3.08</a:t>
                      </a:r>
                      <a:r>
                        <a:rPr lang="pt-BR" sz="800" b="0" i="0" u="none" strike="noStrike" dirty="0">
                          <a:solidFill>
                            <a:srgbClr val="949494"/>
                          </a:solidFill>
                          <a:effectLst/>
                          <a:latin typeface="Lucida Console" panose="020B0609040504020204" pitchFamily="49" charset="0"/>
                        </a:rPr>
                        <a:t>e</a:t>
                      </a:r>
                      <a:r>
                        <a:rPr lang="pt-BR" sz="800" b="0" i="0" u="none" strike="noStrike" dirty="0">
                          <a:solidFill>
                            <a:srgbClr val="CC0000"/>
                          </a:solidFill>
                          <a:effectLst/>
                          <a:latin typeface="Lucida Console" panose="020B0609040504020204" pitchFamily="49" charset="0"/>
                        </a:rPr>
                        <a:t>-4</a:t>
                      </a:r>
                      <a:r>
                        <a:rPr lang="pt-BR" sz="800" b="0" i="0" u="none" strike="noStrike" dirty="0">
                          <a:solidFill>
                            <a:srgbClr val="000000"/>
                          </a:solidFill>
                          <a:effectLst/>
                          <a:latin typeface="Lucida Console" panose="020B0609040504020204" pitchFamily="49" charset="0"/>
                        </a:rPr>
                        <a:t>    </a:t>
                      </a:r>
                      <a:r>
                        <a:rPr lang="pt-BR" sz="800" b="0" i="0" u="none" strike="noStrike" dirty="0">
                          <a:solidFill>
                            <a:srgbClr val="CC0000"/>
                          </a:solidFill>
                          <a:effectLst/>
                          <a:latin typeface="Lucida Console" panose="020B0609040504020204" pitchFamily="49" charset="0"/>
                        </a:rPr>
                        <a:t>NA</a:t>
                      </a:r>
                      <a:r>
                        <a:rPr lang="pt-BR" sz="800" b="0" i="0" u="none" strike="noStrike" dirty="0">
                          <a:solidFill>
                            <a:srgbClr val="000000"/>
                          </a:solidFill>
                          <a:effectLst/>
                          <a:latin typeface="Lucida Console" panose="020B0609040504020204" pitchFamily="49" charset="0"/>
                        </a:rPr>
                        <a:t>    </a:t>
                      </a:r>
                      <a:r>
                        <a:rPr lang="pt-BR" sz="800" b="0" i="0" u="none" strike="noStrike" dirty="0">
                          <a:solidFill>
                            <a:srgbClr val="CC0000"/>
                          </a:solidFill>
                          <a:effectLst/>
                          <a:latin typeface="Lucida Console" panose="020B0609040504020204" pitchFamily="49" charset="0"/>
                        </a:rPr>
                        <a:t>NA</a:t>
                      </a:r>
                      <a:r>
                        <a:rPr lang="pt-BR" sz="800" b="0" i="0" u="none" strike="noStrike" dirty="0">
                          <a:solidFill>
                            <a:srgbClr val="000000"/>
                          </a:solidFill>
                          <a:effectLst/>
                          <a:latin typeface="Lucida Console" panose="020B0609040504020204" pitchFamily="49" charset="0"/>
                        </a:rPr>
                        <a:t>       2 FALSE      FALSE    FALSE   </a:t>
                      </a:r>
                      <a:endParaRPr lang="pt-BR" sz="800" b="0" i="0" u="none" strike="noStrike" dirty="0">
                        <a:solidFill>
                          <a:srgbClr val="BCBCBC"/>
                        </a:solidFill>
                        <a:effectLst/>
                        <a:latin typeface="Lucida Console" panose="020B0609040504020204" pitchFamily="49" charset="0"/>
                      </a:endParaRPr>
                    </a:p>
                  </a:txBody>
                  <a:tcPr marL="7620" marR="7620" marT="7620" marB="0" anchor="ctr">
                    <a:lnL>
                      <a:noFill/>
                    </a:lnL>
                    <a:lnR>
                      <a:noFill/>
                    </a:lnR>
                    <a:lnT>
                      <a:noFill/>
                    </a:lnT>
                    <a:lnB>
                      <a:noFill/>
                    </a:lnB>
                  </a:tcPr>
                </a:tc>
                <a:extLst>
                  <a:ext uri="{0D108BD9-81ED-4DB2-BD59-A6C34878D82A}">
                    <a16:rowId xmlns:a16="http://schemas.microsoft.com/office/drawing/2014/main" val="4189339710"/>
                  </a:ext>
                </a:extLst>
              </a:tr>
            </a:tbl>
          </a:graphicData>
        </a:graphic>
      </p:graphicFrame>
    </p:spTree>
    <p:extLst>
      <p:ext uri="{BB962C8B-B14F-4D97-AF65-F5344CB8AC3E}">
        <p14:creationId xmlns:p14="http://schemas.microsoft.com/office/powerpoint/2010/main" val="26749629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D07A9-C169-4835-9355-000E6E1C9A8F}"/>
              </a:ext>
            </a:extLst>
          </p:cNvPr>
          <p:cNvSpPr>
            <a:spLocks noGrp="1"/>
          </p:cNvSpPr>
          <p:nvPr>
            <p:ph type="title"/>
          </p:nvPr>
        </p:nvSpPr>
        <p:spPr/>
        <p:txBody>
          <a:bodyPr/>
          <a:lstStyle/>
          <a:p>
            <a:r>
              <a:rPr lang="en-US" dirty="0"/>
              <a:t>Model selection results</a:t>
            </a:r>
          </a:p>
        </p:txBody>
      </p:sp>
      <p:sp>
        <p:nvSpPr>
          <p:cNvPr id="3" name="Content Placeholder 2">
            <a:extLst>
              <a:ext uri="{FF2B5EF4-FFF2-40B4-BE49-F238E27FC236}">
                <a16:creationId xmlns:a16="http://schemas.microsoft.com/office/drawing/2014/main" id="{AF821F3B-8A5E-4F27-A7F8-C85C04162E8D}"/>
              </a:ext>
            </a:extLst>
          </p:cNvPr>
          <p:cNvSpPr>
            <a:spLocks noGrp="1"/>
          </p:cNvSpPr>
          <p:nvPr>
            <p:ph idx="1"/>
          </p:nvPr>
        </p:nvSpPr>
        <p:spPr>
          <a:xfrm>
            <a:off x="838200" y="1825625"/>
            <a:ext cx="4322885" cy="4351338"/>
          </a:xfrm>
        </p:spPr>
        <p:txBody>
          <a:bodyPr/>
          <a:lstStyle/>
          <a:p>
            <a:r>
              <a:rPr lang="en-US" dirty="0"/>
              <a:t>2-variable models, no climate</a:t>
            </a:r>
          </a:p>
        </p:txBody>
      </p:sp>
      <p:pic>
        <p:nvPicPr>
          <p:cNvPr id="5" name="Picture 4">
            <a:extLst>
              <a:ext uri="{FF2B5EF4-FFF2-40B4-BE49-F238E27FC236}">
                <a16:creationId xmlns:a16="http://schemas.microsoft.com/office/drawing/2014/main" id="{383A32FE-5A24-4491-92F4-D01E83F983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0"/>
            <a:ext cx="5715000" cy="6858000"/>
          </a:xfrm>
          <a:prstGeom prst="rect">
            <a:avLst/>
          </a:prstGeom>
        </p:spPr>
      </p:pic>
      <p:pic>
        <p:nvPicPr>
          <p:cNvPr id="7" name="Picture 6">
            <a:extLst>
              <a:ext uri="{FF2B5EF4-FFF2-40B4-BE49-F238E27FC236}">
                <a16:creationId xmlns:a16="http://schemas.microsoft.com/office/drawing/2014/main" id="{8BE46812-0E29-47EA-A8F5-8F77C4FE19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1" y="0"/>
            <a:ext cx="5715000" cy="6858000"/>
          </a:xfrm>
          <a:prstGeom prst="rect">
            <a:avLst/>
          </a:prstGeom>
        </p:spPr>
      </p:pic>
    </p:spTree>
    <p:extLst>
      <p:ext uri="{BB962C8B-B14F-4D97-AF65-F5344CB8AC3E}">
        <p14:creationId xmlns:p14="http://schemas.microsoft.com/office/powerpoint/2010/main" val="2744401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1DE49A-DA57-4BCB-BD5C-A80D89BD1B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0993" y="0"/>
            <a:ext cx="8571091" cy="6858000"/>
          </a:xfrm>
          <a:prstGeom prst="rect">
            <a:avLst/>
          </a:prstGeom>
        </p:spPr>
      </p:pic>
      <p:sp>
        <p:nvSpPr>
          <p:cNvPr id="5" name="TextBox 4">
            <a:extLst>
              <a:ext uri="{FF2B5EF4-FFF2-40B4-BE49-F238E27FC236}">
                <a16:creationId xmlns:a16="http://schemas.microsoft.com/office/drawing/2014/main" id="{9086277D-D099-4F24-A8CC-AF86135F085F}"/>
              </a:ext>
            </a:extLst>
          </p:cNvPr>
          <p:cNvSpPr txBox="1"/>
          <p:nvPr/>
        </p:nvSpPr>
        <p:spPr>
          <a:xfrm>
            <a:off x="413238" y="1635369"/>
            <a:ext cx="3526415" cy="3416320"/>
          </a:xfrm>
          <a:prstGeom prst="rect">
            <a:avLst/>
          </a:prstGeom>
          <a:noFill/>
        </p:spPr>
        <p:txBody>
          <a:bodyPr wrap="none" rtlCol="0">
            <a:spAutoFit/>
          </a:bodyPr>
          <a:lstStyle/>
          <a:p>
            <a:r>
              <a:rPr lang="en-US" dirty="0"/>
              <a:t>Sleeper and salmon sharks r=0</a:t>
            </a:r>
          </a:p>
          <a:p>
            <a:r>
              <a:rPr lang="en-US" dirty="0"/>
              <a:t>All </a:t>
            </a:r>
            <a:r>
              <a:rPr lang="en-US" dirty="0" err="1"/>
              <a:t>ssl</a:t>
            </a:r>
            <a:r>
              <a:rPr lang="en-US" dirty="0"/>
              <a:t> r&gt;&gt;0</a:t>
            </a:r>
          </a:p>
          <a:p>
            <a:r>
              <a:rPr lang="en-US" dirty="0"/>
              <a:t>2 herring r&gt;&gt;0</a:t>
            </a:r>
          </a:p>
          <a:p>
            <a:r>
              <a:rPr lang="en-US" dirty="0"/>
              <a:t>2 cap r ~ 0</a:t>
            </a:r>
          </a:p>
          <a:p>
            <a:endParaRPr lang="en-US" dirty="0"/>
          </a:p>
          <a:p>
            <a:r>
              <a:rPr lang="en-US" dirty="0"/>
              <a:t>Capelin and herring r&lt;0</a:t>
            </a:r>
          </a:p>
          <a:p>
            <a:r>
              <a:rPr lang="en-US" dirty="0"/>
              <a:t>Pav cap v </a:t>
            </a:r>
            <a:r>
              <a:rPr lang="en-US" dirty="0" err="1"/>
              <a:t>ssl</a:t>
            </a:r>
            <a:r>
              <a:rPr lang="en-US" dirty="0"/>
              <a:t> r&lt;0, </a:t>
            </a:r>
          </a:p>
          <a:p>
            <a:r>
              <a:rPr lang="en-US" dirty="0"/>
              <a:t>mid </a:t>
            </a:r>
            <a:r>
              <a:rPr lang="en-US" dirty="0" err="1"/>
              <a:t>isl</a:t>
            </a:r>
            <a:r>
              <a:rPr lang="en-US" dirty="0"/>
              <a:t> cap v </a:t>
            </a:r>
            <a:r>
              <a:rPr lang="en-US" dirty="0" err="1"/>
              <a:t>ssl</a:t>
            </a:r>
            <a:r>
              <a:rPr lang="en-US" dirty="0"/>
              <a:t> r&gt;0</a:t>
            </a:r>
          </a:p>
          <a:p>
            <a:r>
              <a:rPr lang="en-US" dirty="0"/>
              <a:t>Sleeper v </a:t>
            </a:r>
            <a:r>
              <a:rPr lang="en-US" dirty="0" err="1"/>
              <a:t>ssl</a:t>
            </a:r>
            <a:r>
              <a:rPr lang="en-US" dirty="0"/>
              <a:t> r&lt;0</a:t>
            </a:r>
          </a:p>
          <a:p>
            <a:endParaRPr lang="en-US" dirty="0"/>
          </a:p>
          <a:p>
            <a:r>
              <a:rPr lang="en-US" dirty="0"/>
              <a:t>All temp r&gt;0, but </a:t>
            </a:r>
          </a:p>
          <a:p>
            <a:r>
              <a:rPr lang="en-US" dirty="0"/>
              <a:t>low for </a:t>
            </a:r>
            <a:r>
              <a:rPr lang="en-US" dirty="0" err="1"/>
              <a:t>enso</a:t>
            </a:r>
            <a:r>
              <a:rPr lang="en-US" dirty="0"/>
              <a:t>/</a:t>
            </a:r>
            <a:r>
              <a:rPr lang="en-US" dirty="0" err="1"/>
              <a:t>pdo</a:t>
            </a:r>
            <a:r>
              <a:rPr lang="en-US" dirty="0"/>
              <a:t> vs </a:t>
            </a:r>
            <a:r>
              <a:rPr lang="en-US" dirty="0" err="1"/>
              <a:t>sst_coastwatch</a:t>
            </a:r>
            <a:endParaRPr lang="en-US" dirty="0"/>
          </a:p>
        </p:txBody>
      </p:sp>
    </p:spTree>
    <p:extLst>
      <p:ext uri="{BB962C8B-B14F-4D97-AF65-F5344CB8AC3E}">
        <p14:creationId xmlns:p14="http://schemas.microsoft.com/office/powerpoint/2010/main" val="21102267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0DFE4F4-169E-41BB-990D-3057FFAB774C}"/>
              </a:ext>
            </a:extLst>
          </p:cNvPr>
          <p:cNvPicPr>
            <a:picLocks noChangeAspect="1"/>
          </p:cNvPicPr>
          <p:nvPr/>
        </p:nvPicPr>
        <p:blipFill>
          <a:blip r:embed="rId2"/>
          <a:stretch>
            <a:fillRect/>
          </a:stretch>
        </p:blipFill>
        <p:spPr>
          <a:xfrm>
            <a:off x="3174023" y="1426346"/>
            <a:ext cx="7179297" cy="5818515"/>
          </a:xfrm>
          <a:prstGeom prst="rect">
            <a:avLst/>
          </a:prstGeom>
        </p:spPr>
      </p:pic>
      <p:sp>
        <p:nvSpPr>
          <p:cNvPr id="8" name="Title 7">
            <a:extLst>
              <a:ext uri="{FF2B5EF4-FFF2-40B4-BE49-F238E27FC236}">
                <a16:creationId xmlns:a16="http://schemas.microsoft.com/office/drawing/2014/main" id="{3179AE1F-20BB-4C1C-9847-A58093285D64}"/>
              </a:ext>
            </a:extLst>
          </p:cNvPr>
          <p:cNvSpPr>
            <a:spLocks noGrp="1"/>
          </p:cNvSpPr>
          <p:nvPr>
            <p:ph type="title"/>
          </p:nvPr>
        </p:nvSpPr>
        <p:spPr>
          <a:xfrm>
            <a:off x="838200" y="0"/>
            <a:ext cx="10515600" cy="1325563"/>
          </a:xfrm>
        </p:spPr>
        <p:txBody>
          <a:bodyPr/>
          <a:lstStyle/>
          <a:p>
            <a:r>
              <a:rPr lang="en-US" dirty="0"/>
              <a:t>It doesn’t matter which T driver I use for Mt</a:t>
            </a:r>
          </a:p>
        </p:txBody>
      </p:sp>
    </p:spTree>
    <p:extLst>
      <p:ext uri="{BB962C8B-B14F-4D97-AF65-F5344CB8AC3E}">
        <p14:creationId xmlns:p14="http://schemas.microsoft.com/office/powerpoint/2010/main" val="4034540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73328-DD64-4B72-8F71-3CB8BB168914}"/>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804341D7-6927-4716-9ED1-3A069ABD38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9166" y="0"/>
            <a:ext cx="7573667" cy="6858000"/>
          </a:xfrm>
          <a:prstGeom prst="rect">
            <a:avLst/>
          </a:prstGeom>
        </p:spPr>
      </p:pic>
    </p:spTree>
    <p:extLst>
      <p:ext uri="{BB962C8B-B14F-4D97-AF65-F5344CB8AC3E}">
        <p14:creationId xmlns:p14="http://schemas.microsoft.com/office/powerpoint/2010/main" val="41422220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7CCAF8D-B789-449F-82B0-9300DF50FC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588" y="0"/>
            <a:ext cx="9232482" cy="6924362"/>
          </a:xfrm>
          <a:prstGeom prst="rect">
            <a:avLst/>
          </a:prstGeom>
        </p:spPr>
      </p:pic>
    </p:spTree>
    <p:extLst>
      <p:ext uri="{BB962C8B-B14F-4D97-AF65-F5344CB8AC3E}">
        <p14:creationId xmlns:p14="http://schemas.microsoft.com/office/powerpoint/2010/main" val="18421807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A0E594-2F1D-412E-A327-259A012FAC91}"/>
              </a:ext>
            </a:extLst>
          </p:cNvPr>
          <p:cNvPicPr>
            <a:picLocks noChangeAspect="1"/>
          </p:cNvPicPr>
          <p:nvPr/>
        </p:nvPicPr>
        <p:blipFill rotWithShape="1">
          <a:blip r:embed="rId2"/>
          <a:srcRect l="4630" t="11359" r="23558" b="29026"/>
          <a:stretch/>
        </p:blipFill>
        <p:spPr>
          <a:xfrm>
            <a:off x="5524107" y="73058"/>
            <a:ext cx="6306532" cy="3355942"/>
          </a:xfrm>
          <a:prstGeom prst="rect">
            <a:avLst/>
          </a:prstGeom>
        </p:spPr>
      </p:pic>
      <p:sp>
        <p:nvSpPr>
          <p:cNvPr id="4" name="Title 3">
            <a:extLst>
              <a:ext uri="{FF2B5EF4-FFF2-40B4-BE49-F238E27FC236}">
                <a16:creationId xmlns:a16="http://schemas.microsoft.com/office/drawing/2014/main" id="{8173DF0B-1539-4F00-830A-57F2F9C915B5}"/>
              </a:ext>
            </a:extLst>
          </p:cNvPr>
          <p:cNvSpPr>
            <a:spLocks noGrp="1"/>
          </p:cNvSpPr>
          <p:nvPr>
            <p:ph type="title"/>
          </p:nvPr>
        </p:nvSpPr>
        <p:spPr>
          <a:xfrm>
            <a:off x="366859" y="798758"/>
            <a:ext cx="4893298" cy="4659362"/>
          </a:xfrm>
        </p:spPr>
        <p:txBody>
          <a:bodyPr>
            <a:normAutofit/>
          </a:bodyPr>
          <a:lstStyle/>
          <a:p>
            <a:r>
              <a:rPr lang="en-US" dirty="0"/>
              <a:t>Sleeper shark index ~ </a:t>
            </a:r>
            <a:r>
              <a:rPr lang="en-US" dirty="0" err="1"/>
              <a:t>enso</a:t>
            </a:r>
            <a:br>
              <a:rPr lang="en-US" dirty="0"/>
            </a:br>
            <a:br>
              <a:rPr lang="en-US" dirty="0"/>
            </a:br>
            <a:r>
              <a:rPr lang="en-US" dirty="0"/>
              <a:t>should modify </a:t>
            </a:r>
            <a:r>
              <a:rPr lang="en-US" dirty="0" err="1"/>
              <a:t>O_t</a:t>
            </a:r>
            <a:r>
              <a:rPr lang="en-US" dirty="0"/>
              <a:t> to spatial T index (~HCI), and </a:t>
            </a:r>
            <a:r>
              <a:rPr lang="en-US" dirty="0" err="1"/>
              <a:t>M_t</a:t>
            </a:r>
            <a:r>
              <a:rPr lang="en-US" dirty="0"/>
              <a:t> to local T index</a:t>
            </a:r>
          </a:p>
        </p:txBody>
      </p:sp>
      <p:pic>
        <p:nvPicPr>
          <p:cNvPr id="6" name="Picture 5">
            <a:extLst>
              <a:ext uri="{FF2B5EF4-FFF2-40B4-BE49-F238E27FC236}">
                <a16:creationId xmlns:a16="http://schemas.microsoft.com/office/drawing/2014/main" id="{2F51DFD7-CF92-46A9-A084-AF38A3B6B429}"/>
              </a:ext>
            </a:extLst>
          </p:cNvPr>
          <p:cNvPicPr>
            <a:picLocks noChangeAspect="1"/>
          </p:cNvPicPr>
          <p:nvPr/>
        </p:nvPicPr>
        <p:blipFill rotWithShape="1">
          <a:blip r:embed="rId3"/>
          <a:srcRect l="3771" t="10856" r="22915" b="29361"/>
          <a:stretch/>
        </p:blipFill>
        <p:spPr>
          <a:xfrm>
            <a:off x="5476972" y="3492630"/>
            <a:ext cx="6438507" cy="3365370"/>
          </a:xfrm>
          <a:prstGeom prst="rect">
            <a:avLst/>
          </a:prstGeom>
        </p:spPr>
      </p:pic>
      <p:sp>
        <p:nvSpPr>
          <p:cNvPr id="7" name="TextBox 6">
            <a:extLst>
              <a:ext uri="{FF2B5EF4-FFF2-40B4-BE49-F238E27FC236}">
                <a16:creationId xmlns:a16="http://schemas.microsoft.com/office/drawing/2014/main" id="{28875ECD-8F1D-41A7-857D-5D8007486E96}"/>
              </a:ext>
            </a:extLst>
          </p:cNvPr>
          <p:cNvSpPr txBox="1"/>
          <p:nvPr/>
        </p:nvSpPr>
        <p:spPr>
          <a:xfrm>
            <a:off x="480767" y="5797485"/>
            <a:ext cx="3177408" cy="369332"/>
          </a:xfrm>
          <a:prstGeom prst="rect">
            <a:avLst/>
          </a:prstGeom>
          <a:noFill/>
        </p:spPr>
        <p:txBody>
          <a:bodyPr wrap="none" rtlCol="0">
            <a:spAutoFit/>
          </a:bodyPr>
          <a:lstStyle/>
          <a:p>
            <a:r>
              <a:rPr lang="en-US" dirty="0"/>
              <a:t>My_pred_03_shark_index_fxn.r</a:t>
            </a:r>
          </a:p>
        </p:txBody>
      </p:sp>
    </p:spTree>
    <p:extLst>
      <p:ext uri="{BB962C8B-B14F-4D97-AF65-F5344CB8AC3E}">
        <p14:creationId xmlns:p14="http://schemas.microsoft.com/office/powerpoint/2010/main" val="26046888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028E6-FCF1-42E2-BE01-CE366EFD03D6}"/>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3F3F1F07-D4E5-4E63-B506-8D1220016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9166" y="0"/>
            <a:ext cx="7573667" cy="6858000"/>
          </a:xfrm>
          <a:prstGeom prst="rect">
            <a:avLst/>
          </a:prstGeom>
        </p:spPr>
      </p:pic>
    </p:spTree>
    <p:extLst>
      <p:ext uri="{BB962C8B-B14F-4D97-AF65-F5344CB8AC3E}">
        <p14:creationId xmlns:p14="http://schemas.microsoft.com/office/powerpoint/2010/main" val="38067020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9AD1F-5E87-40BD-B64B-97D3C7ADC93F}"/>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5E12FC9A-DEBB-459B-9F14-D708F9D223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8807" y="1819615"/>
            <a:ext cx="5573836" cy="4792199"/>
          </a:xfrm>
          <a:prstGeom prst="rect">
            <a:avLst/>
          </a:prstGeom>
        </p:spPr>
      </p:pic>
    </p:spTree>
    <p:extLst>
      <p:ext uri="{BB962C8B-B14F-4D97-AF65-F5344CB8AC3E}">
        <p14:creationId xmlns:p14="http://schemas.microsoft.com/office/powerpoint/2010/main" val="4636157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85522-5A78-4BDB-90FC-5F1F77504566}"/>
              </a:ext>
            </a:extLst>
          </p:cNvPr>
          <p:cNvSpPr>
            <a:spLocks noGrp="1"/>
          </p:cNvSpPr>
          <p:nvPr>
            <p:ph type="title"/>
          </p:nvPr>
        </p:nvSpPr>
        <p:spPr>
          <a:xfrm>
            <a:off x="838200" y="79131"/>
            <a:ext cx="10515600" cy="747346"/>
          </a:xfrm>
        </p:spPr>
        <p:txBody>
          <a:bodyPr/>
          <a:lstStyle/>
          <a:p>
            <a:r>
              <a:rPr lang="en-US" dirty="0"/>
              <a:t>CSL Columbia River</a:t>
            </a:r>
          </a:p>
        </p:txBody>
      </p:sp>
      <p:pic>
        <p:nvPicPr>
          <p:cNvPr id="4" name="Picture 3">
            <a:extLst>
              <a:ext uri="{FF2B5EF4-FFF2-40B4-BE49-F238E27FC236}">
                <a16:creationId xmlns:a16="http://schemas.microsoft.com/office/drawing/2014/main" id="{52FED2DD-E56A-4B25-9661-E4C53CB6C7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305" y="1107758"/>
            <a:ext cx="5459658" cy="5750241"/>
          </a:xfrm>
          <a:prstGeom prst="rect">
            <a:avLst/>
          </a:prstGeom>
        </p:spPr>
      </p:pic>
      <p:pic>
        <p:nvPicPr>
          <p:cNvPr id="6" name="Picture 5">
            <a:extLst>
              <a:ext uri="{FF2B5EF4-FFF2-40B4-BE49-F238E27FC236}">
                <a16:creationId xmlns:a16="http://schemas.microsoft.com/office/drawing/2014/main" id="{27FE9388-45C3-4BB7-9067-209D0430BC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6017" y="1345223"/>
            <a:ext cx="5300978" cy="5583116"/>
          </a:xfrm>
          <a:prstGeom prst="rect">
            <a:avLst/>
          </a:prstGeom>
        </p:spPr>
      </p:pic>
    </p:spTree>
    <p:extLst>
      <p:ext uri="{BB962C8B-B14F-4D97-AF65-F5344CB8AC3E}">
        <p14:creationId xmlns:p14="http://schemas.microsoft.com/office/powerpoint/2010/main" val="40225666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0508F-7E9F-4862-BAB9-1ECE160014F7}"/>
              </a:ext>
            </a:extLst>
          </p:cNvPr>
          <p:cNvSpPr>
            <a:spLocks noGrp="1"/>
          </p:cNvSpPr>
          <p:nvPr>
            <p:ph type="title"/>
          </p:nvPr>
        </p:nvSpPr>
        <p:spPr/>
        <p:txBody>
          <a:bodyPr/>
          <a:lstStyle/>
          <a:p>
            <a:r>
              <a:rPr lang="en-US" dirty="0"/>
              <a:t>Jake’s exposure metric</a:t>
            </a:r>
          </a:p>
        </p:txBody>
      </p:sp>
      <p:sp>
        <p:nvSpPr>
          <p:cNvPr id="5" name="Content Placeholder 4">
            <a:extLst>
              <a:ext uri="{FF2B5EF4-FFF2-40B4-BE49-F238E27FC236}">
                <a16:creationId xmlns:a16="http://schemas.microsoft.com/office/drawing/2014/main" id="{FB367156-7AD0-4204-9B65-FD6F50111EA9}"/>
              </a:ext>
            </a:extLst>
          </p:cNvPr>
          <p:cNvSpPr>
            <a:spLocks noGrp="1"/>
          </p:cNvSpPr>
          <p:nvPr>
            <p:ph idx="1"/>
          </p:nvPr>
        </p:nvSpPr>
        <p:spPr>
          <a:xfrm>
            <a:off x="723900" y="1315671"/>
            <a:ext cx="10515600" cy="4351338"/>
          </a:xfrm>
        </p:spPr>
        <p:txBody>
          <a:bodyPr/>
          <a:lstStyle/>
          <a:p>
            <a:r>
              <a:rPr lang="en-US" dirty="0" err="1"/>
              <a:t>Ncsl</a:t>
            </a:r>
            <a:r>
              <a:rPr lang="en-US" dirty="0"/>
              <a:t>*</a:t>
            </a:r>
            <a:r>
              <a:rPr lang="en-US" dirty="0" err="1"/>
              <a:t>salmon</a:t>
            </a:r>
            <a:r>
              <a:rPr lang="en-US" baseline="-25000" dirty="0" err="1"/>
              <a:t>biomass,week</a:t>
            </a:r>
            <a:r>
              <a:rPr lang="en-US" dirty="0"/>
              <a:t>/all </a:t>
            </a:r>
            <a:r>
              <a:rPr lang="en-US" dirty="0" err="1"/>
              <a:t>prey</a:t>
            </a:r>
            <a:r>
              <a:rPr lang="en-US" baseline="-25000" dirty="0" err="1"/>
              <a:t>biomass,week</a:t>
            </a:r>
            <a:endParaRPr lang="en-US" dirty="0"/>
          </a:p>
        </p:txBody>
      </p:sp>
      <p:sp>
        <p:nvSpPr>
          <p:cNvPr id="4" name="TextBox 3">
            <a:extLst>
              <a:ext uri="{FF2B5EF4-FFF2-40B4-BE49-F238E27FC236}">
                <a16:creationId xmlns:a16="http://schemas.microsoft.com/office/drawing/2014/main" id="{3139FBC8-A412-44AA-8043-F71A88B8F6CC}"/>
              </a:ext>
            </a:extLst>
          </p:cNvPr>
          <p:cNvSpPr txBox="1"/>
          <p:nvPr/>
        </p:nvSpPr>
        <p:spPr>
          <a:xfrm>
            <a:off x="2881679" y="1932879"/>
            <a:ext cx="6097464" cy="4557273"/>
          </a:xfrm>
          <a:prstGeom prst="rect">
            <a:avLst/>
          </a:prstGeom>
          <a:noFill/>
        </p:spPr>
        <p:txBody>
          <a:bodyPr wrap="square">
            <a:spAutoFit/>
          </a:bodyPr>
          <a:lstStyle/>
          <a:p>
            <a:pPr marL="0" marR="0">
              <a:lnSpc>
                <a:spcPct val="115000"/>
              </a:lnSpc>
              <a:spcBef>
                <a:spcPts val="0"/>
              </a:spcBef>
              <a:spcAft>
                <a:spcPts val="0"/>
              </a:spcAft>
            </a:pPr>
            <a:r>
              <a:rPr lang="en-US" sz="1300" b="1" dirty="0">
                <a:solidFill>
                  <a:srgbClr val="000000"/>
                </a:solidFill>
                <a:effectLst/>
                <a:latin typeface="Arial" panose="020B0604020202020204" pitchFamily="34" charset="0"/>
              </a:rPr>
              <a:t>Main Methods</a:t>
            </a:r>
            <a:endParaRPr lang="en-US" sz="1400" b="1" dirty="0">
              <a:solidFill>
                <a:srgbClr val="434343"/>
              </a:solidFill>
              <a:effectLst/>
              <a:latin typeface="Arial" panose="020B0604020202020204" pitchFamily="34" charset="0"/>
            </a:endParaRPr>
          </a:p>
          <a:p>
            <a:pPr marL="342900" marR="0" lvl="0" indent="-342900">
              <a:lnSpc>
                <a:spcPct val="115000"/>
              </a:lnSpc>
              <a:spcBef>
                <a:spcPts val="0"/>
              </a:spcBef>
              <a:spcAft>
                <a:spcPts val="0"/>
              </a:spcAft>
              <a:buSzPts val="1000"/>
              <a:buFont typeface="Arial" panose="020B0604020202020204" pitchFamily="34" charset="0"/>
              <a:buChar char="●"/>
            </a:pPr>
            <a:r>
              <a:rPr lang="en-US" sz="1200" b="1" dirty="0">
                <a:solidFill>
                  <a:srgbClr val="000000"/>
                </a:solidFill>
                <a:effectLst/>
                <a:latin typeface="Noto Sans Symbols"/>
                <a:ea typeface="Noto Sans Symbols"/>
                <a:cs typeface="Noto Sans Symbols"/>
              </a:rPr>
              <a:t>Collated abundance and biomass time series for 6 species (Table 1)</a:t>
            </a:r>
            <a:endParaRPr lang="en-US" sz="1400" b="1" dirty="0">
              <a:solidFill>
                <a:srgbClr val="434343"/>
              </a:solidFill>
              <a:effectLst/>
              <a:latin typeface="Noto Sans Symbols"/>
              <a:ea typeface="Noto Sans Symbols"/>
              <a:cs typeface="Noto Sans Symbols"/>
            </a:endParaRPr>
          </a:p>
          <a:p>
            <a:pPr marL="342900" marR="0" lvl="0" indent="-342900">
              <a:lnSpc>
                <a:spcPct val="115000"/>
              </a:lnSpc>
              <a:spcBef>
                <a:spcPts val="0"/>
              </a:spcBef>
              <a:spcAft>
                <a:spcPts val="0"/>
              </a:spcAft>
              <a:buSzPts val="1000"/>
              <a:buFont typeface="Arial" panose="020B0604020202020204" pitchFamily="34" charset="0"/>
              <a:buChar char="●"/>
            </a:pPr>
            <a:r>
              <a:rPr lang="en-US" sz="1200" b="1" dirty="0">
                <a:solidFill>
                  <a:srgbClr val="000000"/>
                </a:solidFill>
                <a:effectLst/>
                <a:latin typeface="Noto Sans Symbols"/>
                <a:ea typeface="Noto Sans Symbols"/>
                <a:cs typeface="Noto Sans Symbols"/>
              </a:rPr>
              <a:t>Converted prey abundance into biomass data (to standardize abundance indices) and plotted the biomass of each focal group at a weekly resolution from 2011-2024 (Figure 1)</a:t>
            </a:r>
            <a:endParaRPr lang="en-US" sz="1400" b="1" dirty="0">
              <a:solidFill>
                <a:srgbClr val="434343"/>
              </a:solidFill>
              <a:effectLst/>
              <a:latin typeface="Noto Sans Symbols"/>
              <a:ea typeface="Noto Sans Symbols"/>
              <a:cs typeface="Noto Sans Symbols"/>
            </a:endParaRPr>
          </a:p>
          <a:p>
            <a:pPr marL="342900" marR="0" lvl="0" indent="-342900">
              <a:lnSpc>
                <a:spcPct val="115000"/>
              </a:lnSpc>
              <a:spcBef>
                <a:spcPts val="0"/>
              </a:spcBef>
              <a:spcAft>
                <a:spcPts val="0"/>
              </a:spcAft>
              <a:buSzPts val="1000"/>
              <a:buFont typeface="Arial" panose="020B0604020202020204" pitchFamily="34" charset="0"/>
              <a:buChar char="●"/>
            </a:pPr>
            <a:r>
              <a:rPr lang="en-US" sz="1200" b="1" dirty="0">
                <a:solidFill>
                  <a:srgbClr val="000000"/>
                </a:solidFill>
                <a:effectLst/>
                <a:latin typeface="Noto Sans Symbols"/>
                <a:ea typeface="Noto Sans Symbols"/>
                <a:cs typeface="Noto Sans Symbols"/>
              </a:rPr>
              <a:t>Developed exposure metrics </a:t>
            </a:r>
            <a:endParaRPr lang="en-US" sz="1400" b="1" dirty="0">
              <a:solidFill>
                <a:srgbClr val="434343"/>
              </a:solidFill>
              <a:effectLst/>
              <a:latin typeface="Noto Sans Symbols"/>
              <a:ea typeface="Noto Sans Symbols"/>
              <a:cs typeface="Noto Sans Symbols"/>
            </a:endParaRPr>
          </a:p>
          <a:p>
            <a:pPr marL="742950" marR="0" lvl="1" indent="-285750">
              <a:lnSpc>
                <a:spcPct val="115000"/>
              </a:lnSpc>
              <a:spcBef>
                <a:spcPts val="0"/>
              </a:spcBef>
              <a:spcAft>
                <a:spcPts val="0"/>
              </a:spcAft>
              <a:buSzPts val="1000"/>
              <a:buFont typeface="Courier New" panose="02070309020205020404" pitchFamily="49" charset="0"/>
              <a:buChar char="o"/>
            </a:pPr>
            <a:r>
              <a:rPr lang="en-US" sz="1200" b="1"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Salmonid Proportion: Salmonid Proportion</a:t>
            </a:r>
            <a:r>
              <a:rPr lang="en-US" sz="1200" b="1" baseline="-25000"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 </a:t>
            </a:r>
            <a:r>
              <a:rPr lang="en-US" sz="1200" b="1" baseline="-25000" dirty="0" err="1">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i</a:t>
            </a:r>
            <a:r>
              <a:rPr lang="en-US" sz="1200" b="1"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 = (species</a:t>
            </a:r>
            <a:r>
              <a:rPr lang="en-US" sz="1200" b="1" baseline="-25000"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 </a:t>
            </a:r>
            <a:r>
              <a:rPr lang="en-US" sz="1200" b="1" baseline="-25000" dirty="0" err="1">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i</a:t>
            </a:r>
            <a:r>
              <a:rPr lang="en-US" sz="1200" b="1"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 biomass) / (total prey biomass) is the proportion that species </a:t>
            </a:r>
            <a:r>
              <a:rPr lang="en-US" sz="1200" b="1" dirty="0" err="1">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i</a:t>
            </a:r>
            <a:r>
              <a:rPr lang="en-US" sz="1200" b="1"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 makes up of the total available prey biomass at a weekly temporal resolution (Figures 2 and 3). We developed individual Salmonid Proportions for each salmonid group in the Estuary and Bonneville</a:t>
            </a:r>
            <a:endParaRPr lang="en-US" sz="1400" b="1" dirty="0">
              <a:solidFill>
                <a:srgbClr val="434343"/>
              </a:solidFill>
              <a:effectLst/>
              <a:latin typeface="Courier New" panose="02070309020205020404" pitchFamily="49" charset="0"/>
              <a:ea typeface="Courier New" panose="02070309020205020404" pitchFamily="49" charset="0"/>
              <a:cs typeface="Courier New" panose="02070309020205020404" pitchFamily="49" charset="0"/>
            </a:endParaRPr>
          </a:p>
          <a:p>
            <a:pPr marL="742950" marR="0" lvl="1" indent="-285750">
              <a:lnSpc>
                <a:spcPct val="115000"/>
              </a:lnSpc>
              <a:spcBef>
                <a:spcPts val="0"/>
              </a:spcBef>
              <a:spcAft>
                <a:spcPts val="0"/>
              </a:spcAft>
              <a:buSzPts val="1000"/>
              <a:buFont typeface="Courier New" panose="02070309020205020404" pitchFamily="49" charset="0"/>
              <a:buChar char="o"/>
            </a:pPr>
            <a:r>
              <a:rPr lang="en-US" sz="1200" b="1"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Salmon Exposure to Sea Lions (SESL): SESL</a:t>
            </a:r>
            <a:r>
              <a:rPr lang="en-US" sz="1200" b="1" baseline="-25000"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 </a:t>
            </a:r>
            <a:r>
              <a:rPr lang="en-US" sz="1200" b="1" baseline="-25000" dirty="0" err="1">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i</a:t>
            </a:r>
            <a:r>
              <a:rPr lang="en-US" sz="1200" b="1"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 = (Salmonid Proportion</a:t>
            </a:r>
            <a:r>
              <a:rPr lang="en-US" sz="1200" b="1" baseline="-25000"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 </a:t>
            </a:r>
            <a:r>
              <a:rPr lang="en-US" sz="1200" b="1" baseline="-25000" dirty="0" err="1">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i</a:t>
            </a:r>
            <a:r>
              <a:rPr lang="en-US" sz="1200" b="1"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 * (pinniped count</a:t>
            </a:r>
            <a:r>
              <a:rPr lang="en-US" sz="1200" b="1" baseline="-25000"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 j</a:t>
            </a:r>
            <a:r>
              <a:rPr lang="en-US" sz="1200" b="1"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 combines this weekly salmonid proportion for species </a:t>
            </a:r>
            <a:r>
              <a:rPr lang="en-US" sz="1200" b="1" dirty="0" err="1">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i</a:t>
            </a:r>
            <a:r>
              <a:rPr lang="en-US" sz="1200" b="1"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 with predator counts at location j to make a relative index of predation pressure on species </a:t>
            </a:r>
            <a:r>
              <a:rPr lang="en-US" sz="1200" b="1" dirty="0" err="1">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i</a:t>
            </a:r>
            <a:r>
              <a:rPr lang="en-US" sz="1200" b="1" dirty="0">
                <a:solidFill>
                  <a:srgbClr val="000000"/>
                </a:solidFill>
                <a:effectLst/>
                <a:latin typeface="Courier New" panose="02070309020205020404" pitchFamily="49" charset="0"/>
                <a:ea typeface="Courier New" panose="02070309020205020404" pitchFamily="49" charset="0"/>
                <a:cs typeface="Courier New" panose="02070309020205020404" pitchFamily="49" charset="0"/>
              </a:rPr>
              <a:t> (Figure 3). Using proportion rather than raw abundance captures each group's dominance in the prey field when predators are foraging. </a:t>
            </a:r>
            <a:endParaRPr lang="en-US" sz="1400" b="1" dirty="0">
              <a:solidFill>
                <a:srgbClr val="434343"/>
              </a:solidFill>
              <a:effectLst/>
              <a:latin typeface="Courier New" panose="02070309020205020404" pitchFamily="49" charset="0"/>
              <a:ea typeface="Courier New" panose="02070309020205020404" pitchFamily="49" charset="0"/>
              <a:cs typeface="Courier New" panose="02070309020205020404" pitchFamily="49" charset="0"/>
            </a:endParaRPr>
          </a:p>
          <a:p>
            <a:pPr marL="342900" marR="0" lvl="0" indent="-342900">
              <a:lnSpc>
                <a:spcPct val="115000"/>
              </a:lnSpc>
              <a:spcBef>
                <a:spcPts val="0"/>
              </a:spcBef>
              <a:spcAft>
                <a:spcPts val="600"/>
              </a:spcAft>
              <a:buSzPts val="1000"/>
              <a:buFont typeface="Arial" panose="020B0604020202020204" pitchFamily="34" charset="0"/>
              <a:buChar char="●"/>
            </a:pPr>
            <a:r>
              <a:rPr lang="en-US" sz="1200" b="1" dirty="0">
                <a:solidFill>
                  <a:srgbClr val="000000"/>
                </a:solidFill>
                <a:effectLst/>
                <a:latin typeface="Noto Sans Symbols"/>
                <a:ea typeface="Noto Sans Symbols"/>
                <a:cs typeface="Noto Sans Symbols"/>
              </a:rPr>
              <a:t>Averaged SESL by salmonid life stage and run (e.g. spring Chinook, summer Chinook, summer steelhead) for each year</a:t>
            </a:r>
            <a:endParaRPr lang="en-US" sz="1400" b="1" dirty="0">
              <a:solidFill>
                <a:srgbClr val="434343"/>
              </a:solidFill>
              <a:effectLst/>
              <a:latin typeface="Noto Sans Symbols"/>
              <a:ea typeface="Noto Sans Symbols"/>
              <a:cs typeface="Noto Sans Symbols"/>
            </a:endParaRPr>
          </a:p>
        </p:txBody>
      </p:sp>
    </p:spTree>
    <p:extLst>
      <p:ext uri="{BB962C8B-B14F-4D97-AF65-F5344CB8AC3E}">
        <p14:creationId xmlns:p14="http://schemas.microsoft.com/office/powerpoint/2010/main" val="16761092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B64AB-2CCF-40F1-9A13-A74C44AA2E0B}"/>
              </a:ext>
            </a:extLst>
          </p:cNvPr>
          <p:cNvSpPr>
            <a:spLocks noGrp="1"/>
          </p:cNvSpPr>
          <p:nvPr>
            <p:ph type="title"/>
          </p:nvPr>
        </p:nvSpPr>
        <p:spPr/>
        <p:txBody>
          <a:bodyPr/>
          <a:lstStyle/>
          <a:p>
            <a:r>
              <a:rPr lang="en-US" dirty="0"/>
              <a:t>Forage fish daily </a:t>
            </a:r>
            <a:r>
              <a:rPr lang="en-US"/>
              <a:t>prediction from Barb</a:t>
            </a:r>
          </a:p>
        </p:txBody>
      </p:sp>
      <p:pic>
        <p:nvPicPr>
          <p:cNvPr id="4" name="Content Placeholder 3">
            <a:extLst>
              <a:ext uri="{FF2B5EF4-FFF2-40B4-BE49-F238E27FC236}">
                <a16:creationId xmlns:a16="http://schemas.microsoft.com/office/drawing/2014/main" id="{79ADA420-7D4F-49C2-A59B-EB957F33E9CD}"/>
              </a:ext>
            </a:extLst>
          </p:cNvPr>
          <p:cNvPicPr>
            <a:picLocks noGrp="1" noChangeAspect="1"/>
          </p:cNvPicPr>
          <p:nvPr>
            <p:ph idx="1"/>
          </p:nvPr>
        </p:nvPicPr>
        <p:blipFill>
          <a:blip r:embed="rId2"/>
          <a:srcRect l="-987" t="6215" r="-895" b="7270"/>
          <a:stretch/>
        </p:blipFill>
        <p:spPr>
          <a:xfrm>
            <a:off x="2252825" y="1825625"/>
            <a:ext cx="7686350" cy="4351338"/>
          </a:xfrm>
          <a:prstGeom prst="rect">
            <a:avLst/>
          </a:prstGeom>
        </p:spPr>
      </p:pic>
    </p:spTree>
    <p:extLst>
      <p:ext uri="{BB962C8B-B14F-4D97-AF65-F5344CB8AC3E}">
        <p14:creationId xmlns:p14="http://schemas.microsoft.com/office/powerpoint/2010/main" val="11093811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10023</TotalTime>
  <Words>8169</Words>
  <Application>Microsoft Office PowerPoint</Application>
  <PresentationFormat>Widescreen</PresentationFormat>
  <Paragraphs>1066</Paragraphs>
  <Slides>54</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54</vt:i4>
      </vt:variant>
    </vt:vector>
  </HeadingPairs>
  <TitlesOfParts>
    <vt:vector size="64" baseType="lpstr">
      <vt:lpstr>Arial</vt:lpstr>
      <vt:lpstr>Calibri</vt:lpstr>
      <vt:lpstr>Calibri Light</vt:lpstr>
      <vt:lpstr>Courier New</vt:lpstr>
      <vt:lpstr>Google Sans</vt:lpstr>
      <vt:lpstr>Google Sans Text</vt:lpstr>
      <vt:lpstr>Lucida Console</vt:lpstr>
      <vt:lpstr>Noto Sans Symbols</vt:lpstr>
      <vt:lpstr>Segoe UI</vt:lpstr>
      <vt:lpstr>Office Theme</vt:lpstr>
      <vt:lpstr>Weighting predators by temperature and prey</vt:lpstr>
      <vt:lpstr>Motivation</vt:lpstr>
      <vt:lpstr>SHARKS</vt:lpstr>
      <vt:lpstr>SSL in GOA</vt:lpstr>
      <vt:lpstr>CSL in Columbia River</vt:lpstr>
      <vt:lpstr>Current predators in the model</vt:lpstr>
      <vt:lpstr> SHARKS</vt:lpstr>
      <vt:lpstr>Shark index</vt:lpstr>
      <vt:lpstr>PowerPoint Presentation</vt:lpstr>
      <vt:lpstr>PowerPoint Presentation</vt:lpstr>
      <vt:lpstr>Log-Transformed index</vt:lpstr>
      <vt:lpstr>PowerPoint Presentation</vt:lpstr>
      <vt:lpstr>SSL in GOA</vt:lpstr>
      <vt:lpstr>Simple assumption:  herring and capelin serve as a buffer and  reduce foraging on salmon temperature intensifies consumption</vt:lpstr>
      <vt:lpstr>Capelin have pretty strong temperature signal, herring are doing something else</vt:lpstr>
      <vt:lpstr>Adds oscillation to linear increase in total N</vt:lpstr>
      <vt:lpstr>California sea lions at EMB</vt:lpstr>
      <vt:lpstr>CSL, eulachon, salmon, shad phenology</vt:lpstr>
      <vt:lpstr>Extrapolate run overlap to 1998</vt:lpstr>
      <vt:lpstr>PowerPoint Presentation</vt:lpstr>
      <vt:lpstr>PowerPoint Presentation</vt:lpstr>
      <vt:lpstr>PowerPoint Presentation</vt:lpstr>
      <vt:lpstr>PowerPoint Presentation</vt:lpstr>
      <vt:lpstr>PowerPoint Presentation</vt:lpstr>
      <vt:lpstr>Components of estuary risk score</vt:lpstr>
      <vt:lpstr>PowerPoint Presentation</vt:lpstr>
      <vt:lpstr>PowerPoint Presentation</vt:lpstr>
      <vt:lpstr>Current DFA – captures 2015 peak</vt:lpstr>
      <vt:lpstr>PowerPoint Presentation</vt:lpstr>
      <vt:lpstr>CSL at EMB spring phenology</vt:lpstr>
      <vt:lpstr>CSL phenology ~ eulachon, salmon, shad</vt:lpstr>
      <vt:lpstr>GAM-fit to backfill weekly eulachon run</vt:lpstr>
      <vt:lpstr>Sine-fit to combine catch data w/ egg counts</vt:lpstr>
      <vt:lpstr>Exposure indices tested</vt:lpstr>
      <vt:lpstr>Risk scoring</vt:lpstr>
      <vt:lpstr>PowerPoint Presentation</vt:lpstr>
      <vt:lpstr>Selection of ocean indices – all hake and forage fish</vt:lpstr>
      <vt:lpstr>Ocean prey: Hake Sardine/herring Anchovy</vt:lpstr>
      <vt:lpstr>PowerPoint Presentation</vt:lpstr>
      <vt:lpstr>Estuary vs Ocean scores</vt:lpstr>
      <vt:lpstr>Smolt year (by mistakie) With 2-yr lead for adult predator, had to drop ocean prey for now</vt:lpstr>
      <vt:lpstr>With 2-yr lead for adult predator,  had to drop ocean prey for now</vt:lpstr>
      <vt:lpstr>Model selection with 2- and 3-variable models</vt:lpstr>
      <vt:lpstr>Model selection results</vt:lpstr>
      <vt:lpstr>PowerPoint Presentation</vt:lpstr>
      <vt:lpstr>It doesn’t matter which T driver I use for Mt</vt:lpstr>
      <vt:lpstr>PowerPoint Presentation</vt:lpstr>
      <vt:lpstr>PowerPoint Presentation</vt:lpstr>
      <vt:lpstr>Sleeper shark index ~ enso  should modify O_t to spatial T index (~HCI), and M_t to local T index</vt:lpstr>
      <vt:lpstr>PowerPoint Presentation</vt:lpstr>
      <vt:lpstr>PowerPoint Presentation</vt:lpstr>
      <vt:lpstr>CSL Columbia River</vt:lpstr>
      <vt:lpstr>Jake’s exposure metric</vt:lpstr>
      <vt:lpstr>Forage fish daily prediction from Barb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Weighting predators by temperature and prey</dc:title>
  <dc:creator>Lisa.Crozier</dc:creator>
  <cp:lastModifiedBy>Lisa.Crozier</cp:lastModifiedBy>
  <cp:revision>78</cp:revision>
  <dcterms:created xsi:type="dcterms:W3CDTF">2026-08-07T00:13:23Z</dcterms:created>
  <dcterms:modified xsi:type="dcterms:W3CDTF">2026-08-22T00:43:45Z</dcterms:modified>
</cp:coreProperties>
</file>