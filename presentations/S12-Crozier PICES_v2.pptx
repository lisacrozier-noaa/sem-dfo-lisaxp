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2.xml" ContentType="application/vnd.openxmlformats-officedocument.presentationml.tags+xml"/>
  <Override PartName="/ppt/notesSlides/notesSlide5.xml" ContentType="application/vnd.openxmlformats-officedocument.presentationml.notesSlide+xml"/>
  <Override PartName="/ppt/tags/tag3.xml" ContentType="application/vnd.openxmlformats-officedocument.presentationml.tags+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4.xml" ContentType="application/vnd.openxmlformats-officedocument.presentationml.tags+xml"/>
  <Override PartName="/ppt/notesSlides/notesSlide7.xml" ContentType="application/vnd.openxmlformats-officedocument.presentationml.notesSlide+xml"/>
  <Override PartName="/ppt/tags/tag5.xml" ContentType="application/vnd.openxmlformats-officedocument.presentationml.tags+xml"/>
  <Override PartName="/ppt/notesSlides/notesSlide8.xml" ContentType="application/vnd.openxmlformats-officedocument.presentationml.notesSlide+xml"/>
  <Override PartName="/ppt/tags/tag6.xml" ContentType="application/vnd.openxmlformats-officedocument.presentationml.tags+xml"/>
  <Override PartName="/ppt/notesSlides/notesSlide9.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0" r:id="rId1"/>
  </p:sldMasterIdLst>
  <p:notesMasterIdLst>
    <p:notesMasterId r:id="rId16"/>
  </p:notesMasterIdLst>
  <p:sldIdLst>
    <p:sldId id="258" r:id="rId2"/>
    <p:sldId id="498" r:id="rId3"/>
    <p:sldId id="531" r:id="rId4"/>
    <p:sldId id="534" r:id="rId5"/>
    <p:sldId id="551" r:id="rId6"/>
    <p:sldId id="489" r:id="rId7"/>
    <p:sldId id="502" r:id="rId8"/>
    <p:sldId id="491" r:id="rId9"/>
    <p:sldId id="525" r:id="rId10"/>
    <p:sldId id="548" r:id="rId11"/>
    <p:sldId id="563" r:id="rId12"/>
    <p:sldId id="556" r:id="rId13"/>
    <p:sldId id="560" r:id="rId14"/>
    <p:sldId id="557" r:id="rId15"/>
  </p:sldIdLst>
  <p:sldSz cx="12192000" cy="6858000"/>
  <p:notesSz cx="7010400" cy="9296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B1FA2"/>
    <a:srgbClr val="0288D1"/>
    <a:srgbClr val="E65100"/>
    <a:srgbClr val="526549"/>
    <a:srgbClr val="5491D4"/>
    <a:srgbClr val="6299DB"/>
    <a:srgbClr val="546449"/>
    <a:srgbClr val="6DA7E7"/>
    <a:srgbClr val="10100F"/>
    <a:srgbClr val="23616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6006" autoAdjust="0"/>
    <p:restoredTop sz="95146" autoAdjust="0"/>
  </p:normalViewPr>
  <p:slideViewPr>
    <p:cSldViewPr snapToGrid="0" showGuides="1">
      <p:cViewPr varScale="1">
        <p:scale>
          <a:sx n="81" d="100"/>
          <a:sy n="81" d="100"/>
        </p:scale>
        <p:origin x="405" y="45"/>
      </p:cViewPr>
      <p:guideLst/>
    </p:cSldViewPr>
  </p:slideViewPr>
  <p:notesTextViewPr>
    <p:cViewPr>
      <p:scale>
        <a:sx n="3" d="2"/>
        <a:sy n="3" d="2"/>
      </p:scale>
      <p:origin x="0" y="0"/>
    </p:cViewPr>
  </p:notesTextViewPr>
  <p:sorterViewPr>
    <p:cViewPr>
      <p:scale>
        <a:sx n="73" d="100"/>
        <a:sy n="73"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34CFA07-7242-4F06-9300-68A232E72C3E}" type="doc">
      <dgm:prSet loTypeId="urn:microsoft.com/office/officeart/2005/8/layout/process4" loCatId="process" qsTypeId="urn:microsoft.com/office/officeart/2005/8/quickstyle/simple1" qsCatId="simple" csTypeId="urn:microsoft.com/office/officeart/2005/8/colors/colorful2" csCatId="colorful" phldr="1"/>
      <dgm:spPr/>
      <dgm:t>
        <a:bodyPr/>
        <a:lstStyle/>
        <a:p>
          <a:endParaRPr lang="en-US"/>
        </a:p>
      </dgm:t>
    </dgm:pt>
    <dgm:pt modelId="{168BE142-5D1D-42FB-BC2C-8902CFCED84C}">
      <dgm:prSet/>
      <dgm:spPr/>
      <dgm:t>
        <a:bodyPr/>
        <a:lstStyle/>
        <a:p>
          <a:r>
            <a:rPr lang="en-US"/>
            <a:t>Identify viable models to reduce the number of candidate indices</a:t>
          </a:r>
        </a:p>
      </dgm:t>
    </dgm:pt>
    <dgm:pt modelId="{B188EBF4-F69D-47DC-9BA4-C4C64122617E}" type="parTrans" cxnId="{0DAB15DD-FF2F-4B50-8CB1-48B98D5F0501}">
      <dgm:prSet/>
      <dgm:spPr/>
      <dgm:t>
        <a:bodyPr/>
        <a:lstStyle/>
        <a:p>
          <a:endParaRPr lang="en-US"/>
        </a:p>
      </dgm:t>
    </dgm:pt>
    <dgm:pt modelId="{CAB87974-536A-41BD-9859-00D21D199294}" type="sibTrans" cxnId="{0DAB15DD-FF2F-4B50-8CB1-48B98D5F0501}">
      <dgm:prSet/>
      <dgm:spPr/>
      <dgm:t>
        <a:bodyPr/>
        <a:lstStyle/>
        <a:p>
          <a:endParaRPr lang="en-US"/>
        </a:p>
      </dgm:t>
    </dgm:pt>
    <dgm:pt modelId="{59F349B4-4511-41CF-A032-D2CB4D4C8AA4}">
      <dgm:prSet/>
      <dgm:spPr/>
      <dgm:t>
        <a:bodyPr/>
        <a:lstStyle/>
        <a:p>
          <a:r>
            <a:rPr lang="en-US" dirty="0"/>
            <a:t>Test hypotheses:</a:t>
          </a:r>
        </a:p>
      </dgm:t>
    </dgm:pt>
    <dgm:pt modelId="{FCFD0AB4-3BD2-4E02-95D3-E747C87F5386}" type="parTrans" cxnId="{C9318A3C-3775-4ACF-921E-99F97A6E4D93}">
      <dgm:prSet/>
      <dgm:spPr/>
      <dgm:t>
        <a:bodyPr/>
        <a:lstStyle/>
        <a:p>
          <a:endParaRPr lang="en-US"/>
        </a:p>
      </dgm:t>
    </dgm:pt>
    <dgm:pt modelId="{839061AB-8D0B-4601-908D-8B87DAAD6918}" type="sibTrans" cxnId="{C9318A3C-3775-4ACF-921E-99F97A6E4D93}">
      <dgm:prSet/>
      <dgm:spPr/>
      <dgm:t>
        <a:bodyPr/>
        <a:lstStyle/>
        <a:p>
          <a:endParaRPr lang="en-US"/>
        </a:p>
      </dgm:t>
    </dgm:pt>
    <dgm:pt modelId="{3AC8902D-B74F-4301-B73A-2308839977A3}">
      <dgm:prSet/>
      <dgm:spPr/>
      <dgm:t>
        <a:bodyPr/>
        <a:lstStyle/>
        <a:p>
          <a:r>
            <a:rPr lang="en-US" dirty="0"/>
            <a:t>Bigger is better </a:t>
          </a:r>
        </a:p>
        <a:p>
          <a:r>
            <a:rPr lang="en-US" dirty="0"/>
            <a:t>(bottom-up regulation)</a:t>
          </a:r>
        </a:p>
      </dgm:t>
    </dgm:pt>
    <dgm:pt modelId="{FBEA4E4E-97B3-405E-A24E-08039422F1BE}" type="parTrans" cxnId="{606BD9A3-AAB0-483E-ABF2-C2D26852FF0E}">
      <dgm:prSet/>
      <dgm:spPr/>
      <dgm:t>
        <a:bodyPr/>
        <a:lstStyle/>
        <a:p>
          <a:endParaRPr lang="en-US"/>
        </a:p>
      </dgm:t>
    </dgm:pt>
    <dgm:pt modelId="{A8597F6E-27B9-415C-8183-4DD112DFDB1B}" type="sibTrans" cxnId="{606BD9A3-AAB0-483E-ABF2-C2D26852FF0E}">
      <dgm:prSet/>
      <dgm:spPr/>
      <dgm:t>
        <a:bodyPr/>
        <a:lstStyle/>
        <a:p>
          <a:endParaRPr lang="en-US"/>
        </a:p>
      </dgm:t>
    </dgm:pt>
    <dgm:pt modelId="{AC2BCE36-4AD4-4813-9B8C-70BB4AFC641B}">
      <dgm:prSet/>
      <dgm:spPr/>
      <dgm:t>
        <a:bodyPr/>
        <a:lstStyle/>
        <a:p>
          <a:r>
            <a:rPr lang="en-US" dirty="0"/>
            <a:t>Predator abundance drives salmon survival </a:t>
          </a:r>
        </a:p>
        <a:p>
          <a:r>
            <a:rPr lang="en-US" dirty="0"/>
            <a:t>(top-down regulation)</a:t>
          </a:r>
        </a:p>
      </dgm:t>
    </dgm:pt>
    <dgm:pt modelId="{1B088D6E-BF04-4BAF-BC71-909166AF1EEB}" type="parTrans" cxnId="{2D27A5C3-D6B2-4583-AAE0-C572A8D321C0}">
      <dgm:prSet/>
      <dgm:spPr/>
      <dgm:t>
        <a:bodyPr/>
        <a:lstStyle/>
        <a:p>
          <a:endParaRPr lang="en-US"/>
        </a:p>
      </dgm:t>
    </dgm:pt>
    <dgm:pt modelId="{112A6D20-1510-4063-9E2C-70E8F788E33A}" type="sibTrans" cxnId="{2D27A5C3-D6B2-4583-AAE0-C572A8D321C0}">
      <dgm:prSet/>
      <dgm:spPr/>
      <dgm:t>
        <a:bodyPr/>
        <a:lstStyle/>
        <a:p>
          <a:endParaRPr lang="en-US"/>
        </a:p>
      </dgm:t>
    </dgm:pt>
    <dgm:pt modelId="{372CC62D-6E3E-4C6D-AE70-F8AA520488B3}">
      <dgm:prSet/>
      <dgm:spPr/>
      <dgm:t>
        <a:bodyPr/>
        <a:lstStyle/>
        <a:p>
          <a:r>
            <a:rPr lang="en-US" dirty="0"/>
            <a:t>Conditions modulate predator impact </a:t>
          </a:r>
        </a:p>
        <a:p>
          <a:r>
            <a:rPr lang="en-US" dirty="0"/>
            <a:t>(top-down modulated)</a:t>
          </a:r>
        </a:p>
      </dgm:t>
    </dgm:pt>
    <dgm:pt modelId="{E11FA4C8-5F74-44F1-8C3C-7A1B15DB8BBA}" type="parTrans" cxnId="{EEA16A6C-97B8-4285-B1C6-F08B590AE50A}">
      <dgm:prSet/>
      <dgm:spPr/>
      <dgm:t>
        <a:bodyPr/>
        <a:lstStyle/>
        <a:p>
          <a:endParaRPr lang="en-US"/>
        </a:p>
      </dgm:t>
    </dgm:pt>
    <dgm:pt modelId="{C14CAEC9-0050-4BC2-B5D2-20889689A5F5}" type="sibTrans" cxnId="{EEA16A6C-97B8-4285-B1C6-F08B590AE50A}">
      <dgm:prSet/>
      <dgm:spPr/>
      <dgm:t>
        <a:bodyPr/>
        <a:lstStyle/>
        <a:p>
          <a:endParaRPr lang="en-US"/>
        </a:p>
      </dgm:t>
    </dgm:pt>
    <dgm:pt modelId="{110889B2-7436-4456-857D-A0C7A3B42EDD}" type="pres">
      <dgm:prSet presAssocID="{934CFA07-7242-4F06-9300-68A232E72C3E}" presName="Name0" presStyleCnt="0">
        <dgm:presLayoutVars>
          <dgm:dir/>
          <dgm:animLvl val="lvl"/>
          <dgm:resizeHandles val="exact"/>
        </dgm:presLayoutVars>
      </dgm:prSet>
      <dgm:spPr/>
    </dgm:pt>
    <dgm:pt modelId="{A2E21DCA-3B44-4738-839F-A3D90425E825}" type="pres">
      <dgm:prSet presAssocID="{59F349B4-4511-41CF-A032-D2CB4D4C8AA4}" presName="boxAndChildren" presStyleCnt="0"/>
      <dgm:spPr/>
    </dgm:pt>
    <dgm:pt modelId="{5D0B52A1-8902-436F-833F-ED75DD31E6D2}" type="pres">
      <dgm:prSet presAssocID="{59F349B4-4511-41CF-A032-D2CB4D4C8AA4}" presName="parentTextBox" presStyleLbl="node1" presStyleIdx="0" presStyleCnt="2"/>
      <dgm:spPr/>
    </dgm:pt>
    <dgm:pt modelId="{733E89E5-D975-4EEF-9019-619440854C6C}" type="pres">
      <dgm:prSet presAssocID="{59F349B4-4511-41CF-A032-D2CB4D4C8AA4}" presName="entireBox" presStyleLbl="node1" presStyleIdx="0" presStyleCnt="2"/>
      <dgm:spPr/>
    </dgm:pt>
    <dgm:pt modelId="{F30025C9-44A7-4EB5-94F0-4DC4153101DA}" type="pres">
      <dgm:prSet presAssocID="{59F349B4-4511-41CF-A032-D2CB4D4C8AA4}" presName="descendantBox" presStyleCnt="0"/>
      <dgm:spPr/>
    </dgm:pt>
    <dgm:pt modelId="{5B0EF2A0-AC47-4CB9-8617-B4B1F4604CFB}" type="pres">
      <dgm:prSet presAssocID="{3AC8902D-B74F-4301-B73A-2308839977A3}" presName="childTextBox" presStyleLbl="fgAccFollowNode1" presStyleIdx="0" presStyleCnt="3">
        <dgm:presLayoutVars>
          <dgm:bulletEnabled val="1"/>
        </dgm:presLayoutVars>
      </dgm:prSet>
      <dgm:spPr/>
    </dgm:pt>
    <dgm:pt modelId="{12132203-1A53-446A-8279-25D173ECED42}" type="pres">
      <dgm:prSet presAssocID="{AC2BCE36-4AD4-4813-9B8C-70BB4AFC641B}" presName="childTextBox" presStyleLbl="fgAccFollowNode1" presStyleIdx="1" presStyleCnt="3">
        <dgm:presLayoutVars>
          <dgm:bulletEnabled val="1"/>
        </dgm:presLayoutVars>
      </dgm:prSet>
      <dgm:spPr/>
    </dgm:pt>
    <dgm:pt modelId="{AB2D04E0-659E-43A2-8500-CC33EE8D2F09}" type="pres">
      <dgm:prSet presAssocID="{372CC62D-6E3E-4C6D-AE70-F8AA520488B3}" presName="childTextBox" presStyleLbl="fgAccFollowNode1" presStyleIdx="2" presStyleCnt="3">
        <dgm:presLayoutVars>
          <dgm:bulletEnabled val="1"/>
        </dgm:presLayoutVars>
      </dgm:prSet>
      <dgm:spPr/>
    </dgm:pt>
    <dgm:pt modelId="{C09A76D5-30A8-4D46-8049-BC3260B8586D}" type="pres">
      <dgm:prSet presAssocID="{CAB87974-536A-41BD-9859-00D21D199294}" presName="sp" presStyleCnt="0"/>
      <dgm:spPr/>
    </dgm:pt>
    <dgm:pt modelId="{9145005E-7FFE-4D72-AED4-CB445E5C331F}" type="pres">
      <dgm:prSet presAssocID="{168BE142-5D1D-42FB-BC2C-8902CFCED84C}" presName="arrowAndChildren" presStyleCnt="0"/>
      <dgm:spPr/>
    </dgm:pt>
    <dgm:pt modelId="{AD6F6539-6539-4D3D-9D91-482609816FEA}" type="pres">
      <dgm:prSet presAssocID="{168BE142-5D1D-42FB-BC2C-8902CFCED84C}" presName="parentTextArrow" presStyleLbl="node1" presStyleIdx="1" presStyleCnt="2"/>
      <dgm:spPr/>
    </dgm:pt>
  </dgm:ptLst>
  <dgm:cxnLst>
    <dgm:cxn modelId="{63F8BF2E-B886-46D1-9FD4-BE43235CF550}" type="presOf" srcId="{3AC8902D-B74F-4301-B73A-2308839977A3}" destId="{5B0EF2A0-AC47-4CB9-8617-B4B1F4604CFB}" srcOrd="0" destOrd="0" presId="urn:microsoft.com/office/officeart/2005/8/layout/process4"/>
    <dgm:cxn modelId="{C9318A3C-3775-4ACF-921E-99F97A6E4D93}" srcId="{934CFA07-7242-4F06-9300-68A232E72C3E}" destId="{59F349B4-4511-41CF-A032-D2CB4D4C8AA4}" srcOrd="1" destOrd="0" parTransId="{FCFD0AB4-3BD2-4E02-95D3-E747C87F5386}" sibTransId="{839061AB-8D0B-4601-908D-8B87DAAD6918}"/>
    <dgm:cxn modelId="{EBF63B6B-AE31-4E22-9F5E-6D0C01C33BA9}" type="presOf" srcId="{59F349B4-4511-41CF-A032-D2CB4D4C8AA4}" destId="{5D0B52A1-8902-436F-833F-ED75DD31E6D2}" srcOrd="0" destOrd="0" presId="urn:microsoft.com/office/officeart/2005/8/layout/process4"/>
    <dgm:cxn modelId="{EEA16A6C-97B8-4285-B1C6-F08B590AE50A}" srcId="{59F349B4-4511-41CF-A032-D2CB4D4C8AA4}" destId="{372CC62D-6E3E-4C6D-AE70-F8AA520488B3}" srcOrd="2" destOrd="0" parTransId="{E11FA4C8-5F74-44F1-8C3C-7A1B15DB8BBA}" sibTransId="{C14CAEC9-0050-4BC2-B5D2-20889689A5F5}"/>
    <dgm:cxn modelId="{37FA9A76-E754-45D4-A4DC-3021F8AB82D0}" type="presOf" srcId="{934CFA07-7242-4F06-9300-68A232E72C3E}" destId="{110889B2-7436-4456-857D-A0C7A3B42EDD}" srcOrd="0" destOrd="0" presId="urn:microsoft.com/office/officeart/2005/8/layout/process4"/>
    <dgm:cxn modelId="{0042D97F-4A58-4224-B617-89E4AA5696CD}" type="presOf" srcId="{168BE142-5D1D-42FB-BC2C-8902CFCED84C}" destId="{AD6F6539-6539-4D3D-9D91-482609816FEA}" srcOrd="0" destOrd="0" presId="urn:microsoft.com/office/officeart/2005/8/layout/process4"/>
    <dgm:cxn modelId="{FD210E95-797D-41B7-9194-48EEB078DAD8}" type="presOf" srcId="{372CC62D-6E3E-4C6D-AE70-F8AA520488B3}" destId="{AB2D04E0-659E-43A2-8500-CC33EE8D2F09}" srcOrd="0" destOrd="0" presId="urn:microsoft.com/office/officeart/2005/8/layout/process4"/>
    <dgm:cxn modelId="{EFD78EA2-AF21-4CFD-B1A2-D44C0CBEBAD5}" type="presOf" srcId="{AC2BCE36-4AD4-4813-9B8C-70BB4AFC641B}" destId="{12132203-1A53-446A-8279-25D173ECED42}" srcOrd="0" destOrd="0" presId="urn:microsoft.com/office/officeart/2005/8/layout/process4"/>
    <dgm:cxn modelId="{606BD9A3-AAB0-483E-ABF2-C2D26852FF0E}" srcId="{59F349B4-4511-41CF-A032-D2CB4D4C8AA4}" destId="{3AC8902D-B74F-4301-B73A-2308839977A3}" srcOrd="0" destOrd="0" parTransId="{FBEA4E4E-97B3-405E-A24E-08039422F1BE}" sibTransId="{A8597F6E-27B9-415C-8183-4DD112DFDB1B}"/>
    <dgm:cxn modelId="{2D27A5C3-D6B2-4583-AAE0-C572A8D321C0}" srcId="{59F349B4-4511-41CF-A032-D2CB4D4C8AA4}" destId="{AC2BCE36-4AD4-4813-9B8C-70BB4AFC641B}" srcOrd="1" destOrd="0" parTransId="{1B088D6E-BF04-4BAF-BC71-909166AF1EEB}" sibTransId="{112A6D20-1510-4063-9E2C-70E8F788E33A}"/>
    <dgm:cxn modelId="{43FB69D9-0295-4314-B6EB-22DE8F0C8DB8}" type="presOf" srcId="{59F349B4-4511-41CF-A032-D2CB4D4C8AA4}" destId="{733E89E5-D975-4EEF-9019-619440854C6C}" srcOrd="1" destOrd="0" presId="urn:microsoft.com/office/officeart/2005/8/layout/process4"/>
    <dgm:cxn modelId="{0DAB15DD-FF2F-4B50-8CB1-48B98D5F0501}" srcId="{934CFA07-7242-4F06-9300-68A232E72C3E}" destId="{168BE142-5D1D-42FB-BC2C-8902CFCED84C}" srcOrd="0" destOrd="0" parTransId="{B188EBF4-F69D-47DC-9BA4-C4C64122617E}" sibTransId="{CAB87974-536A-41BD-9859-00D21D199294}"/>
    <dgm:cxn modelId="{AAFBE89E-30C3-4590-9272-5BEAFE230D4F}" type="presParOf" srcId="{110889B2-7436-4456-857D-A0C7A3B42EDD}" destId="{A2E21DCA-3B44-4738-839F-A3D90425E825}" srcOrd="0" destOrd="0" presId="urn:microsoft.com/office/officeart/2005/8/layout/process4"/>
    <dgm:cxn modelId="{E6985AAA-809A-4D8E-A2E5-A15E45FEBCE5}" type="presParOf" srcId="{A2E21DCA-3B44-4738-839F-A3D90425E825}" destId="{5D0B52A1-8902-436F-833F-ED75DD31E6D2}" srcOrd="0" destOrd="0" presId="urn:microsoft.com/office/officeart/2005/8/layout/process4"/>
    <dgm:cxn modelId="{F0866E70-146A-4B32-97B7-FF96C1F58DC1}" type="presParOf" srcId="{A2E21DCA-3B44-4738-839F-A3D90425E825}" destId="{733E89E5-D975-4EEF-9019-619440854C6C}" srcOrd="1" destOrd="0" presId="urn:microsoft.com/office/officeart/2005/8/layout/process4"/>
    <dgm:cxn modelId="{5B7F1DEB-A582-45F2-8413-3E4087464C8E}" type="presParOf" srcId="{A2E21DCA-3B44-4738-839F-A3D90425E825}" destId="{F30025C9-44A7-4EB5-94F0-4DC4153101DA}" srcOrd="2" destOrd="0" presId="urn:microsoft.com/office/officeart/2005/8/layout/process4"/>
    <dgm:cxn modelId="{EFAD877F-C6EE-4D2D-9E1E-DE7A7716A013}" type="presParOf" srcId="{F30025C9-44A7-4EB5-94F0-4DC4153101DA}" destId="{5B0EF2A0-AC47-4CB9-8617-B4B1F4604CFB}" srcOrd="0" destOrd="0" presId="urn:microsoft.com/office/officeart/2005/8/layout/process4"/>
    <dgm:cxn modelId="{1EAC3A98-0181-4A0C-93A1-83F35962814A}" type="presParOf" srcId="{F30025C9-44A7-4EB5-94F0-4DC4153101DA}" destId="{12132203-1A53-446A-8279-25D173ECED42}" srcOrd="1" destOrd="0" presId="urn:microsoft.com/office/officeart/2005/8/layout/process4"/>
    <dgm:cxn modelId="{98E5627A-DF63-4D5A-8D8E-312CD18CAA3E}" type="presParOf" srcId="{F30025C9-44A7-4EB5-94F0-4DC4153101DA}" destId="{AB2D04E0-659E-43A2-8500-CC33EE8D2F09}" srcOrd="2" destOrd="0" presId="urn:microsoft.com/office/officeart/2005/8/layout/process4"/>
    <dgm:cxn modelId="{FB51F308-86D5-46A9-A38A-731FC4C1D0E3}" type="presParOf" srcId="{110889B2-7436-4456-857D-A0C7A3B42EDD}" destId="{C09A76D5-30A8-4D46-8049-BC3260B8586D}" srcOrd="1" destOrd="0" presId="urn:microsoft.com/office/officeart/2005/8/layout/process4"/>
    <dgm:cxn modelId="{9E7BB455-831E-46E4-9AE1-8481C09A3735}" type="presParOf" srcId="{110889B2-7436-4456-857D-A0C7A3B42EDD}" destId="{9145005E-7FFE-4D72-AED4-CB445E5C331F}" srcOrd="2" destOrd="0" presId="urn:microsoft.com/office/officeart/2005/8/layout/process4"/>
    <dgm:cxn modelId="{DB817977-1C05-4453-8E1E-5749589607A3}" type="presParOf" srcId="{9145005E-7FFE-4D72-AED4-CB445E5C331F}" destId="{AD6F6539-6539-4D3D-9D91-482609816FEA}" srcOrd="0" destOrd="0" presId="urn:microsoft.com/office/officeart/2005/8/layout/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BCCADFE-B2E4-4CC8-B854-670373CF2AE1}" type="doc">
      <dgm:prSet loTypeId="urn:microsoft.com/office/officeart/2005/8/layout/vProcess5" loCatId="process" qsTypeId="urn:microsoft.com/office/officeart/2005/8/quickstyle/simple1" qsCatId="simple" csTypeId="urn:microsoft.com/office/officeart/2005/8/colors/colorful2" csCatId="colorful" phldr="1"/>
      <dgm:spPr/>
      <dgm:t>
        <a:bodyPr/>
        <a:lstStyle/>
        <a:p>
          <a:endParaRPr lang="en-US"/>
        </a:p>
      </dgm:t>
    </dgm:pt>
    <dgm:pt modelId="{2B4D7D09-01B1-4C0B-94C1-E2239249BFEE}">
      <dgm:prSet/>
      <dgm:spPr/>
      <dgm:t>
        <a:bodyPr/>
        <a:lstStyle/>
        <a:p>
          <a:r>
            <a:rPr lang="en-US" dirty="0"/>
            <a:t>BENEFITS OF REGIONAL SURVEYS &amp; DATA SHARING</a:t>
          </a:r>
        </a:p>
      </dgm:t>
    </dgm:pt>
    <dgm:pt modelId="{8FBF6BF7-7536-476E-8F99-9AF01E246EBC}" type="parTrans" cxnId="{C0FB48C4-D561-4070-B2CE-9404D079A627}">
      <dgm:prSet/>
      <dgm:spPr/>
      <dgm:t>
        <a:bodyPr/>
        <a:lstStyle/>
        <a:p>
          <a:endParaRPr lang="en-US"/>
        </a:p>
      </dgm:t>
    </dgm:pt>
    <dgm:pt modelId="{A35727EC-830D-43BF-A833-7742831574A4}" type="sibTrans" cxnId="{C0FB48C4-D561-4070-B2CE-9404D079A627}">
      <dgm:prSet/>
      <dgm:spPr>
        <a:noFill/>
      </dgm:spPr>
      <dgm:t>
        <a:bodyPr/>
        <a:lstStyle/>
        <a:p>
          <a:endParaRPr lang="en-US"/>
        </a:p>
      </dgm:t>
    </dgm:pt>
    <dgm:pt modelId="{7405BCF8-D337-41CA-831D-03F8C70298DE}">
      <dgm:prSet/>
      <dgm:spPr/>
      <dgm:t>
        <a:bodyPr/>
        <a:lstStyle/>
        <a:p>
          <a:r>
            <a:rPr lang="en-US"/>
            <a:t>Allows characterization of WA coast, WCVI, BC coast, and AK species interactions</a:t>
          </a:r>
        </a:p>
      </dgm:t>
    </dgm:pt>
    <dgm:pt modelId="{887A864D-0822-4C26-A6F8-39F63647AA3E}" type="parTrans" cxnId="{13C616D4-FFDF-4EE0-B1D4-24AB39AE0259}">
      <dgm:prSet/>
      <dgm:spPr/>
      <dgm:t>
        <a:bodyPr/>
        <a:lstStyle/>
        <a:p>
          <a:endParaRPr lang="en-US"/>
        </a:p>
      </dgm:t>
    </dgm:pt>
    <dgm:pt modelId="{4FDF934E-E3C2-4B78-8A05-21595753F674}" type="sibTrans" cxnId="{13C616D4-FFDF-4EE0-B1D4-24AB39AE0259}">
      <dgm:prSet/>
      <dgm:spPr/>
      <dgm:t>
        <a:bodyPr/>
        <a:lstStyle/>
        <a:p>
          <a:endParaRPr lang="en-US"/>
        </a:p>
      </dgm:t>
    </dgm:pt>
    <dgm:pt modelId="{7334935B-C76B-4D28-9E35-DB107BCDFB28}">
      <dgm:prSet/>
      <dgm:spPr/>
      <dgm:t>
        <a:bodyPr/>
        <a:lstStyle/>
        <a:p>
          <a:r>
            <a:rPr lang="en-US"/>
            <a:t>Improved “limiting factor” identification, despite regional correlations	</a:t>
          </a:r>
        </a:p>
      </dgm:t>
    </dgm:pt>
    <dgm:pt modelId="{26AB832C-0BA0-4436-A47B-AF2CBDADD8BC}" type="parTrans" cxnId="{14690C12-129B-43F4-96C7-75352DA71362}">
      <dgm:prSet/>
      <dgm:spPr/>
      <dgm:t>
        <a:bodyPr/>
        <a:lstStyle/>
        <a:p>
          <a:endParaRPr lang="en-US"/>
        </a:p>
      </dgm:t>
    </dgm:pt>
    <dgm:pt modelId="{10A186BF-D653-4AFD-9AAD-A1F19B355C18}" type="sibTrans" cxnId="{14690C12-129B-43F4-96C7-75352DA71362}">
      <dgm:prSet/>
      <dgm:spPr/>
      <dgm:t>
        <a:bodyPr/>
        <a:lstStyle/>
        <a:p>
          <a:endParaRPr lang="en-US"/>
        </a:p>
      </dgm:t>
    </dgm:pt>
    <dgm:pt modelId="{722CE486-2450-4B6E-AA83-402AA39D7B1A}">
      <dgm:prSet/>
      <dgm:spPr/>
      <dgm:t>
        <a:bodyPr/>
        <a:lstStyle/>
        <a:p>
          <a:r>
            <a:rPr lang="en-US" dirty="0"/>
            <a:t>DFAs often combine data from different regions that were + and - correlated –&gt; more questions!!!</a:t>
          </a:r>
        </a:p>
      </dgm:t>
    </dgm:pt>
    <dgm:pt modelId="{9E99D298-05FF-4930-BB80-9AF52E63BDB0}" type="parTrans" cxnId="{38AA8360-B141-4AC5-9042-0263984C7BD8}">
      <dgm:prSet/>
      <dgm:spPr/>
      <dgm:t>
        <a:bodyPr/>
        <a:lstStyle/>
        <a:p>
          <a:endParaRPr lang="en-US"/>
        </a:p>
      </dgm:t>
    </dgm:pt>
    <dgm:pt modelId="{D5E30853-76AD-4D3D-9417-017DD1881DAB}" type="sibTrans" cxnId="{38AA8360-B141-4AC5-9042-0263984C7BD8}">
      <dgm:prSet/>
      <dgm:spPr/>
      <dgm:t>
        <a:bodyPr/>
        <a:lstStyle/>
        <a:p>
          <a:endParaRPr lang="en-US"/>
        </a:p>
      </dgm:t>
    </dgm:pt>
    <dgm:pt modelId="{1B0A976C-62A3-4B30-B6A0-F735EEE5C27E}">
      <dgm:prSet/>
      <dgm:spPr/>
      <dgm:t>
        <a:bodyPr/>
        <a:lstStyle/>
        <a:p>
          <a:r>
            <a:rPr lang="en-US" dirty="0"/>
            <a:t>AK PREDATORS EXPLAIN SUBSTANTIAL VARIATION IN SALMON SURVIVAL</a:t>
          </a:r>
        </a:p>
      </dgm:t>
    </dgm:pt>
    <dgm:pt modelId="{8E415089-D56D-4902-AB23-76B7FDECAE28}" type="parTrans" cxnId="{0AAF2B9D-E82C-4557-AFB2-4466303F3070}">
      <dgm:prSet/>
      <dgm:spPr/>
      <dgm:t>
        <a:bodyPr/>
        <a:lstStyle/>
        <a:p>
          <a:endParaRPr lang="en-US"/>
        </a:p>
      </dgm:t>
    </dgm:pt>
    <dgm:pt modelId="{397E4212-58B1-4E2E-B95F-6E3CFF6153FC}" type="sibTrans" cxnId="{0AAF2B9D-E82C-4557-AFB2-4466303F3070}">
      <dgm:prSet/>
      <dgm:spPr/>
      <dgm:t>
        <a:bodyPr/>
        <a:lstStyle/>
        <a:p>
          <a:endParaRPr lang="en-US"/>
        </a:p>
      </dgm:t>
    </dgm:pt>
    <dgm:pt modelId="{8EA1F03B-AC99-4150-BA67-F95D38383489}">
      <dgm:prSet/>
      <dgm:spPr/>
      <dgm:t>
        <a:bodyPr/>
        <a:lstStyle/>
        <a:p>
          <a:r>
            <a:rPr lang="en-US" dirty="0"/>
            <a:t>Experiments and more insights needed to prove causal relationships</a:t>
          </a:r>
        </a:p>
      </dgm:t>
    </dgm:pt>
    <dgm:pt modelId="{3A9646FE-0088-4DD9-A1BA-88FDB099AF9F}" type="parTrans" cxnId="{5E1D6230-9F9B-4204-8FED-83A99709DD4A}">
      <dgm:prSet/>
      <dgm:spPr/>
      <dgm:t>
        <a:bodyPr/>
        <a:lstStyle/>
        <a:p>
          <a:endParaRPr lang="en-US"/>
        </a:p>
      </dgm:t>
    </dgm:pt>
    <dgm:pt modelId="{038F455B-8E22-4472-BAD1-038E033FCC60}" type="sibTrans" cxnId="{5E1D6230-9F9B-4204-8FED-83A99709DD4A}">
      <dgm:prSet/>
      <dgm:spPr/>
      <dgm:t>
        <a:bodyPr/>
        <a:lstStyle/>
        <a:p>
          <a:endParaRPr lang="en-US"/>
        </a:p>
      </dgm:t>
    </dgm:pt>
    <dgm:pt modelId="{9CADEF43-DE35-4C4E-850A-CBE5B765A05C}" type="pres">
      <dgm:prSet presAssocID="{0BCCADFE-B2E4-4CC8-B854-670373CF2AE1}" presName="outerComposite" presStyleCnt="0">
        <dgm:presLayoutVars>
          <dgm:chMax val="5"/>
          <dgm:dir/>
          <dgm:resizeHandles val="exact"/>
        </dgm:presLayoutVars>
      </dgm:prSet>
      <dgm:spPr/>
    </dgm:pt>
    <dgm:pt modelId="{B06E3F7E-325A-4B30-A94F-6ED4FB3058A0}" type="pres">
      <dgm:prSet presAssocID="{0BCCADFE-B2E4-4CC8-B854-670373CF2AE1}" presName="dummyMaxCanvas" presStyleCnt="0">
        <dgm:presLayoutVars/>
      </dgm:prSet>
      <dgm:spPr/>
    </dgm:pt>
    <dgm:pt modelId="{8494A826-15C7-4119-AC83-5E6054E00A6C}" type="pres">
      <dgm:prSet presAssocID="{0BCCADFE-B2E4-4CC8-B854-670373CF2AE1}" presName="TwoNodes_1" presStyleLbl="node1" presStyleIdx="0" presStyleCnt="2">
        <dgm:presLayoutVars>
          <dgm:bulletEnabled val="1"/>
        </dgm:presLayoutVars>
      </dgm:prSet>
      <dgm:spPr/>
    </dgm:pt>
    <dgm:pt modelId="{AE881BD0-B791-4A77-BAA1-30B833B27198}" type="pres">
      <dgm:prSet presAssocID="{0BCCADFE-B2E4-4CC8-B854-670373CF2AE1}" presName="TwoNodes_2" presStyleLbl="node1" presStyleIdx="1" presStyleCnt="2">
        <dgm:presLayoutVars>
          <dgm:bulletEnabled val="1"/>
        </dgm:presLayoutVars>
      </dgm:prSet>
      <dgm:spPr/>
    </dgm:pt>
    <dgm:pt modelId="{DEDC4957-19D0-42FE-BA6E-0BD7E675E672}" type="pres">
      <dgm:prSet presAssocID="{0BCCADFE-B2E4-4CC8-B854-670373CF2AE1}" presName="TwoConn_1-2" presStyleLbl="fgAccFollowNode1" presStyleIdx="0" presStyleCnt="1">
        <dgm:presLayoutVars>
          <dgm:bulletEnabled val="1"/>
        </dgm:presLayoutVars>
      </dgm:prSet>
      <dgm:spPr/>
    </dgm:pt>
    <dgm:pt modelId="{43BA72E3-9621-43E6-B088-743240A477FA}" type="pres">
      <dgm:prSet presAssocID="{0BCCADFE-B2E4-4CC8-B854-670373CF2AE1}" presName="TwoNodes_1_text" presStyleLbl="node1" presStyleIdx="1" presStyleCnt="2">
        <dgm:presLayoutVars>
          <dgm:bulletEnabled val="1"/>
        </dgm:presLayoutVars>
      </dgm:prSet>
      <dgm:spPr/>
    </dgm:pt>
    <dgm:pt modelId="{55A9663F-9C1A-41FD-923A-37176A9315D4}" type="pres">
      <dgm:prSet presAssocID="{0BCCADFE-B2E4-4CC8-B854-670373CF2AE1}" presName="TwoNodes_2_text" presStyleLbl="node1" presStyleIdx="1" presStyleCnt="2">
        <dgm:presLayoutVars>
          <dgm:bulletEnabled val="1"/>
        </dgm:presLayoutVars>
      </dgm:prSet>
      <dgm:spPr/>
    </dgm:pt>
  </dgm:ptLst>
  <dgm:cxnLst>
    <dgm:cxn modelId="{AA07350F-7C99-4374-991F-1359DCD32C71}" type="presOf" srcId="{0BCCADFE-B2E4-4CC8-B854-670373CF2AE1}" destId="{9CADEF43-DE35-4C4E-850A-CBE5B765A05C}" srcOrd="0" destOrd="0" presId="urn:microsoft.com/office/officeart/2005/8/layout/vProcess5"/>
    <dgm:cxn modelId="{14690C12-129B-43F4-96C7-75352DA71362}" srcId="{2B4D7D09-01B1-4C0B-94C1-E2239249BFEE}" destId="{7334935B-C76B-4D28-9E35-DB107BCDFB28}" srcOrd="1" destOrd="0" parTransId="{26AB832C-0BA0-4436-A47B-AF2CBDADD8BC}" sibTransId="{10A186BF-D653-4AFD-9AAD-A1F19B355C18}"/>
    <dgm:cxn modelId="{5E1D6230-9F9B-4204-8FED-83A99709DD4A}" srcId="{1B0A976C-62A3-4B30-B6A0-F735EEE5C27E}" destId="{8EA1F03B-AC99-4150-BA67-F95D38383489}" srcOrd="0" destOrd="0" parTransId="{3A9646FE-0088-4DD9-A1BA-88FDB099AF9F}" sibTransId="{038F455B-8E22-4472-BAD1-038E033FCC60}"/>
    <dgm:cxn modelId="{1B79563D-5897-4D99-8B7B-B527C2FD0CCA}" type="presOf" srcId="{1B0A976C-62A3-4B30-B6A0-F735EEE5C27E}" destId="{AE881BD0-B791-4A77-BAA1-30B833B27198}" srcOrd="0" destOrd="0" presId="urn:microsoft.com/office/officeart/2005/8/layout/vProcess5"/>
    <dgm:cxn modelId="{2AA3265D-14E9-417B-A57F-E01579EB230C}" type="presOf" srcId="{7405BCF8-D337-41CA-831D-03F8C70298DE}" destId="{43BA72E3-9621-43E6-B088-743240A477FA}" srcOrd="1" destOrd="1" presId="urn:microsoft.com/office/officeart/2005/8/layout/vProcess5"/>
    <dgm:cxn modelId="{38AA8360-B141-4AC5-9042-0263984C7BD8}" srcId="{2B4D7D09-01B1-4C0B-94C1-E2239249BFEE}" destId="{722CE486-2450-4B6E-AA83-402AA39D7B1A}" srcOrd="2" destOrd="0" parTransId="{9E99D298-05FF-4930-BB80-9AF52E63BDB0}" sibTransId="{D5E30853-76AD-4D3D-9417-017DD1881DAB}"/>
    <dgm:cxn modelId="{8710FA62-0F45-473C-AD21-6E6732419548}" type="presOf" srcId="{A35727EC-830D-43BF-A833-7742831574A4}" destId="{DEDC4957-19D0-42FE-BA6E-0BD7E675E672}" srcOrd="0" destOrd="0" presId="urn:microsoft.com/office/officeart/2005/8/layout/vProcess5"/>
    <dgm:cxn modelId="{CEB53C68-FC91-408D-AF1A-095C5532CAF7}" type="presOf" srcId="{8EA1F03B-AC99-4150-BA67-F95D38383489}" destId="{55A9663F-9C1A-41FD-923A-37176A9315D4}" srcOrd="1" destOrd="1" presId="urn:microsoft.com/office/officeart/2005/8/layout/vProcess5"/>
    <dgm:cxn modelId="{D0254B6E-137F-41B8-A42B-1C12AAA928FF}" type="presOf" srcId="{722CE486-2450-4B6E-AA83-402AA39D7B1A}" destId="{43BA72E3-9621-43E6-B088-743240A477FA}" srcOrd="1" destOrd="3" presId="urn:microsoft.com/office/officeart/2005/8/layout/vProcess5"/>
    <dgm:cxn modelId="{9BC8F44E-3EBE-4681-A7AD-958225E8E1A9}" type="presOf" srcId="{1B0A976C-62A3-4B30-B6A0-F735EEE5C27E}" destId="{55A9663F-9C1A-41FD-923A-37176A9315D4}" srcOrd="1" destOrd="0" presId="urn:microsoft.com/office/officeart/2005/8/layout/vProcess5"/>
    <dgm:cxn modelId="{CAF43D75-246B-4C69-83DC-D60B2AC7A568}" type="presOf" srcId="{722CE486-2450-4B6E-AA83-402AA39D7B1A}" destId="{8494A826-15C7-4119-AC83-5E6054E00A6C}" srcOrd="0" destOrd="3" presId="urn:microsoft.com/office/officeart/2005/8/layout/vProcess5"/>
    <dgm:cxn modelId="{36FEE558-1E68-48FE-8F61-0AEC1245F362}" type="presOf" srcId="{7405BCF8-D337-41CA-831D-03F8C70298DE}" destId="{8494A826-15C7-4119-AC83-5E6054E00A6C}" srcOrd="0" destOrd="1" presId="urn:microsoft.com/office/officeart/2005/8/layout/vProcess5"/>
    <dgm:cxn modelId="{0AAF2B9D-E82C-4557-AFB2-4466303F3070}" srcId="{0BCCADFE-B2E4-4CC8-B854-670373CF2AE1}" destId="{1B0A976C-62A3-4B30-B6A0-F735EEE5C27E}" srcOrd="1" destOrd="0" parTransId="{8E415089-D56D-4902-AB23-76B7FDECAE28}" sibTransId="{397E4212-58B1-4E2E-B95F-6E3CFF6153FC}"/>
    <dgm:cxn modelId="{579B55AD-4BBD-4644-B712-FD58803DE30A}" type="presOf" srcId="{7334935B-C76B-4D28-9E35-DB107BCDFB28}" destId="{8494A826-15C7-4119-AC83-5E6054E00A6C}" srcOrd="0" destOrd="2" presId="urn:microsoft.com/office/officeart/2005/8/layout/vProcess5"/>
    <dgm:cxn modelId="{08BA88AF-2F15-4BE0-8932-4CD7C9C08606}" type="presOf" srcId="{2B4D7D09-01B1-4C0B-94C1-E2239249BFEE}" destId="{43BA72E3-9621-43E6-B088-743240A477FA}" srcOrd="1" destOrd="0" presId="urn:microsoft.com/office/officeart/2005/8/layout/vProcess5"/>
    <dgm:cxn modelId="{8E3F30B4-96C6-4CF5-A82A-2930C99D66E2}" type="presOf" srcId="{8EA1F03B-AC99-4150-BA67-F95D38383489}" destId="{AE881BD0-B791-4A77-BAA1-30B833B27198}" srcOrd="0" destOrd="1" presId="urn:microsoft.com/office/officeart/2005/8/layout/vProcess5"/>
    <dgm:cxn modelId="{C0FB48C4-D561-4070-B2CE-9404D079A627}" srcId="{0BCCADFE-B2E4-4CC8-B854-670373CF2AE1}" destId="{2B4D7D09-01B1-4C0B-94C1-E2239249BFEE}" srcOrd="0" destOrd="0" parTransId="{8FBF6BF7-7536-476E-8F99-9AF01E246EBC}" sibTransId="{A35727EC-830D-43BF-A833-7742831574A4}"/>
    <dgm:cxn modelId="{13C616D4-FFDF-4EE0-B1D4-24AB39AE0259}" srcId="{2B4D7D09-01B1-4C0B-94C1-E2239249BFEE}" destId="{7405BCF8-D337-41CA-831D-03F8C70298DE}" srcOrd="0" destOrd="0" parTransId="{887A864D-0822-4C26-A6F8-39F63647AA3E}" sibTransId="{4FDF934E-E3C2-4B78-8A05-21595753F674}"/>
    <dgm:cxn modelId="{59312EE1-48BE-4F97-8866-F84C23A407EB}" type="presOf" srcId="{7334935B-C76B-4D28-9E35-DB107BCDFB28}" destId="{43BA72E3-9621-43E6-B088-743240A477FA}" srcOrd="1" destOrd="2" presId="urn:microsoft.com/office/officeart/2005/8/layout/vProcess5"/>
    <dgm:cxn modelId="{FA9287E6-FE5D-4BC1-89C8-556C285A4E53}" type="presOf" srcId="{2B4D7D09-01B1-4C0B-94C1-E2239249BFEE}" destId="{8494A826-15C7-4119-AC83-5E6054E00A6C}" srcOrd="0" destOrd="0" presId="urn:microsoft.com/office/officeart/2005/8/layout/vProcess5"/>
    <dgm:cxn modelId="{7D578F3D-6EDA-4B15-842D-C2940C9FE983}" type="presParOf" srcId="{9CADEF43-DE35-4C4E-850A-CBE5B765A05C}" destId="{B06E3F7E-325A-4B30-A94F-6ED4FB3058A0}" srcOrd="0" destOrd="0" presId="urn:microsoft.com/office/officeart/2005/8/layout/vProcess5"/>
    <dgm:cxn modelId="{E9D52DD8-2E52-4885-B7AD-729C4C5B662B}" type="presParOf" srcId="{9CADEF43-DE35-4C4E-850A-CBE5B765A05C}" destId="{8494A826-15C7-4119-AC83-5E6054E00A6C}" srcOrd="1" destOrd="0" presId="urn:microsoft.com/office/officeart/2005/8/layout/vProcess5"/>
    <dgm:cxn modelId="{0F255C1E-C451-4FC4-9399-E8E057B50E15}" type="presParOf" srcId="{9CADEF43-DE35-4C4E-850A-CBE5B765A05C}" destId="{AE881BD0-B791-4A77-BAA1-30B833B27198}" srcOrd="2" destOrd="0" presId="urn:microsoft.com/office/officeart/2005/8/layout/vProcess5"/>
    <dgm:cxn modelId="{BEA85671-DA44-46E9-B14B-5C1AD5D1257D}" type="presParOf" srcId="{9CADEF43-DE35-4C4E-850A-CBE5B765A05C}" destId="{DEDC4957-19D0-42FE-BA6E-0BD7E675E672}" srcOrd="3" destOrd="0" presId="urn:microsoft.com/office/officeart/2005/8/layout/vProcess5"/>
    <dgm:cxn modelId="{D83C9BD4-41BF-4098-A8BB-35FF90674353}" type="presParOf" srcId="{9CADEF43-DE35-4C4E-850A-CBE5B765A05C}" destId="{43BA72E3-9621-43E6-B088-743240A477FA}" srcOrd="4" destOrd="0" presId="urn:microsoft.com/office/officeart/2005/8/layout/vProcess5"/>
    <dgm:cxn modelId="{9759995F-17A0-4530-9D2D-AB0235EA5600}" type="presParOf" srcId="{9CADEF43-DE35-4C4E-850A-CBE5B765A05C}" destId="{55A9663F-9C1A-41FD-923A-37176A9315D4}" srcOrd="5"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33E89E5-D975-4EEF-9019-619440854C6C}">
      <dsp:nvSpPr>
        <dsp:cNvPr id="0" name=""/>
        <dsp:cNvSpPr/>
      </dsp:nvSpPr>
      <dsp:spPr>
        <a:xfrm>
          <a:off x="0" y="3410021"/>
          <a:ext cx="6797675" cy="2237343"/>
        </a:xfrm>
        <a:prstGeom prst="rect">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77368" tIns="277368" rIns="277368" bIns="277368" numCol="1" spcCol="1270" anchor="ctr" anchorCtr="0">
          <a:noAutofit/>
        </a:bodyPr>
        <a:lstStyle/>
        <a:p>
          <a:pPr marL="0" lvl="0" indent="0" algn="ctr" defTabSz="1733550">
            <a:lnSpc>
              <a:spcPct val="90000"/>
            </a:lnSpc>
            <a:spcBef>
              <a:spcPct val="0"/>
            </a:spcBef>
            <a:spcAft>
              <a:spcPct val="35000"/>
            </a:spcAft>
            <a:buNone/>
          </a:pPr>
          <a:r>
            <a:rPr lang="en-US" sz="3900" kern="1200" dirty="0"/>
            <a:t>Test hypotheses:</a:t>
          </a:r>
        </a:p>
      </dsp:txBody>
      <dsp:txXfrm>
        <a:off x="0" y="3410021"/>
        <a:ext cx="6797675" cy="1208165"/>
      </dsp:txXfrm>
    </dsp:sp>
    <dsp:sp modelId="{5B0EF2A0-AC47-4CB9-8617-B4B1F4604CFB}">
      <dsp:nvSpPr>
        <dsp:cNvPr id="0" name=""/>
        <dsp:cNvSpPr/>
      </dsp:nvSpPr>
      <dsp:spPr>
        <a:xfrm>
          <a:off x="3319" y="4573439"/>
          <a:ext cx="2263678" cy="1029177"/>
        </a:xfrm>
        <a:prstGeom prst="rect">
          <a:avLst/>
        </a:prstGeom>
        <a:solidFill>
          <a:schemeClr val="accent2">
            <a:tint val="40000"/>
            <a:alpha val="90000"/>
            <a:hueOff val="0"/>
            <a:satOff val="0"/>
            <a:lumOff val="0"/>
            <a:alphaOff val="0"/>
          </a:schemeClr>
        </a:solidFill>
        <a:ln w="15875"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0904" tIns="21590" rIns="120904" bIns="21590" numCol="1" spcCol="1270" anchor="ctr" anchorCtr="0">
          <a:noAutofit/>
        </a:bodyPr>
        <a:lstStyle/>
        <a:p>
          <a:pPr marL="0" lvl="0" indent="0" algn="ctr" defTabSz="755650">
            <a:lnSpc>
              <a:spcPct val="90000"/>
            </a:lnSpc>
            <a:spcBef>
              <a:spcPct val="0"/>
            </a:spcBef>
            <a:spcAft>
              <a:spcPct val="35000"/>
            </a:spcAft>
            <a:buNone/>
          </a:pPr>
          <a:r>
            <a:rPr lang="en-US" sz="1700" kern="1200" dirty="0"/>
            <a:t>Bigger is better </a:t>
          </a:r>
        </a:p>
        <a:p>
          <a:pPr marL="0" lvl="0" indent="0" algn="ctr" defTabSz="755650">
            <a:lnSpc>
              <a:spcPct val="90000"/>
            </a:lnSpc>
            <a:spcBef>
              <a:spcPct val="0"/>
            </a:spcBef>
            <a:spcAft>
              <a:spcPct val="35000"/>
            </a:spcAft>
            <a:buNone/>
          </a:pPr>
          <a:r>
            <a:rPr lang="en-US" sz="1700" kern="1200" dirty="0"/>
            <a:t>(bottom-up regulation)</a:t>
          </a:r>
        </a:p>
      </dsp:txBody>
      <dsp:txXfrm>
        <a:off x="3319" y="4573439"/>
        <a:ext cx="2263678" cy="1029177"/>
      </dsp:txXfrm>
    </dsp:sp>
    <dsp:sp modelId="{12132203-1A53-446A-8279-25D173ECED42}">
      <dsp:nvSpPr>
        <dsp:cNvPr id="0" name=""/>
        <dsp:cNvSpPr/>
      </dsp:nvSpPr>
      <dsp:spPr>
        <a:xfrm>
          <a:off x="2266998" y="4573439"/>
          <a:ext cx="2263678" cy="1029177"/>
        </a:xfrm>
        <a:prstGeom prst="rect">
          <a:avLst/>
        </a:prstGeom>
        <a:solidFill>
          <a:schemeClr val="accent2">
            <a:tint val="40000"/>
            <a:alpha val="90000"/>
            <a:hueOff val="123599"/>
            <a:satOff val="-11908"/>
            <a:lumOff val="-1255"/>
            <a:alphaOff val="0"/>
          </a:schemeClr>
        </a:solidFill>
        <a:ln w="15875" cap="flat" cmpd="sng" algn="ctr">
          <a:solidFill>
            <a:schemeClr val="accent2">
              <a:tint val="40000"/>
              <a:alpha val="90000"/>
              <a:hueOff val="123599"/>
              <a:satOff val="-11908"/>
              <a:lumOff val="-1255"/>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0904" tIns="21590" rIns="120904" bIns="21590" numCol="1" spcCol="1270" anchor="ctr" anchorCtr="0">
          <a:noAutofit/>
        </a:bodyPr>
        <a:lstStyle/>
        <a:p>
          <a:pPr marL="0" lvl="0" indent="0" algn="ctr" defTabSz="755650">
            <a:lnSpc>
              <a:spcPct val="90000"/>
            </a:lnSpc>
            <a:spcBef>
              <a:spcPct val="0"/>
            </a:spcBef>
            <a:spcAft>
              <a:spcPct val="35000"/>
            </a:spcAft>
            <a:buNone/>
          </a:pPr>
          <a:r>
            <a:rPr lang="en-US" sz="1700" kern="1200" dirty="0"/>
            <a:t>Predator abundance drives salmon survival </a:t>
          </a:r>
        </a:p>
        <a:p>
          <a:pPr marL="0" lvl="0" indent="0" algn="ctr" defTabSz="755650">
            <a:lnSpc>
              <a:spcPct val="90000"/>
            </a:lnSpc>
            <a:spcBef>
              <a:spcPct val="0"/>
            </a:spcBef>
            <a:spcAft>
              <a:spcPct val="35000"/>
            </a:spcAft>
            <a:buNone/>
          </a:pPr>
          <a:r>
            <a:rPr lang="en-US" sz="1700" kern="1200" dirty="0"/>
            <a:t>(top-down regulation)</a:t>
          </a:r>
        </a:p>
      </dsp:txBody>
      <dsp:txXfrm>
        <a:off x="2266998" y="4573439"/>
        <a:ext cx="2263678" cy="1029177"/>
      </dsp:txXfrm>
    </dsp:sp>
    <dsp:sp modelId="{AB2D04E0-659E-43A2-8500-CC33EE8D2F09}">
      <dsp:nvSpPr>
        <dsp:cNvPr id="0" name=""/>
        <dsp:cNvSpPr/>
      </dsp:nvSpPr>
      <dsp:spPr>
        <a:xfrm>
          <a:off x="4530676" y="4573439"/>
          <a:ext cx="2263678" cy="1029177"/>
        </a:xfrm>
        <a:prstGeom prst="rect">
          <a:avLst/>
        </a:prstGeom>
        <a:solidFill>
          <a:schemeClr val="accent2">
            <a:tint val="40000"/>
            <a:alpha val="90000"/>
            <a:hueOff val="247198"/>
            <a:satOff val="-23816"/>
            <a:lumOff val="-2511"/>
            <a:alphaOff val="0"/>
          </a:schemeClr>
        </a:solidFill>
        <a:ln w="15875" cap="flat" cmpd="sng" algn="ctr">
          <a:solidFill>
            <a:schemeClr val="accent2">
              <a:tint val="40000"/>
              <a:alpha val="90000"/>
              <a:hueOff val="247198"/>
              <a:satOff val="-23816"/>
              <a:lumOff val="-2511"/>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0904" tIns="21590" rIns="120904" bIns="21590" numCol="1" spcCol="1270" anchor="ctr" anchorCtr="0">
          <a:noAutofit/>
        </a:bodyPr>
        <a:lstStyle/>
        <a:p>
          <a:pPr marL="0" lvl="0" indent="0" algn="ctr" defTabSz="755650">
            <a:lnSpc>
              <a:spcPct val="90000"/>
            </a:lnSpc>
            <a:spcBef>
              <a:spcPct val="0"/>
            </a:spcBef>
            <a:spcAft>
              <a:spcPct val="35000"/>
            </a:spcAft>
            <a:buNone/>
          </a:pPr>
          <a:r>
            <a:rPr lang="en-US" sz="1700" kern="1200" dirty="0"/>
            <a:t>Conditions modulate predator impact </a:t>
          </a:r>
        </a:p>
        <a:p>
          <a:pPr marL="0" lvl="0" indent="0" algn="ctr" defTabSz="755650">
            <a:lnSpc>
              <a:spcPct val="90000"/>
            </a:lnSpc>
            <a:spcBef>
              <a:spcPct val="0"/>
            </a:spcBef>
            <a:spcAft>
              <a:spcPct val="35000"/>
            </a:spcAft>
            <a:buNone/>
          </a:pPr>
          <a:r>
            <a:rPr lang="en-US" sz="1700" kern="1200" dirty="0"/>
            <a:t>(top-down modulated)</a:t>
          </a:r>
        </a:p>
      </dsp:txBody>
      <dsp:txXfrm>
        <a:off x="4530676" y="4573439"/>
        <a:ext cx="2263678" cy="1029177"/>
      </dsp:txXfrm>
    </dsp:sp>
    <dsp:sp modelId="{AD6F6539-6539-4D3D-9D91-482609816FEA}">
      <dsp:nvSpPr>
        <dsp:cNvPr id="0" name=""/>
        <dsp:cNvSpPr/>
      </dsp:nvSpPr>
      <dsp:spPr>
        <a:xfrm rot="10800000">
          <a:off x="0" y="2547"/>
          <a:ext cx="6797675" cy="3441033"/>
        </a:xfrm>
        <a:prstGeom prst="upArrowCallout">
          <a:avLst/>
        </a:prstGeom>
        <a:solidFill>
          <a:schemeClr val="accent2">
            <a:hueOff val="39038"/>
            <a:satOff val="-26876"/>
            <a:lumOff val="-6863"/>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77368" tIns="277368" rIns="277368" bIns="277368" numCol="1" spcCol="1270" anchor="ctr" anchorCtr="0">
          <a:noAutofit/>
        </a:bodyPr>
        <a:lstStyle/>
        <a:p>
          <a:pPr marL="0" lvl="0" indent="0" algn="ctr" defTabSz="1733550">
            <a:lnSpc>
              <a:spcPct val="90000"/>
            </a:lnSpc>
            <a:spcBef>
              <a:spcPct val="0"/>
            </a:spcBef>
            <a:spcAft>
              <a:spcPct val="35000"/>
            </a:spcAft>
            <a:buNone/>
          </a:pPr>
          <a:r>
            <a:rPr lang="en-US" sz="3900" kern="1200"/>
            <a:t>Identify viable models to reduce the number of candidate indices</a:t>
          </a:r>
        </a:p>
      </dsp:txBody>
      <dsp:txXfrm rot="10800000">
        <a:off x="0" y="2547"/>
        <a:ext cx="6797675" cy="223588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494A826-15C7-4119-AC83-5E6054E00A6C}">
      <dsp:nvSpPr>
        <dsp:cNvPr id="0" name=""/>
        <dsp:cNvSpPr/>
      </dsp:nvSpPr>
      <dsp:spPr>
        <a:xfrm>
          <a:off x="0" y="0"/>
          <a:ext cx="8549640" cy="1703736"/>
        </a:xfrm>
        <a:prstGeom prst="roundRect">
          <a:avLst>
            <a:gd name="adj" fmla="val 10000"/>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dirty="0"/>
            <a:t>BENEFITS OF REGIONAL SURVEYS &amp; DATA SHARING</a:t>
          </a:r>
        </a:p>
        <a:p>
          <a:pPr marL="114300" lvl="1" indent="-114300" algn="l" defTabSz="666750">
            <a:lnSpc>
              <a:spcPct val="90000"/>
            </a:lnSpc>
            <a:spcBef>
              <a:spcPct val="0"/>
            </a:spcBef>
            <a:spcAft>
              <a:spcPct val="15000"/>
            </a:spcAft>
            <a:buChar char="•"/>
          </a:pPr>
          <a:r>
            <a:rPr lang="en-US" sz="1500" kern="1200"/>
            <a:t>Allows characterization of WA coast, WCVI, BC coast, and AK species interactions</a:t>
          </a:r>
        </a:p>
        <a:p>
          <a:pPr marL="114300" lvl="1" indent="-114300" algn="l" defTabSz="666750">
            <a:lnSpc>
              <a:spcPct val="90000"/>
            </a:lnSpc>
            <a:spcBef>
              <a:spcPct val="0"/>
            </a:spcBef>
            <a:spcAft>
              <a:spcPct val="15000"/>
            </a:spcAft>
            <a:buChar char="•"/>
          </a:pPr>
          <a:r>
            <a:rPr lang="en-US" sz="1500" kern="1200"/>
            <a:t>Improved “limiting factor” identification, despite regional correlations	</a:t>
          </a:r>
        </a:p>
        <a:p>
          <a:pPr marL="114300" lvl="1" indent="-114300" algn="l" defTabSz="666750">
            <a:lnSpc>
              <a:spcPct val="90000"/>
            </a:lnSpc>
            <a:spcBef>
              <a:spcPct val="0"/>
            </a:spcBef>
            <a:spcAft>
              <a:spcPct val="15000"/>
            </a:spcAft>
            <a:buChar char="•"/>
          </a:pPr>
          <a:r>
            <a:rPr lang="en-US" sz="1500" kern="1200" dirty="0"/>
            <a:t>DFAs often combine data from different regions that were + and - correlated –&gt; more questions!!!</a:t>
          </a:r>
        </a:p>
      </dsp:txBody>
      <dsp:txXfrm>
        <a:off x="49901" y="49901"/>
        <a:ext cx="6788695" cy="1603934"/>
      </dsp:txXfrm>
    </dsp:sp>
    <dsp:sp modelId="{AE881BD0-B791-4A77-BAA1-30B833B27198}">
      <dsp:nvSpPr>
        <dsp:cNvPr id="0" name=""/>
        <dsp:cNvSpPr/>
      </dsp:nvSpPr>
      <dsp:spPr>
        <a:xfrm>
          <a:off x="1508759" y="2082344"/>
          <a:ext cx="8549640" cy="1703736"/>
        </a:xfrm>
        <a:prstGeom prst="roundRect">
          <a:avLst>
            <a:gd name="adj" fmla="val 10000"/>
          </a:avLst>
        </a:prstGeom>
        <a:solidFill>
          <a:schemeClr val="accent2">
            <a:hueOff val="39038"/>
            <a:satOff val="-26876"/>
            <a:lumOff val="-6863"/>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dirty="0"/>
            <a:t>AK PREDATORS EXPLAIN SUBSTANTIAL VARIATION IN SALMON SURVIVAL</a:t>
          </a:r>
        </a:p>
        <a:p>
          <a:pPr marL="114300" lvl="1" indent="-114300" algn="l" defTabSz="666750">
            <a:lnSpc>
              <a:spcPct val="90000"/>
            </a:lnSpc>
            <a:spcBef>
              <a:spcPct val="0"/>
            </a:spcBef>
            <a:spcAft>
              <a:spcPct val="15000"/>
            </a:spcAft>
            <a:buChar char="•"/>
          </a:pPr>
          <a:r>
            <a:rPr lang="en-US" sz="1500" kern="1200" dirty="0"/>
            <a:t>Experiments and more insights needed to prove causal relationships</a:t>
          </a:r>
        </a:p>
      </dsp:txBody>
      <dsp:txXfrm>
        <a:off x="1558660" y="2132245"/>
        <a:ext cx="5833649" cy="1603934"/>
      </dsp:txXfrm>
    </dsp:sp>
    <dsp:sp modelId="{DEDC4957-19D0-42FE-BA6E-0BD7E675E672}">
      <dsp:nvSpPr>
        <dsp:cNvPr id="0" name=""/>
        <dsp:cNvSpPr/>
      </dsp:nvSpPr>
      <dsp:spPr>
        <a:xfrm>
          <a:off x="7442211" y="1339325"/>
          <a:ext cx="1107428" cy="1107428"/>
        </a:xfrm>
        <a:prstGeom prst="downArrow">
          <a:avLst>
            <a:gd name="adj1" fmla="val 55000"/>
            <a:gd name="adj2" fmla="val 45000"/>
          </a:avLst>
        </a:prstGeom>
        <a:noFill/>
        <a:ln w="15875"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7691382" y="1339325"/>
        <a:ext cx="609086" cy="833340"/>
      </dsp:txXfrm>
    </dsp:sp>
  </dsp:spTree>
</dsp:drawing>
</file>

<file path=ppt/diagrams/layout1.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4"/>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6434"/>
          </a:xfrm>
          <a:prstGeom prst="rect">
            <a:avLst/>
          </a:prstGeom>
        </p:spPr>
        <p:txBody>
          <a:bodyPr vert="horz" lIns="93177" tIns="46589" rIns="93177" bIns="46589" rtlCol="0"/>
          <a:lstStyle>
            <a:lvl1pPr algn="r">
              <a:defRPr sz="1200"/>
            </a:lvl1pPr>
          </a:lstStyle>
          <a:p>
            <a:fld id="{F647CE58-BFC0-43A2-B6B7-4EA8D5814997}" type="datetimeFigureOut">
              <a:rPr lang="en-US" smtClean="0"/>
              <a:t>10/28/2026</a:t>
            </a:fld>
            <a:endParaRPr lang="en-US"/>
          </a:p>
        </p:txBody>
      </p:sp>
      <p:sp>
        <p:nvSpPr>
          <p:cNvPr id="4" name="Slide Image Placeholder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73892"/>
            <a:ext cx="5608320" cy="3660458"/>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6433"/>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6433"/>
          </a:xfrm>
          <a:prstGeom prst="rect">
            <a:avLst/>
          </a:prstGeom>
        </p:spPr>
        <p:txBody>
          <a:bodyPr vert="horz" lIns="93177" tIns="46589" rIns="93177" bIns="46589" rtlCol="0" anchor="b"/>
          <a:lstStyle>
            <a:lvl1pPr algn="r">
              <a:defRPr sz="1200"/>
            </a:lvl1pPr>
          </a:lstStyle>
          <a:p>
            <a:fld id="{D238A69B-B3AA-4E85-BB44-3077DBAF3170}" type="slidenum">
              <a:rPr lang="en-US" smtClean="0"/>
              <a:t>‹#›</a:t>
            </a:fld>
            <a:endParaRPr lang="en-US"/>
          </a:p>
        </p:txBody>
      </p:sp>
    </p:spTree>
    <p:extLst>
      <p:ext uri="{BB962C8B-B14F-4D97-AF65-F5344CB8AC3E}">
        <p14:creationId xmlns:p14="http://schemas.microsoft.com/office/powerpoint/2010/main" val="19282847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238A69B-B3AA-4E85-BB44-3077DBAF3170}" type="slidenum">
              <a:rPr lang="en-US" smtClean="0"/>
              <a:t>1</a:t>
            </a:fld>
            <a:endParaRPr lang="en-US"/>
          </a:p>
        </p:txBody>
      </p:sp>
    </p:spTree>
    <p:extLst>
      <p:ext uri="{BB962C8B-B14F-4D97-AF65-F5344CB8AC3E}">
        <p14:creationId xmlns:p14="http://schemas.microsoft.com/office/powerpoint/2010/main" val="18037482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motivated me to work on this problem? The map on the left shows the number of salmon populations in the west coast region that are threatened with extinction, and the ones that are in dark red are very highly vulnerable to climate change, the orange ones are highly vulnerable – so for most of them climate change is compounding pre-existing threats. For the group of populations I’ll be talking about today, SRSSC that spawn in the mountains of Idaho and east of the Cascade Mountain Range, the marine stage in particular is much more sensitive to climate change than other life stages. This analysis was based on the strong correlation we see between marine survival and SST. But we know they are not baking to death, they are exposed to higher temperatures in freshwater than even the hottest marine heatwave. And what is most peculiar is that the best predictor of salmon survival is the PDO, or basically GOA temperatures from the winter before they smolt. So there is a lag between the temperatures that predict their mortality and their exposure to these conditions. So it is clear that the ecosystem is mediating this relationship somehow. I wanted to identify possible mechanisms or key interacting species that could theoretically be driving the overall pattern that we are seeing.</a:t>
            </a:r>
          </a:p>
        </p:txBody>
      </p:sp>
      <p:sp>
        <p:nvSpPr>
          <p:cNvPr id="4" name="Slide Number Placeholder 3"/>
          <p:cNvSpPr>
            <a:spLocks noGrp="1"/>
          </p:cNvSpPr>
          <p:nvPr>
            <p:ph type="sldNum" sz="quarter" idx="5"/>
          </p:nvPr>
        </p:nvSpPr>
        <p:spPr/>
        <p:txBody>
          <a:bodyPr/>
          <a:lstStyle/>
          <a:p>
            <a:fld id="{D238A69B-B3AA-4E85-BB44-3077DBAF3170}" type="slidenum">
              <a:rPr lang="en-US" smtClean="0"/>
              <a:t>2</a:t>
            </a:fld>
            <a:endParaRPr lang="en-US"/>
          </a:p>
        </p:txBody>
      </p:sp>
    </p:spTree>
    <p:extLst>
      <p:ext uri="{BB962C8B-B14F-4D97-AF65-F5344CB8AC3E}">
        <p14:creationId xmlns:p14="http://schemas.microsoft.com/office/powerpoint/2010/main" val="16890228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to understand my model let me walk you through what we know about the salmon marine stage. They leave the Columbia river as yearlings in spring, they move quickly up the coast of WA, WCVI, SEAK, and they are caught in juvenile salmon surveys through September in their smolt year. Then 1 or 2 come back to the river a couple years later. And that’s pretty much all we know. We know lots of places they aren’t, because they not caught in any other fishery or during any other surveys in any real numbers. </a:t>
            </a:r>
          </a:p>
        </p:txBody>
      </p:sp>
      <p:sp>
        <p:nvSpPr>
          <p:cNvPr id="4" name="Slide Number Placeholder 3"/>
          <p:cNvSpPr>
            <a:spLocks noGrp="1"/>
          </p:cNvSpPr>
          <p:nvPr>
            <p:ph type="sldNum" sz="quarter" idx="5"/>
          </p:nvPr>
        </p:nvSpPr>
        <p:spPr/>
        <p:txBody>
          <a:bodyPr/>
          <a:lstStyle/>
          <a:p>
            <a:fld id="{D238A69B-B3AA-4E85-BB44-3077DBAF3170}" type="slidenum">
              <a:rPr lang="en-US" smtClean="0"/>
              <a:t>3</a:t>
            </a:fld>
            <a:endParaRPr lang="en-US"/>
          </a:p>
        </p:txBody>
      </p:sp>
    </p:spTree>
    <p:extLst>
      <p:ext uri="{BB962C8B-B14F-4D97-AF65-F5344CB8AC3E}">
        <p14:creationId xmlns:p14="http://schemas.microsoft.com/office/powerpoint/2010/main" val="34162481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of all the places we look but DON’T find them, we surmise that Interior Columbia spring Chinook salmon move further off the coast and drop deeper in the mid water than other juvenile salmon. But we really don’t know exactly where they are. So I’m assuming they could interact with a large number of other species. </a:t>
            </a:r>
          </a:p>
        </p:txBody>
      </p:sp>
      <p:sp>
        <p:nvSpPr>
          <p:cNvPr id="4" name="Slide Number Placeholder 3"/>
          <p:cNvSpPr>
            <a:spLocks noGrp="1"/>
          </p:cNvSpPr>
          <p:nvPr>
            <p:ph type="sldNum" sz="quarter" idx="5"/>
          </p:nvPr>
        </p:nvSpPr>
        <p:spPr/>
        <p:txBody>
          <a:bodyPr/>
          <a:lstStyle/>
          <a:p>
            <a:fld id="{D238A69B-B3AA-4E85-BB44-3077DBAF3170}" type="slidenum">
              <a:rPr lang="en-US" smtClean="0"/>
              <a:t>4</a:t>
            </a:fld>
            <a:endParaRPr lang="en-US"/>
          </a:p>
        </p:txBody>
      </p:sp>
    </p:spTree>
    <p:extLst>
      <p:ext uri="{BB962C8B-B14F-4D97-AF65-F5344CB8AC3E}">
        <p14:creationId xmlns:p14="http://schemas.microsoft.com/office/powerpoint/2010/main" val="23615080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ultimate goal is to predict SAR from biological indices rather than climatic indices. And we want to do that by partitioning total marine survival into early and later stages. </a:t>
            </a:r>
          </a:p>
          <a:p>
            <a:r>
              <a:rPr lang="en-US" dirty="0"/>
              <a:t>All components of the model are smoothed using either a DFA to combine potential latent variables or a MARSS model for single variables. This is part of the “fair test” requirement for this phase</a:t>
            </a:r>
          </a:p>
          <a:p>
            <a:r>
              <a:rPr lang="en-US" dirty="0"/>
              <a:t>We tested this hypothesis by comparing two model structures. </a:t>
            </a:r>
          </a:p>
          <a:p>
            <a:r>
              <a:rPr lang="en-US" dirty="0"/>
              <a:t>In the first, a number of different possible indices of growth were modeled as predictors of early marine survival, measured using both the </a:t>
            </a:r>
            <a:r>
              <a:rPr lang="en-US" dirty="0" err="1"/>
              <a:t>cpue</a:t>
            </a:r>
            <a:r>
              <a:rPr lang="en-US" dirty="0"/>
              <a:t> directly from the JSOES survey as well as a modeled abundance from a spatiotemporal model that accounts for slight variations from year to year in the survey</a:t>
            </a:r>
          </a:p>
          <a:p>
            <a:r>
              <a:rPr lang="en-US" dirty="0"/>
              <a:t>Our response variable is the combined SAR</a:t>
            </a:r>
          </a:p>
          <a:p>
            <a:endParaRPr lang="en-US" dirty="0"/>
          </a:p>
          <a:p>
            <a:r>
              <a:rPr lang="en-US" dirty="0"/>
              <a:t>Here are 2 structures we explored – growth -&gt; abundance -&gt; SAR</a:t>
            </a:r>
          </a:p>
          <a:p>
            <a:r>
              <a:rPr lang="en-US" dirty="0"/>
              <a:t>Growth-&gt;SAR &amp; </a:t>
            </a:r>
            <a:r>
              <a:rPr lang="en-US" dirty="0" err="1"/>
              <a:t>Abund</a:t>
            </a:r>
            <a:r>
              <a:rPr lang="en-US" dirty="0"/>
              <a:t> -&gt; SAR</a:t>
            </a:r>
          </a:p>
          <a:p>
            <a:r>
              <a:rPr lang="en-US" dirty="0"/>
              <a:t>The idea was to compare model structures by </a:t>
            </a:r>
            <a:r>
              <a:rPr lang="en-US" dirty="0" err="1"/>
              <a:t>aic</a:t>
            </a:r>
            <a:endParaRPr lang="en-US" dirty="0"/>
          </a:p>
          <a:p>
            <a:r>
              <a:rPr lang="en-US" dirty="0"/>
              <a:t>But also to identify the best predictors a</a:t>
            </a:r>
          </a:p>
          <a:p>
            <a:endParaRPr lang="en-US" dirty="0"/>
          </a:p>
          <a:p>
            <a:r>
              <a:rPr lang="en-US" dirty="0"/>
              <a:t>Size to </a:t>
            </a:r>
            <a:r>
              <a:rPr lang="en-US" dirty="0" err="1"/>
              <a:t>cpue</a:t>
            </a:r>
            <a:endParaRPr lang="en-US" dirty="0"/>
          </a:p>
          <a:p>
            <a:r>
              <a:rPr lang="en-US" dirty="0"/>
              <a:t>Size selective predation, gape-limited predation</a:t>
            </a:r>
          </a:p>
          <a:p>
            <a:r>
              <a:rPr lang="en-US" dirty="0"/>
              <a:t>Prey-switching of predator – predators eating more other prey (buffer)</a:t>
            </a:r>
          </a:p>
        </p:txBody>
      </p:sp>
      <p:sp>
        <p:nvSpPr>
          <p:cNvPr id="4" name="Slide Number Placeholder 3"/>
          <p:cNvSpPr>
            <a:spLocks noGrp="1"/>
          </p:cNvSpPr>
          <p:nvPr>
            <p:ph type="sldNum" sz="quarter" idx="5"/>
          </p:nvPr>
        </p:nvSpPr>
        <p:spPr/>
        <p:txBody>
          <a:bodyPr/>
          <a:lstStyle/>
          <a:p>
            <a:fld id="{D238A69B-B3AA-4E85-BB44-3077DBAF3170}" type="slidenum">
              <a:rPr lang="en-US" smtClean="0"/>
              <a:t>6</a:t>
            </a:fld>
            <a:endParaRPr lang="en-US"/>
          </a:p>
        </p:txBody>
      </p:sp>
    </p:spTree>
    <p:extLst>
      <p:ext uri="{BB962C8B-B14F-4D97-AF65-F5344CB8AC3E}">
        <p14:creationId xmlns:p14="http://schemas.microsoft.com/office/powerpoint/2010/main" val="16717644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87494E-0B0C-D18C-45D4-CFD4407CF0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19E44C-4179-3714-D55D-33720546A7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1E6368-504E-76A9-3786-4A0FE1EDBF24}"/>
              </a:ext>
            </a:extLst>
          </p:cNvPr>
          <p:cNvSpPr>
            <a:spLocks noGrp="1"/>
          </p:cNvSpPr>
          <p:nvPr>
            <p:ph type="body" idx="1"/>
          </p:nvPr>
        </p:nvSpPr>
        <p:spPr/>
        <p:txBody>
          <a:bodyPr/>
          <a:lstStyle/>
          <a:p>
            <a:r>
              <a:rPr lang="en-US" dirty="0"/>
              <a:t>Our ultimate goal is to predict SAR from biological indices rather than climatic indices. And we want to do that by partitioning total marine survival into early and later stages. </a:t>
            </a:r>
          </a:p>
          <a:p>
            <a:r>
              <a:rPr lang="en-US" dirty="0"/>
              <a:t>All components of the model are smoothed using either a DFA to combine potential latent variables or a MARSS model for single variables. This is part of the “fair test” requirement for this phase</a:t>
            </a:r>
          </a:p>
          <a:p>
            <a:r>
              <a:rPr lang="en-US" dirty="0"/>
              <a:t>We tested this hypothesis by comparing two model structures. </a:t>
            </a:r>
          </a:p>
          <a:p>
            <a:r>
              <a:rPr lang="en-US" dirty="0"/>
              <a:t>In the first, a number of different possible indices of growth were modeled as predictors of early marine survival, measured using both the </a:t>
            </a:r>
            <a:r>
              <a:rPr lang="en-US" dirty="0" err="1"/>
              <a:t>cpue</a:t>
            </a:r>
            <a:r>
              <a:rPr lang="en-US" dirty="0"/>
              <a:t> directly from the JSOES survey as well as a modeled abundance from a spatiotemporal model that accounts for slight variations from year to year in the survey</a:t>
            </a:r>
          </a:p>
          <a:p>
            <a:r>
              <a:rPr lang="en-US" dirty="0"/>
              <a:t>Our response variable is the combined SAR</a:t>
            </a:r>
          </a:p>
          <a:p>
            <a:endParaRPr lang="en-US" dirty="0"/>
          </a:p>
          <a:p>
            <a:r>
              <a:rPr lang="en-US" dirty="0"/>
              <a:t>Here are 2 structures we explored – growth -&gt; abundance -&gt; SAR</a:t>
            </a:r>
          </a:p>
          <a:p>
            <a:r>
              <a:rPr lang="en-US" dirty="0"/>
              <a:t>Growth-&gt;SAR &amp; </a:t>
            </a:r>
            <a:r>
              <a:rPr lang="en-US" dirty="0" err="1"/>
              <a:t>Abund</a:t>
            </a:r>
            <a:r>
              <a:rPr lang="en-US" dirty="0"/>
              <a:t> -&gt; SAR</a:t>
            </a:r>
          </a:p>
          <a:p>
            <a:r>
              <a:rPr lang="en-US" dirty="0"/>
              <a:t>The idea was to compare model structures by </a:t>
            </a:r>
            <a:r>
              <a:rPr lang="en-US" dirty="0" err="1"/>
              <a:t>aic</a:t>
            </a:r>
            <a:endParaRPr lang="en-US" dirty="0"/>
          </a:p>
          <a:p>
            <a:r>
              <a:rPr lang="en-US" dirty="0"/>
              <a:t>But also to identify the best predictors a</a:t>
            </a:r>
          </a:p>
          <a:p>
            <a:endParaRPr lang="en-US" dirty="0"/>
          </a:p>
          <a:p>
            <a:r>
              <a:rPr lang="en-US" dirty="0"/>
              <a:t>Size to </a:t>
            </a:r>
            <a:r>
              <a:rPr lang="en-US" dirty="0" err="1"/>
              <a:t>cpue</a:t>
            </a:r>
            <a:endParaRPr lang="en-US" dirty="0"/>
          </a:p>
          <a:p>
            <a:r>
              <a:rPr lang="en-US" dirty="0"/>
              <a:t>Size selective predation, gape-limited predation</a:t>
            </a:r>
          </a:p>
          <a:p>
            <a:r>
              <a:rPr lang="en-US" dirty="0"/>
              <a:t>Prey-switching of predator – predators eating more other prey (buffer)</a:t>
            </a:r>
          </a:p>
        </p:txBody>
      </p:sp>
      <p:sp>
        <p:nvSpPr>
          <p:cNvPr id="4" name="Slide Number Placeholder 3">
            <a:extLst>
              <a:ext uri="{FF2B5EF4-FFF2-40B4-BE49-F238E27FC236}">
                <a16:creationId xmlns:a16="http://schemas.microsoft.com/office/drawing/2014/main" id="{82A4CF56-C02B-6EEF-04A6-0D2E5EB580D6}"/>
              </a:ext>
            </a:extLst>
          </p:cNvPr>
          <p:cNvSpPr>
            <a:spLocks noGrp="1"/>
          </p:cNvSpPr>
          <p:nvPr>
            <p:ph type="sldNum" sz="quarter" idx="5"/>
          </p:nvPr>
        </p:nvSpPr>
        <p:spPr/>
        <p:txBody>
          <a:bodyPr/>
          <a:lstStyle/>
          <a:p>
            <a:fld id="{D238A69B-B3AA-4E85-BB44-3077DBAF3170}" type="slidenum">
              <a:rPr lang="en-US" smtClean="0"/>
              <a:t>7</a:t>
            </a:fld>
            <a:endParaRPr lang="en-US"/>
          </a:p>
        </p:txBody>
      </p:sp>
    </p:spTree>
    <p:extLst>
      <p:ext uri="{BB962C8B-B14F-4D97-AF65-F5344CB8AC3E}">
        <p14:creationId xmlns:p14="http://schemas.microsoft.com/office/powerpoint/2010/main" val="11224964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0FF429-580C-9818-66CC-911EA11159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70272A-80B3-E670-DFE3-0032B0176E8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8DF53A5-83DB-223D-3CFE-95914B4A8259}"/>
              </a:ext>
            </a:extLst>
          </p:cNvPr>
          <p:cNvSpPr>
            <a:spLocks noGrp="1"/>
          </p:cNvSpPr>
          <p:nvPr>
            <p:ph type="body" idx="1"/>
          </p:nvPr>
        </p:nvSpPr>
        <p:spPr/>
        <p:txBody>
          <a:bodyPr/>
          <a:lstStyle/>
          <a:p>
            <a:r>
              <a:rPr lang="en-US" dirty="0"/>
              <a:t>Goal 2 was to test our bottom up and top down regulation hypotheses. </a:t>
            </a:r>
          </a:p>
          <a:p>
            <a:pPr marL="228600" indent="-228600">
              <a:buAutoNum type="arabicPeriod"/>
            </a:pPr>
            <a:r>
              <a:rPr lang="en-US" dirty="0"/>
              <a:t>For bigger is better we saw no support for that within the early marine stage, but early growth was a sign predictor of SAR ~60% of the time – note that only 70% of the </a:t>
            </a:r>
            <a:r>
              <a:rPr lang="en-US" dirty="0" err="1"/>
              <a:t>coef</a:t>
            </a:r>
            <a:r>
              <a:rPr lang="en-US" dirty="0"/>
              <a:t> were positive. So – sometimes bigger seems to be better, but it isn’t totally consistent</a:t>
            </a:r>
          </a:p>
          <a:p>
            <a:pPr marL="228600" indent="-228600">
              <a:buAutoNum type="arabicPeriod"/>
            </a:pPr>
            <a:r>
              <a:rPr lang="en-US" dirty="0"/>
              <a:t>We saw extremely strong support for piscivorous fish, specifically hake and jack/pacific mackerel being negatively correlated with early marine salmon survival.</a:t>
            </a:r>
          </a:p>
          <a:p>
            <a:pPr marL="228600" indent="-228600">
              <a:buAutoNum type="arabicPeriod"/>
            </a:pPr>
            <a:r>
              <a:rPr lang="en-US" dirty="0"/>
              <a:t>In AK, top-down effects were more ambiguous, only about half of the models produced neg </a:t>
            </a:r>
            <a:r>
              <a:rPr lang="en-US" dirty="0" err="1"/>
              <a:t>coef</a:t>
            </a:r>
            <a:r>
              <a:rPr lang="en-US" dirty="0"/>
              <a:t> for this link. So something else might be going on in this life stage.</a:t>
            </a:r>
          </a:p>
          <a:p>
            <a:endParaRPr lang="en-US" dirty="0"/>
          </a:p>
        </p:txBody>
      </p:sp>
      <p:sp>
        <p:nvSpPr>
          <p:cNvPr id="4" name="Slide Number Placeholder 3">
            <a:extLst>
              <a:ext uri="{FF2B5EF4-FFF2-40B4-BE49-F238E27FC236}">
                <a16:creationId xmlns:a16="http://schemas.microsoft.com/office/drawing/2014/main" id="{196222A0-171C-8584-7BFC-B78714DF4AD2}"/>
              </a:ext>
            </a:extLst>
          </p:cNvPr>
          <p:cNvSpPr>
            <a:spLocks noGrp="1"/>
          </p:cNvSpPr>
          <p:nvPr>
            <p:ph type="sldNum" sz="quarter" idx="5"/>
          </p:nvPr>
        </p:nvSpPr>
        <p:spPr/>
        <p:txBody>
          <a:bodyPr/>
          <a:lstStyle/>
          <a:p>
            <a:fld id="{D238A69B-B3AA-4E85-BB44-3077DBAF3170}" type="slidenum">
              <a:rPr lang="en-US" smtClean="0"/>
              <a:t>10</a:t>
            </a:fld>
            <a:endParaRPr lang="en-US"/>
          </a:p>
        </p:txBody>
      </p:sp>
    </p:spTree>
    <p:extLst>
      <p:ext uri="{BB962C8B-B14F-4D97-AF65-F5344CB8AC3E}">
        <p14:creationId xmlns:p14="http://schemas.microsoft.com/office/powerpoint/2010/main" val="37197740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3A1AA3-356F-9034-2830-80D3232868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2A743D-B296-99FD-BED7-760F8300D1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AEBCABB-AA7F-DE00-BF1C-5DF614FB5CB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3282984-DC05-FC71-8FB6-33B85DCD1F75}"/>
              </a:ext>
            </a:extLst>
          </p:cNvPr>
          <p:cNvSpPr>
            <a:spLocks noGrp="1"/>
          </p:cNvSpPr>
          <p:nvPr>
            <p:ph type="sldNum" sz="quarter" idx="5"/>
          </p:nvPr>
        </p:nvSpPr>
        <p:spPr/>
        <p:txBody>
          <a:bodyPr/>
          <a:lstStyle/>
          <a:p>
            <a:fld id="{D238A69B-B3AA-4E85-BB44-3077DBAF3170}" type="slidenum">
              <a:rPr lang="en-US" smtClean="0"/>
              <a:t>11</a:t>
            </a:fld>
            <a:endParaRPr lang="en-US"/>
          </a:p>
        </p:txBody>
      </p:sp>
    </p:spTree>
    <p:extLst>
      <p:ext uri="{BB962C8B-B14F-4D97-AF65-F5344CB8AC3E}">
        <p14:creationId xmlns:p14="http://schemas.microsoft.com/office/powerpoint/2010/main" val="31830874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8C09EC-DD5E-2359-59DB-BB67CC2D3E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0E12A1-833F-D273-3465-9EB198CB37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040678-24E1-CABC-65A1-0A646144EEFC}"/>
              </a:ext>
            </a:extLst>
          </p:cNvPr>
          <p:cNvSpPr>
            <a:spLocks noGrp="1"/>
          </p:cNvSpPr>
          <p:nvPr>
            <p:ph type="body" idx="1"/>
          </p:nvPr>
        </p:nvSpPr>
        <p:spPr/>
        <p:txBody>
          <a:bodyPr/>
          <a:lstStyle/>
          <a:p>
            <a:r>
              <a:rPr lang="en-US" sz="500" dirty="0"/>
              <a:t># predator                                      </a:t>
            </a:r>
            <a:r>
              <a:rPr lang="en-US" sz="500" dirty="0" err="1"/>
              <a:t>base_aic</a:t>
            </a:r>
            <a:r>
              <a:rPr lang="en-US" sz="500" dirty="0"/>
              <a:t> </a:t>
            </a:r>
            <a:r>
              <a:rPr lang="en-US" sz="500" dirty="0" err="1"/>
              <a:t>abs_final_aic</a:t>
            </a:r>
            <a:r>
              <a:rPr lang="en-US" sz="500" dirty="0"/>
              <a:t> </a:t>
            </a:r>
            <a:r>
              <a:rPr lang="en-US" sz="500" dirty="0" err="1"/>
              <a:t>base_beta</a:t>
            </a:r>
            <a:r>
              <a:rPr lang="en-US" sz="500" dirty="0"/>
              <a:t> </a:t>
            </a:r>
            <a:r>
              <a:rPr lang="en-US" sz="500" dirty="0" err="1"/>
              <a:t>abs_beta_peff</a:t>
            </a:r>
            <a:r>
              <a:rPr lang="en-US" sz="500" dirty="0"/>
              <a:t> base_r2 abs_final_r2 </a:t>
            </a:r>
            <a:r>
              <a:rPr lang="en-US" sz="500" dirty="0" err="1"/>
              <a:t>abs_variant_type</a:t>
            </a:r>
            <a:r>
              <a:rPr lang="en-US" sz="500" dirty="0"/>
              <a:t>       </a:t>
            </a:r>
            <a:r>
              <a:rPr lang="en-US" sz="500" dirty="0" err="1"/>
              <a:t>abs_prey</a:t>
            </a:r>
            <a:r>
              <a:rPr lang="en-US" sz="500" dirty="0"/>
              <a:t>                                                   # 1 X15_DFA_sleeperSharkBSAI_predAK_smoltyr          -26.4         -29.8    -0.246        -0.593   0.481        0.556 Joint Temp + 1 </a:t>
            </a:r>
            <a:r>
              <a:rPr lang="en-US" sz="500" dirty="0" err="1"/>
              <a:t>AltPrey</a:t>
            </a:r>
            <a:r>
              <a:rPr lang="en-US" sz="500" dirty="0"/>
              <a:t> </a:t>
            </a:r>
            <a:r>
              <a:rPr lang="en-US" sz="500" dirty="0" err="1"/>
              <a:t>capelin_WGoA_smoltyr</a:t>
            </a:r>
            <a:r>
              <a:rPr lang="en-US" sz="500" dirty="0"/>
              <a:t>                                       # 2 X10_Harbour_s_WS_adultyr                         -29.0         -29.0    -0.530        -0.530   0.516        0.516 Raw Baseline           None                                                       # 3 X15_sablefishAK_biomass4plus_smoltyr             -25.6         -28.8     0.420        -2.03    0.466        0.540 Joint Temp + 1 </a:t>
            </a:r>
            <a:r>
              <a:rPr lang="en-US" sz="500" dirty="0" err="1"/>
              <a:t>AltPrey</a:t>
            </a:r>
            <a:r>
              <a:rPr lang="en-US" sz="500" dirty="0"/>
              <a:t> </a:t>
            </a:r>
            <a:r>
              <a:rPr lang="en-US" sz="500" dirty="0" err="1"/>
              <a:t>sitkaHerring_EGoA_smoltyr</a:t>
            </a:r>
            <a:r>
              <a:rPr lang="en-US" sz="500" dirty="0"/>
              <a:t>                                  # 4 X15_sablefishAK_biomass3plus_smoltyr             -27.6         -28.8     0.504        -2.41    0.519        0.534 Joint Temp + 2 </a:t>
            </a:r>
            <a:r>
              <a:rPr lang="en-US" sz="500" dirty="0" err="1"/>
              <a:t>AltPrey</a:t>
            </a:r>
            <a:r>
              <a:rPr lang="en-US" sz="500" dirty="0"/>
              <a:t> X13_pollockGOA_age1and2_smoltyr + </a:t>
            </a:r>
            <a:r>
              <a:rPr lang="en-US" sz="500" dirty="0" err="1"/>
              <a:t>sitkaHerring_EGoA_smoltyr</a:t>
            </a:r>
            <a:r>
              <a:rPr lang="en-US" sz="500" dirty="0"/>
              <a:t># 5 X10_harbour_seal_DFO_Coastwide_smoltyr           -27.3         -28.7    -0.314        -0.486   0.506        0.534 Temp Only              None                                                       # 6 X11_ssl_seak_pup_pred_smoltyr                    -23.1         -27.1     0.122        -0.583   0.393        0.491 Joint Temp + 2 </a:t>
            </a:r>
            <a:r>
              <a:rPr lang="en-US" sz="500" dirty="0" err="1"/>
              <a:t>AltPrey</a:t>
            </a:r>
            <a:r>
              <a:rPr lang="en-US" sz="500" dirty="0"/>
              <a:t> </a:t>
            </a:r>
            <a:r>
              <a:rPr lang="en-US" sz="500" dirty="0" err="1"/>
              <a:t>sitkaHerring_EGoA_smoltyr</a:t>
            </a:r>
            <a:r>
              <a:rPr lang="en-US" sz="500" dirty="0"/>
              <a:t> + </a:t>
            </a:r>
            <a:r>
              <a:rPr lang="en-US" sz="500" dirty="0" err="1"/>
              <a:t>capelin_WGoA_smoltyr</a:t>
            </a:r>
            <a:r>
              <a:rPr lang="en-US" sz="500" dirty="0"/>
              <a:t>           # 7 X15_DFA_halibutBiomassAge8plus_predAK_adultyr    -25.1         -26.9    -0.287        -0.509   0.457        0.500 Joint Temp + 1 </a:t>
            </a:r>
            <a:r>
              <a:rPr lang="en-US" sz="500" dirty="0" err="1"/>
              <a:t>AltPrey</a:t>
            </a:r>
            <a:r>
              <a:rPr lang="en-US" sz="500" dirty="0"/>
              <a:t> </a:t>
            </a:r>
            <a:r>
              <a:rPr lang="en-US" sz="500" dirty="0" err="1"/>
              <a:t>capelin_WGoA_adultyr</a:t>
            </a:r>
            <a:r>
              <a:rPr lang="en-US" sz="500" dirty="0"/>
              <a:t> </a:t>
            </a:r>
          </a:p>
        </p:txBody>
      </p:sp>
      <p:sp>
        <p:nvSpPr>
          <p:cNvPr id="4" name="Slide Number Placeholder 3">
            <a:extLst>
              <a:ext uri="{FF2B5EF4-FFF2-40B4-BE49-F238E27FC236}">
                <a16:creationId xmlns:a16="http://schemas.microsoft.com/office/drawing/2014/main" id="{179E5615-B5A4-EFD8-52C1-4C9F674C0F2C}"/>
              </a:ext>
            </a:extLst>
          </p:cNvPr>
          <p:cNvSpPr>
            <a:spLocks noGrp="1"/>
          </p:cNvSpPr>
          <p:nvPr>
            <p:ph type="sldNum" sz="quarter" idx="5"/>
          </p:nvPr>
        </p:nvSpPr>
        <p:spPr/>
        <p:txBody>
          <a:bodyPr/>
          <a:lstStyle/>
          <a:p>
            <a:fld id="{D238A69B-B3AA-4E85-BB44-3077DBAF3170}" type="slidenum">
              <a:rPr lang="en-US" smtClean="0"/>
              <a:t>12</a:t>
            </a:fld>
            <a:endParaRPr lang="en-US"/>
          </a:p>
        </p:txBody>
      </p:sp>
    </p:spTree>
    <p:extLst>
      <p:ext uri="{BB962C8B-B14F-4D97-AF65-F5344CB8AC3E}">
        <p14:creationId xmlns:p14="http://schemas.microsoft.com/office/powerpoint/2010/main" val="15344564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CD6B7115-ED2C-71E9-3DD2-FA5EED06AEE3}"/>
            </a:ext>
          </a:extLst>
        </p:cNvPr>
        <p:cNvGrpSpPr/>
        <p:nvPr/>
      </p:nvGrpSpPr>
      <p:grpSpPr>
        <a:xfrm>
          <a:off x="0" y="0"/>
          <a:ext cx="0" cy="0"/>
          <a:chOff x="0" y="0"/>
          <a:chExt cx="0" cy="0"/>
        </a:xfrm>
      </p:grpSpPr>
      <p:sp>
        <p:nvSpPr>
          <p:cNvPr id="141" name="Google Shape;141;g3d3f201c246_1_218:notes">
            <a:extLst>
              <a:ext uri="{FF2B5EF4-FFF2-40B4-BE49-F238E27FC236}">
                <a16:creationId xmlns:a16="http://schemas.microsoft.com/office/drawing/2014/main" id="{615533BE-3D2B-FB6D-0C5D-FE444E17BA1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2" name="Google Shape;142;g3d3f201c246_1_218:notes">
            <a:extLst>
              <a:ext uri="{FF2B5EF4-FFF2-40B4-BE49-F238E27FC236}">
                <a16:creationId xmlns:a16="http://schemas.microsoft.com/office/drawing/2014/main" id="{2EB916AB-AA47-3F5E-483E-7037391043D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0" algn="l" rtl="0">
              <a:spcBef>
                <a:spcPts val="0"/>
              </a:spcBef>
              <a:spcAft>
                <a:spcPts val="0"/>
              </a:spcAft>
              <a:buClr>
                <a:schemeClr val="dk1"/>
              </a:buClr>
              <a:buSzPts val="1200"/>
              <a:buFont typeface="Arial"/>
              <a:buNone/>
            </a:pPr>
            <a:endParaRPr>
              <a:latin typeface="Calibri"/>
              <a:ea typeface="Calibri"/>
              <a:cs typeface="Calibri"/>
              <a:sym typeface="Calibri"/>
            </a:endParaRPr>
          </a:p>
        </p:txBody>
      </p:sp>
    </p:spTree>
    <p:extLst>
      <p:ext uri="{BB962C8B-B14F-4D97-AF65-F5344CB8AC3E}">
        <p14:creationId xmlns:p14="http://schemas.microsoft.com/office/powerpoint/2010/main" val="7363645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2B41216-06B6-451E-A456-C96686E36A47}" type="datetimeFigureOut">
              <a:rPr lang="en-US" smtClean="0"/>
              <a:t>10/28/2026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95C26A3-851B-425B-AF2D-A19E638A53F4}"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997336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2B41216-06B6-451E-A456-C96686E36A47}" type="datetimeFigureOut">
              <a:rPr lang="en-US" smtClean="0"/>
              <a:t>10/28/2026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95C26A3-851B-425B-AF2D-A19E638A53F4}" type="slidenum">
              <a:rPr lang="en-US" smtClean="0"/>
              <a:t>‹#›</a:t>
            </a:fld>
            <a:endParaRPr lang="en-US"/>
          </a:p>
        </p:txBody>
      </p:sp>
    </p:spTree>
    <p:extLst>
      <p:ext uri="{BB962C8B-B14F-4D97-AF65-F5344CB8AC3E}">
        <p14:creationId xmlns:p14="http://schemas.microsoft.com/office/powerpoint/2010/main" val="29327681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2B41216-06B6-451E-A456-C96686E36A47}" type="datetimeFigureOut">
              <a:rPr lang="en-US" smtClean="0"/>
              <a:t>10/28/2026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95C26A3-851B-425B-AF2D-A19E638A53F4}"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876813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2B41216-06B6-451E-A456-C96686E36A47}" type="datetimeFigureOut">
              <a:rPr lang="en-US" smtClean="0"/>
              <a:t>10/28/2026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95C26A3-851B-425B-AF2D-A19E638A53F4}" type="slidenum">
              <a:rPr lang="en-US" smtClean="0"/>
              <a:t>‹#›</a:t>
            </a:fld>
            <a:endParaRPr lang="en-US"/>
          </a:p>
        </p:txBody>
      </p:sp>
    </p:spTree>
    <p:extLst>
      <p:ext uri="{BB962C8B-B14F-4D97-AF65-F5344CB8AC3E}">
        <p14:creationId xmlns:p14="http://schemas.microsoft.com/office/powerpoint/2010/main" val="24885123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2B41216-06B6-451E-A456-C96686E36A47}" type="datetimeFigureOut">
              <a:rPr lang="en-US" smtClean="0"/>
              <a:t>10/28/2026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95C26A3-851B-425B-AF2D-A19E638A53F4}" type="slidenum">
              <a:rPr lang="en-US" smtClean="0"/>
              <a:t>‹#›</a:t>
            </a:fld>
            <a:endParaRPr lang="en-US"/>
          </a:p>
        </p:txBody>
      </p:sp>
    </p:spTree>
    <p:extLst>
      <p:ext uri="{BB962C8B-B14F-4D97-AF65-F5344CB8AC3E}">
        <p14:creationId xmlns:p14="http://schemas.microsoft.com/office/powerpoint/2010/main" val="15466066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2B41216-06B6-451E-A456-C96686E36A47}" type="datetimeFigureOut">
              <a:rPr lang="en-US" smtClean="0"/>
              <a:t>10/28/2026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95C26A3-851B-425B-AF2D-A19E638A53F4}" type="slidenum">
              <a:rPr lang="en-US" smtClean="0"/>
              <a:t>‹#›</a:t>
            </a:fld>
            <a:endParaRPr lang="en-US"/>
          </a:p>
        </p:txBody>
      </p:sp>
    </p:spTree>
    <p:extLst>
      <p:ext uri="{BB962C8B-B14F-4D97-AF65-F5344CB8AC3E}">
        <p14:creationId xmlns:p14="http://schemas.microsoft.com/office/powerpoint/2010/main" val="271505880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7" name="Date Placeholder 6"/>
          <p:cNvSpPr>
            <a:spLocks noGrp="1"/>
          </p:cNvSpPr>
          <p:nvPr>
            <p:ph type="dt" sz="half" idx="10"/>
          </p:nvPr>
        </p:nvSpPr>
        <p:spPr/>
        <p:txBody>
          <a:bodyPr/>
          <a:lstStyle/>
          <a:p>
            <a:fld id="{62B41216-06B6-451E-A456-C96686E36A47}" type="datetimeFigureOut">
              <a:rPr lang="en-US" smtClean="0"/>
              <a:t>10/28/2026</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895C26A3-851B-425B-AF2D-A19E638A53F4}" type="slidenum">
              <a:rPr lang="en-US" smtClean="0"/>
              <a:t>‹#›</a:t>
            </a:fld>
            <a:endParaRPr lang="en-US"/>
          </a:p>
        </p:txBody>
      </p:sp>
    </p:spTree>
    <p:extLst>
      <p:ext uri="{BB962C8B-B14F-4D97-AF65-F5344CB8AC3E}">
        <p14:creationId xmlns:p14="http://schemas.microsoft.com/office/powerpoint/2010/main" val="35144835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62B41216-06B6-451E-A456-C96686E36A47}" type="datetimeFigureOut">
              <a:rPr lang="en-US" smtClean="0"/>
              <a:t>10/28/2026</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895C26A3-851B-425B-AF2D-A19E638A53F4}" type="slidenum">
              <a:rPr lang="en-US" smtClean="0"/>
              <a:t>‹#›</a:t>
            </a:fld>
            <a:endParaRPr lang="en-US"/>
          </a:p>
        </p:txBody>
      </p:sp>
    </p:spTree>
    <p:extLst>
      <p:ext uri="{BB962C8B-B14F-4D97-AF65-F5344CB8AC3E}">
        <p14:creationId xmlns:p14="http://schemas.microsoft.com/office/powerpoint/2010/main" val="30567634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2B41216-06B6-451E-A456-C96686E36A47}" type="datetimeFigureOut">
              <a:rPr lang="en-US" smtClean="0"/>
              <a:t>10/28/2026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95C26A3-851B-425B-AF2D-A19E638A53F4}" type="slidenum">
              <a:rPr lang="en-US" smtClean="0"/>
              <a:t>‹#›</a:t>
            </a:fld>
            <a:endParaRPr lang="en-US"/>
          </a:p>
        </p:txBody>
      </p:sp>
    </p:spTree>
    <p:extLst>
      <p:ext uri="{BB962C8B-B14F-4D97-AF65-F5344CB8AC3E}">
        <p14:creationId xmlns:p14="http://schemas.microsoft.com/office/powerpoint/2010/main" val="26796624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2B41216-06B6-451E-A456-C96686E36A47}" type="datetimeFigureOut">
              <a:rPr lang="en-US" smtClean="0"/>
              <a:t>10/28/2026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95C26A3-851B-425B-AF2D-A19E638A53F4}" type="slidenum">
              <a:rPr lang="en-US" smtClean="0"/>
              <a:t>‹#›</a:t>
            </a:fld>
            <a:endParaRPr lang="en-US"/>
          </a:p>
        </p:txBody>
      </p:sp>
    </p:spTree>
    <p:extLst>
      <p:ext uri="{BB962C8B-B14F-4D97-AF65-F5344CB8AC3E}">
        <p14:creationId xmlns:p14="http://schemas.microsoft.com/office/powerpoint/2010/main" val="7652391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2B41216-06B6-451E-A456-C96686E36A47}" type="datetimeFigureOut">
              <a:rPr lang="en-US" smtClean="0"/>
              <a:t>10/28/2026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95C26A3-851B-425B-AF2D-A19E638A53F4}" type="slidenum">
              <a:rPr lang="en-US" smtClean="0"/>
              <a:t>‹#›</a:t>
            </a:fld>
            <a:endParaRPr lang="en-US"/>
          </a:p>
        </p:txBody>
      </p:sp>
    </p:spTree>
    <p:extLst>
      <p:ext uri="{BB962C8B-B14F-4D97-AF65-F5344CB8AC3E}">
        <p14:creationId xmlns:p14="http://schemas.microsoft.com/office/powerpoint/2010/main" val="27897280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62B41216-06B6-451E-A456-C96686E36A47}" type="datetimeFigureOut">
              <a:rPr lang="en-US" smtClean="0"/>
              <a:t>10/28/2026</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895C26A3-851B-425B-AF2D-A19E638A53F4}"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80272269"/>
      </p:ext>
    </p:extLst>
  </p:cSld>
  <p:clrMap bg1="dk1" tx1="lt1" bg2="dk2" tx2="lt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6.xml"/><Relationship Id="rId1" Type="http://schemas.openxmlformats.org/officeDocument/2006/relationships/tags" Target="../tags/tag1.xml"/><Relationship Id="rId6" Type="http://schemas.openxmlformats.org/officeDocument/2006/relationships/image" Target="../media/image5.jpe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4.xml"/><Relationship Id="rId1" Type="http://schemas.openxmlformats.org/officeDocument/2006/relationships/tags" Target="../tags/tag2.xml"/><Relationship Id="rId5" Type="http://schemas.openxmlformats.org/officeDocument/2006/relationships/image" Target="../media/image10.jpeg"/><Relationship Id="rId4" Type="http://schemas.openxmlformats.org/officeDocument/2006/relationships/image" Target="../media/image9.jp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4.xml"/><Relationship Id="rId1" Type="http://schemas.openxmlformats.org/officeDocument/2006/relationships/tags" Target="../tags/tag3.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4.xml"/><Relationship Id="rId1" Type="http://schemas.openxmlformats.org/officeDocument/2006/relationships/tags" Target="../tags/tag4.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8.xml"/><Relationship Id="rId7" Type="http://schemas.openxmlformats.org/officeDocument/2006/relationships/image" Target="../media/image15.png"/><Relationship Id="rId2" Type="http://schemas.openxmlformats.org/officeDocument/2006/relationships/slideLayout" Target="../slideLayouts/slideLayout6.xml"/><Relationship Id="rId1" Type="http://schemas.openxmlformats.org/officeDocument/2006/relationships/tags" Target="../tags/tag5.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6.xml"/><Relationship Id="rId1" Type="http://schemas.openxmlformats.org/officeDocument/2006/relationships/tags" Target="../tags/tag6.xml"/><Relationship Id="rId6" Type="http://schemas.openxmlformats.org/officeDocument/2006/relationships/image" Target="../media/image18.png"/><Relationship Id="rId5" Type="http://schemas.openxmlformats.org/officeDocument/2006/relationships/image" Target="../media/image17.emf"/><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4.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image" Target="../media/image29.png"/><Relationship Id="rId18" Type="http://schemas.openxmlformats.org/officeDocument/2006/relationships/image" Target="../media/image34.jpg"/><Relationship Id="rId3" Type="http://schemas.openxmlformats.org/officeDocument/2006/relationships/image" Target="../media/image19.jpg"/><Relationship Id="rId21" Type="http://schemas.openxmlformats.org/officeDocument/2006/relationships/image" Target="../media/image37.png"/><Relationship Id="rId7" Type="http://schemas.openxmlformats.org/officeDocument/2006/relationships/image" Target="../media/image23.png"/><Relationship Id="rId12" Type="http://schemas.openxmlformats.org/officeDocument/2006/relationships/image" Target="../media/image28.png"/><Relationship Id="rId17" Type="http://schemas.openxmlformats.org/officeDocument/2006/relationships/image" Target="../media/image33.jpg"/><Relationship Id="rId2" Type="http://schemas.openxmlformats.org/officeDocument/2006/relationships/notesSlide" Target="../notesSlides/notesSlide10.xml"/><Relationship Id="rId16" Type="http://schemas.openxmlformats.org/officeDocument/2006/relationships/image" Target="../media/image32.jpg"/><Relationship Id="rId20" Type="http://schemas.openxmlformats.org/officeDocument/2006/relationships/image" Target="../media/image36.png"/><Relationship Id="rId1" Type="http://schemas.openxmlformats.org/officeDocument/2006/relationships/slideLayout" Target="../slideLayouts/slideLayout1.xml"/><Relationship Id="rId6" Type="http://schemas.openxmlformats.org/officeDocument/2006/relationships/image" Target="../media/image22.jpg"/><Relationship Id="rId11" Type="http://schemas.openxmlformats.org/officeDocument/2006/relationships/image" Target="../media/image27.png"/><Relationship Id="rId5" Type="http://schemas.openxmlformats.org/officeDocument/2006/relationships/image" Target="../media/image21.jpg"/><Relationship Id="rId15" Type="http://schemas.openxmlformats.org/officeDocument/2006/relationships/image" Target="../media/image31.png"/><Relationship Id="rId10" Type="http://schemas.openxmlformats.org/officeDocument/2006/relationships/image" Target="../media/image26.jpg"/><Relationship Id="rId19" Type="http://schemas.openxmlformats.org/officeDocument/2006/relationships/image" Target="../media/image35.png"/><Relationship Id="rId4" Type="http://schemas.openxmlformats.org/officeDocument/2006/relationships/image" Target="../media/image20.png"/><Relationship Id="rId9" Type="http://schemas.openxmlformats.org/officeDocument/2006/relationships/image" Target="../media/image25.jpg"/><Relationship Id="rId14" Type="http://schemas.openxmlformats.org/officeDocument/2006/relationships/image" Target="../media/image30.png"/><Relationship Id="rId22" Type="http://schemas.openxmlformats.org/officeDocument/2006/relationships/image" Target="../media/image38.jp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5D8A10AD-C0CE-4DB9-AC0B-D6FA1B0FE803}"/>
              </a:ext>
            </a:extLst>
          </p:cNvPr>
          <p:cNvSpPr>
            <a:spLocks noGrp="1"/>
          </p:cNvSpPr>
          <p:nvPr>
            <p:ph type="ctrTitle"/>
          </p:nvPr>
        </p:nvSpPr>
        <p:spPr>
          <a:xfrm>
            <a:off x="320137" y="150749"/>
            <a:ext cx="9977535" cy="2603209"/>
          </a:xfrm>
        </p:spPr>
        <p:txBody>
          <a:bodyPr>
            <a:noAutofit/>
          </a:bodyPr>
          <a:lstStyle/>
          <a:p>
            <a:r>
              <a:rPr lang="en-US" sz="4400" dirty="0">
                <a:solidFill>
                  <a:schemeClr val="tx1"/>
                </a:solidFill>
                <a:effectLst/>
                <a:ea typeface="Times New Roman" panose="02020603050405020304" pitchFamily="18" charset="0"/>
                <a:cs typeface="Times New Roman" panose="02020603050405020304" pitchFamily="18" charset="0"/>
              </a:rPr>
              <a:t>Integrating US and Canadian marine data to identify region-specific limiting factors across a transboundary salmon migration</a:t>
            </a:r>
            <a:br>
              <a:rPr lang="en-US" sz="4400" dirty="0">
                <a:solidFill>
                  <a:schemeClr val="tx1"/>
                </a:solidFill>
                <a:effectLst/>
                <a:ea typeface="Calibri" panose="020F0502020204030204" pitchFamily="34" charset="0"/>
                <a:cs typeface="Times New Roman" panose="02020603050405020304" pitchFamily="18" charset="0"/>
              </a:rPr>
            </a:br>
            <a:endParaRPr lang="en-US" sz="4400" dirty="0">
              <a:solidFill>
                <a:schemeClr val="tx1"/>
              </a:solidFill>
            </a:endParaRPr>
          </a:p>
        </p:txBody>
      </p:sp>
      <p:sp>
        <p:nvSpPr>
          <p:cNvPr id="8" name="Subtitle 7">
            <a:extLst>
              <a:ext uri="{FF2B5EF4-FFF2-40B4-BE49-F238E27FC236}">
                <a16:creationId xmlns:a16="http://schemas.microsoft.com/office/drawing/2014/main" id="{CCD2D1D4-3184-4CA7-B874-BC8E55070D43}"/>
              </a:ext>
            </a:extLst>
          </p:cNvPr>
          <p:cNvSpPr>
            <a:spLocks noGrp="1"/>
          </p:cNvSpPr>
          <p:nvPr>
            <p:ph type="subTitle" idx="1"/>
          </p:nvPr>
        </p:nvSpPr>
        <p:spPr>
          <a:xfrm>
            <a:off x="1114096" y="3193831"/>
            <a:ext cx="6642538" cy="1655762"/>
          </a:xfrm>
        </p:spPr>
        <p:txBody>
          <a:bodyPr>
            <a:normAutofit/>
          </a:bodyPr>
          <a:lstStyle/>
          <a:p>
            <a:r>
              <a:rPr lang="en-US" dirty="0">
                <a:solidFill>
                  <a:srgbClr val="FFC000"/>
                </a:solidFill>
              </a:rPr>
              <a:t>Lisa Crozier, Cameron Freshwater,</a:t>
            </a:r>
          </a:p>
          <a:p>
            <a:r>
              <a:rPr lang="en-US" dirty="0">
                <a:solidFill>
                  <a:srgbClr val="FFC000"/>
                </a:solidFill>
              </a:rPr>
              <a:t>Brian Burke, David Huff, Eric Ward, Doug Jackson and EVE Pugsley</a:t>
            </a:r>
          </a:p>
        </p:txBody>
      </p:sp>
      <p:sp>
        <p:nvSpPr>
          <p:cNvPr id="9" name="TextBox 8">
            <a:extLst>
              <a:ext uri="{FF2B5EF4-FFF2-40B4-BE49-F238E27FC236}">
                <a16:creationId xmlns:a16="http://schemas.microsoft.com/office/drawing/2014/main" id="{A597F322-CCFB-42F6-9B73-764311444C2E}"/>
              </a:ext>
            </a:extLst>
          </p:cNvPr>
          <p:cNvSpPr txBox="1"/>
          <p:nvPr/>
        </p:nvSpPr>
        <p:spPr>
          <a:xfrm>
            <a:off x="380946" y="5178061"/>
            <a:ext cx="8395191" cy="1477328"/>
          </a:xfrm>
          <a:prstGeom prst="rect">
            <a:avLst/>
          </a:prstGeom>
          <a:noFill/>
        </p:spPr>
        <p:txBody>
          <a:bodyPr wrap="square" rtlCol="0">
            <a:spAutoFit/>
          </a:bodyPr>
          <a:lstStyle/>
          <a:p>
            <a:r>
              <a:rPr lang="en-US" u="sng" dirty="0">
                <a:latin typeface="+mj-lt"/>
              </a:rPr>
              <a:t>PICES Annual Meeting 2026</a:t>
            </a:r>
          </a:p>
          <a:p>
            <a:r>
              <a:rPr lang="en-US" dirty="0">
                <a:latin typeface="+mj-lt"/>
              </a:rPr>
              <a:t>Topic Session S12: 	 Transboundary Science for a Changing North Pacific Ocean</a:t>
            </a:r>
          </a:p>
          <a:p>
            <a:r>
              <a:rPr lang="en-US" dirty="0">
                <a:latin typeface="+mj-lt"/>
              </a:rPr>
              <a:t>			</a:t>
            </a:r>
          </a:p>
          <a:p>
            <a:r>
              <a:rPr lang="en-US" dirty="0">
                <a:latin typeface="+mj-lt"/>
              </a:rPr>
              <a:t>Nanaimo, CA </a:t>
            </a:r>
          </a:p>
          <a:p>
            <a:r>
              <a:rPr lang="en-US" dirty="0">
                <a:latin typeface="+mj-lt"/>
              </a:rPr>
              <a:t>Oct 29, 2026</a:t>
            </a:r>
          </a:p>
        </p:txBody>
      </p:sp>
      <p:pic>
        <p:nvPicPr>
          <p:cNvPr id="3" name="Picture 2">
            <a:extLst>
              <a:ext uri="{FF2B5EF4-FFF2-40B4-BE49-F238E27FC236}">
                <a16:creationId xmlns:a16="http://schemas.microsoft.com/office/drawing/2014/main" id="{C8004EC9-B064-4462-A0C0-68EBCB49698C}"/>
              </a:ext>
            </a:extLst>
          </p:cNvPr>
          <p:cNvPicPr>
            <a:picLocks noChangeAspect="1"/>
          </p:cNvPicPr>
          <p:nvPr/>
        </p:nvPicPr>
        <p:blipFill rotWithShape="1">
          <a:blip r:embed="rId3">
            <a:extLst>
              <a:ext uri="{28A0092B-C50C-407E-A947-70E740481C1C}">
                <a14:useLocalDpi xmlns:a14="http://schemas.microsoft.com/office/drawing/2010/main" val="0"/>
              </a:ext>
            </a:extLst>
          </a:blip>
          <a:srcRect l="12975" t="21215" r="12926" b="5738"/>
          <a:stretch/>
        </p:blipFill>
        <p:spPr>
          <a:xfrm>
            <a:off x="8460788" y="4088524"/>
            <a:ext cx="3731212" cy="2769476"/>
          </a:xfrm>
          <a:prstGeom prst="ellipse">
            <a:avLst/>
          </a:prstGeom>
        </p:spPr>
      </p:pic>
    </p:spTree>
    <p:extLst>
      <p:ext uri="{BB962C8B-B14F-4D97-AF65-F5344CB8AC3E}">
        <p14:creationId xmlns:p14="http://schemas.microsoft.com/office/powerpoint/2010/main" val="171201418"/>
      </p:ext>
    </p:extLst>
  </p:cSld>
  <p:clrMapOvr>
    <a:masterClrMapping/>
  </p:clrMapOvr>
  <mc:AlternateContent xmlns:mc="http://schemas.openxmlformats.org/markup-compatibility/2006">
    <mc:Choice xmlns:p14="http://schemas.microsoft.com/office/powerpoint/2010/main" Requires="p14">
      <p:transition spd="slow" p14:dur="2000" advTm="2116"/>
    </mc:Choice>
    <mc:Fallback>
      <p:transition spd="slow" advTm="2116"/>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17340" y="150057"/>
            <a:ext cx="5522259" cy="1566201"/>
          </a:xfrm>
        </p:spPr>
        <p:txBody>
          <a:bodyPr>
            <a:noAutofit/>
          </a:bodyPr>
          <a:lstStyle/>
          <a:p>
            <a:r>
              <a:rPr lang="en-US" sz="2400" dirty="0"/>
              <a:t>Many species were already endangered, and climate change compounds threat – particularly the marine stage of spring Chinook salmon</a:t>
            </a:r>
          </a:p>
        </p:txBody>
      </p:sp>
      <p:sp>
        <p:nvSpPr>
          <p:cNvPr id="4" name="Rectangle 2"/>
          <p:cNvSpPr>
            <a:spLocks noChangeArrowheads="1"/>
          </p:cNvSpPr>
          <p:nvPr/>
        </p:nvSpPr>
        <p:spPr bwMode="auto">
          <a:xfrm>
            <a:off x="2057401" y="1642232"/>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sz="1400"/>
          </a:p>
        </p:txBody>
      </p:sp>
      <p:pic>
        <p:nvPicPr>
          <p:cNvPr id="6" name="Picture 5">
            <a:extLst>
              <a:ext uri="{FF2B5EF4-FFF2-40B4-BE49-F238E27FC236}">
                <a16:creationId xmlns:a16="http://schemas.microsoft.com/office/drawing/2014/main" id="{AFB30585-A00E-4EE1-8B9A-55C1E694325D}"/>
              </a:ext>
            </a:extLst>
          </p:cNvPr>
          <p:cNvPicPr>
            <a:picLocks noChangeAspect="1"/>
          </p:cNvPicPr>
          <p:nvPr/>
        </p:nvPicPr>
        <p:blipFill>
          <a:blip r:embed="rId4"/>
          <a:stretch>
            <a:fillRect/>
          </a:stretch>
        </p:blipFill>
        <p:spPr>
          <a:xfrm>
            <a:off x="0" y="133643"/>
            <a:ext cx="5776856" cy="5776856"/>
          </a:xfrm>
          <a:prstGeom prst="rect">
            <a:avLst/>
          </a:prstGeom>
        </p:spPr>
      </p:pic>
      <p:grpSp>
        <p:nvGrpSpPr>
          <p:cNvPr id="15" name="Group 14">
            <a:extLst>
              <a:ext uri="{FF2B5EF4-FFF2-40B4-BE49-F238E27FC236}">
                <a16:creationId xmlns:a16="http://schemas.microsoft.com/office/drawing/2014/main" id="{7017F0D1-E21B-A695-EAEE-1E3F31EA3DA0}"/>
              </a:ext>
            </a:extLst>
          </p:cNvPr>
          <p:cNvGrpSpPr/>
          <p:nvPr/>
        </p:nvGrpSpPr>
        <p:grpSpPr>
          <a:xfrm>
            <a:off x="5729990" y="2450592"/>
            <a:ext cx="2784317" cy="4179324"/>
            <a:chOff x="5729990" y="2450592"/>
            <a:chExt cx="2784317" cy="4179324"/>
          </a:xfrm>
        </p:grpSpPr>
        <p:pic>
          <p:nvPicPr>
            <p:cNvPr id="8" name="Picture 7">
              <a:extLst>
                <a:ext uri="{FF2B5EF4-FFF2-40B4-BE49-F238E27FC236}">
                  <a16:creationId xmlns:a16="http://schemas.microsoft.com/office/drawing/2014/main" id="{78E975DC-FB5D-B81D-5C6C-EB30378B9D68}"/>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l="3355" t="339" r="72709" b="50635"/>
            <a:stretch>
              <a:fillRect/>
            </a:stretch>
          </p:blipFill>
          <p:spPr>
            <a:xfrm>
              <a:off x="6031500" y="2450592"/>
              <a:ext cx="2482807" cy="3441978"/>
            </a:xfrm>
            <a:prstGeom prst="rect">
              <a:avLst/>
            </a:prstGeom>
          </p:spPr>
        </p:pic>
        <p:sp>
          <p:nvSpPr>
            <p:cNvPr id="12" name="Rectangle 11">
              <a:extLst>
                <a:ext uri="{FF2B5EF4-FFF2-40B4-BE49-F238E27FC236}">
                  <a16:creationId xmlns:a16="http://schemas.microsoft.com/office/drawing/2014/main" id="{F3403BAA-356C-0C05-00D8-7B8DA5AE4D7E}"/>
                </a:ext>
              </a:extLst>
            </p:cNvPr>
            <p:cNvSpPr/>
            <p:nvPr/>
          </p:nvSpPr>
          <p:spPr>
            <a:xfrm>
              <a:off x="5931275" y="5891252"/>
              <a:ext cx="2492188" cy="738664"/>
            </a:xfrm>
            <a:prstGeom prst="rect">
              <a:avLst/>
            </a:prstGeom>
          </p:spPr>
          <p:txBody>
            <a:bodyPr wrap="square">
              <a:spAutoFit/>
            </a:bodyPr>
            <a:lstStyle/>
            <a:p>
              <a:pPr algn="ctr"/>
              <a:r>
                <a:rPr lang="en-US" sz="1400" dirty="0">
                  <a:latin typeface="Segoe UI" panose="020B0502040204020203" pitchFamily="34" charset="0"/>
                </a:rPr>
                <a:t>Winter/</a:t>
              </a:r>
              <a:r>
                <a:rPr lang="en-US" sz="1400" dirty="0" err="1">
                  <a:latin typeface="Segoe UI" panose="020B0502040204020203" pitchFamily="34" charset="0"/>
                </a:rPr>
                <a:t>spr</a:t>
              </a:r>
              <a:r>
                <a:rPr lang="en-US" sz="1400" dirty="0">
                  <a:latin typeface="Segoe UI" panose="020B0502040204020203" pitchFamily="34" charset="0"/>
                </a:rPr>
                <a:t> PDO/</a:t>
              </a:r>
              <a:r>
                <a:rPr lang="en-US" sz="1400" dirty="0" err="1">
                  <a:latin typeface="Segoe UI" panose="020B0502040204020203" pitchFamily="34" charset="0"/>
                </a:rPr>
                <a:t>SSTarc</a:t>
              </a:r>
              <a:r>
                <a:rPr lang="en-US" sz="1400" dirty="0">
                  <a:latin typeface="Segoe UI" panose="020B0502040204020203" pitchFamily="34" charset="0"/>
                </a:rPr>
                <a:t> </a:t>
              </a:r>
            </a:p>
            <a:p>
              <a:pPr algn="ctr"/>
              <a:r>
                <a:rPr lang="en-US" sz="1400" dirty="0">
                  <a:latin typeface="Segoe UI" panose="020B0502040204020203" pitchFamily="34" charset="0"/>
                </a:rPr>
                <a:t>Burke et al 2025: </a:t>
              </a:r>
            </a:p>
            <a:p>
              <a:pPr algn="ctr"/>
              <a:r>
                <a:rPr lang="en-US" sz="1400" dirty="0">
                  <a:latin typeface="Segoe UI" panose="020B0502040204020203" pitchFamily="34" charset="0"/>
                </a:rPr>
                <a:t>CMISST r</a:t>
              </a:r>
              <a:r>
                <a:rPr lang="en-US" sz="1400" baseline="30000" dirty="0">
                  <a:latin typeface="Segoe UI" panose="020B0502040204020203" pitchFamily="34" charset="0"/>
                </a:rPr>
                <a:t>2</a:t>
              </a:r>
              <a:r>
                <a:rPr lang="en-US" sz="1400" dirty="0">
                  <a:latin typeface="Segoe UI" panose="020B0502040204020203" pitchFamily="34" charset="0"/>
                </a:rPr>
                <a:t>~ 0.5-0.6 </a:t>
              </a:r>
              <a:endParaRPr lang="en-US" sz="1400" dirty="0"/>
            </a:p>
          </p:txBody>
        </p:sp>
        <p:sp>
          <p:nvSpPr>
            <p:cNvPr id="13" name="TextBox 12">
              <a:extLst>
                <a:ext uri="{FF2B5EF4-FFF2-40B4-BE49-F238E27FC236}">
                  <a16:creationId xmlns:a16="http://schemas.microsoft.com/office/drawing/2014/main" id="{E94FF643-C086-6ECF-1C15-C947AB4F1098}"/>
                </a:ext>
              </a:extLst>
            </p:cNvPr>
            <p:cNvSpPr txBox="1"/>
            <p:nvPr/>
          </p:nvSpPr>
          <p:spPr>
            <a:xfrm rot="16200000">
              <a:off x="5369859" y="3962400"/>
              <a:ext cx="1089594" cy="369332"/>
            </a:xfrm>
            <a:prstGeom prst="rect">
              <a:avLst/>
            </a:prstGeom>
            <a:noFill/>
          </p:spPr>
          <p:txBody>
            <a:bodyPr wrap="none" rtlCol="0">
              <a:spAutoFit/>
            </a:bodyPr>
            <a:lstStyle/>
            <a:p>
              <a:r>
                <a:rPr lang="en-US" dirty="0"/>
                <a:t>Spawners</a:t>
              </a:r>
            </a:p>
          </p:txBody>
        </p:sp>
      </p:grpSp>
      <p:grpSp>
        <p:nvGrpSpPr>
          <p:cNvPr id="16" name="Group 15">
            <a:extLst>
              <a:ext uri="{FF2B5EF4-FFF2-40B4-BE49-F238E27FC236}">
                <a16:creationId xmlns:a16="http://schemas.microsoft.com/office/drawing/2014/main" id="{3113F99A-168C-6090-1054-18C31175A04A}"/>
              </a:ext>
            </a:extLst>
          </p:cNvPr>
          <p:cNvGrpSpPr/>
          <p:nvPr/>
        </p:nvGrpSpPr>
        <p:grpSpPr>
          <a:xfrm>
            <a:off x="8510954" y="2444837"/>
            <a:ext cx="3681046" cy="3877302"/>
            <a:chOff x="8510954" y="2444837"/>
            <a:chExt cx="3681046" cy="3877302"/>
          </a:xfrm>
        </p:grpSpPr>
        <p:grpSp>
          <p:nvGrpSpPr>
            <p:cNvPr id="9" name="Group 8">
              <a:extLst>
                <a:ext uri="{FF2B5EF4-FFF2-40B4-BE49-F238E27FC236}">
                  <a16:creationId xmlns:a16="http://schemas.microsoft.com/office/drawing/2014/main" id="{663D2D54-2197-A183-9819-7E88DAFB1729}"/>
                </a:ext>
              </a:extLst>
            </p:cNvPr>
            <p:cNvGrpSpPr/>
            <p:nvPr/>
          </p:nvGrpSpPr>
          <p:grpSpPr>
            <a:xfrm>
              <a:off x="8510954" y="2444837"/>
              <a:ext cx="3681046" cy="3877302"/>
              <a:chOff x="6315151" y="817103"/>
              <a:chExt cx="5299993" cy="5965144"/>
            </a:xfrm>
          </p:grpSpPr>
          <p:pic>
            <p:nvPicPr>
              <p:cNvPr id="10" name="Picture 9">
                <a:extLst>
                  <a:ext uri="{FF2B5EF4-FFF2-40B4-BE49-F238E27FC236}">
                    <a16:creationId xmlns:a16="http://schemas.microsoft.com/office/drawing/2014/main" id="{7A6A896F-1F7C-B07D-F4A9-9039C8DBA0D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315151" y="817103"/>
                <a:ext cx="5299993" cy="5299993"/>
              </a:xfrm>
              <a:prstGeom prst="rect">
                <a:avLst/>
              </a:prstGeom>
            </p:spPr>
          </p:pic>
          <p:sp>
            <p:nvSpPr>
              <p:cNvPr id="11" name="Rectangle 10">
                <a:extLst>
                  <a:ext uri="{FF2B5EF4-FFF2-40B4-BE49-F238E27FC236}">
                    <a16:creationId xmlns:a16="http://schemas.microsoft.com/office/drawing/2014/main" id="{B9A78ED5-2A21-DDA0-F5A6-2114874B0D91}"/>
                  </a:ext>
                </a:extLst>
              </p:cNvPr>
              <p:cNvSpPr/>
              <p:nvPr/>
            </p:nvSpPr>
            <p:spPr>
              <a:xfrm>
                <a:off x="6317426" y="6119337"/>
                <a:ext cx="5297717" cy="662910"/>
              </a:xfrm>
              <a:prstGeom prst="rect">
                <a:avLst/>
              </a:prstGeom>
            </p:spPr>
            <p:txBody>
              <a:bodyPr wrap="square">
                <a:spAutoFit/>
              </a:bodyPr>
              <a:lstStyle/>
              <a:p>
                <a:r>
                  <a:rPr lang="en-US" sz="1100" dirty="0">
                    <a:latin typeface="Segoe UI" panose="020B0502040204020203" pitchFamily="34" charset="0"/>
                  </a:rPr>
                  <a:t>Crozier, et al (2021) </a:t>
                </a:r>
              </a:p>
              <a:p>
                <a:r>
                  <a:rPr lang="en-US" sz="1100" u="sng" dirty="0">
                    <a:latin typeface="Segoe UI" panose="020B0502040204020203" pitchFamily="34" charset="0"/>
                  </a:rPr>
                  <a:t>https://doi.org/210.1038/s42003-42021-01734-w </a:t>
                </a:r>
                <a:endParaRPr lang="en-US" sz="1100" dirty="0"/>
              </a:p>
            </p:txBody>
          </p:sp>
        </p:grpSp>
        <p:sp>
          <p:nvSpPr>
            <p:cNvPr id="14" name="Oval 13">
              <a:extLst>
                <a:ext uri="{FF2B5EF4-FFF2-40B4-BE49-F238E27FC236}">
                  <a16:creationId xmlns:a16="http://schemas.microsoft.com/office/drawing/2014/main" id="{DB1F0678-1E27-12C8-36CF-2F92013B030F}"/>
                </a:ext>
              </a:extLst>
            </p:cNvPr>
            <p:cNvSpPr/>
            <p:nvPr/>
          </p:nvSpPr>
          <p:spPr>
            <a:xfrm>
              <a:off x="10919012" y="5342965"/>
              <a:ext cx="528917" cy="528917"/>
            </a:xfrm>
            <a:prstGeom prst="ellipse">
              <a:avLst/>
            </a:prstGeom>
            <a:noFill/>
            <a:ln w="12382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custDataLst>
      <p:tags r:id="rId1"/>
    </p:custDataLst>
    <p:extLst>
      <p:ext uri="{BB962C8B-B14F-4D97-AF65-F5344CB8AC3E}">
        <p14:creationId xmlns:p14="http://schemas.microsoft.com/office/powerpoint/2010/main" val="31834469"/>
      </p:ext>
    </p:extLst>
  </p:cSld>
  <p:clrMapOvr>
    <a:masterClrMapping/>
  </p:clrMapOvr>
  <mc:AlternateContent xmlns:mc="http://schemas.openxmlformats.org/markup-compatibility/2006">
    <mc:Choice xmlns:p14="http://schemas.microsoft.com/office/powerpoint/2010/main" Requires="p14">
      <p:transition spd="slow" p14:dur="2000" advTm="123255"/>
    </mc:Choice>
    <mc:Fallback>
      <p:transition spd="slow" advTm="123255"/>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Rectangle 42">
            <a:extLst>
              <a:ext uri="{FF2B5EF4-FFF2-40B4-BE49-F238E27FC236}">
                <a16:creationId xmlns:a16="http://schemas.microsoft.com/office/drawing/2014/main" id="{4E4490D0-3672-446A-AC12-B4830333BD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45" name="Rectangle 44">
            <a:extLst>
              <a:ext uri="{FF2B5EF4-FFF2-40B4-BE49-F238E27FC236}">
                <a16:creationId xmlns:a16="http://schemas.microsoft.com/office/drawing/2014/main" id="{39CB82C2-DF65-4EC1-8280-F201D50F57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47" name="Straight Connector 46">
            <a:extLst>
              <a:ext uri="{FF2B5EF4-FFF2-40B4-BE49-F238E27FC236}">
                <a16:creationId xmlns:a16="http://schemas.microsoft.com/office/drawing/2014/main" id="{7E1D4427-852B-4B37-8E76-0E9F1810BA2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49" name="Rectangle 48">
            <a:extLst>
              <a:ext uri="{FF2B5EF4-FFF2-40B4-BE49-F238E27FC236}">
                <a16:creationId xmlns:a16="http://schemas.microsoft.com/office/drawing/2014/main" id="{FA4CD5CB-D209-4D70-8CA4-629731C592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8E38D96-4181-1B23-B75B-C02F3CF5D340}"/>
              </a:ext>
            </a:extLst>
          </p:cNvPr>
          <p:cNvSpPr>
            <a:spLocks noGrp="1"/>
          </p:cNvSpPr>
          <p:nvPr>
            <p:ph type="title"/>
          </p:nvPr>
        </p:nvSpPr>
        <p:spPr>
          <a:xfrm>
            <a:off x="7883345" y="590901"/>
            <a:ext cx="4080316" cy="3686015"/>
          </a:xfrm>
        </p:spPr>
        <p:txBody>
          <a:bodyPr vert="horz" lIns="91440" tIns="45720" rIns="91440" bIns="45720" rtlCol="0" anchor="b">
            <a:noAutofit/>
          </a:bodyPr>
          <a:lstStyle/>
          <a:p>
            <a:r>
              <a:rPr lang="en-US" dirty="0">
                <a:solidFill>
                  <a:schemeClr val="tx1">
                    <a:lumMod val="85000"/>
                    <a:lumOff val="15000"/>
                  </a:schemeClr>
                </a:solidFill>
              </a:rPr>
              <a:t>Snake River/</a:t>
            </a:r>
            <a:br>
              <a:rPr lang="en-US" dirty="0">
                <a:solidFill>
                  <a:schemeClr val="tx1">
                    <a:lumMod val="85000"/>
                    <a:lumOff val="15000"/>
                  </a:schemeClr>
                </a:solidFill>
              </a:rPr>
            </a:br>
            <a:r>
              <a:rPr lang="en-US" dirty="0">
                <a:solidFill>
                  <a:schemeClr val="tx1">
                    <a:lumMod val="85000"/>
                    <a:lumOff val="15000"/>
                  </a:schemeClr>
                </a:solidFill>
              </a:rPr>
              <a:t>Upper Columbia Spring Chinook</a:t>
            </a:r>
            <a:br>
              <a:rPr lang="en-US" dirty="0">
                <a:solidFill>
                  <a:schemeClr val="tx1">
                    <a:lumMod val="85000"/>
                    <a:lumOff val="15000"/>
                  </a:schemeClr>
                </a:solidFill>
              </a:rPr>
            </a:br>
            <a:r>
              <a:rPr lang="en-US" dirty="0">
                <a:solidFill>
                  <a:schemeClr val="tx1">
                    <a:lumMod val="85000"/>
                    <a:lumOff val="15000"/>
                  </a:schemeClr>
                </a:solidFill>
              </a:rPr>
              <a:t>1-3yr in ocean</a:t>
            </a:r>
          </a:p>
        </p:txBody>
      </p:sp>
      <p:pic>
        <p:nvPicPr>
          <p:cNvPr id="8" name="Picture 7">
            <a:extLst>
              <a:ext uri="{FF2B5EF4-FFF2-40B4-BE49-F238E27FC236}">
                <a16:creationId xmlns:a16="http://schemas.microsoft.com/office/drawing/2014/main" id="{C823FDC5-DBFD-69ED-198E-3B351A6434F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0672" y="640081"/>
            <a:ext cx="6738870" cy="5054156"/>
          </a:xfrm>
          <a:prstGeom prst="rect">
            <a:avLst/>
          </a:prstGeom>
        </p:spPr>
      </p:pic>
      <p:cxnSp>
        <p:nvCxnSpPr>
          <p:cNvPr id="51" name="Straight Connector 50">
            <a:extLst>
              <a:ext uri="{FF2B5EF4-FFF2-40B4-BE49-F238E27FC236}">
                <a16:creationId xmlns:a16="http://schemas.microsoft.com/office/drawing/2014/main" id="{5C6A2BAE-B461-4B55-8E1F-0722ABDD139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209305" y="4343400"/>
            <a:ext cx="3200400" cy="0"/>
          </a:xfrm>
          <a:prstGeom prst="line">
            <a:avLst/>
          </a:prstGeom>
          <a:ln w="6350">
            <a:solidFill>
              <a:schemeClr val="tx2">
                <a:alpha val="90000"/>
              </a:schemeClr>
            </a:solidFill>
          </a:ln>
        </p:spPr>
        <p:style>
          <a:lnRef idx="1">
            <a:schemeClr val="accent1"/>
          </a:lnRef>
          <a:fillRef idx="0">
            <a:schemeClr val="accent1"/>
          </a:fillRef>
          <a:effectRef idx="0">
            <a:schemeClr val="accent1"/>
          </a:effectRef>
          <a:fontRef idx="minor">
            <a:schemeClr val="tx1"/>
          </a:fontRef>
        </p:style>
      </p:cxnSp>
      <p:sp>
        <p:nvSpPr>
          <p:cNvPr id="53" name="Rectangle 52">
            <a:extLst>
              <a:ext uri="{FF2B5EF4-FFF2-40B4-BE49-F238E27FC236}">
                <a16:creationId xmlns:a16="http://schemas.microsoft.com/office/drawing/2014/main" id="{B4C27B90-DF2B-4D00-BA07-18ED774CD2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55" name="Rectangle 54">
            <a:extLst>
              <a:ext uri="{FF2B5EF4-FFF2-40B4-BE49-F238E27FC236}">
                <a16:creationId xmlns:a16="http://schemas.microsoft.com/office/drawing/2014/main" id="{593ACC25-C262-417A-8AA9-0641C772BD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0" name="TextBox 9">
            <a:extLst>
              <a:ext uri="{FF2B5EF4-FFF2-40B4-BE49-F238E27FC236}">
                <a16:creationId xmlns:a16="http://schemas.microsoft.com/office/drawing/2014/main" id="{FFA088F6-39AB-D2E3-B800-E9DADE4FF3F9}"/>
              </a:ext>
            </a:extLst>
          </p:cNvPr>
          <p:cNvSpPr txBox="1"/>
          <p:nvPr/>
        </p:nvSpPr>
        <p:spPr>
          <a:xfrm>
            <a:off x="3785419" y="2861187"/>
            <a:ext cx="421910" cy="707886"/>
          </a:xfrm>
          <a:prstGeom prst="rect">
            <a:avLst/>
          </a:prstGeom>
          <a:noFill/>
        </p:spPr>
        <p:txBody>
          <a:bodyPr wrap="none" rtlCol="0">
            <a:spAutoFit/>
          </a:bodyPr>
          <a:lstStyle/>
          <a:p>
            <a:r>
              <a:rPr lang="en-US" sz="4000" dirty="0"/>
              <a:t>?</a:t>
            </a:r>
          </a:p>
        </p:txBody>
      </p:sp>
    </p:spTree>
    <p:extLst>
      <p:ext uri="{BB962C8B-B14F-4D97-AF65-F5344CB8AC3E}">
        <p14:creationId xmlns:p14="http://schemas.microsoft.com/office/powerpoint/2010/main" val="1990820574"/>
      </p:ext>
    </p:extLst>
  </p:cSld>
  <p:clrMapOvr>
    <a:masterClrMapping/>
  </p:clrMapOvr>
  <mc:AlternateContent xmlns:mc="http://schemas.openxmlformats.org/markup-compatibility/2006">
    <mc:Choice xmlns:p14="http://schemas.microsoft.com/office/powerpoint/2010/main" Requires="p14">
      <p:transition spd="slow" p14:dur="2000" advTm="38292"/>
    </mc:Choice>
    <mc:Fallback>
      <p:transition spd="slow" advTm="38292"/>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E4490D0-3672-446A-AC12-B4830333BD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1" name="Rectangle 10">
            <a:extLst>
              <a:ext uri="{FF2B5EF4-FFF2-40B4-BE49-F238E27FC236}">
                <a16:creationId xmlns:a16="http://schemas.microsoft.com/office/drawing/2014/main" id="{39CB82C2-DF65-4EC1-8280-F201D50F57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13" name="Straight Connector 12">
            <a:extLst>
              <a:ext uri="{FF2B5EF4-FFF2-40B4-BE49-F238E27FC236}">
                <a16:creationId xmlns:a16="http://schemas.microsoft.com/office/drawing/2014/main" id="{7E1D4427-852B-4B37-8E76-0E9F1810BA2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15" name="Rectangle 14">
            <a:extLst>
              <a:ext uri="{FF2B5EF4-FFF2-40B4-BE49-F238E27FC236}">
                <a16:creationId xmlns:a16="http://schemas.microsoft.com/office/drawing/2014/main" id="{FA4CD5CB-D209-4D70-8CA4-629731C592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AA2D0E2C-0BF4-4DD2-244D-4A48B34D6AB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0672" y="640081"/>
            <a:ext cx="6738870" cy="5054156"/>
          </a:xfrm>
          <a:prstGeom prst="rect">
            <a:avLst/>
          </a:prstGeom>
        </p:spPr>
      </p:pic>
      <p:cxnSp>
        <p:nvCxnSpPr>
          <p:cNvPr id="17" name="Straight Connector 16">
            <a:extLst>
              <a:ext uri="{FF2B5EF4-FFF2-40B4-BE49-F238E27FC236}">
                <a16:creationId xmlns:a16="http://schemas.microsoft.com/office/drawing/2014/main" id="{5C6A2BAE-B461-4B55-8E1F-0722ABDD139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209305" y="4343400"/>
            <a:ext cx="3200400" cy="0"/>
          </a:xfrm>
          <a:prstGeom prst="line">
            <a:avLst/>
          </a:prstGeom>
          <a:ln w="6350">
            <a:solidFill>
              <a:schemeClr val="tx2">
                <a:alpha val="90000"/>
              </a:schemeClr>
            </a:solidFill>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B4C27B90-DF2B-4D00-BA07-18ED774CD2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1" name="Rectangle 20">
            <a:extLst>
              <a:ext uri="{FF2B5EF4-FFF2-40B4-BE49-F238E27FC236}">
                <a16:creationId xmlns:a16="http://schemas.microsoft.com/office/drawing/2014/main" id="{593ACC25-C262-417A-8AA9-0641C772BD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5" name="Title 1">
            <a:extLst>
              <a:ext uri="{FF2B5EF4-FFF2-40B4-BE49-F238E27FC236}">
                <a16:creationId xmlns:a16="http://schemas.microsoft.com/office/drawing/2014/main" id="{05A99F8D-255A-BBB6-1615-3E4E00CC3F5C}"/>
              </a:ext>
            </a:extLst>
          </p:cNvPr>
          <p:cNvSpPr txBox="1">
            <a:spLocks/>
          </p:cNvSpPr>
          <p:nvPr/>
        </p:nvSpPr>
        <p:spPr>
          <a:xfrm>
            <a:off x="7902985" y="1115347"/>
            <a:ext cx="3793715" cy="3209003"/>
          </a:xfrm>
          <a:prstGeom prst="rect">
            <a:avLst/>
          </a:prstGeom>
        </p:spPr>
        <p:txBody>
          <a:bodyPr vert="horz" lIns="91440" tIns="45720" rIns="91440" bIns="45720" rtlCol="0" anchor="b">
            <a:no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dirty="0">
                <a:solidFill>
                  <a:schemeClr val="tx1">
                    <a:lumMod val="85000"/>
                    <a:lumOff val="15000"/>
                  </a:schemeClr>
                </a:solidFill>
              </a:rPr>
              <a:t>Snake River/</a:t>
            </a:r>
            <a:br>
              <a:rPr lang="en-US" dirty="0">
                <a:solidFill>
                  <a:schemeClr val="tx1">
                    <a:lumMod val="85000"/>
                    <a:lumOff val="15000"/>
                  </a:schemeClr>
                </a:solidFill>
              </a:rPr>
            </a:br>
            <a:r>
              <a:rPr lang="en-US" dirty="0">
                <a:solidFill>
                  <a:schemeClr val="tx1">
                    <a:lumMod val="85000"/>
                    <a:lumOff val="15000"/>
                  </a:schemeClr>
                </a:solidFill>
              </a:rPr>
              <a:t>Upper Columbia Spring Chinook</a:t>
            </a:r>
            <a:br>
              <a:rPr lang="en-US" dirty="0">
                <a:solidFill>
                  <a:schemeClr val="tx1">
                    <a:lumMod val="85000"/>
                    <a:lumOff val="15000"/>
                  </a:schemeClr>
                </a:solidFill>
              </a:rPr>
            </a:br>
            <a:r>
              <a:rPr lang="en-US" dirty="0">
                <a:solidFill>
                  <a:schemeClr val="tx1">
                    <a:lumMod val="85000"/>
                    <a:lumOff val="15000"/>
                  </a:schemeClr>
                </a:solidFill>
              </a:rPr>
              <a:t>1-3yr in ocean</a:t>
            </a:r>
          </a:p>
        </p:txBody>
      </p:sp>
    </p:spTree>
    <p:extLst>
      <p:ext uri="{BB962C8B-B14F-4D97-AF65-F5344CB8AC3E}">
        <p14:creationId xmlns:p14="http://schemas.microsoft.com/office/powerpoint/2010/main" val="1981421429"/>
      </p:ext>
    </p:extLst>
  </p:cSld>
  <p:clrMapOvr>
    <a:masterClrMapping/>
  </p:clrMapOvr>
  <mc:AlternateContent xmlns:mc="http://schemas.openxmlformats.org/markup-compatibility/2006">
    <mc:Choice xmlns:p14="http://schemas.microsoft.com/office/powerpoint/2010/main" Requires="p14">
      <p:transition spd="slow" p14:dur="2000" advTm="16334"/>
    </mc:Choice>
    <mc:Fallback>
      <p:transition spd="slow" advTm="16334"/>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600B5AE2-C5CC-499C-8F2D-249888BE22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3" name="Rectangle 32">
            <a:extLst>
              <a:ext uri="{FF2B5EF4-FFF2-40B4-BE49-F238E27FC236}">
                <a16:creationId xmlns:a16="http://schemas.microsoft.com/office/drawing/2014/main" id="{BA7A3698-B350-40E5-8475-9BCC41A089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35" name="Straight Connector 34">
            <a:extLst>
              <a:ext uri="{FF2B5EF4-FFF2-40B4-BE49-F238E27FC236}">
                <a16:creationId xmlns:a16="http://schemas.microsoft.com/office/drawing/2014/main" id="{0AC655C7-EC94-4BE6-84C8-2F9EFBBB278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37" name="Rectangle 36">
            <a:extLst>
              <a:ext uri="{FF2B5EF4-FFF2-40B4-BE49-F238E27FC236}">
                <a16:creationId xmlns:a16="http://schemas.microsoft.com/office/drawing/2014/main" id="{990D0034-F768-41E7-85D4-F38C4DE857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cxnSp>
        <p:nvCxnSpPr>
          <p:cNvPr id="39" name="Straight Connector 38">
            <a:extLst>
              <a:ext uri="{FF2B5EF4-FFF2-40B4-BE49-F238E27FC236}">
                <a16:creationId xmlns:a16="http://schemas.microsoft.com/office/drawing/2014/main" id="{5A0A5CF6-407C-4691-8122-49DF69D0020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90927" y="2633962"/>
            <a:ext cx="2743200" cy="0"/>
          </a:xfrm>
          <a:prstGeom prst="line">
            <a:avLst/>
          </a:prstGeom>
          <a:ln w="6350">
            <a:solidFill>
              <a:schemeClr val="tx1">
                <a:lumMod val="50000"/>
                <a:lumOff val="50000"/>
                <a:alpha val="90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807674E2-C4E2-1B05-DAF0-6D25D972E1FB}"/>
              </a:ext>
            </a:extLst>
          </p:cNvPr>
          <p:cNvSpPr txBox="1"/>
          <p:nvPr/>
        </p:nvSpPr>
        <p:spPr>
          <a:xfrm>
            <a:off x="642198" y="4653289"/>
            <a:ext cx="3084844" cy="1714026"/>
          </a:xfrm>
          <a:prstGeom prst="rect">
            <a:avLst/>
          </a:prstGeom>
        </p:spPr>
        <p:txBody>
          <a:bodyPr vert="horz" lIns="0" tIns="45720" rIns="0" bIns="45720" rtlCol="0">
            <a:normAutofit/>
          </a:bodyPr>
          <a:lstStyle/>
          <a:p>
            <a:pPr defTabSz="914400">
              <a:lnSpc>
                <a:spcPct val="90000"/>
              </a:lnSpc>
              <a:spcAft>
                <a:spcPts val="600"/>
              </a:spcAft>
              <a:buClr>
                <a:schemeClr val="accent1"/>
              </a:buClr>
            </a:pPr>
            <a:r>
              <a:rPr lang="en-US" sz="2800" dirty="0">
                <a:solidFill>
                  <a:schemeClr val="tx1">
                    <a:lumMod val="75000"/>
                    <a:lumOff val="25000"/>
                  </a:schemeClr>
                </a:solidFill>
              </a:rPr>
              <a:t>AK: 35 series</a:t>
            </a:r>
          </a:p>
          <a:p>
            <a:pPr defTabSz="914400">
              <a:lnSpc>
                <a:spcPct val="90000"/>
              </a:lnSpc>
              <a:spcAft>
                <a:spcPts val="600"/>
              </a:spcAft>
              <a:buClr>
                <a:schemeClr val="accent1"/>
              </a:buClr>
              <a:buFont typeface="Calibri" panose="020F0502020204030204" pitchFamily="34" charset="0"/>
            </a:pPr>
            <a:r>
              <a:rPr lang="en-US" sz="2800" dirty="0">
                <a:solidFill>
                  <a:schemeClr val="tx1">
                    <a:lumMod val="75000"/>
                    <a:lumOff val="25000"/>
                  </a:schemeClr>
                </a:solidFill>
              </a:rPr>
              <a:t>BC: 37 series</a:t>
            </a:r>
          </a:p>
          <a:p>
            <a:pPr defTabSz="914400">
              <a:lnSpc>
                <a:spcPct val="90000"/>
              </a:lnSpc>
              <a:spcAft>
                <a:spcPts val="600"/>
              </a:spcAft>
              <a:buClr>
                <a:schemeClr val="accent1"/>
              </a:buClr>
            </a:pPr>
            <a:r>
              <a:rPr lang="en-US" sz="2800" dirty="0">
                <a:solidFill>
                  <a:schemeClr val="tx1">
                    <a:lumMod val="75000"/>
                    <a:lumOff val="25000"/>
                  </a:schemeClr>
                </a:solidFill>
              </a:rPr>
              <a:t>WA: 83 series</a:t>
            </a:r>
          </a:p>
          <a:p>
            <a:pPr defTabSz="914400">
              <a:lnSpc>
                <a:spcPct val="90000"/>
              </a:lnSpc>
              <a:spcAft>
                <a:spcPts val="600"/>
              </a:spcAft>
              <a:buClr>
                <a:schemeClr val="accent1"/>
              </a:buClr>
              <a:buFont typeface="Calibri" panose="020F0502020204030204" pitchFamily="34" charset="0"/>
            </a:pPr>
            <a:endParaRPr lang="en-US" sz="2800" dirty="0">
              <a:solidFill>
                <a:schemeClr val="tx1">
                  <a:lumMod val="75000"/>
                  <a:lumOff val="25000"/>
                </a:schemeClr>
              </a:solidFill>
            </a:endParaRPr>
          </a:p>
        </p:txBody>
      </p:sp>
      <p:sp>
        <p:nvSpPr>
          <p:cNvPr id="8" name="Rectangle 7">
            <a:extLst>
              <a:ext uri="{FF2B5EF4-FFF2-40B4-BE49-F238E27FC236}">
                <a16:creationId xmlns:a16="http://schemas.microsoft.com/office/drawing/2014/main" id="{5BB67670-8A92-3D59-6C31-B04597DE7192}"/>
              </a:ext>
            </a:extLst>
          </p:cNvPr>
          <p:cNvSpPr/>
          <p:nvPr/>
        </p:nvSpPr>
        <p:spPr>
          <a:xfrm>
            <a:off x="471601" y="2388358"/>
            <a:ext cx="3185999" cy="429901"/>
          </a:xfrm>
          <a:prstGeom prst="rect">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7" name="Title 1">
            <a:extLst>
              <a:ext uri="{FF2B5EF4-FFF2-40B4-BE49-F238E27FC236}">
                <a16:creationId xmlns:a16="http://schemas.microsoft.com/office/drawing/2014/main" id="{94CE3BC6-9CF9-DBC8-1F6F-38034D952DD6}"/>
              </a:ext>
            </a:extLst>
          </p:cNvPr>
          <p:cNvSpPr txBox="1">
            <a:spLocks/>
          </p:cNvSpPr>
          <p:nvPr/>
        </p:nvSpPr>
        <p:spPr>
          <a:xfrm>
            <a:off x="465915" y="574675"/>
            <a:ext cx="3100136" cy="2422047"/>
          </a:xfrm>
          <a:prstGeom prst="rect">
            <a:avLst/>
          </a:prstGeom>
        </p:spPr>
        <p:style>
          <a:lnRef idx="2">
            <a:schemeClr val="dk1">
              <a:shade val="15000"/>
            </a:schemeClr>
          </a:lnRef>
          <a:fillRef idx="1">
            <a:schemeClr val="dk1"/>
          </a:fillRef>
          <a:effectRef idx="0">
            <a:schemeClr val="dk1"/>
          </a:effectRef>
          <a:fontRef idx="minor">
            <a:schemeClr val="lt1"/>
          </a:fontRef>
        </p:style>
        <p:txBody>
          <a:bodyPr vert="horz" lIns="91440" tIns="45720" rIns="91440" bIns="45720" rtlCol="0" anchor="b">
            <a:normAutofit fontScale="85000" lnSpcReduction="100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spcAft>
                <a:spcPts val="600"/>
              </a:spcAft>
            </a:pPr>
            <a:r>
              <a:rPr lang="en-US" sz="3100" b="1" u="sng" kern="1200" spc="-50" baseline="0" dirty="0">
                <a:solidFill>
                  <a:schemeClr val="tx1">
                    <a:lumMod val="75000"/>
                    <a:lumOff val="25000"/>
                  </a:schemeClr>
                </a:solidFill>
                <a:latin typeface="+mj-lt"/>
                <a:ea typeface="+mj-ea"/>
                <a:cs typeface="+mj-cs"/>
              </a:rPr>
              <a:t>Final model</a:t>
            </a:r>
            <a:br>
              <a:rPr lang="en-US" sz="3100" b="1" kern="1200" spc="-50" baseline="0" dirty="0">
                <a:solidFill>
                  <a:schemeClr val="tx1">
                    <a:lumMod val="75000"/>
                    <a:lumOff val="25000"/>
                  </a:schemeClr>
                </a:solidFill>
                <a:latin typeface="+mj-lt"/>
                <a:ea typeface="+mj-ea"/>
                <a:cs typeface="+mj-cs"/>
              </a:rPr>
            </a:br>
            <a:endParaRPr lang="en-US" sz="3100" b="1" kern="1200" spc="-50" baseline="0" dirty="0">
              <a:solidFill>
                <a:schemeClr val="tx1">
                  <a:lumMod val="75000"/>
                  <a:lumOff val="25000"/>
                </a:schemeClr>
              </a:solidFill>
              <a:latin typeface="+mj-lt"/>
              <a:ea typeface="+mj-ea"/>
              <a:cs typeface="+mj-cs"/>
            </a:endParaRPr>
          </a:p>
          <a:p>
            <a:pPr>
              <a:spcAft>
                <a:spcPts val="600"/>
              </a:spcAft>
            </a:pPr>
            <a:r>
              <a:rPr lang="en-US" sz="3100" b="1" kern="1200" spc="-50" baseline="0" dirty="0">
                <a:solidFill>
                  <a:schemeClr val="tx1">
                    <a:lumMod val="75000"/>
                    <a:lumOff val="25000"/>
                  </a:schemeClr>
                </a:solidFill>
                <a:latin typeface="+mj-lt"/>
                <a:ea typeface="+mj-ea"/>
                <a:cs typeface="+mj-cs"/>
              </a:rPr>
              <a:t>133 indicators</a:t>
            </a:r>
            <a:br>
              <a:rPr lang="en-US" sz="3100" b="1" kern="1200" spc="-50" baseline="0" dirty="0">
                <a:solidFill>
                  <a:schemeClr val="tx1">
                    <a:lumMod val="75000"/>
                    <a:lumOff val="25000"/>
                  </a:schemeClr>
                </a:solidFill>
                <a:latin typeface="+mj-lt"/>
                <a:ea typeface="+mj-ea"/>
                <a:cs typeface="+mj-cs"/>
              </a:rPr>
            </a:br>
            <a:r>
              <a:rPr lang="en-US" sz="3100" b="1" kern="1200" spc="-50" baseline="0" dirty="0">
                <a:solidFill>
                  <a:schemeClr val="tx1">
                    <a:lumMod val="75000"/>
                    <a:lumOff val="25000"/>
                  </a:schemeClr>
                </a:solidFill>
                <a:latin typeface="+mj-lt"/>
                <a:ea typeface="+mj-ea"/>
                <a:cs typeface="+mj-cs"/>
              </a:rPr>
              <a:t>27 sub-guilds </a:t>
            </a:r>
            <a:br>
              <a:rPr lang="en-US" sz="3100" b="1" kern="1200" spc="-50" baseline="0" dirty="0">
                <a:solidFill>
                  <a:schemeClr val="tx1">
                    <a:lumMod val="75000"/>
                    <a:lumOff val="25000"/>
                  </a:schemeClr>
                </a:solidFill>
                <a:latin typeface="+mj-lt"/>
                <a:ea typeface="+mj-ea"/>
                <a:cs typeface="+mj-cs"/>
              </a:rPr>
            </a:br>
            <a:r>
              <a:rPr lang="en-US" sz="3100" b="1" kern="1200" spc="-50" baseline="0" dirty="0">
                <a:solidFill>
                  <a:schemeClr val="tx1">
                    <a:lumMod val="75000"/>
                    <a:lumOff val="25000"/>
                  </a:schemeClr>
                </a:solidFill>
                <a:latin typeface="+mj-lt"/>
                <a:ea typeface="+mj-ea"/>
                <a:cs typeface="+mj-cs"/>
              </a:rPr>
              <a:t>(latent variables</a:t>
            </a:r>
            <a:r>
              <a:rPr lang="en-US" sz="3100" b="1" dirty="0"/>
              <a:t>, e.g., </a:t>
            </a:r>
            <a:r>
              <a:rPr lang="en-US" sz="3100" b="1" dirty="0" err="1"/>
              <a:t>pisciv</a:t>
            </a:r>
            <a:r>
              <a:rPr lang="en-US" sz="3100" b="1" dirty="0"/>
              <a:t>. birds in NCC)</a:t>
            </a:r>
            <a:br>
              <a:rPr lang="en-US" sz="3100" b="1" kern="1200" spc="-50" baseline="0" dirty="0">
                <a:solidFill>
                  <a:schemeClr val="tx1">
                    <a:lumMod val="75000"/>
                    <a:lumOff val="25000"/>
                  </a:schemeClr>
                </a:solidFill>
                <a:latin typeface="+mj-lt"/>
                <a:ea typeface="+mj-ea"/>
                <a:cs typeface="+mj-cs"/>
              </a:rPr>
            </a:br>
            <a:r>
              <a:rPr lang="en-US" sz="3100" b="1" kern="1200" spc="-50" baseline="0" dirty="0">
                <a:solidFill>
                  <a:schemeClr val="tx1">
                    <a:lumMod val="75000"/>
                    <a:lumOff val="25000"/>
                  </a:schemeClr>
                </a:solidFill>
                <a:latin typeface="+mj-lt"/>
                <a:ea typeface="+mj-ea"/>
                <a:cs typeface="+mj-cs"/>
              </a:rPr>
              <a:t>6 trophic/region nodes </a:t>
            </a:r>
          </a:p>
        </p:txBody>
      </p:sp>
      <p:pic>
        <p:nvPicPr>
          <p:cNvPr id="3" name="Picture 2">
            <a:extLst>
              <a:ext uri="{FF2B5EF4-FFF2-40B4-BE49-F238E27FC236}">
                <a16:creationId xmlns:a16="http://schemas.microsoft.com/office/drawing/2014/main" id="{988F011F-3320-3CF7-9418-51A3347AFA8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66050" y="-64892"/>
            <a:ext cx="8369221" cy="6858000"/>
          </a:xfrm>
          <a:prstGeom prst="rect">
            <a:avLst/>
          </a:prstGeom>
        </p:spPr>
      </p:pic>
    </p:spTree>
    <p:extLst>
      <p:ext uri="{BB962C8B-B14F-4D97-AF65-F5344CB8AC3E}">
        <p14:creationId xmlns:p14="http://schemas.microsoft.com/office/powerpoint/2010/main" val="738509559"/>
      </p:ext>
    </p:extLst>
  </p:cSld>
  <p:clrMapOvr>
    <a:masterClrMapping/>
  </p:clrMapOvr>
  <mc:AlternateContent xmlns:mc="http://schemas.openxmlformats.org/markup-compatibility/2006">
    <mc:Choice xmlns:p14="http://schemas.microsoft.com/office/powerpoint/2010/main" Requires="p14">
      <p:transition spd="slow" p14:dur="2000" advTm="99775"/>
    </mc:Choice>
    <mc:Fallback>
      <p:transition spd="slow" advTm="99775"/>
    </mc:Fallback>
  </mc:AlternateContent>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D55F9E-3AA7-499D-AF93-4105F87B91CE}"/>
              </a:ext>
            </a:extLst>
          </p:cNvPr>
          <p:cNvSpPr>
            <a:spLocks noGrp="1"/>
          </p:cNvSpPr>
          <p:nvPr>
            <p:ph type="title"/>
          </p:nvPr>
        </p:nvSpPr>
        <p:spPr>
          <a:xfrm>
            <a:off x="0" y="0"/>
            <a:ext cx="12191999" cy="848517"/>
          </a:xfrm>
        </p:spPr>
        <p:txBody>
          <a:bodyPr>
            <a:normAutofit/>
          </a:bodyPr>
          <a:lstStyle/>
          <a:p>
            <a:pPr algn="ctr"/>
            <a:r>
              <a:rPr lang="en-US" dirty="0"/>
              <a:t>Structural Equation Model Approach</a:t>
            </a:r>
          </a:p>
        </p:txBody>
      </p:sp>
      <p:sp>
        <p:nvSpPr>
          <p:cNvPr id="3" name="TextBox 2">
            <a:extLst>
              <a:ext uri="{FF2B5EF4-FFF2-40B4-BE49-F238E27FC236}">
                <a16:creationId xmlns:a16="http://schemas.microsoft.com/office/drawing/2014/main" id="{C1C63137-F98B-414E-A941-5C0D461CB83A}"/>
              </a:ext>
            </a:extLst>
          </p:cNvPr>
          <p:cNvSpPr txBox="1"/>
          <p:nvPr/>
        </p:nvSpPr>
        <p:spPr>
          <a:xfrm>
            <a:off x="4313025" y="1533790"/>
            <a:ext cx="2840736" cy="923330"/>
          </a:xfrm>
          <a:prstGeom prst="rect">
            <a:avLst/>
          </a:prstGeom>
          <a:noFill/>
          <a:ln w="38100">
            <a:solidFill>
              <a:schemeClr val="accent1"/>
            </a:solidFill>
          </a:ln>
        </p:spPr>
        <p:txBody>
          <a:bodyPr wrap="square" rtlCol="0">
            <a:spAutoFit/>
          </a:bodyPr>
          <a:lstStyle/>
          <a:p>
            <a:pPr algn="ctr"/>
            <a:r>
              <a:rPr lang="en-US" dirty="0"/>
              <a:t>Marine Growth Rate</a:t>
            </a:r>
          </a:p>
          <a:p>
            <a:pPr algn="ctr"/>
            <a:r>
              <a:rPr lang="en-US" dirty="0"/>
              <a:t> (IGF + stomach fullness</a:t>
            </a:r>
          </a:p>
          <a:p>
            <a:pPr algn="ctr"/>
            <a:r>
              <a:rPr lang="en-US" dirty="0"/>
              <a:t> or fork length)</a:t>
            </a:r>
          </a:p>
        </p:txBody>
      </p:sp>
      <p:sp>
        <p:nvSpPr>
          <p:cNvPr id="12" name="TextBox 11">
            <a:extLst>
              <a:ext uri="{FF2B5EF4-FFF2-40B4-BE49-F238E27FC236}">
                <a16:creationId xmlns:a16="http://schemas.microsoft.com/office/drawing/2014/main" id="{B67CEEE4-33C4-473F-8859-103BE9439506}"/>
              </a:ext>
            </a:extLst>
          </p:cNvPr>
          <p:cNvSpPr txBox="1"/>
          <p:nvPr/>
        </p:nvSpPr>
        <p:spPr>
          <a:xfrm>
            <a:off x="4172817" y="2893198"/>
            <a:ext cx="3121152" cy="923330"/>
          </a:xfrm>
          <a:prstGeom prst="rect">
            <a:avLst/>
          </a:prstGeom>
          <a:noFill/>
          <a:ln w="38100">
            <a:solidFill>
              <a:schemeClr val="accent1"/>
            </a:solidFill>
          </a:ln>
        </p:spPr>
        <p:txBody>
          <a:bodyPr wrap="square" rtlCol="0">
            <a:spAutoFit/>
          </a:bodyPr>
          <a:lstStyle/>
          <a:p>
            <a:pPr algn="ctr"/>
            <a:r>
              <a:rPr lang="en-US" dirty="0"/>
              <a:t>Early Marine Survival </a:t>
            </a:r>
          </a:p>
          <a:p>
            <a:pPr algn="ctr"/>
            <a:r>
              <a:rPr lang="en-US" dirty="0"/>
              <a:t>(</a:t>
            </a:r>
            <a:r>
              <a:rPr lang="en-US" dirty="0" err="1"/>
              <a:t>cpue</a:t>
            </a:r>
            <a:r>
              <a:rPr lang="en-US" dirty="0"/>
              <a:t> June JSOES survey + </a:t>
            </a:r>
          </a:p>
          <a:p>
            <a:pPr algn="ctr"/>
            <a:r>
              <a:rPr lang="en-US" dirty="0" err="1"/>
              <a:t>sdmTMB</a:t>
            </a:r>
            <a:r>
              <a:rPr lang="en-US" dirty="0"/>
              <a:t> modeled abundance)</a:t>
            </a:r>
          </a:p>
        </p:txBody>
      </p:sp>
      <p:sp>
        <p:nvSpPr>
          <p:cNvPr id="17" name="TextBox 16">
            <a:extLst>
              <a:ext uri="{FF2B5EF4-FFF2-40B4-BE49-F238E27FC236}">
                <a16:creationId xmlns:a16="http://schemas.microsoft.com/office/drawing/2014/main" id="{74E4F46F-3B1E-4FBE-9E80-0479F51C8407}"/>
              </a:ext>
            </a:extLst>
          </p:cNvPr>
          <p:cNvSpPr txBox="1"/>
          <p:nvPr/>
        </p:nvSpPr>
        <p:spPr>
          <a:xfrm>
            <a:off x="5331057" y="960766"/>
            <a:ext cx="804672" cy="461665"/>
          </a:xfrm>
          <a:prstGeom prst="rect">
            <a:avLst/>
          </a:prstGeom>
          <a:noFill/>
        </p:spPr>
        <p:txBody>
          <a:bodyPr wrap="square" rtlCol="0">
            <a:spAutoFit/>
          </a:bodyPr>
          <a:lstStyle/>
          <a:p>
            <a:pPr algn="ctr"/>
            <a:r>
              <a:rPr lang="en-US" sz="2400" b="1" dirty="0"/>
              <a:t>H1</a:t>
            </a:r>
          </a:p>
        </p:txBody>
      </p:sp>
      <p:cxnSp>
        <p:nvCxnSpPr>
          <p:cNvPr id="19" name="Straight Arrow Connector 18">
            <a:extLst>
              <a:ext uri="{FF2B5EF4-FFF2-40B4-BE49-F238E27FC236}">
                <a16:creationId xmlns:a16="http://schemas.microsoft.com/office/drawing/2014/main" id="{9D1255A3-9AF9-47FF-A07A-00C4F62385CB}"/>
              </a:ext>
            </a:extLst>
          </p:cNvPr>
          <p:cNvCxnSpPr>
            <a:cxnSpLocks/>
            <a:stCxn id="3" idx="2"/>
            <a:endCxn id="12" idx="0"/>
          </p:cNvCxnSpPr>
          <p:nvPr/>
        </p:nvCxnSpPr>
        <p:spPr>
          <a:xfrm>
            <a:off x="5733393" y="2457120"/>
            <a:ext cx="0" cy="436078"/>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0D80AF0B-31D4-4A3B-8707-EC8D349A4127}"/>
              </a:ext>
            </a:extLst>
          </p:cNvPr>
          <p:cNvCxnSpPr>
            <a:cxnSpLocks/>
            <a:stCxn id="12" idx="2"/>
            <a:endCxn id="13" idx="0"/>
          </p:cNvCxnSpPr>
          <p:nvPr/>
        </p:nvCxnSpPr>
        <p:spPr>
          <a:xfrm>
            <a:off x="5733393" y="3816528"/>
            <a:ext cx="0" cy="436078"/>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89A21F40-4387-4C85-9F22-FF84C4408674}"/>
              </a:ext>
            </a:extLst>
          </p:cNvPr>
          <p:cNvSpPr txBox="1"/>
          <p:nvPr/>
        </p:nvSpPr>
        <p:spPr>
          <a:xfrm>
            <a:off x="2343176" y="1810789"/>
            <a:ext cx="994503" cy="369332"/>
          </a:xfrm>
          <a:prstGeom prst="rect">
            <a:avLst/>
          </a:prstGeom>
          <a:noFill/>
        </p:spPr>
        <p:txBody>
          <a:bodyPr wrap="none" rtlCol="0">
            <a:spAutoFit/>
          </a:bodyPr>
          <a:lstStyle/>
          <a:p>
            <a:r>
              <a:rPr lang="en-US" dirty="0" err="1">
                <a:highlight>
                  <a:srgbClr val="A5D197"/>
                </a:highlight>
              </a:rPr>
              <a:t>PreyNCC</a:t>
            </a:r>
            <a:endParaRPr lang="en-US" dirty="0">
              <a:highlight>
                <a:srgbClr val="A5D197"/>
              </a:highlight>
            </a:endParaRPr>
          </a:p>
        </p:txBody>
      </p:sp>
      <p:sp>
        <p:nvSpPr>
          <p:cNvPr id="31" name="TextBox 30">
            <a:extLst>
              <a:ext uri="{FF2B5EF4-FFF2-40B4-BE49-F238E27FC236}">
                <a16:creationId xmlns:a16="http://schemas.microsoft.com/office/drawing/2014/main" id="{099A16BF-A5F6-43B8-9F3D-6EA1E78B896B}"/>
              </a:ext>
            </a:extLst>
          </p:cNvPr>
          <p:cNvSpPr txBox="1"/>
          <p:nvPr/>
        </p:nvSpPr>
        <p:spPr>
          <a:xfrm>
            <a:off x="1970689" y="2538350"/>
            <a:ext cx="1484574" cy="369332"/>
          </a:xfrm>
          <a:prstGeom prst="rect">
            <a:avLst/>
          </a:prstGeom>
          <a:noFill/>
        </p:spPr>
        <p:txBody>
          <a:bodyPr wrap="none" rtlCol="0">
            <a:spAutoFit/>
          </a:bodyPr>
          <a:lstStyle/>
          <a:p>
            <a:r>
              <a:rPr lang="en-US" dirty="0" err="1">
                <a:highlight>
                  <a:srgbClr val="A4561C"/>
                </a:highlight>
              </a:rPr>
              <a:t>PredatorsNCC</a:t>
            </a:r>
            <a:endParaRPr lang="en-US" dirty="0">
              <a:highlight>
                <a:srgbClr val="A4561C"/>
              </a:highlight>
            </a:endParaRPr>
          </a:p>
        </p:txBody>
      </p:sp>
      <p:cxnSp>
        <p:nvCxnSpPr>
          <p:cNvPr id="43" name="Straight Arrow Connector 42">
            <a:extLst>
              <a:ext uri="{FF2B5EF4-FFF2-40B4-BE49-F238E27FC236}">
                <a16:creationId xmlns:a16="http://schemas.microsoft.com/office/drawing/2014/main" id="{EBCFC9B4-C319-41FF-9965-9471279914EC}"/>
              </a:ext>
            </a:extLst>
          </p:cNvPr>
          <p:cNvCxnSpPr>
            <a:cxnSpLocks/>
            <a:stCxn id="30" idx="3"/>
            <a:endCxn id="3" idx="1"/>
          </p:cNvCxnSpPr>
          <p:nvPr/>
        </p:nvCxnSpPr>
        <p:spPr>
          <a:xfrm>
            <a:off x="3337679" y="1995455"/>
            <a:ext cx="975346"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37A7338C-55F9-4EF9-88EC-87A150E467A2}"/>
              </a:ext>
            </a:extLst>
          </p:cNvPr>
          <p:cNvCxnSpPr>
            <a:cxnSpLocks/>
            <a:stCxn id="31" idx="3"/>
            <a:endCxn id="12" idx="1"/>
          </p:cNvCxnSpPr>
          <p:nvPr/>
        </p:nvCxnSpPr>
        <p:spPr>
          <a:xfrm>
            <a:off x="3455263" y="2723016"/>
            <a:ext cx="717554" cy="631847"/>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pic>
        <p:nvPicPr>
          <p:cNvPr id="26" name="Picture 25">
            <a:extLst>
              <a:ext uri="{FF2B5EF4-FFF2-40B4-BE49-F238E27FC236}">
                <a16:creationId xmlns:a16="http://schemas.microsoft.com/office/drawing/2014/main" id="{C76EEEC9-5DBF-4FED-A63A-74838D9CB15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735614" y="1163500"/>
            <a:ext cx="3815253" cy="2146080"/>
          </a:xfrm>
          <a:prstGeom prst="rect">
            <a:avLst/>
          </a:prstGeom>
        </p:spPr>
      </p:pic>
      <p:sp>
        <p:nvSpPr>
          <p:cNvPr id="39" name="TextBox 38">
            <a:extLst>
              <a:ext uri="{FF2B5EF4-FFF2-40B4-BE49-F238E27FC236}">
                <a16:creationId xmlns:a16="http://schemas.microsoft.com/office/drawing/2014/main" id="{B4C78EED-31F8-44D6-B40B-F279958F4AC5}"/>
              </a:ext>
            </a:extLst>
          </p:cNvPr>
          <p:cNvSpPr txBox="1"/>
          <p:nvPr/>
        </p:nvSpPr>
        <p:spPr>
          <a:xfrm>
            <a:off x="10622403" y="6581001"/>
            <a:ext cx="1569597" cy="276999"/>
          </a:xfrm>
          <a:prstGeom prst="rect">
            <a:avLst/>
          </a:prstGeom>
          <a:noFill/>
        </p:spPr>
        <p:txBody>
          <a:bodyPr wrap="none" rtlCol="0">
            <a:spAutoFit/>
          </a:bodyPr>
          <a:lstStyle/>
          <a:p>
            <a:r>
              <a:rPr lang="en-US" sz="1200" dirty="0"/>
              <a:t>Photo: usace.army.mil</a:t>
            </a:r>
          </a:p>
        </p:txBody>
      </p:sp>
      <p:sp>
        <p:nvSpPr>
          <p:cNvPr id="60" name="TextBox 59">
            <a:extLst>
              <a:ext uri="{FF2B5EF4-FFF2-40B4-BE49-F238E27FC236}">
                <a16:creationId xmlns:a16="http://schemas.microsoft.com/office/drawing/2014/main" id="{2D2B5100-E255-43CE-8E22-8311AD75DEA6}"/>
              </a:ext>
            </a:extLst>
          </p:cNvPr>
          <p:cNvSpPr txBox="1"/>
          <p:nvPr/>
        </p:nvSpPr>
        <p:spPr>
          <a:xfrm>
            <a:off x="8388883" y="3004490"/>
            <a:ext cx="1920077" cy="369332"/>
          </a:xfrm>
          <a:prstGeom prst="rect">
            <a:avLst/>
          </a:prstGeom>
          <a:noFill/>
        </p:spPr>
        <p:txBody>
          <a:bodyPr wrap="none" rtlCol="0">
            <a:spAutoFit/>
          </a:bodyPr>
          <a:lstStyle/>
          <a:p>
            <a:r>
              <a:rPr lang="en-US" dirty="0"/>
              <a:t>JSOES survey 2025</a:t>
            </a:r>
          </a:p>
        </p:txBody>
      </p:sp>
      <p:cxnSp>
        <p:nvCxnSpPr>
          <p:cNvPr id="49" name="Straight Connector 48">
            <a:extLst>
              <a:ext uri="{FF2B5EF4-FFF2-40B4-BE49-F238E27FC236}">
                <a16:creationId xmlns:a16="http://schemas.microsoft.com/office/drawing/2014/main" id="{1B1DEC9E-AF6F-4DAC-A890-9BBDF4615409}"/>
              </a:ext>
            </a:extLst>
          </p:cNvPr>
          <p:cNvCxnSpPr/>
          <p:nvPr/>
        </p:nvCxnSpPr>
        <p:spPr>
          <a:xfrm>
            <a:off x="1051034" y="3962400"/>
            <a:ext cx="6495394" cy="0"/>
          </a:xfrm>
          <a:prstGeom prst="line">
            <a:avLst/>
          </a:prstGeom>
          <a:ln>
            <a:solidFill>
              <a:schemeClr val="accent2">
                <a:lumMod val="75000"/>
              </a:schemeClr>
            </a:solidFill>
          </a:ln>
        </p:spPr>
        <p:style>
          <a:lnRef idx="3">
            <a:schemeClr val="accent1"/>
          </a:lnRef>
          <a:fillRef idx="0">
            <a:schemeClr val="accent1"/>
          </a:fillRef>
          <a:effectRef idx="2">
            <a:schemeClr val="accent1"/>
          </a:effectRef>
          <a:fontRef idx="minor">
            <a:schemeClr val="tx1"/>
          </a:fontRef>
        </p:style>
      </p:cxnSp>
      <p:sp>
        <p:nvSpPr>
          <p:cNvPr id="57" name="TextBox 56">
            <a:extLst>
              <a:ext uri="{FF2B5EF4-FFF2-40B4-BE49-F238E27FC236}">
                <a16:creationId xmlns:a16="http://schemas.microsoft.com/office/drawing/2014/main" id="{F3C79BC0-4D1C-4762-A7C3-EAE8A6F4C18C}"/>
              </a:ext>
            </a:extLst>
          </p:cNvPr>
          <p:cNvSpPr txBox="1"/>
          <p:nvPr/>
        </p:nvSpPr>
        <p:spPr>
          <a:xfrm>
            <a:off x="115613" y="1260829"/>
            <a:ext cx="2659117" cy="1292662"/>
          </a:xfrm>
          <a:prstGeom prst="rect">
            <a:avLst/>
          </a:prstGeom>
          <a:noFill/>
        </p:spPr>
        <p:txBody>
          <a:bodyPr wrap="square" rtlCol="0">
            <a:spAutoFit/>
          </a:bodyPr>
          <a:lstStyle/>
          <a:p>
            <a:r>
              <a:rPr lang="en-US" sz="2400" b="1" dirty="0"/>
              <a:t>Early marine stage:</a:t>
            </a:r>
          </a:p>
          <a:p>
            <a:r>
              <a:rPr lang="en-US" dirty="0"/>
              <a:t>&lt;June smolt </a:t>
            </a:r>
            <a:r>
              <a:rPr lang="en-US" dirty="0" err="1"/>
              <a:t>mig</a:t>
            </a:r>
            <a:r>
              <a:rPr lang="en-US" dirty="0"/>
              <a:t> </a:t>
            </a:r>
            <a:r>
              <a:rPr lang="en-US" dirty="0" err="1"/>
              <a:t>yr</a:t>
            </a:r>
            <a:endParaRPr lang="en-US" dirty="0"/>
          </a:p>
          <a:p>
            <a:r>
              <a:rPr lang="en-US" dirty="0"/>
              <a:t>Data from</a:t>
            </a:r>
          </a:p>
          <a:p>
            <a:r>
              <a:rPr lang="en-US" dirty="0"/>
              <a:t>JSOES survey</a:t>
            </a:r>
            <a:endParaRPr lang="en-US" b="1" dirty="0"/>
          </a:p>
        </p:txBody>
      </p:sp>
      <p:grpSp>
        <p:nvGrpSpPr>
          <p:cNvPr id="64" name="Group 63">
            <a:extLst>
              <a:ext uri="{FF2B5EF4-FFF2-40B4-BE49-F238E27FC236}">
                <a16:creationId xmlns:a16="http://schemas.microsoft.com/office/drawing/2014/main" id="{320473D0-B838-4AA9-8CE8-0A547BC39A71}"/>
              </a:ext>
            </a:extLst>
          </p:cNvPr>
          <p:cNvGrpSpPr/>
          <p:nvPr/>
        </p:nvGrpSpPr>
        <p:grpSpPr>
          <a:xfrm>
            <a:off x="236482" y="3446080"/>
            <a:ext cx="10978056" cy="3189890"/>
            <a:chOff x="236482" y="3446080"/>
            <a:chExt cx="10978056" cy="3189890"/>
          </a:xfrm>
        </p:grpSpPr>
        <p:sp>
          <p:nvSpPr>
            <p:cNvPr id="74" name="TextBox 73">
              <a:extLst>
                <a:ext uri="{FF2B5EF4-FFF2-40B4-BE49-F238E27FC236}">
                  <a16:creationId xmlns:a16="http://schemas.microsoft.com/office/drawing/2014/main" id="{B038F940-3859-43A8-8FDF-7553701F6E61}"/>
                </a:ext>
              </a:extLst>
            </p:cNvPr>
            <p:cNvSpPr txBox="1"/>
            <p:nvPr/>
          </p:nvSpPr>
          <p:spPr>
            <a:xfrm>
              <a:off x="236482" y="4461230"/>
              <a:ext cx="3400097" cy="1569660"/>
            </a:xfrm>
            <a:prstGeom prst="rect">
              <a:avLst/>
            </a:prstGeom>
            <a:noFill/>
          </p:spPr>
          <p:txBody>
            <a:bodyPr wrap="square" rtlCol="0">
              <a:spAutoFit/>
            </a:bodyPr>
            <a:lstStyle/>
            <a:p>
              <a:r>
                <a:rPr lang="en-US" sz="2400" b="1" dirty="0"/>
                <a:t>Late marine stage:</a:t>
              </a:r>
            </a:p>
            <a:p>
              <a:r>
                <a:rPr lang="en-US" dirty="0"/>
                <a:t>&gt;June smolt </a:t>
              </a:r>
              <a:r>
                <a:rPr lang="en-US" dirty="0" err="1"/>
                <a:t>mig</a:t>
              </a:r>
              <a:r>
                <a:rPr lang="en-US" dirty="0"/>
                <a:t> </a:t>
              </a:r>
              <a:r>
                <a:rPr lang="en-US" dirty="0" err="1"/>
                <a:t>yr</a:t>
              </a:r>
              <a:endParaRPr lang="en-US" dirty="0"/>
            </a:p>
            <a:p>
              <a:r>
                <a:rPr lang="en-US" dirty="0"/>
                <a:t>Data from</a:t>
              </a:r>
            </a:p>
            <a:p>
              <a:r>
                <a:rPr lang="en-US" dirty="0"/>
                <a:t>BC/AK surveys</a:t>
              </a:r>
            </a:p>
            <a:p>
              <a:r>
                <a:rPr lang="en-US" dirty="0"/>
                <a:t>Columbia River mammals</a:t>
              </a:r>
            </a:p>
          </p:txBody>
        </p:sp>
        <p:sp>
          <p:nvSpPr>
            <p:cNvPr id="13" name="TextBox 12">
              <a:extLst>
                <a:ext uri="{FF2B5EF4-FFF2-40B4-BE49-F238E27FC236}">
                  <a16:creationId xmlns:a16="http://schemas.microsoft.com/office/drawing/2014/main" id="{2D20AD81-CC00-4E0F-B5D0-C21A1AE93917}"/>
                </a:ext>
              </a:extLst>
            </p:cNvPr>
            <p:cNvSpPr txBox="1"/>
            <p:nvPr/>
          </p:nvSpPr>
          <p:spPr>
            <a:xfrm>
              <a:off x="4203297" y="4252606"/>
              <a:ext cx="3060192" cy="646331"/>
            </a:xfrm>
            <a:prstGeom prst="rect">
              <a:avLst/>
            </a:prstGeom>
            <a:noFill/>
            <a:ln w="38100">
              <a:solidFill>
                <a:schemeClr val="accent1"/>
              </a:solidFill>
            </a:ln>
          </p:spPr>
          <p:txBody>
            <a:bodyPr wrap="square" rtlCol="0">
              <a:spAutoFit/>
            </a:bodyPr>
            <a:lstStyle/>
            <a:p>
              <a:pPr algn="ctr"/>
              <a:r>
                <a:rPr lang="en-US" dirty="0"/>
                <a:t>Smolt to Adult Return </a:t>
              </a:r>
            </a:p>
            <a:p>
              <a:pPr algn="ctr"/>
              <a:r>
                <a:rPr lang="en-US" dirty="0"/>
                <a:t>(BON-BON, </a:t>
              </a:r>
              <a:r>
                <a:rPr lang="en-US" dirty="0" err="1"/>
                <a:t>pittagged</a:t>
              </a:r>
              <a:r>
                <a:rPr lang="en-US" dirty="0"/>
                <a:t> SR+UC)</a:t>
              </a:r>
            </a:p>
          </p:txBody>
        </p:sp>
        <p:sp>
          <p:nvSpPr>
            <p:cNvPr id="32" name="TextBox 31">
              <a:extLst>
                <a:ext uri="{FF2B5EF4-FFF2-40B4-BE49-F238E27FC236}">
                  <a16:creationId xmlns:a16="http://schemas.microsoft.com/office/drawing/2014/main" id="{CE983203-4B84-4846-BDE4-2723ABC07287}"/>
                </a:ext>
              </a:extLst>
            </p:cNvPr>
            <p:cNvSpPr txBox="1"/>
            <p:nvPr/>
          </p:nvSpPr>
          <p:spPr>
            <a:xfrm>
              <a:off x="2463835" y="5294268"/>
              <a:ext cx="851836" cy="369332"/>
            </a:xfrm>
            <a:prstGeom prst="rect">
              <a:avLst/>
            </a:prstGeom>
            <a:noFill/>
          </p:spPr>
          <p:txBody>
            <a:bodyPr wrap="none" rtlCol="0">
              <a:spAutoFit/>
            </a:bodyPr>
            <a:lstStyle/>
            <a:p>
              <a:r>
                <a:rPr lang="en-US" dirty="0" err="1">
                  <a:highlight>
                    <a:srgbClr val="A5D197"/>
                  </a:highlight>
                </a:rPr>
                <a:t>PreyAK</a:t>
              </a:r>
              <a:endParaRPr lang="en-US" dirty="0">
                <a:highlight>
                  <a:srgbClr val="A5D197"/>
                </a:highlight>
              </a:endParaRPr>
            </a:p>
          </p:txBody>
        </p:sp>
        <p:sp>
          <p:nvSpPr>
            <p:cNvPr id="33" name="TextBox 32">
              <a:extLst>
                <a:ext uri="{FF2B5EF4-FFF2-40B4-BE49-F238E27FC236}">
                  <a16:creationId xmlns:a16="http://schemas.microsoft.com/office/drawing/2014/main" id="{2B855D52-24C7-4943-B5FC-64EE52AF9766}"/>
                </a:ext>
              </a:extLst>
            </p:cNvPr>
            <p:cNvSpPr txBox="1"/>
            <p:nvPr/>
          </p:nvSpPr>
          <p:spPr>
            <a:xfrm>
              <a:off x="2049937" y="6113339"/>
              <a:ext cx="1341906" cy="369332"/>
            </a:xfrm>
            <a:prstGeom prst="rect">
              <a:avLst/>
            </a:prstGeom>
            <a:noFill/>
          </p:spPr>
          <p:txBody>
            <a:bodyPr wrap="none" rtlCol="0">
              <a:spAutoFit/>
            </a:bodyPr>
            <a:lstStyle/>
            <a:p>
              <a:r>
                <a:rPr lang="en-US" dirty="0" err="1">
                  <a:highlight>
                    <a:srgbClr val="A4561C"/>
                  </a:highlight>
                </a:rPr>
                <a:t>PredatorsAK</a:t>
              </a:r>
              <a:endParaRPr lang="en-US" dirty="0">
                <a:highlight>
                  <a:srgbClr val="A4561C"/>
                </a:highlight>
              </a:endParaRPr>
            </a:p>
          </p:txBody>
        </p:sp>
        <p:cxnSp>
          <p:nvCxnSpPr>
            <p:cNvPr id="45" name="Straight Arrow Connector 44">
              <a:extLst>
                <a:ext uri="{FF2B5EF4-FFF2-40B4-BE49-F238E27FC236}">
                  <a16:creationId xmlns:a16="http://schemas.microsoft.com/office/drawing/2014/main" id="{7D07D6EC-14D7-4B3A-B00A-F0ACA23A9BB3}"/>
                </a:ext>
              </a:extLst>
            </p:cNvPr>
            <p:cNvCxnSpPr>
              <a:cxnSpLocks/>
              <a:stCxn id="32" idx="3"/>
              <a:endCxn id="13" idx="1"/>
            </p:cNvCxnSpPr>
            <p:nvPr/>
          </p:nvCxnSpPr>
          <p:spPr>
            <a:xfrm flipV="1">
              <a:off x="3315671" y="4575772"/>
              <a:ext cx="887626" cy="90316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25BF4B97-4F66-4A82-A728-C93D879DDF8A}"/>
                </a:ext>
              </a:extLst>
            </p:cNvPr>
            <p:cNvCxnSpPr>
              <a:cxnSpLocks/>
              <a:stCxn id="33" idx="3"/>
              <a:endCxn id="13" idx="1"/>
            </p:cNvCxnSpPr>
            <p:nvPr/>
          </p:nvCxnSpPr>
          <p:spPr>
            <a:xfrm flipV="1">
              <a:off x="3391843" y="4575772"/>
              <a:ext cx="811454" cy="1722233"/>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pic>
          <p:nvPicPr>
            <p:cNvPr id="38" name="Picture 37">
              <a:extLst>
                <a:ext uri="{FF2B5EF4-FFF2-40B4-BE49-F238E27FC236}">
                  <a16:creationId xmlns:a16="http://schemas.microsoft.com/office/drawing/2014/main" id="{D2D45C43-AD82-4FC7-BB4F-74CBAE49B21A}"/>
                </a:ext>
              </a:extLst>
            </p:cNvPr>
            <p:cNvPicPr>
              <a:picLocks noChangeAspect="1"/>
            </p:cNvPicPr>
            <p:nvPr/>
          </p:nvPicPr>
          <p:blipFill rotWithShape="1">
            <a:blip r:embed="rId5">
              <a:extLst>
                <a:ext uri="{28A0092B-C50C-407E-A947-70E740481C1C}">
                  <a14:useLocalDpi xmlns:a14="http://schemas.microsoft.com/office/drawing/2010/main" val="0"/>
                </a:ext>
              </a:extLst>
            </a:blip>
            <a:srcRect l="7439" r="2682"/>
            <a:stretch/>
          </p:blipFill>
          <p:spPr>
            <a:xfrm>
              <a:off x="7735614" y="3446080"/>
              <a:ext cx="3478924" cy="3189890"/>
            </a:xfrm>
            <a:prstGeom prst="rect">
              <a:avLst/>
            </a:prstGeom>
          </p:spPr>
        </p:pic>
      </p:grpSp>
    </p:spTree>
    <p:custDataLst>
      <p:tags r:id="rId1"/>
    </p:custDataLst>
    <p:extLst>
      <p:ext uri="{BB962C8B-B14F-4D97-AF65-F5344CB8AC3E}">
        <p14:creationId xmlns:p14="http://schemas.microsoft.com/office/powerpoint/2010/main" val="1288505209"/>
      </p:ext>
    </p:extLst>
  </p:cSld>
  <p:clrMapOvr>
    <a:masterClrMapping/>
  </p:clrMapOvr>
  <mc:AlternateContent xmlns:mc="http://schemas.openxmlformats.org/markup-compatibility/2006">
    <mc:Choice xmlns:p14="http://schemas.microsoft.com/office/powerpoint/2010/main" Requires="p14">
      <p:transition spd="slow" p14:dur="2000" advTm="107546"/>
    </mc:Choice>
    <mc:Fallback>
      <p:transition spd="slow" advTm="107546"/>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F1737EE0-3187-C6F1-45A6-1889CB11FBF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38EAC02-0DA3-ADB9-0AAB-CBF2F3DC0274}"/>
              </a:ext>
            </a:extLst>
          </p:cNvPr>
          <p:cNvSpPr txBox="1"/>
          <p:nvPr/>
        </p:nvSpPr>
        <p:spPr>
          <a:xfrm>
            <a:off x="4313025" y="1533790"/>
            <a:ext cx="2840736" cy="369332"/>
          </a:xfrm>
          <a:prstGeom prst="rect">
            <a:avLst/>
          </a:prstGeom>
          <a:noFill/>
          <a:ln w="38100">
            <a:solidFill>
              <a:schemeClr val="accent1"/>
            </a:solidFill>
          </a:ln>
        </p:spPr>
        <p:txBody>
          <a:bodyPr wrap="square" rtlCol="0">
            <a:spAutoFit/>
          </a:bodyPr>
          <a:lstStyle/>
          <a:p>
            <a:pPr algn="ctr"/>
            <a:r>
              <a:rPr lang="en-US" dirty="0"/>
              <a:t>Early Growth</a:t>
            </a:r>
          </a:p>
        </p:txBody>
      </p:sp>
      <p:sp>
        <p:nvSpPr>
          <p:cNvPr id="12" name="TextBox 11">
            <a:extLst>
              <a:ext uri="{FF2B5EF4-FFF2-40B4-BE49-F238E27FC236}">
                <a16:creationId xmlns:a16="http://schemas.microsoft.com/office/drawing/2014/main" id="{B09FE7DF-A425-2CA4-B536-D2BD092B70A1}"/>
              </a:ext>
            </a:extLst>
          </p:cNvPr>
          <p:cNvSpPr txBox="1"/>
          <p:nvPr/>
        </p:nvSpPr>
        <p:spPr>
          <a:xfrm>
            <a:off x="4172817" y="2893198"/>
            <a:ext cx="3121152" cy="369332"/>
          </a:xfrm>
          <a:prstGeom prst="rect">
            <a:avLst/>
          </a:prstGeom>
          <a:noFill/>
          <a:ln w="38100">
            <a:solidFill>
              <a:schemeClr val="accent1"/>
            </a:solidFill>
          </a:ln>
        </p:spPr>
        <p:txBody>
          <a:bodyPr wrap="square" rtlCol="0">
            <a:spAutoFit/>
          </a:bodyPr>
          <a:lstStyle/>
          <a:p>
            <a:pPr algn="ctr"/>
            <a:r>
              <a:rPr lang="en-US" dirty="0"/>
              <a:t>Early Marine Survival </a:t>
            </a:r>
          </a:p>
        </p:txBody>
      </p:sp>
      <p:sp>
        <p:nvSpPr>
          <p:cNvPr id="17" name="TextBox 16">
            <a:extLst>
              <a:ext uri="{FF2B5EF4-FFF2-40B4-BE49-F238E27FC236}">
                <a16:creationId xmlns:a16="http://schemas.microsoft.com/office/drawing/2014/main" id="{5861DCAF-5640-8C1C-456B-4E626FA6623C}"/>
              </a:ext>
            </a:extLst>
          </p:cNvPr>
          <p:cNvSpPr txBox="1"/>
          <p:nvPr/>
        </p:nvSpPr>
        <p:spPr>
          <a:xfrm>
            <a:off x="5331057" y="960766"/>
            <a:ext cx="804672" cy="461665"/>
          </a:xfrm>
          <a:prstGeom prst="rect">
            <a:avLst/>
          </a:prstGeom>
          <a:noFill/>
        </p:spPr>
        <p:txBody>
          <a:bodyPr wrap="square" rtlCol="0">
            <a:spAutoFit/>
          </a:bodyPr>
          <a:lstStyle/>
          <a:p>
            <a:pPr algn="ctr"/>
            <a:r>
              <a:rPr lang="en-US" sz="2400" b="1" dirty="0"/>
              <a:t>H1</a:t>
            </a:r>
          </a:p>
        </p:txBody>
      </p:sp>
      <p:cxnSp>
        <p:nvCxnSpPr>
          <p:cNvPr id="19" name="Straight Arrow Connector 18">
            <a:extLst>
              <a:ext uri="{FF2B5EF4-FFF2-40B4-BE49-F238E27FC236}">
                <a16:creationId xmlns:a16="http://schemas.microsoft.com/office/drawing/2014/main" id="{32BF2CF6-D2AF-7802-5011-5EFF5397840E}"/>
              </a:ext>
            </a:extLst>
          </p:cNvPr>
          <p:cNvCxnSpPr>
            <a:cxnSpLocks/>
            <a:stCxn id="3" idx="2"/>
            <a:endCxn id="12" idx="0"/>
          </p:cNvCxnSpPr>
          <p:nvPr/>
        </p:nvCxnSpPr>
        <p:spPr>
          <a:xfrm>
            <a:off x="5733393" y="1903122"/>
            <a:ext cx="0" cy="99007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0AA85307-349D-D0F9-8E01-B4D2BA4113EC}"/>
              </a:ext>
            </a:extLst>
          </p:cNvPr>
          <p:cNvCxnSpPr>
            <a:cxnSpLocks/>
            <a:stCxn id="12" idx="2"/>
            <a:endCxn id="13" idx="0"/>
          </p:cNvCxnSpPr>
          <p:nvPr/>
        </p:nvCxnSpPr>
        <p:spPr>
          <a:xfrm>
            <a:off x="5733393" y="3262530"/>
            <a:ext cx="0" cy="99007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C823D427-8D18-5C7B-8992-37AC57BDC359}"/>
              </a:ext>
            </a:extLst>
          </p:cNvPr>
          <p:cNvSpPr txBox="1"/>
          <p:nvPr/>
        </p:nvSpPr>
        <p:spPr>
          <a:xfrm>
            <a:off x="2343176" y="1810789"/>
            <a:ext cx="994503" cy="369332"/>
          </a:xfrm>
          <a:prstGeom prst="rect">
            <a:avLst/>
          </a:prstGeom>
          <a:noFill/>
        </p:spPr>
        <p:txBody>
          <a:bodyPr wrap="none" rtlCol="0">
            <a:spAutoFit/>
          </a:bodyPr>
          <a:lstStyle/>
          <a:p>
            <a:r>
              <a:rPr lang="en-US" dirty="0" err="1">
                <a:highlight>
                  <a:srgbClr val="A5D197"/>
                </a:highlight>
              </a:rPr>
              <a:t>PreyNCC</a:t>
            </a:r>
            <a:endParaRPr lang="en-US" dirty="0">
              <a:highlight>
                <a:srgbClr val="A5D197"/>
              </a:highlight>
            </a:endParaRPr>
          </a:p>
        </p:txBody>
      </p:sp>
      <p:sp>
        <p:nvSpPr>
          <p:cNvPr id="31" name="TextBox 30">
            <a:extLst>
              <a:ext uri="{FF2B5EF4-FFF2-40B4-BE49-F238E27FC236}">
                <a16:creationId xmlns:a16="http://schemas.microsoft.com/office/drawing/2014/main" id="{9C62FE04-ADAC-7A1D-D255-66A0D9F4841F}"/>
              </a:ext>
            </a:extLst>
          </p:cNvPr>
          <p:cNvSpPr txBox="1"/>
          <p:nvPr/>
        </p:nvSpPr>
        <p:spPr>
          <a:xfrm>
            <a:off x="1970689" y="2538350"/>
            <a:ext cx="1484574" cy="369332"/>
          </a:xfrm>
          <a:prstGeom prst="rect">
            <a:avLst/>
          </a:prstGeom>
          <a:noFill/>
        </p:spPr>
        <p:txBody>
          <a:bodyPr wrap="none" rtlCol="0">
            <a:spAutoFit/>
          </a:bodyPr>
          <a:lstStyle/>
          <a:p>
            <a:r>
              <a:rPr lang="en-US" dirty="0" err="1">
                <a:highlight>
                  <a:srgbClr val="A4561C"/>
                </a:highlight>
              </a:rPr>
              <a:t>PredatorsNCC</a:t>
            </a:r>
            <a:endParaRPr lang="en-US" dirty="0">
              <a:highlight>
                <a:srgbClr val="A4561C"/>
              </a:highlight>
            </a:endParaRPr>
          </a:p>
        </p:txBody>
      </p:sp>
      <p:cxnSp>
        <p:nvCxnSpPr>
          <p:cNvPr id="43" name="Straight Arrow Connector 42">
            <a:extLst>
              <a:ext uri="{FF2B5EF4-FFF2-40B4-BE49-F238E27FC236}">
                <a16:creationId xmlns:a16="http://schemas.microsoft.com/office/drawing/2014/main" id="{6DF93A68-219F-123A-9BE0-AC9C5480FA3C}"/>
              </a:ext>
            </a:extLst>
          </p:cNvPr>
          <p:cNvCxnSpPr>
            <a:cxnSpLocks/>
            <a:stCxn id="30" idx="3"/>
            <a:endCxn id="3" idx="1"/>
          </p:cNvCxnSpPr>
          <p:nvPr/>
        </p:nvCxnSpPr>
        <p:spPr>
          <a:xfrm flipV="1">
            <a:off x="3337679" y="1718456"/>
            <a:ext cx="975346" cy="276999"/>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AFBB2D44-8B8F-4314-1B9F-85128501B615}"/>
              </a:ext>
            </a:extLst>
          </p:cNvPr>
          <p:cNvCxnSpPr>
            <a:cxnSpLocks/>
            <a:stCxn id="31" idx="3"/>
            <a:endCxn id="12" idx="1"/>
          </p:cNvCxnSpPr>
          <p:nvPr/>
        </p:nvCxnSpPr>
        <p:spPr>
          <a:xfrm>
            <a:off x="3455263" y="2723016"/>
            <a:ext cx="717554" cy="354848"/>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95233E36-4142-73DD-E692-4690336676F2}"/>
              </a:ext>
            </a:extLst>
          </p:cNvPr>
          <p:cNvSpPr txBox="1"/>
          <p:nvPr/>
        </p:nvSpPr>
        <p:spPr>
          <a:xfrm>
            <a:off x="10622403" y="6581001"/>
            <a:ext cx="1569597" cy="276999"/>
          </a:xfrm>
          <a:prstGeom prst="rect">
            <a:avLst/>
          </a:prstGeom>
          <a:noFill/>
        </p:spPr>
        <p:txBody>
          <a:bodyPr wrap="none" rtlCol="0">
            <a:spAutoFit/>
          </a:bodyPr>
          <a:lstStyle/>
          <a:p>
            <a:r>
              <a:rPr lang="en-US" sz="1200" dirty="0"/>
              <a:t>Photo: usace.army.mil</a:t>
            </a:r>
          </a:p>
        </p:txBody>
      </p:sp>
      <p:cxnSp>
        <p:nvCxnSpPr>
          <p:cNvPr id="49" name="Straight Connector 48">
            <a:extLst>
              <a:ext uri="{FF2B5EF4-FFF2-40B4-BE49-F238E27FC236}">
                <a16:creationId xmlns:a16="http://schemas.microsoft.com/office/drawing/2014/main" id="{64AC1781-EFD3-4DA3-AE6C-0BB8BCEAFE67}"/>
              </a:ext>
            </a:extLst>
          </p:cNvPr>
          <p:cNvCxnSpPr>
            <a:cxnSpLocks/>
          </p:cNvCxnSpPr>
          <p:nvPr/>
        </p:nvCxnSpPr>
        <p:spPr>
          <a:xfrm>
            <a:off x="1051034" y="3962400"/>
            <a:ext cx="10631771" cy="82475"/>
          </a:xfrm>
          <a:prstGeom prst="line">
            <a:avLst/>
          </a:prstGeom>
          <a:ln>
            <a:solidFill>
              <a:schemeClr val="accent2">
                <a:lumMod val="75000"/>
              </a:schemeClr>
            </a:solidFill>
          </a:ln>
        </p:spPr>
        <p:style>
          <a:lnRef idx="3">
            <a:schemeClr val="accent1"/>
          </a:lnRef>
          <a:fillRef idx="0">
            <a:schemeClr val="accent1"/>
          </a:fillRef>
          <a:effectRef idx="2">
            <a:schemeClr val="accent1"/>
          </a:effectRef>
          <a:fontRef idx="minor">
            <a:schemeClr val="tx1"/>
          </a:fontRef>
        </p:style>
      </p:cxnSp>
      <p:sp>
        <p:nvSpPr>
          <p:cNvPr id="57" name="TextBox 56">
            <a:extLst>
              <a:ext uri="{FF2B5EF4-FFF2-40B4-BE49-F238E27FC236}">
                <a16:creationId xmlns:a16="http://schemas.microsoft.com/office/drawing/2014/main" id="{5DE56373-DA1F-20CC-89FA-07A7A606533F}"/>
              </a:ext>
            </a:extLst>
          </p:cNvPr>
          <p:cNvSpPr txBox="1"/>
          <p:nvPr/>
        </p:nvSpPr>
        <p:spPr>
          <a:xfrm>
            <a:off x="115613" y="1260829"/>
            <a:ext cx="2659117" cy="1292662"/>
          </a:xfrm>
          <a:prstGeom prst="rect">
            <a:avLst/>
          </a:prstGeom>
          <a:noFill/>
        </p:spPr>
        <p:txBody>
          <a:bodyPr wrap="square" rtlCol="0">
            <a:spAutoFit/>
          </a:bodyPr>
          <a:lstStyle/>
          <a:p>
            <a:r>
              <a:rPr lang="en-US" sz="2400" b="1" dirty="0"/>
              <a:t>Early marine stage:</a:t>
            </a:r>
          </a:p>
          <a:p>
            <a:r>
              <a:rPr lang="en-US" dirty="0"/>
              <a:t>&lt;June smolt </a:t>
            </a:r>
            <a:r>
              <a:rPr lang="en-US" dirty="0" err="1"/>
              <a:t>mig</a:t>
            </a:r>
            <a:r>
              <a:rPr lang="en-US" dirty="0"/>
              <a:t> </a:t>
            </a:r>
            <a:r>
              <a:rPr lang="en-US" dirty="0" err="1"/>
              <a:t>yr</a:t>
            </a:r>
            <a:endParaRPr lang="en-US" dirty="0"/>
          </a:p>
          <a:p>
            <a:r>
              <a:rPr lang="en-US" dirty="0"/>
              <a:t>Data from</a:t>
            </a:r>
          </a:p>
          <a:p>
            <a:r>
              <a:rPr lang="en-US" dirty="0"/>
              <a:t>JSOES survey</a:t>
            </a:r>
            <a:endParaRPr lang="en-US" b="1" dirty="0"/>
          </a:p>
        </p:txBody>
      </p:sp>
      <p:grpSp>
        <p:nvGrpSpPr>
          <p:cNvPr id="64" name="Group 63">
            <a:extLst>
              <a:ext uri="{FF2B5EF4-FFF2-40B4-BE49-F238E27FC236}">
                <a16:creationId xmlns:a16="http://schemas.microsoft.com/office/drawing/2014/main" id="{C69F19A4-2D8A-0626-4060-D7F3819F7EB8}"/>
              </a:ext>
            </a:extLst>
          </p:cNvPr>
          <p:cNvGrpSpPr/>
          <p:nvPr/>
        </p:nvGrpSpPr>
        <p:grpSpPr>
          <a:xfrm>
            <a:off x="236482" y="4252606"/>
            <a:ext cx="7027007" cy="2230065"/>
            <a:chOff x="236482" y="4252606"/>
            <a:chExt cx="7027007" cy="2230065"/>
          </a:xfrm>
        </p:grpSpPr>
        <p:sp>
          <p:nvSpPr>
            <p:cNvPr id="74" name="TextBox 73">
              <a:extLst>
                <a:ext uri="{FF2B5EF4-FFF2-40B4-BE49-F238E27FC236}">
                  <a16:creationId xmlns:a16="http://schemas.microsoft.com/office/drawing/2014/main" id="{D979F360-E9B6-D295-FC21-DD9539F3D44E}"/>
                </a:ext>
              </a:extLst>
            </p:cNvPr>
            <p:cNvSpPr txBox="1"/>
            <p:nvPr/>
          </p:nvSpPr>
          <p:spPr>
            <a:xfrm>
              <a:off x="236482" y="4461230"/>
              <a:ext cx="3400097" cy="1569660"/>
            </a:xfrm>
            <a:prstGeom prst="rect">
              <a:avLst/>
            </a:prstGeom>
            <a:noFill/>
          </p:spPr>
          <p:txBody>
            <a:bodyPr wrap="square" rtlCol="0">
              <a:spAutoFit/>
            </a:bodyPr>
            <a:lstStyle/>
            <a:p>
              <a:r>
                <a:rPr lang="en-US" sz="2400" b="1" dirty="0"/>
                <a:t>Late marine stage:</a:t>
              </a:r>
            </a:p>
            <a:p>
              <a:r>
                <a:rPr lang="en-US" dirty="0"/>
                <a:t>&gt;June smolt </a:t>
              </a:r>
              <a:r>
                <a:rPr lang="en-US" dirty="0" err="1"/>
                <a:t>mig</a:t>
              </a:r>
              <a:r>
                <a:rPr lang="en-US" dirty="0"/>
                <a:t> </a:t>
              </a:r>
              <a:r>
                <a:rPr lang="en-US" dirty="0" err="1"/>
                <a:t>yr</a:t>
              </a:r>
              <a:endParaRPr lang="en-US" dirty="0"/>
            </a:p>
            <a:p>
              <a:r>
                <a:rPr lang="en-US" dirty="0"/>
                <a:t>Data from</a:t>
              </a:r>
            </a:p>
            <a:p>
              <a:r>
                <a:rPr lang="en-US" dirty="0"/>
                <a:t>BC/AK surveys</a:t>
              </a:r>
            </a:p>
            <a:p>
              <a:r>
                <a:rPr lang="en-US" dirty="0"/>
                <a:t>Columbia River mammals</a:t>
              </a:r>
            </a:p>
          </p:txBody>
        </p:sp>
        <p:sp>
          <p:nvSpPr>
            <p:cNvPr id="13" name="TextBox 12">
              <a:extLst>
                <a:ext uri="{FF2B5EF4-FFF2-40B4-BE49-F238E27FC236}">
                  <a16:creationId xmlns:a16="http://schemas.microsoft.com/office/drawing/2014/main" id="{559B6CCA-CFAF-DB94-D53B-D3F9DF30AB8D}"/>
                </a:ext>
              </a:extLst>
            </p:cNvPr>
            <p:cNvSpPr txBox="1"/>
            <p:nvPr/>
          </p:nvSpPr>
          <p:spPr>
            <a:xfrm>
              <a:off x="4203297" y="4252606"/>
              <a:ext cx="3060192" cy="369332"/>
            </a:xfrm>
            <a:prstGeom prst="rect">
              <a:avLst/>
            </a:prstGeom>
            <a:noFill/>
            <a:ln w="38100">
              <a:solidFill>
                <a:schemeClr val="accent1"/>
              </a:solidFill>
            </a:ln>
          </p:spPr>
          <p:txBody>
            <a:bodyPr wrap="square" rtlCol="0">
              <a:spAutoFit/>
            </a:bodyPr>
            <a:lstStyle/>
            <a:p>
              <a:pPr algn="ctr"/>
              <a:r>
                <a:rPr lang="en-US" dirty="0"/>
                <a:t>Smolt to Adult Return </a:t>
              </a:r>
            </a:p>
          </p:txBody>
        </p:sp>
        <p:sp>
          <p:nvSpPr>
            <p:cNvPr id="32" name="TextBox 31">
              <a:extLst>
                <a:ext uri="{FF2B5EF4-FFF2-40B4-BE49-F238E27FC236}">
                  <a16:creationId xmlns:a16="http://schemas.microsoft.com/office/drawing/2014/main" id="{AA9E2D7D-DE9F-7D4F-8054-0366F8C34AB7}"/>
                </a:ext>
              </a:extLst>
            </p:cNvPr>
            <p:cNvSpPr txBox="1"/>
            <p:nvPr/>
          </p:nvSpPr>
          <p:spPr>
            <a:xfrm>
              <a:off x="2463835" y="5294268"/>
              <a:ext cx="851836" cy="369332"/>
            </a:xfrm>
            <a:prstGeom prst="rect">
              <a:avLst/>
            </a:prstGeom>
            <a:noFill/>
          </p:spPr>
          <p:txBody>
            <a:bodyPr wrap="none" rtlCol="0">
              <a:spAutoFit/>
            </a:bodyPr>
            <a:lstStyle/>
            <a:p>
              <a:r>
                <a:rPr lang="en-US" dirty="0" err="1">
                  <a:highlight>
                    <a:srgbClr val="A5D197"/>
                  </a:highlight>
                </a:rPr>
                <a:t>PreyAK</a:t>
              </a:r>
              <a:endParaRPr lang="en-US" dirty="0">
                <a:highlight>
                  <a:srgbClr val="A5D197"/>
                </a:highlight>
              </a:endParaRPr>
            </a:p>
          </p:txBody>
        </p:sp>
        <p:sp>
          <p:nvSpPr>
            <p:cNvPr id="33" name="TextBox 32">
              <a:extLst>
                <a:ext uri="{FF2B5EF4-FFF2-40B4-BE49-F238E27FC236}">
                  <a16:creationId xmlns:a16="http://schemas.microsoft.com/office/drawing/2014/main" id="{3F891018-4706-5D27-32F1-79DC58546569}"/>
                </a:ext>
              </a:extLst>
            </p:cNvPr>
            <p:cNvSpPr txBox="1"/>
            <p:nvPr/>
          </p:nvSpPr>
          <p:spPr>
            <a:xfrm>
              <a:off x="2049937" y="6113339"/>
              <a:ext cx="1341906" cy="369332"/>
            </a:xfrm>
            <a:prstGeom prst="rect">
              <a:avLst/>
            </a:prstGeom>
            <a:noFill/>
          </p:spPr>
          <p:txBody>
            <a:bodyPr wrap="none" rtlCol="0">
              <a:spAutoFit/>
            </a:bodyPr>
            <a:lstStyle/>
            <a:p>
              <a:r>
                <a:rPr lang="en-US" dirty="0" err="1">
                  <a:highlight>
                    <a:srgbClr val="A4561C"/>
                  </a:highlight>
                </a:rPr>
                <a:t>PredatorsAK</a:t>
              </a:r>
              <a:endParaRPr lang="en-US" dirty="0">
                <a:highlight>
                  <a:srgbClr val="A4561C"/>
                </a:highlight>
              </a:endParaRPr>
            </a:p>
          </p:txBody>
        </p:sp>
        <p:cxnSp>
          <p:nvCxnSpPr>
            <p:cNvPr id="45" name="Straight Arrow Connector 44">
              <a:extLst>
                <a:ext uri="{FF2B5EF4-FFF2-40B4-BE49-F238E27FC236}">
                  <a16:creationId xmlns:a16="http://schemas.microsoft.com/office/drawing/2014/main" id="{7165AB89-C34D-880C-FDA9-1F3F7FC56FD0}"/>
                </a:ext>
              </a:extLst>
            </p:cNvPr>
            <p:cNvCxnSpPr>
              <a:cxnSpLocks/>
              <a:stCxn id="32" idx="3"/>
              <a:endCxn id="13" idx="1"/>
            </p:cNvCxnSpPr>
            <p:nvPr/>
          </p:nvCxnSpPr>
          <p:spPr>
            <a:xfrm flipV="1">
              <a:off x="3315671" y="4437272"/>
              <a:ext cx="887626" cy="104166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B585C89F-D3BB-221E-D93D-D95385511C54}"/>
                </a:ext>
              </a:extLst>
            </p:cNvPr>
            <p:cNvCxnSpPr>
              <a:cxnSpLocks/>
              <a:stCxn id="33" idx="3"/>
              <a:endCxn id="13" idx="1"/>
            </p:cNvCxnSpPr>
            <p:nvPr/>
          </p:nvCxnSpPr>
          <p:spPr>
            <a:xfrm flipV="1">
              <a:off x="3391843" y="4437272"/>
              <a:ext cx="811454" cy="1860733"/>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grpSp>
      <p:sp>
        <p:nvSpPr>
          <p:cNvPr id="4" name="TextBox 3">
            <a:extLst>
              <a:ext uri="{FF2B5EF4-FFF2-40B4-BE49-F238E27FC236}">
                <a16:creationId xmlns:a16="http://schemas.microsoft.com/office/drawing/2014/main" id="{4B6713BF-229B-DE9C-2021-94420D369642}"/>
              </a:ext>
            </a:extLst>
          </p:cNvPr>
          <p:cNvSpPr txBox="1"/>
          <p:nvPr/>
        </p:nvSpPr>
        <p:spPr>
          <a:xfrm>
            <a:off x="8197328" y="2387590"/>
            <a:ext cx="1570616" cy="369332"/>
          </a:xfrm>
          <a:prstGeom prst="rect">
            <a:avLst/>
          </a:prstGeom>
          <a:noFill/>
          <a:ln w="38100">
            <a:solidFill>
              <a:schemeClr val="accent1"/>
            </a:solidFill>
          </a:ln>
        </p:spPr>
        <p:txBody>
          <a:bodyPr wrap="square" rtlCol="0">
            <a:spAutoFit/>
          </a:bodyPr>
          <a:lstStyle/>
          <a:p>
            <a:pPr algn="ctr"/>
            <a:r>
              <a:rPr lang="en-US" dirty="0"/>
              <a:t>Early Growth</a:t>
            </a:r>
          </a:p>
        </p:txBody>
      </p:sp>
      <p:sp>
        <p:nvSpPr>
          <p:cNvPr id="5" name="TextBox 4">
            <a:extLst>
              <a:ext uri="{FF2B5EF4-FFF2-40B4-BE49-F238E27FC236}">
                <a16:creationId xmlns:a16="http://schemas.microsoft.com/office/drawing/2014/main" id="{E7DE98D4-C3B5-D49C-1640-887E00C06F79}"/>
              </a:ext>
            </a:extLst>
          </p:cNvPr>
          <p:cNvSpPr txBox="1"/>
          <p:nvPr/>
        </p:nvSpPr>
        <p:spPr>
          <a:xfrm>
            <a:off x="10229371" y="2387590"/>
            <a:ext cx="1582525" cy="369332"/>
          </a:xfrm>
          <a:prstGeom prst="rect">
            <a:avLst/>
          </a:prstGeom>
          <a:noFill/>
          <a:ln w="38100">
            <a:solidFill>
              <a:schemeClr val="accent1"/>
            </a:solidFill>
          </a:ln>
        </p:spPr>
        <p:txBody>
          <a:bodyPr wrap="square" rtlCol="0">
            <a:spAutoFit/>
          </a:bodyPr>
          <a:lstStyle/>
          <a:p>
            <a:pPr algn="ctr"/>
            <a:r>
              <a:rPr lang="en-US" dirty="0"/>
              <a:t>Early Survival </a:t>
            </a:r>
          </a:p>
        </p:txBody>
      </p:sp>
      <p:cxnSp>
        <p:nvCxnSpPr>
          <p:cNvPr id="6" name="Straight Arrow Connector 5">
            <a:extLst>
              <a:ext uri="{FF2B5EF4-FFF2-40B4-BE49-F238E27FC236}">
                <a16:creationId xmlns:a16="http://schemas.microsoft.com/office/drawing/2014/main" id="{5221BF3F-E68B-5AAD-263F-D52C1F81112D}"/>
              </a:ext>
            </a:extLst>
          </p:cNvPr>
          <p:cNvCxnSpPr>
            <a:cxnSpLocks/>
            <a:stCxn id="4" idx="2"/>
            <a:endCxn id="40" idx="0"/>
          </p:cNvCxnSpPr>
          <p:nvPr/>
        </p:nvCxnSpPr>
        <p:spPr>
          <a:xfrm>
            <a:off x="8982636" y="2756922"/>
            <a:ext cx="1301048" cy="1540507"/>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6777D0C7-3105-B023-0C77-DC9B299F944C}"/>
              </a:ext>
            </a:extLst>
          </p:cNvPr>
          <p:cNvCxnSpPr>
            <a:cxnSpLocks/>
            <a:stCxn id="5" idx="2"/>
            <a:endCxn id="40" idx="0"/>
          </p:cNvCxnSpPr>
          <p:nvPr/>
        </p:nvCxnSpPr>
        <p:spPr>
          <a:xfrm flipH="1">
            <a:off x="10283684" y="2756922"/>
            <a:ext cx="736950" cy="1540507"/>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D9E26D02-6EEA-6C4D-4FBE-9840F1138941}"/>
              </a:ext>
            </a:extLst>
          </p:cNvPr>
          <p:cNvSpPr txBox="1"/>
          <p:nvPr/>
        </p:nvSpPr>
        <p:spPr>
          <a:xfrm>
            <a:off x="7794495" y="1703215"/>
            <a:ext cx="994503" cy="369332"/>
          </a:xfrm>
          <a:prstGeom prst="rect">
            <a:avLst/>
          </a:prstGeom>
          <a:noFill/>
        </p:spPr>
        <p:txBody>
          <a:bodyPr wrap="none" rtlCol="0">
            <a:spAutoFit/>
          </a:bodyPr>
          <a:lstStyle/>
          <a:p>
            <a:r>
              <a:rPr lang="en-US" dirty="0" err="1">
                <a:highlight>
                  <a:srgbClr val="A5D197"/>
                </a:highlight>
              </a:rPr>
              <a:t>PreyNCC</a:t>
            </a:r>
            <a:endParaRPr lang="en-US" dirty="0">
              <a:highlight>
                <a:srgbClr val="A5D197"/>
              </a:highlight>
            </a:endParaRPr>
          </a:p>
        </p:txBody>
      </p:sp>
      <p:sp>
        <p:nvSpPr>
          <p:cNvPr id="9" name="TextBox 8">
            <a:extLst>
              <a:ext uri="{FF2B5EF4-FFF2-40B4-BE49-F238E27FC236}">
                <a16:creationId xmlns:a16="http://schemas.microsoft.com/office/drawing/2014/main" id="{FD80C2FF-5836-AC14-B64B-6F43636D91A5}"/>
              </a:ext>
            </a:extLst>
          </p:cNvPr>
          <p:cNvSpPr txBox="1"/>
          <p:nvPr/>
        </p:nvSpPr>
        <p:spPr>
          <a:xfrm>
            <a:off x="10555291" y="1688497"/>
            <a:ext cx="1484574" cy="369332"/>
          </a:xfrm>
          <a:prstGeom prst="rect">
            <a:avLst/>
          </a:prstGeom>
          <a:noFill/>
        </p:spPr>
        <p:txBody>
          <a:bodyPr wrap="none" rtlCol="0">
            <a:spAutoFit/>
          </a:bodyPr>
          <a:lstStyle/>
          <a:p>
            <a:r>
              <a:rPr lang="en-US" dirty="0" err="1">
                <a:highlight>
                  <a:srgbClr val="A4561C"/>
                </a:highlight>
              </a:rPr>
              <a:t>PredatorsNCC</a:t>
            </a:r>
            <a:endParaRPr lang="en-US" dirty="0">
              <a:highlight>
                <a:srgbClr val="A4561C"/>
              </a:highlight>
            </a:endParaRPr>
          </a:p>
        </p:txBody>
      </p:sp>
      <p:cxnSp>
        <p:nvCxnSpPr>
          <p:cNvPr id="10" name="Straight Arrow Connector 9">
            <a:extLst>
              <a:ext uri="{FF2B5EF4-FFF2-40B4-BE49-F238E27FC236}">
                <a16:creationId xmlns:a16="http://schemas.microsoft.com/office/drawing/2014/main" id="{5E17AF78-88AB-1F83-0417-2842A2843355}"/>
              </a:ext>
            </a:extLst>
          </p:cNvPr>
          <p:cNvCxnSpPr>
            <a:cxnSpLocks/>
            <a:stCxn id="8" idx="2"/>
            <a:endCxn id="4" idx="0"/>
          </p:cNvCxnSpPr>
          <p:nvPr/>
        </p:nvCxnSpPr>
        <p:spPr>
          <a:xfrm>
            <a:off x="8291747" y="2072547"/>
            <a:ext cx="690889" cy="315043"/>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B2676518-5565-A40C-183D-C0D909F19E55}"/>
              </a:ext>
            </a:extLst>
          </p:cNvPr>
          <p:cNvCxnSpPr>
            <a:cxnSpLocks/>
            <a:stCxn id="9" idx="2"/>
            <a:endCxn id="5" idx="0"/>
          </p:cNvCxnSpPr>
          <p:nvPr/>
        </p:nvCxnSpPr>
        <p:spPr>
          <a:xfrm flipH="1">
            <a:off x="11020634" y="2057829"/>
            <a:ext cx="276944" cy="32976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grpSp>
        <p:nvGrpSpPr>
          <p:cNvPr id="36" name="Group 35">
            <a:extLst>
              <a:ext uri="{FF2B5EF4-FFF2-40B4-BE49-F238E27FC236}">
                <a16:creationId xmlns:a16="http://schemas.microsoft.com/office/drawing/2014/main" id="{DBBE5D7E-4D14-3906-EEA6-C6DF874DAB86}"/>
              </a:ext>
            </a:extLst>
          </p:cNvPr>
          <p:cNvGrpSpPr/>
          <p:nvPr/>
        </p:nvGrpSpPr>
        <p:grpSpPr>
          <a:xfrm>
            <a:off x="7368988" y="4297429"/>
            <a:ext cx="4195483" cy="2230065"/>
            <a:chOff x="1930209" y="4252606"/>
            <a:chExt cx="5836740" cy="2230065"/>
          </a:xfrm>
        </p:grpSpPr>
        <p:sp>
          <p:nvSpPr>
            <p:cNvPr id="40" name="TextBox 39">
              <a:extLst>
                <a:ext uri="{FF2B5EF4-FFF2-40B4-BE49-F238E27FC236}">
                  <a16:creationId xmlns:a16="http://schemas.microsoft.com/office/drawing/2014/main" id="{10B2F974-2218-AA57-B49C-7F5E69BD5E97}"/>
                </a:ext>
              </a:extLst>
            </p:cNvPr>
            <p:cNvSpPr txBox="1"/>
            <p:nvPr/>
          </p:nvSpPr>
          <p:spPr>
            <a:xfrm>
              <a:off x="4203297" y="4252606"/>
              <a:ext cx="3563652" cy="369332"/>
            </a:xfrm>
            <a:prstGeom prst="rect">
              <a:avLst/>
            </a:prstGeom>
            <a:noFill/>
            <a:ln w="38100">
              <a:solidFill>
                <a:schemeClr val="accent1"/>
              </a:solidFill>
            </a:ln>
          </p:spPr>
          <p:txBody>
            <a:bodyPr wrap="square" rtlCol="0">
              <a:spAutoFit/>
            </a:bodyPr>
            <a:lstStyle/>
            <a:p>
              <a:pPr algn="ctr"/>
              <a:r>
                <a:rPr lang="en-US" dirty="0"/>
                <a:t>Smolt to Adult Return </a:t>
              </a:r>
            </a:p>
          </p:txBody>
        </p:sp>
        <p:sp>
          <p:nvSpPr>
            <p:cNvPr id="41" name="TextBox 40">
              <a:extLst>
                <a:ext uri="{FF2B5EF4-FFF2-40B4-BE49-F238E27FC236}">
                  <a16:creationId xmlns:a16="http://schemas.microsoft.com/office/drawing/2014/main" id="{CD76664B-09DC-A93F-E412-C956D0207864}"/>
                </a:ext>
              </a:extLst>
            </p:cNvPr>
            <p:cNvSpPr txBox="1"/>
            <p:nvPr/>
          </p:nvSpPr>
          <p:spPr>
            <a:xfrm>
              <a:off x="1930209" y="5025327"/>
              <a:ext cx="1346941" cy="369332"/>
            </a:xfrm>
            <a:prstGeom prst="rect">
              <a:avLst/>
            </a:prstGeom>
            <a:noFill/>
          </p:spPr>
          <p:txBody>
            <a:bodyPr wrap="square" rtlCol="0">
              <a:spAutoFit/>
            </a:bodyPr>
            <a:lstStyle/>
            <a:p>
              <a:r>
                <a:rPr lang="en-US" dirty="0" err="1">
                  <a:highlight>
                    <a:srgbClr val="A5D197"/>
                  </a:highlight>
                </a:rPr>
                <a:t>PreyAK</a:t>
              </a:r>
              <a:endParaRPr lang="en-US" dirty="0">
                <a:highlight>
                  <a:srgbClr val="A5D197"/>
                </a:highlight>
              </a:endParaRPr>
            </a:p>
          </p:txBody>
        </p:sp>
        <p:sp>
          <p:nvSpPr>
            <p:cNvPr id="42" name="TextBox 41">
              <a:extLst>
                <a:ext uri="{FF2B5EF4-FFF2-40B4-BE49-F238E27FC236}">
                  <a16:creationId xmlns:a16="http://schemas.microsoft.com/office/drawing/2014/main" id="{AE278427-A3A3-CDB6-5BFC-B07ADA47B777}"/>
                </a:ext>
              </a:extLst>
            </p:cNvPr>
            <p:cNvSpPr txBox="1"/>
            <p:nvPr/>
          </p:nvSpPr>
          <p:spPr>
            <a:xfrm>
              <a:off x="2049937" y="6113339"/>
              <a:ext cx="1341906" cy="369332"/>
            </a:xfrm>
            <a:prstGeom prst="rect">
              <a:avLst/>
            </a:prstGeom>
            <a:noFill/>
          </p:spPr>
          <p:txBody>
            <a:bodyPr wrap="none" rtlCol="0">
              <a:spAutoFit/>
            </a:bodyPr>
            <a:lstStyle/>
            <a:p>
              <a:r>
                <a:rPr lang="en-US" dirty="0" err="1">
                  <a:highlight>
                    <a:srgbClr val="A4561C"/>
                  </a:highlight>
                </a:rPr>
                <a:t>PredatorsAK</a:t>
              </a:r>
              <a:endParaRPr lang="en-US" dirty="0">
                <a:highlight>
                  <a:srgbClr val="A4561C"/>
                </a:highlight>
              </a:endParaRPr>
            </a:p>
          </p:txBody>
        </p:sp>
        <p:cxnSp>
          <p:nvCxnSpPr>
            <p:cNvPr id="46" name="Straight Arrow Connector 45">
              <a:extLst>
                <a:ext uri="{FF2B5EF4-FFF2-40B4-BE49-F238E27FC236}">
                  <a16:creationId xmlns:a16="http://schemas.microsoft.com/office/drawing/2014/main" id="{207ECB7B-FF33-AE4D-D63A-C5D277441BF4}"/>
                </a:ext>
              </a:extLst>
            </p:cNvPr>
            <p:cNvCxnSpPr>
              <a:cxnSpLocks/>
              <a:stCxn id="41" idx="0"/>
              <a:endCxn id="40" idx="1"/>
            </p:cNvCxnSpPr>
            <p:nvPr/>
          </p:nvCxnSpPr>
          <p:spPr>
            <a:xfrm flipV="1">
              <a:off x="2603680" y="4437272"/>
              <a:ext cx="1599617" cy="588055"/>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BD7F7CC8-0C25-36A2-8F67-8C2E1154205A}"/>
                </a:ext>
              </a:extLst>
            </p:cNvPr>
            <p:cNvCxnSpPr>
              <a:cxnSpLocks/>
              <a:stCxn id="42" idx="0"/>
              <a:endCxn id="40" idx="1"/>
            </p:cNvCxnSpPr>
            <p:nvPr/>
          </p:nvCxnSpPr>
          <p:spPr>
            <a:xfrm flipV="1">
              <a:off x="2720890" y="4437272"/>
              <a:ext cx="1482407" cy="1676067"/>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grpSp>
      <p:sp>
        <p:nvSpPr>
          <p:cNvPr id="54" name="TextBox 53">
            <a:extLst>
              <a:ext uri="{FF2B5EF4-FFF2-40B4-BE49-F238E27FC236}">
                <a16:creationId xmlns:a16="http://schemas.microsoft.com/office/drawing/2014/main" id="{FD3C0A71-C5E5-2622-81D1-30249A379A1E}"/>
              </a:ext>
            </a:extLst>
          </p:cNvPr>
          <p:cNvSpPr txBox="1"/>
          <p:nvPr/>
        </p:nvSpPr>
        <p:spPr>
          <a:xfrm>
            <a:off x="9259392" y="1005590"/>
            <a:ext cx="804672" cy="461665"/>
          </a:xfrm>
          <a:prstGeom prst="rect">
            <a:avLst/>
          </a:prstGeom>
          <a:noFill/>
        </p:spPr>
        <p:txBody>
          <a:bodyPr wrap="square" rtlCol="0">
            <a:spAutoFit/>
          </a:bodyPr>
          <a:lstStyle/>
          <a:p>
            <a:pPr algn="ctr"/>
            <a:r>
              <a:rPr lang="en-US" sz="2400" b="1" dirty="0"/>
              <a:t>H2</a:t>
            </a:r>
          </a:p>
        </p:txBody>
      </p:sp>
      <p:grpSp>
        <p:nvGrpSpPr>
          <p:cNvPr id="18" name="Group 17">
            <a:extLst>
              <a:ext uri="{FF2B5EF4-FFF2-40B4-BE49-F238E27FC236}">
                <a16:creationId xmlns:a16="http://schemas.microsoft.com/office/drawing/2014/main" id="{3CFBA7CE-A1D9-F9D7-065B-E9EA90F280E5}"/>
              </a:ext>
            </a:extLst>
          </p:cNvPr>
          <p:cNvGrpSpPr/>
          <p:nvPr/>
        </p:nvGrpSpPr>
        <p:grpSpPr>
          <a:xfrm>
            <a:off x="5416826" y="2236304"/>
            <a:ext cx="3962921" cy="1316862"/>
            <a:chOff x="5416826" y="2236304"/>
            <a:chExt cx="3962921" cy="1316862"/>
          </a:xfrm>
        </p:grpSpPr>
        <p:sp>
          <p:nvSpPr>
            <p:cNvPr id="14" name="TextBox 13">
              <a:extLst>
                <a:ext uri="{FF2B5EF4-FFF2-40B4-BE49-F238E27FC236}">
                  <a16:creationId xmlns:a16="http://schemas.microsoft.com/office/drawing/2014/main" id="{4C7482C8-32BE-46E6-081A-C8960FAE4E89}"/>
                </a:ext>
              </a:extLst>
            </p:cNvPr>
            <p:cNvSpPr txBox="1"/>
            <p:nvPr/>
          </p:nvSpPr>
          <p:spPr>
            <a:xfrm>
              <a:off x="5416826" y="2236304"/>
              <a:ext cx="292068" cy="369332"/>
            </a:xfrm>
            <a:prstGeom prst="rect">
              <a:avLst/>
            </a:prstGeom>
            <a:noFill/>
          </p:spPr>
          <p:txBody>
            <a:bodyPr wrap="none" rtlCol="0">
              <a:spAutoFit/>
            </a:bodyPr>
            <a:lstStyle/>
            <a:p>
              <a:r>
                <a:rPr lang="en-US" dirty="0"/>
                <a:t>?</a:t>
              </a:r>
            </a:p>
          </p:txBody>
        </p:sp>
        <p:sp>
          <p:nvSpPr>
            <p:cNvPr id="16" name="TextBox 15">
              <a:extLst>
                <a:ext uri="{FF2B5EF4-FFF2-40B4-BE49-F238E27FC236}">
                  <a16:creationId xmlns:a16="http://schemas.microsoft.com/office/drawing/2014/main" id="{A3B1C33F-475A-332A-6710-822EA3AECA00}"/>
                </a:ext>
              </a:extLst>
            </p:cNvPr>
            <p:cNvSpPr txBox="1"/>
            <p:nvPr/>
          </p:nvSpPr>
          <p:spPr>
            <a:xfrm>
              <a:off x="9087679" y="3183834"/>
              <a:ext cx="292068" cy="369332"/>
            </a:xfrm>
            <a:prstGeom prst="rect">
              <a:avLst/>
            </a:prstGeom>
            <a:noFill/>
          </p:spPr>
          <p:txBody>
            <a:bodyPr wrap="none" rtlCol="0">
              <a:spAutoFit/>
            </a:bodyPr>
            <a:lstStyle/>
            <a:p>
              <a:r>
                <a:rPr lang="en-US" dirty="0"/>
                <a:t>?</a:t>
              </a:r>
            </a:p>
          </p:txBody>
        </p:sp>
      </p:grpSp>
      <p:grpSp>
        <p:nvGrpSpPr>
          <p:cNvPr id="29" name="Group 28">
            <a:extLst>
              <a:ext uri="{FF2B5EF4-FFF2-40B4-BE49-F238E27FC236}">
                <a16:creationId xmlns:a16="http://schemas.microsoft.com/office/drawing/2014/main" id="{5CC08ECF-78FC-6115-D1AE-41C8144224B9}"/>
              </a:ext>
            </a:extLst>
          </p:cNvPr>
          <p:cNvGrpSpPr/>
          <p:nvPr/>
        </p:nvGrpSpPr>
        <p:grpSpPr>
          <a:xfrm>
            <a:off x="3793434" y="1987824"/>
            <a:ext cx="7292529" cy="3993803"/>
            <a:chOff x="3793434" y="1987824"/>
            <a:chExt cx="7292529" cy="3993803"/>
          </a:xfrm>
        </p:grpSpPr>
        <p:grpSp>
          <p:nvGrpSpPr>
            <p:cNvPr id="20" name="Group 19">
              <a:extLst>
                <a:ext uri="{FF2B5EF4-FFF2-40B4-BE49-F238E27FC236}">
                  <a16:creationId xmlns:a16="http://schemas.microsoft.com/office/drawing/2014/main" id="{D401D36F-42EA-3ED3-C51A-11D670E6B110}"/>
                </a:ext>
              </a:extLst>
            </p:cNvPr>
            <p:cNvGrpSpPr/>
            <p:nvPr/>
          </p:nvGrpSpPr>
          <p:grpSpPr>
            <a:xfrm>
              <a:off x="3889513" y="5161721"/>
              <a:ext cx="4648720" cy="819906"/>
              <a:chOff x="5416826" y="2236304"/>
              <a:chExt cx="4648720" cy="819906"/>
            </a:xfrm>
          </p:grpSpPr>
          <p:sp>
            <p:nvSpPr>
              <p:cNvPr id="22" name="TextBox 21">
                <a:extLst>
                  <a:ext uri="{FF2B5EF4-FFF2-40B4-BE49-F238E27FC236}">
                    <a16:creationId xmlns:a16="http://schemas.microsoft.com/office/drawing/2014/main" id="{509508FC-96A1-F1A8-E9D9-D7EBE517D0B5}"/>
                  </a:ext>
                </a:extLst>
              </p:cNvPr>
              <p:cNvSpPr txBox="1"/>
              <p:nvPr/>
            </p:nvSpPr>
            <p:spPr>
              <a:xfrm>
                <a:off x="5416826" y="2236304"/>
                <a:ext cx="292068" cy="369332"/>
              </a:xfrm>
              <a:prstGeom prst="rect">
                <a:avLst/>
              </a:prstGeom>
              <a:noFill/>
            </p:spPr>
            <p:txBody>
              <a:bodyPr wrap="none" rtlCol="0">
                <a:spAutoFit/>
              </a:bodyPr>
              <a:lstStyle/>
              <a:p>
                <a:r>
                  <a:rPr lang="en-US" dirty="0"/>
                  <a:t>?</a:t>
                </a:r>
              </a:p>
            </p:txBody>
          </p:sp>
          <p:sp>
            <p:nvSpPr>
              <p:cNvPr id="23" name="TextBox 22">
                <a:extLst>
                  <a:ext uri="{FF2B5EF4-FFF2-40B4-BE49-F238E27FC236}">
                    <a16:creationId xmlns:a16="http://schemas.microsoft.com/office/drawing/2014/main" id="{8A98C150-1437-DB6A-2D6E-6FA687C36069}"/>
                  </a:ext>
                </a:extLst>
              </p:cNvPr>
              <p:cNvSpPr txBox="1"/>
              <p:nvPr/>
            </p:nvSpPr>
            <p:spPr>
              <a:xfrm>
                <a:off x="9773478" y="2686878"/>
                <a:ext cx="292068" cy="369332"/>
              </a:xfrm>
              <a:prstGeom prst="rect">
                <a:avLst/>
              </a:prstGeom>
              <a:noFill/>
            </p:spPr>
            <p:txBody>
              <a:bodyPr wrap="none" rtlCol="0">
                <a:spAutoFit/>
              </a:bodyPr>
              <a:lstStyle/>
              <a:p>
                <a:r>
                  <a:rPr lang="en-US" dirty="0"/>
                  <a:t>?</a:t>
                </a:r>
              </a:p>
            </p:txBody>
          </p:sp>
        </p:grpSp>
        <p:grpSp>
          <p:nvGrpSpPr>
            <p:cNvPr id="26" name="Group 25">
              <a:extLst>
                <a:ext uri="{FF2B5EF4-FFF2-40B4-BE49-F238E27FC236}">
                  <a16:creationId xmlns:a16="http://schemas.microsoft.com/office/drawing/2014/main" id="{487100AF-8CE8-CEBD-2996-D27289E12139}"/>
                </a:ext>
              </a:extLst>
            </p:cNvPr>
            <p:cNvGrpSpPr/>
            <p:nvPr/>
          </p:nvGrpSpPr>
          <p:grpSpPr>
            <a:xfrm>
              <a:off x="3793434" y="1987824"/>
              <a:ext cx="7292529" cy="962368"/>
              <a:chOff x="5546034" y="1345094"/>
              <a:chExt cx="7292529" cy="962368"/>
            </a:xfrm>
          </p:grpSpPr>
          <p:sp>
            <p:nvSpPr>
              <p:cNvPr id="27" name="TextBox 26">
                <a:extLst>
                  <a:ext uri="{FF2B5EF4-FFF2-40B4-BE49-F238E27FC236}">
                    <a16:creationId xmlns:a16="http://schemas.microsoft.com/office/drawing/2014/main" id="{774E9424-9F00-C384-12AE-350293E02F16}"/>
                  </a:ext>
                </a:extLst>
              </p:cNvPr>
              <p:cNvSpPr txBox="1"/>
              <p:nvPr/>
            </p:nvSpPr>
            <p:spPr>
              <a:xfrm>
                <a:off x="5546034" y="1938130"/>
                <a:ext cx="292068" cy="369332"/>
              </a:xfrm>
              <a:prstGeom prst="rect">
                <a:avLst/>
              </a:prstGeom>
              <a:noFill/>
            </p:spPr>
            <p:txBody>
              <a:bodyPr wrap="none" rtlCol="0">
                <a:spAutoFit/>
              </a:bodyPr>
              <a:lstStyle/>
              <a:p>
                <a:r>
                  <a:rPr lang="en-US" dirty="0"/>
                  <a:t>?</a:t>
                </a:r>
              </a:p>
            </p:txBody>
          </p:sp>
          <p:sp>
            <p:nvSpPr>
              <p:cNvPr id="28" name="TextBox 27">
                <a:extLst>
                  <a:ext uri="{FF2B5EF4-FFF2-40B4-BE49-F238E27FC236}">
                    <a16:creationId xmlns:a16="http://schemas.microsoft.com/office/drawing/2014/main" id="{19DD5FB5-B0DE-64B9-7453-98748A25D3BF}"/>
                  </a:ext>
                </a:extLst>
              </p:cNvPr>
              <p:cNvSpPr txBox="1"/>
              <p:nvPr/>
            </p:nvSpPr>
            <p:spPr>
              <a:xfrm>
                <a:off x="12546495" y="1345094"/>
                <a:ext cx="292068" cy="369332"/>
              </a:xfrm>
              <a:prstGeom prst="rect">
                <a:avLst/>
              </a:prstGeom>
              <a:noFill/>
            </p:spPr>
            <p:txBody>
              <a:bodyPr wrap="none" rtlCol="0">
                <a:spAutoFit/>
              </a:bodyPr>
              <a:lstStyle/>
              <a:p>
                <a:r>
                  <a:rPr lang="en-US" dirty="0"/>
                  <a:t>?</a:t>
                </a:r>
              </a:p>
            </p:txBody>
          </p:sp>
        </p:grpSp>
      </p:grpSp>
      <p:sp>
        <p:nvSpPr>
          <p:cNvPr id="15" name="Title 1">
            <a:extLst>
              <a:ext uri="{FF2B5EF4-FFF2-40B4-BE49-F238E27FC236}">
                <a16:creationId xmlns:a16="http://schemas.microsoft.com/office/drawing/2014/main" id="{A115A026-2203-2A62-EBB4-F9904EB8F0CB}"/>
              </a:ext>
            </a:extLst>
          </p:cNvPr>
          <p:cNvSpPr>
            <a:spLocks noGrp="1"/>
          </p:cNvSpPr>
          <p:nvPr>
            <p:ph type="title"/>
          </p:nvPr>
        </p:nvSpPr>
        <p:spPr>
          <a:xfrm>
            <a:off x="0" y="0"/>
            <a:ext cx="12191999" cy="848517"/>
          </a:xfrm>
        </p:spPr>
        <p:txBody>
          <a:bodyPr>
            <a:normAutofit/>
          </a:bodyPr>
          <a:lstStyle/>
          <a:p>
            <a:pPr algn="ctr"/>
            <a:r>
              <a:rPr lang="en-US" dirty="0"/>
              <a:t>Structural Equation Model Approach</a:t>
            </a:r>
          </a:p>
        </p:txBody>
      </p:sp>
    </p:spTree>
    <p:custDataLst>
      <p:tags r:id="rId1"/>
    </p:custDataLst>
    <p:extLst>
      <p:ext uri="{BB962C8B-B14F-4D97-AF65-F5344CB8AC3E}">
        <p14:creationId xmlns:p14="http://schemas.microsoft.com/office/powerpoint/2010/main" val="115770348"/>
      </p:ext>
    </p:extLst>
  </p:cSld>
  <p:clrMapOvr>
    <a:masterClrMapping/>
  </p:clrMapOvr>
  <mc:AlternateContent xmlns:mc="http://schemas.openxmlformats.org/markup-compatibility/2006">
    <mc:Choice xmlns:p14="http://schemas.microsoft.com/office/powerpoint/2010/main" Requires="p14">
      <p:transition spd="slow" p14:dur="2000" advTm="69058"/>
    </mc:Choice>
    <mc:Fallback>
      <p:transition spd="slow" advTm="69058"/>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FB5993E2-C02B-4335-ABA5-D8EC465551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C0B801A2-5622-4BE8-9AD2-C337A2CD00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9912628E-7308-674E-F9C3-3B8A4FA7182F}"/>
              </a:ext>
            </a:extLst>
          </p:cNvPr>
          <p:cNvSpPr>
            <a:spLocks noGrp="1"/>
          </p:cNvSpPr>
          <p:nvPr>
            <p:ph type="title"/>
          </p:nvPr>
        </p:nvSpPr>
        <p:spPr>
          <a:xfrm>
            <a:off x="492370" y="516835"/>
            <a:ext cx="3084844" cy="5772840"/>
          </a:xfrm>
        </p:spPr>
        <p:txBody>
          <a:bodyPr anchor="ctr">
            <a:normAutofit/>
          </a:bodyPr>
          <a:lstStyle/>
          <a:p>
            <a:r>
              <a:rPr lang="en-US" sz="8800" dirty="0">
                <a:solidFill>
                  <a:srgbClr val="FFFFFF"/>
                </a:solidFill>
              </a:rPr>
              <a:t>Goals</a:t>
            </a:r>
          </a:p>
        </p:txBody>
      </p:sp>
      <p:sp>
        <p:nvSpPr>
          <p:cNvPr id="17" name="Rectangle 16">
            <a:extLst>
              <a:ext uri="{FF2B5EF4-FFF2-40B4-BE49-F238E27FC236}">
                <a16:creationId xmlns:a16="http://schemas.microsoft.com/office/drawing/2014/main" id="{B7AF614F-5BC3-4086-99F5-B87C5847A0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aphicFrame>
        <p:nvGraphicFramePr>
          <p:cNvPr id="18" name="Content Placeholder 2">
            <a:extLst>
              <a:ext uri="{FF2B5EF4-FFF2-40B4-BE49-F238E27FC236}">
                <a16:creationId xmlns:a16="http://schemas.microsoft.com/office/drawing/2014/main" id="{658DA6A2-602B-C8A1-59FE-974B7B0ECD9E}"/>
              </a:ext>
            </a:extLst>
          </p:cNvPr>
          <p:cNvGraphicFramePr>
            <a:graphicFrameLocks noGrp="1"/>
          </p:cNvGraphicFramePr>
          <p:nvPr>
            <p:ph idx="1"/>
            <p:extLst>
              <p:ext uri="{D42A27DB-BD31-4B8C-83A1-F6EECF244321}">
                <p14:modId xmlns:p14="http://schemas.microsoft.com/office/powerpoint/2010/main" val="3039909856"/>
              </p:ext>
            </p:extLst>
          </p:nvPr>
        </p:nvGraphicFramePr>
        <p:xfrm>
          <a:off x="4741863" y="639763"/>
          <a:ext cx="6797675" cy="56499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86395634"/>
      </p:ext>
    </p:extLst>
  </p:cSld>
  <p:clrMapOvr>
    <a:masterClrMapping/>
  </p:clrMapOvr>
  <mc:AlternateContent xmlns:mc="http://schemas.openxmlformats.org/markup-compatibility/2006">
    <mc:Choice xmlns:p14="http://schemas.microsoft.com/office/powerpoint/2010/main" Requires="p14">
      <p:transition spd="slow" p14:dur="2000" advTm="29609"/>
    </mc:Choice>
    <mc:Fallback>
      <p:transition spd="slow" advTm="29609"/>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9ADC21E1-BF2F-6B34-3558-D5AFF9D1CD63}"/>
              </a:ext>
            </a:extLst>
          </p:cNvPr>
          <p:cNvSpPr>
            <a:spLocks noGrp="1"/>
          </p:cNvSpPr>
          <p:nvPr>
            <p:ph type="title"/>
          </p:nvPr>
        </p:nvSpPr>
        <p:spPr>
          <a:xfrm>
            <a:off x="1065209" y="218662"/>
            <a:ext cx="10436352" cy="1085088"/>
          </a:xfrm>
        </p:spPr>
        <p:txBody>
          <a:bodyPr>
            <a:normAutofit fontScale="90000"/>
          </a:bodyPr>
          <a:lstStyle/>
          <a:p>
            <a:r>
              <a:rPr lang="en-US" dirty="0"/>
              <a:t>Goal 1 – YES!!!</a:t>
            </a:r>
            <a:br>
              <a:rPr lang="en-US" dirty="0"/>
            </a:br>
            <a:r>
              <a:rPr lang="en-US" dirty="0"/>
              <a:t>A few predictors dominated results</a:t>
            </a:r>
          </a:p>
        </p:txBody>
      </p:sp>
      <p:pic>
        <p:nvPicPr>
          <p:cNvPr id="3" name="Picture 2">
            <a:extLst>
              <a:ext uri="{FF2B5EF4-FFF2-40B4-BE49-F238E27FC236}">
                <a16:creationId xmlns:a16="http://schemas.microsoft.com/office/drawing/2014/main" id="{90DAC6CE-156F-3963-5535-385AA9408E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82795" y="1351805"/>
            <a:ext cx="10058420" cy="4754890"/>
          </a:xfrm>
          <a:prstGeom prst="rect">
            <a:avLst/>
          </a:prstGeom>
        </p:spPr>
      </p:pic>
      <p:sp>
        <p:nvSpPr>
          <p:cNvPr id="5" name="TextBox 4">
            <a:extLst>
              <a:ext uri="{FF2B5EF4-FFF2-40B4-BE49-F238E27FC236}">
                <a16:creationId xmlns:a16="http://schemas.microsoft.com/office/drawing/2014/main" id="{D217DDA0-B30F-B61C-E97D-460AA29D59DA}"/>
              </a:ext>
            </a:extLst>
          </p:cNvPr>
          <p:cNvSpPr txBox="1"/>
          <p:nvPr/>
        </p:nvSpPr>
        <p:spPr>
          <a:xfrm>
            <a:off x="9258301" y="4581814"/>
            <a:ext cx="2587956" cy="230832"/>
          </a:xfrm>
          <a:prstGeom prst="rect">
            <a:avLst/>
          </a:prstGeom>
          <a:noFill/>
        </p:spPr>
        <p:txBody>
          <a:bodyPr wrap="square">
            <a:spAutoFit/>
          </a:bodyPr>
          <a:lstStyle/>
          <a:p>
            <a:r>
              <a:rPr lang="en-US" sz="900" dirty="0">
                <a:solidFill>
                  <a:srgbClr val="7B1FA2"/>
                </a:solidFill>
                <a:latin typeface="Abadi" panose="020F0502020204030204" pitchFamily="34" charset="0"/>
              </a:rPr>
              <a:t>4. X10_Harbour_s_WS_adultyr</a:t>
            </a:r>
          </a:p>
        </p:txBody>
      </p:sp>
      <p:sp>
        <p:nvSpPr>
          <p:cNvPr id="2" name="TextBox 1">
            <a:extLst>
              <a:ext uri="{FF2B5EF4-FFF2-40B4-BE49-F238E27FC236}">
                <a16:creationId xmlns:a16="http://schemas.microsoft.com/office/drawing/2014/main" id="{99AE5775-B960-40CE-3E20-C25BC56A4DFA}"/>
              </a:ext>
            </a:extLst>
          </p:cNvPr>
          <p:cNvSpPr txBox="1"/>
          <p:nvPr/>
        </p:nvSpPr>
        <p:spPr>
          <a:xfrm>
            <a:off x="4300631" y="1958586"/>
            <a:ext cx="1455848" cy="1061829"/>
          </a:xfrm>
          <a:prstGeom prst="rect">
            <a:avLst/>
          </a:prstGeom>
          <a:solidFill>
            <a:schemeClr val="tx1"/>
          </a:solidFill>
        </p:spPr>
        <p:txBody>
          <a:bodyPr wrap="none" rtlCol="0">
            <a:spAutoFit/>
          </a:bodyPr>
          <a:lstStyle/>
          <a:p>
            <a:r>
              <a:rPr lang="en-US" sz="1050" dirty="0">
                <a:solidFill>
                  <a:schemeClr val="bg2"/>
                </a:solidFill>
              </a:rPr>
              <a:t>X09_Piscivorous Fish:</a:t>
            </a:r>
          </a:p>
          <a:p>
            <a:r>
              <a:rPr lang="en-US" sz="1050" dirty="0">
                <a:solidFill>
                  <a:schemeClr val="bg2"/>
                </a:solidFill>
              </a:rPr>
              <a:t>Hake age 5+</a:t>
            </a:r>
          </a:p>
          <a:p>
            <a:r>
              <a:rPr lang="en-US" sz="1050" dirty="0">
                <a:solidFill>
                  <a:schemeClr val="bg2"/>
                </a:solidFill>
              </a:rPr>
              <a:t>WA Hake spring fishery</a:t>
            </a:r>
          </a:p>
          <a:p>
            <a:r>
              <a:rPr lang="en-US" sz="1050" dirty="0">
                <a:solidFill>
                  <a:schemeClr val="bg2"/>
                </a:solidFill>
              </a:rPr>
              <a:t>Jack Mackerel</a:t>
            </a:r>
          </a:p>
          <a:p>
            <a:r>
              <a:rPr lang="en-US" sz="1050" dirty="0">
                <a:solidFill>
                  <a:schemeClr val="bg2"/>
                </a:solidFill>
              </a:rPr>
              <a:t>Pacific Mackerel</a:t>
            </a:r>
          </a:p>
          <a:p>
            <a:r>
              <a:rPr lang="en-US" sz="1050" dirty="0" err="1">
                <a:solidFill>
                  <a:schemeClr val="bg2"/>
                </a:solidFill>
              </a:rPr>
              <a:t>Misc</a:t>
            </a:r>
            <a:r>
              <a:rPr lang="en-US" sz="1050" dirty="0">
                <a:solidFill>
                  <a:schemeClr val="bg2"/>
                </a:solidFill>
              </a:rPr>
              <a:t> rockfish</a:t>
            </a:r>
          </a:p>
        </p:txBody>
      </p:sp>
      <p:sp>
        <p:nvSpPr>
          <p:cNvPr id="6" name="TextBox 5">
            <a:extLst>
              <a:ext uri="{FF2B5EF4-FFF2-40B4-BE49-F238E27FC236}">
                <a16:creationId xmlns:a16="http://schemas.microsoft.com/office/drawing/2014/main" id="{4285DA6D-7411-D8E1-88A1-0A41AE2A72B1}"/>
              </a:ext>
            </a:extLst>
          </p:cNvPr>
          <p:cNvSpPr txBox="1"/>
          <p:nvPr/>
        </p:nvSpPr>
        <p:spPr>
          <a:xfrm>
            <a:off x="1922207" y="4148104"/>
            <a:ext cx="1047082" cy="253916"/>
          </a:xfrm>
          <a:prstGeom prst="rect">
            <a:avLst/>
          </a:prstGeom>
          <a:solidFill>
            <a:schemeClr val="tx1"/>
          </a:solidFill>
        </p:spPr>
        <p:txBody>
          <a:bodyPr wrap="none" rtlCol="0">
            <a:spAutoFit/>
          </a:bodyPr>
          <a:lstStyle/>
          <a:p>
            <a:r>
              <a:rPr lang="en-US" sz="1050" dirty="0">
                <a:solidFill>
                  <a:srgbClr val="E65100"/>
                </a:solidFill>
              </a:rPr>
              <a:t>X02_Gelatinous</a:t>
            </a:r>
          </a:p>
        </p:txBody>
      </p:sp>
      <p:sp>
        <p:nvSpPr>
          <p:cNvPr id="8" name="TextBox 7">
            <a:extLst>
              <a:ext uri="{FF2B5EF4-FFF2-40B4-BE49-F238E27FC236}">
                <a16:creationId xmlns:a16="http://schemas.microsoft.com/office/drawing/2014/main" id="{B6BFAFB2-6226-F0C3-BD57-5747AF0D46A6}"/>
              </a:ext>
            </a:extLst>
          </p:cNvPr>
          <p:cNvSpPr txBox="1"/>
          <p:nvPr/>
        </p:nvSpPr>
        <p:spPr>
          <a:xfrm>
            <a:off x="2151299" y="4925836"/>
            <a:ext cx="1851789" cy="253916"/>
          </a:xfrm>
          <a:prstGeom prst="rect">
            <a:avLst/>
          </a:prstGeom>
          <a:solidFill>
            <a:schemeClr val="tx1"/>
          </a:solidFill>
        </p:spPr>
        <p:txBody>
          <a:bodyPr wrap="none" rtlCol="0">
            <a:spAutoFit/>
          </a:bodyPr>
          <a:lstStyle/>
          <a:p>
            <a:r>
              <a:rPr lang="en-US" sz="1050" dirty="0">
                <a:solidFill>
                  <a:srgbClr val="E65100"/>
                </a:solidFill>
              </a:rPr>
              <a:t>X05_Sardine, herring, anchovy</a:t>
            </a:r>
          </a:p>
        </p:txBody>
      </p:sp>
      <p:sp>
        <p:nvSpPr>
          <p:cNvPr id="13" name="TextBox 12">
            <a:extLst>
              <a:ext uri="{FF2B5EF4-FFF2-40B4-BE49-F238E27FC236}">
                <a16:creationId xmlns:a16="http://schemas.microsoft.com/office/drawing/2014/main" id="{FF77A391-E640-8367-5816-AF9EF36043DE}"/>
              </a:ext>
            </a:extLst>
          </p:cNvPr>
          <p:cNvSpPr txBox="1"/>
          <p:nvPr/>
        </p:nvSpPr>
        <p:spPr>
          <a:xfrm>
            <a:off x="6740997" y="4001478"/>
            <a:ext cx="1552028" cy="253916"/>
          </a:xfrm>
          <a:prstGeom prst="rect">
            <a:avLst/>
          </a:prstGeom>
          <a:solidFill>
            <a:schemeClr val="tx1"/>
          </a:solidFill>
        </p:spPr>
        <p:txBody>
          <a:bodyPr wrap="none" rtlCol="0">
            <a:spAutoFit/>
          </a:bodyPr>
          <a:lstStyle/>
          <a:p>
            <a:r>
              <a:rPr lang="en-US" sz="1050" dirty="0">
                <a:solidFill>
                  <a:srgbClr val="0288D1"/>
                </a:solidFill>
              </a:rPr>
              <a:t>X12_WCVI plankton prey</a:t>
            </a:r>
          </a:p>
        </p:txBody>
      </p:sp>
      <p:sp>
        <p:nvSpPr>
          <p:cNvPr id="15" name="TextBox 14">
            <a:extLst>
              <a:ext uri="{FF2B5EF4-FFF2-40B4-BE49-F238E27FC236}">
                <a16:creationId xmlns:a16="http://schemas.microsoft.com/office/drawing/2014/main" id="{33BAEC39-32AA-0C91-13CE-6769D3F00CDA}"/>
              </a:ext>
            </a:extLst>
          </p:cNvPr>
          <p:cNvSpPr txBox="1"/>
          <p:nvPr/>
        </p:nvSpPr>
        <p:spPr>
          <a:xfrm>
            <a:off x="9178657" y="4001478"/>
            <a:ext cx="1830548" cy="253916"/>
          </a:xfrm>
          <a:prstGeom prst="rect">
            <a:avLst/>
          </a:prstGeom>
          <a:solidFill>
            <a:schemeClr val="tx1"/>
          </a:solidFill>
        </p:spPr>
        <p:txBody>
          <a:bodyPr wrap="square" rtlCol="0">
            <a:spAutoFit/>
          </a:bodyPr>
          <a:lstStyle/>
          <a:p>
            <a:r>
              <a:rPr lang="en-US" sz="1050" dirty="0">
                <a:solidFill>
                  <a:srgbClr val="7B1FA2"/>
                </a:solidFill>
              </a:rPr>
              <a:t>X15_SleeperShark</a:t>
            </a:r>
          </a:p>
        </p:txBody>
      </p:sp>
    </p:spTree>
    <p:extLst>
      <p:ext uri="{BB962C8B-B14F-4D97-AF65-F5344CB8AC3E}">
        <p14:creationId xmlns:p14="http://schemas.microsoft.com/office/powerpoint/2010/main" val="2667811200"/>
      </p:ext>
    </p:extLst>
  </p:cSld>
  <p:clrMapOvr>
    <a:masterClrMapping/>
  </p:clrMapOvr>
  <mc:AlternateContent xmlns:mc="http://schemas.openxmlformats.org/markup-compatibility/2006">
    <mc:Choice xmlns:p14="http://schemas.microsoft.com/office/powerpoint/2010/main" Requires="p14">
      <p:transition spd="slow" p14:dur="2000" advTm="51751"/>
    </mc:Choice>
    <mc:Fallback>
      <p:transition spd="slow" advTm="51751"/>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BF006A-AEB3-1775-C77B-7161CBC26C0B}"/>
            </a:ext>
          </a:extLst>
        </p:cNvPr>
        <p:cNvGrpSpPr/>
        <p:nvPr/>
      </p:nvGrpSpPr>
      <p:grpSpPr>
        <a:xfrm>
          <a:off x="0" y="0"/>
          <a:ext cx="0" cy="0"/>
          <a:chOff x="0" y="0"/>
          <a:chExt cx="0" cy="0"/>
        </a:xfrm>
      </p:grpSpPr>
      <p:sp>
        <p:nvSpPr>
          <p:cNvPr id="59" name="Rectangle 58">
            <a:extLst>
              <a:ext uri="{FF2B5EF4-FFF2-40B4-BE49-F238E27FC236}">
                <a16:creationId xmlns:a16="http://schemas.microsoft.com/office/drawing/2014/main" id="{375D0423-A0FC-72E9-C23B-D1498D44B051}"/>
              </a:ext>
            </a:extLst>
          </p:cNvPr>
          <p:cNvSpPr/>
          <p:nvPr/>
        </p:nvSpPr>
        <p:spPr>
          <a:xfrm>
            <a:off x="626165" y="1272209"/>
            <a:ext cx="11360426" cy="87464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1A8BA5F-C306-0750-5860-8BB81BB985CE}"/>
              </a:ext>
            </a:extLst>
          </p:cNvPr>
          <p:cNvSpPr>
            <a:spLocks noGrp="1"/>
          </p:cNvSpPr>
          <p:nvPr>
            <p:ph type="title"/>
          </p:nvPr>
        </p:nvSpPr>
        <p:spPr>
          <a:xfrm>
            <a:off x="1216916" y="0"/>
            <a:ext cx="10058400" cy="848517"/>
          </a:xfrm>
        </p:spPr>
        <p:txBody>
          <a:bodyPr>
            <a:normAutofit/>
          </a:bodyPr>
          <a:lstStyle/>
          <a:p>
            <a:pPr algn="ctr"/>
            <a:r>
              <a:rPr lang="en-US" dirty="0"/>
              <a:t>Goal 2 regulation hypo -- sometimes</a:t>
            </a:r>
          </a:p>
        </p:txBody>
      </p:sp>
      <p:sp>
        <p:nvSpPr>
          <p:cNvPr id="3" name="TextBox 2">
            <a:extLst>
              <a:ext uri="{FF2B5EF4-FFF2-40B4-BE49-F238E27FC236}">
                <a16:creationId xmlns:a16="http://schemas.microsoft.com/office/drawing/2014/main" id="{EC8581F3-EAB1-E8BB-70A7-F4E0F3626D0D}"/>
              </a:ext>
            </a:extLst>
          </p:cNvPr>
          <p:cNvSpPr txBox="1"/>
          <p:nvPr/>
        </p:nvSpPr>
        <p:spPr>
          <a:xfrm>
            <a:off x="4213633" y="1533790"/>
            <a:ext cx="2840736" cy="369332"/>
          </a:xfrm>
          <a:prstGeom prst="rect">
            <a:avLst/>
          </a:prstGeom>
          <a:noFill/>
          <a:ln w="38100">
            <a:solidFill>
              <a:schemeClr val="accent1"/>
            </a:solidFill>
          </a:ln>
        </p:spPr>
        <p:txBody>
          <a:bodyPr wrap="square" rtlCol="0">
            <a:spAutoFit/>
          </a:bodyPr>
          <a:lstStyle/>
          <a:p>
            <a:pPr algn="ctr"/>
            <a:r>
              <a:rPr lang="en-US" dirty="0"/>
              <a:t>Early Growth</a:t>
            </a:r>
          </a:p>
        </p:txBody>
      </p:sp>
      <p:sp>
        <p:nvSpPr>
          <p:cNvPr id="12" name="TextBox 11">
            <a:extLst>
              <a:ext uri="{FF2B5EF4-FFF2-40B4-BE49-F238E27FC236}">
                <a16:creationId xmlns:a16="http://schemas.microsoft.com/office/drawing/2014/main" id="{5C94672F-9ED5-6533-77AC-094A1908BD65}"/>
              </a:ext>
            </a:extLst>
          </p:cNvPr>
          <p:cNvSpPr txBox="1"/>
          <p:nvPr/>
        </p:nvSpPr>
        <p:spPr>
          <a:xfrm>
            <a:off x="4172817" y="2893198"/>
            <a:ext cx="3121152" cy="369332"/>
          </a:xfrm>
          <a:prstGeom prst="rect">
            <a:avLst/>
          </a:prstGeom>
          <a:noFill/>
          <a:ln w="38100">
            <a:solidFill>
              <a:schemeClr val="accent1"/>
            </a:solidFill>
          </a:ln>
        </p:spPr>
        <p:txBody>
          <a:bodyPr wrap="square" rtlCol="0">
            <a:spAutoFit/>
          </a:bodyPr>
          <a:lstStyle/>
          <a:p>
            <a:pPr algn="ctr"/>
            <a:r>
              <a:rPr lang="en-US" dirty="0"/>
              <a:t>Early Marine Survival </a:t>
            </a:r>
          </a:p>
        </p:txBody>
      </p:sp>
      <p:cxnSp>
        <p:nvCxnSpPr>
          <p:cNvPr id="19" name="Straight Arrow Connector 18">
            <a:extLst>
              <a:ext uri="{FF2B5EF4-FFF2-40B4-BE49-F238E27FC236}">
                <a16:creationId xmlns:a16="http://schemas.microsoft.com/office/drawing/2014/main" id="{DD86797D-E5E1-C97C-C8EF-EC409A9BBA4A}"/>
              </a:ext>
            </a:extLst>
          </p:cNvPr>
          <p:cNvCxnSpPr>
            <a:cxnSpLocks/>
            <a:stCxn id="3" idx="2"/>
            <a:endCxn id="12" idx="0"/>
          </p:cNvCxnSpPr>
          <p:nvPr/>
        </p:nvCxnSpPr>
        <p:spPr>
          <a:xfrm>
            <a:off x="5634001" y="1903122"/>
            <a:ext cx="99392" cy="99007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0F20E6B2-9E65-AE16-387C-CC3146A522FE}"/>
              </a:ext>
            </a:extLst>
          </p:cNvPr>
          <p:cNvCxnSpPr>
            <a:cxnSpLocks/>
            <a:stCxn id="12" idx="2"/>
            <a:endCxn id="13" idx="0"/>
          </p:cNvCxnSpPr>
          <p:nvPr/>
        </p:nvCxnSpPr>
        <p:spPr>
          <a:xfrm>
            <a:off x="5733393" y="3262530"/>
            <a:ext cx="0" cy="99007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3343C978-00B6-9736-05F8-D287A600A616}"/>
              </a:ext>
            </a:extLst>
          </p:cNvPr>
          <p:cNvSpPr txBox="1"/>
          <p:nvPr/>
        </p:nvSpPr>
        <p:spPr>
          <a:xfrm>
            <a:off x="2343176" y="1810789"/>
            <a:ext cx="994503" cy="369332"/>
          </a:xfrm>
          <a:prstGeom prst="rect">
            <a:avLst/>
          </a:prstGeom>
          <a:noFill/>
        </p:spPr>
        <p:txBody>
          <a:bodyPr wrap="none" rtlCol="0">
            <a:spAutoFit/>
          </a:bodyPr>
          <a:lstStyle/>
          <a:p>
            <a:r>
              <a:rPr lang="en-US" dirty="0" err="1">
                <a:highlight>
                  <a:srgbClr val="A5D197"/>
                </a:highlight>
              </a:rPr>
              <a:t>PreyNCC</a:t>
            </a:r>
            <a:endParaRPr lang="en-US" dirty="0">
              <a:highlight>
                <a:srgbClr val="A5D197"/>
              </a:highlight>
            </a:endParaRPr>
          </a:p>
        </p:txBody>
      </p:sp>
      <p:sp>
        <p:nvSpPr>
          <p:cNvPr id="31" name="TextBox 30">
            <a:extLst>
              <a:ext uri="{FF2B5EF4-FFF2-40B4-BE49-F238E27FC236}">
                <a16:creationId xmlns:a16="http://schemas.microsoft.com/office/drawing/2014/main" id="{B0BFB91C-8F69-F299-4A16-5079AE065908}"/>
              </a:ext>
            </a:extLst>
          </p:cNvPr>
          <p:cNvSpPr txBox="1"/>
          <p:nvPr/>
        </p:nvSpPr>
        <p:spPr>
          <a:xfrm>
            <a:off x="1970689" y="2538350"/>
            <a:ext cx="1484574" cy="369332"/>
          </a:xfrm>
          <a:prstGeom prst="rect">
            <a:avLst/>
          </a:prstGeom>
          <a:noFill/>
        </p:spPr>
        <p:txBody>
          <a:bodyPr wrap="none" rtlCol="0">
            <a:spAutoFit/>
          </a:bodyPr>
          <a:lstStyle/>
          <a:p>
            <a:r>
              <a:rPr lang="en-US" dirty="0" err="1">
                <a:highlight>
                  <a:srgbClr val="A4561C"/>
                </a:highlight>
              </a:rPr>
              <a:t>PredatorsNCC</a:t>
            </a:r>
            <a:endParaRPr lang="en-US" dirty="0">
              <a:highlight>
                <a:srgbClr val="A4561C"/>
              </a:highlight>
            </a:endParaRPr>
          </a:p>
        </p:txBody>
      </p:sp>
      <p:cxnSp>
        <p:nvCxnSpPr>
          <p:cNvPr id="43" name="Straight Arrow Connector 42">
            <a:extLst>
              <a:ext uri="{FF2B5EF4-FFF2-40B4-BE49-F238E27FC236}">
                <a16:creationId xmlns:a16="http://schemas.microsoft.com/office/drawing/2014/main" id="{CD938CCE-431F-2E19-15E0-0607B5DC6764}"/>
              </a:ext>
            </a:extLst>
          </p:cNvPr>
          <p:cNvCxnSpPr>
            <a:cxnSpLocks/>
            <a:stCxn id="30" idx="3"/>
            <a:endCxn id="3" idx="1"/>
          </p:cNvCxnSpPr>
          <p:nvPr/>
        </p:nvCxnSpPr>
        <p:spPr>
          <a:xfrm flipV="1">
            <a:off x="3337679" y="1718456"/>
            <a:ext cx="875954" cy="276999"/>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522F75CF-A0AE-BF11-64AE-9E437965FB1A}"/>
              </a:ext>
            </a:extLst>
          </p:cNvPr>
          <p:cNvCxnSpPr>
            <a:cxnSpLocks/>
            <a:stCxn id="31" idx="3"/>
            <a:endCxn id="12" idx="1"/>
          </p:cNvCxnSpPr>
          <p:nvPr/>
        </p:nvCxnSpPr>
        <p:spPr>
          <a:xfrm>
            <a:off x="3455263" y="2723016"/>
            <a:ext cx="717554" cy="354848"/>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5D21AE25-A473-53B4-1DCF-874BD51646FC}"/>
              </a:ext>
            </a:extLst>
          </p:cNvPr>
          <p:cNvSpPr txBox="1"/>
          <p:nvPr/>
        </p:nvSpPr>
        <p:spPr>
          <a:xfrm>
            <a:off x="10622403" y="6581001"/>
            <a:ext cx="1569597" cy="276999"/>
          </a:xfrm>
          <a:prstGeom prst="rect">
            <a:avLst/>
          </a:prstGeom>
          <a:noFill/>
        </p:spPr>
        <p:txBody>
          <a:bodyPr wrap="none" rtlCol="0">
            <a:spAutoFit/>
          </a:bodyPr>
          <a:lstStyle/>
          <a:p>
            <a:r>
              <a:rPr lang="en-US" sz="1200" dirty="0"/>
              <a:t>Photo: usace.army.mil</a:t>
            </a:r>
          </a:p>
        </p:txBody>
      </p:sp>
      <p:grpSp>
        <p:nvGrpSpPr>
          <p:cNvPr id="64" name="Group 63">
            <a:extLst>
              <a:ext uri="{FF2B5EF4-FFF2-40B4-BE49-F238E27FC236}">
                <a16:creationId xmlns:a16="http://schemas.microsoft.com/office/drawing/2014/main" id="{6202CAB5-D05C-0392-3EC6-3DCE4506B0DB}"/>
              </a:ext>
            </a:extLst>
          </p:cNvPr>
          <p:cNvGrpSpPr/>
          <p:nvPr/>
        </p:nvGrpSpPr>
        <p:grpSpPr>
          <a:xfrm>
            <a:off x="2298415" y="4252606"/>
            <a:ext cx="4965074" cy="1852378"/>
            <a:chOff x="2298415" y="4252606"/>
            <a:chExt cx="4965074" cy="1852378"/>
          </a:xfrm>
        </p:grpSpPr>
        <p:sp>
          <p:nvSpPr>
            <p:cNvPr id="13" name="TextBox 12">
              <a:extLst>
                <a:ext uri="{FF2B5EF4-FFF2-40B4-BE49-F238E27FC236}">
                  <a16:creationId xmlns:a16="http://schemas.microsoft.com/office/drawing/2014/main" id="{54EBF480-AF7E-991B-A493-1A61ED42E6AF}"/>
                </a:ext>
              </a:extLst>
            </p:cNvPr>
            <p:cNvSpPr txBox="1"/>
            <p:nvPr/>
          </p:nvSpPr>
          <p:spPr>
            <a:xfrm>
              <a:off x="4203297" y="4252606"/>
              <a:ext cx="3060192" cy="369332"/>
            </a:xfrm>
            <a:prstGeom prst="rect">
              <a:avLst/>
            </a:prstGeom>
            <a:noFill/>
            <a:ln w="38100">
              <a:solidFill>
                <a:schemeClr val="accent1"/>
              </a:solidFill>
            </a:ln>
          </p:spPr>
          <p:txBody>
            <a:bodyPr wrap="square" rtlCol="0">
              <a:spAutoFit/>
            </a:bodyPr>
            <a:lstStyle/>
            <a:p>
              <a:pPr algn="ctr"/>
              <a:r>
                <a:rPr lang="en-US" dirty="0"/>
                <a:t>Smolt to Adult Return </a:t>
              </a:r>
            </a:p>
          </p:txBody>
        </p:sp>
        <p:sp>
          <p:nvSpPr>
            <p:cNvPr id="32" name="TextBox 31">
              <a:extLst>
                <a:ext uri="{FF2B5EF4-FFF2-40B4-BE49-F238E27FC236}">
                  <a16:creationId xmlns:a16="http://schemas.microsoft.com/office/drawing/2014/main" id="{4196A8B3-6D8D-663B-2C18-69FE707AA3DE}"/>
                </a:ext>
              </a:extLst>
            </p:cNvPr>
            <p:cNvSpPr txBox="1"/>
            <p:nvPr/>
          </p:nvSpPr>
          <p:spPr>
            <a:xfrm>
              <a:off x="2463835" y="5294268"/>
              <a:ext cx="851836" cy="369332"/>
            </a:xfrm>
            <a:prstGeom prst="rect">
              <a:avLst/>
            </a:prstGeom>
            <a:noFill/>
          </p:spPr>
          <p:txBody>
            <a:bodyPr wrap="none" rtlCol="0">
              <a:spAutoFit/>
            </a:bodyPr>
            <a:lstStyle/>
            <a:p>
              <a:r>
                <a:rPr lang="en-US" dirty="0" err="1">
                  <a:highlight>
                    <a:srgbClr val="A5D197"/>
                  </a:highlight>
                </a:rPr>
                <a:t>PreyAK</a:t>
              </a:r>
              <a:endParaRPr lang="en-US" dirty="0">
                <a:highlight>
                  <a:srgbClr val="A5D197"/>
                </a:highlight>
              </a:endParaRPr>
            </a:p>
          </p:txBody>
        </p:sp>
        <p:sp>
          <p:nvSpPr>
            <p:cNvPr id="33" name="TextBox 32">
              <a:extLst>
                <a:ext uri="{FF2B5EF4-FFF2-40B4-BE49-F238E27FC236}">
                  <a16:creationId xmlns:a16="http://schemas.microsoft.com/office/drawing/2014/main" id="{1CDB4FA8-2689-E9CA-D695-5B6CB50818CD}"/>
                </a:ext>
              </a:extLst>
            </p:cNvPr>
            <p:cNvSpPr txBox="1"/>
            <p:nvPr/>
          </p:nvSpPr>
          <p:spPr>
            <a:xfrm>
              <a:off x="2298415" y="5735652"/>
              <a:ext cx="1341906" cy="369332"/>
            </a:xfrm>
            <a:prstGeom prst="rect">
              <a:avLst/>
            </a:prstGeom>
            <a:noFill/>
          </p:spPr>
          <p:txBody>
            <a:bodyPr wrap="none" rtlCol="0">
              <a:spAutoFit/>
            </a:bodyPr>
            <a:lstStyle/>
            <a:p>
              <a:r>
                <a:rPr lang="en-US" dirty="0" err="1">
                  <a:highlight>
                    <a:srgbClr val="A4561C"/>
                  </a:highlight>
                </a:rPr>
                <a:t>PredatorsAK</a:t>
              </a:r>
              <a:endParaRPr lang="en-US" dirty="0">
                <a:highlight>
                  <a:srgbClr val="A4561C"/>
                </a:highlight>
              </a:endParaRPr>
            </a:p>
          </p:txBody>
        </p:sp>
        <p:cxnSp>
          <p:nvCxnSpPr>
            <p:cNvPr id="45" name="Straight Arrow Connector 44">
              <a:extLst>
                <a:ext uri="{FF2B5EF4-FFF2-40B4-BE49-F238E27FC236}">
                  <a16:creationId xmlns:a16="http://schemas.microsoft.com/office/drawing/2014/main" id="{D9A9B0BF-350E-6F4E-7838-5ABD2025B68B}"/>
                </a:ext>
              </a:extLst>
            </p:cNvPr>
            <p:cNvCxnSpPr>
              <a:cxnSpLocks/>
              <a:stCxn id="32" idx="3"/>
              <a:endCxn id="13" idx="1"/>
            </p:cNvCxnSpPr>
            <p:nvPr/>
          </p:nvCxnSpPr>
          <p:spPr>
            <a:xfrm flipV="1">
              <a:off x="3315671" y="4437272"/>
              <a:ext cx="887626" cy="104166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0A393E97-239C-AB81-5A92-7AF6A1F46ACE}"/>
                </a:ext>
              </a:extLst>
            </p:cNvPr>
            <p:cNvCxnSpPr>
              <a:cxnSpLocks/>
              <a:stCxn id="33" idx="3"/>
              <a:endCxn id="13" idx="1"/>
            </p:cNvCxnSpPr>
            <p:nvPr/>
          </p:nvCxnSpPr>
          <p:spPr>
            <a:xfrm flipV="1">
              <a:off x="3640321" y="4437272"/>
              <a:ext cx="562976" cy="148304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grpSp>
      <p:sp>
        <p:nvSpPr>
          <p:cNvPr id="4" name="TextBox 3">
            <a:extLst>
              <a:ext uri="{FF2B5EF4-FFF2-40B4-BE49-F238E27FC236}">
                <a16:creationId xmlns:a16="http://schemas.microsoft.com/office/drawing/2014/main" id="{68B87374-A0B9-1870-7376-6B9818AE690B}"/>
              </a:ext>
            </a:extLst>
          </p:cNvPr>
          <p:cNvSpPr txBox="1"/>
          <p:nvPr/>
        </p:nvSpPr>
        <p:spPr>
          <a:xfrm>
            <a:off x="8197328" y="2387590"/>
            <a:ext cx="1570616" cy="369332"/>
          </a:xfrm>
          <a:prstGeom prst="rect">
            <a:avLst/>
          </a:prstGeom>
          <a:noFill/>
          <a:ln w="38100">
            <a:solidFill>
              <a:schemeClr val="accent1"/>
            </a:solidFill>
          </a:ln>
        </p:spPr>
        <p:txBody>
          <a:bodyPr wrap="square" rtlCol="0">
            <a:spAutoFit/>
          </a:bodyPr>
          <a:lstStyle/>
          <a:p>
            <a:pPr algn="ctr"/>
            <a:r>
              <a:rPr lang="en-US" dirty="0"/>
              <a:t>Early Growth</a:t>
            </a:r>
          </a:p>
        </p:txBody>
      </p:sp>
      <p:sp>
        <p:nvSpPr>
          <p:cNvPr id="5" name="TextBox 4">
            <a:extLst>
              <a:ext uri="{FF2B5EF4-FFF2-40B4-BE49-F238E27FC236}">
                <a16:creationId xmlns:a16="http://schemas.microsoft.com/office/drawing/2014/main" id="{7DCFB2A9-EF90-0AB7-2CDE-6E0D46BF1EBD}"/>
              </a:ext>
            </a:extLst>
          </p:cNvPr>
          <p:cNvSpPr txBox="1"/>
          <p:nvPr/>
        </p:nvSpPr>
        <p:spPr>
          <a:xfrm>
            <a:off x="10229371" y="2387590"/>
            <a:ext cx="1582525" cy="369332"/>
          </a:xfrm>
          <a:prstGeom prst="rect">
            <a:avLst/>
          </a:prstGeom>
          <a:noFill/>
          <a:ln w="38100">
            <a:solidFill>
              <a:schemeClr val="accent1"/>
            </a:solidFill>
          </a:ln>
        </p:spPr>
        <p:txBody>
          <a:bodyPr wrap="square" rtlCol="0">
            <a:spAutoFit/>
          </a:bodyPr>
          <a:lstStyle/>
          <a:p>
            <a:pPr algn="ctr"/>
            <a:r>
              <a:rPr lang="en-US" dirty="0"/>
              <a:t>Early Survival </a:t>
            </a:r>
          </a:p>
        </p:txBody>
      </p:sp>
      <p:cxnSp>
        <p:nvCxnSpPr>
          <p:cNvPr id="6" name="Straight Arrow Connector 5">
            <a:extLst>
              <a:ext uri="{FF2B5EF4-FFF2-40B4-BE49-F238E27FC236}">
                <a16:creationId xmlns:a16="http://schemas.microsoft.com/office/drawing/2014/main" id="{3631256E-934E-83DA-CA06-1C3640338621}"/>
              </a:ext>
            </a:extLst>
          </p:cNvPr>
          <p:cNvCxnSpPr>
            <a:cxnSpLocks/>
            <a:stCxn id="4" idx="2"/>
            <a:endCxn id="40" idx="0"/>
          </p:cNvCxnSpPr>
          <p:nvPr/>
        </p:nvCxnSpPr>
        <p:spPr>
          <a:xfrm>
            <a:off x="8982636" y="2756922"/>
            <a:ext cx="1301048" cy="1540507"/>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790AA13D-32BD-9E7B-16C0-A95561FD0F8E}"/>
              </a:ext>
            </a:extLst>
          </p:cNvPr>
          <p:cNvCxnSpPr>
            <a:cxnSpLocks/>
            <a:stCxn id="5" idx="2"/>
            <a:endCxn id="40" idx="0"/>
          </p:cNvCxnSpPr>
          <p:nvPr/>
        </p:nvCxnSpPr>
        <p:spPr>
          <a:xfrm flipH="1">
            <a:off x="10283684" y="2756922"/>
            <a:ext cx="736950" cy="1540507"/>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78EB9159-1171-14F6-B7C0-65C717ABFCB8}"/>
              </a:ext>
            </a:extLst>
          </p:cNvPr>
          <p:cNvSpPr txBox="1"/>
          <p:nvPr/>
        </p:nvSpPr>
        <p:spPr>
          <a:xfrm>
            <a:off x="7794495" y="1703215"/>
            <a:ext cx="994503" cy="369332"/>
          </a:xfrm>
          <a:prstGeom prst="rect">
            <a:avLst/>
          </a:prstGeom>
          <a:noFill/>
        </p:spPr>
        <p:txBody>
          <a:bodyPr wrap="none" rtlCol="0">
            <a:spAutoFit/>
          </a:bodyPr>
          <a:lstStyle/>
          <a:p>
            <a:r>
              <a:rPr lang="en-US" dirty="0" err="1">
                <a:highlight>
                  <a:srgbClr val="A5D197"/>
                </a:highlight>
              </a:rPr>
              <a:t>PreyNCC</a:t>
            </a:r>
            <a:endParaRPr lang="en-US" dirty="0">
              <a:highlight>
                <a:srgbClr val="A5D197"/>
              </a:highlight>
            </a:endParaRPr>
          </a:p>
        </p:txBody>
      </p:sp>
      <p:sp>
        <p:nvSpPr>
          <p:cNvPr id="9" name="TextBox 8">
            <a:extLst>
              <a:ext uri="{FF2B5EF4-FFF2-40B4-BE49-F238E27FC236}">
                <a16:creationId xmlns:a16="http://schemas.microsoft.com/office/drawing/2014/main" id="{8EE47586-4D00-7F5E-D36C-2043F18C5279}"/>
              </a:ext>
            </a:extLst>
          </p:cNvPr>
          <p:cNvSpPr txBox="1"/>
          <p:nvPr/>
        </p:nvSpPr>
        <p:spPr>
          <a:xfrm>
            <a:off x="10555291" y="1688497"/>
            <a:ext cx="1484574" cy="369332"/>
          </a:xfrm>
          <a:prstGeom prst="rect">
            <a:avLst/>
          </a:prstGeom>
          <a:noFill/>
        </p:spPr>
        <p:txBody>
          <a:bodyPr wrap="none" rtlCol="0">
            <a:spAutoFit/>
          </a:bodyPr>
          <a:lstStyle/>
          <a:p>
            <a:r>
              <a:rPr lang="en-US" dirty="0" err="1">
                <a:highlight>
                  <a:srgbClr val="A4561C"/>
                </a:highlight>
              </a:rPr>
              <a:t>PredatorsNCC</a:t>
            </a:r>
            <a:endParaRPr lang="en-US" dirty="0">
              <a:highlight>
                <a:srgbClr val="A4561C"/>
              </a:highlight>
            </a:endParaRPr>
          </a:p>
        </p:txBody>
      </p:sp>
      <p:cxnSp>
        <p:nvCxnSpPr>
          <p:cNvPr id="10" name="Straight Arrow Connector 9">
            <a:extLst>
              <a:ext uri="{FF2B5EF4-FFF2-40B4-BE49-F238E27FC236}">
                <a16:creationId xmlns:a16="http://schemas.microsoft.com/office/drawing/2014/main" id="{AD63378C-338F-2F3F-CA1E-56607E39C40C}"/>
              </a:ext>
            </a:extLst>
          </p:cNvPr>
          <p:cNvCxnSpPr>
            <a:cxnSpLocks/>
            <a:stCxn id="8" idx="2"/>
            <a:endCxn id="4" idx="0"/>
          </p:cNvCxnSpPr>
          <p:nvPr/>
        </p:nvCxnSpPr>
        <p:spPr>
          <a:xfrm>
            <a:off x="8291747" y="2072547"/>
            <a:ext cx="690889" cy="315043"/>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67FC366E-1630-97ED-322B-2368DD7CC224}"/>
              </a:ext>
            </a:extLst>
          </p:cNvPr>
          <p:cNvCxnSpPr>
            <a:cxnSpLocks/>
            <a:stCxn id="9" idx="2"/>
            <a:endCxn id="5" idx="0"/>
          </p:cNvCxnSpPr>
          <p:nvPr/>
        </p:nvCxnSpPr>
        <p:spPr>
          <a:xfrm flipH="1">
            <a:off x="11020634" y="2057829"/>
            <a:ext cx="276944" cy="32976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grpSp>
        <p:nvGrpSpPr>
          <p:cNvPr id="36" name="Group 35">
            <a:extLst>
              <a:ext uri="{FF2B5EF4-FFF2-40B4-BE49-F238E27FC236}">
                <a16:creationId xmlns:a16="http://schemas.microsoft.com/office/drawing/2014/main" id="{16CF868A-85CC-F4BB-7FB3-02E47C2B558A}"/>
              </a:ext>
            </a:extLst>
          </p:cNvPr>
          <p:cNvGrpSpPr/>
          <p:nvPr/>
        </p:nvGrpSpPr>
        <p:grpSpPr>
          <a:xfrm>
            <a:off x="7368988" y="4297429"/>
            <a:ext cx="4195483" cy="1862318"/>
            <a:chOff x="1930209" y="4252606"/>
            <a:chExt cx="5836740" cy="1862318"/>
          </a:xfrm>
        </p:grpSpPr>
        <p:sp>
          <p:nvSpPr>
            <p:cNvPr id="40" name="TextBox 39">
              <a:extLst>
                <a:ext uri="{FF2B5EF4-FFF2-40B4-BE49-F238E27FC236}">
                  <a16:creationId xmlns:a16="http://schemas.microsoft.com/office/drawing/2014/main" id="{B223A371-B777-DD74-53E2-6D1E62CD3FDE}"/>
                </a:ext>
              </a:extLst>
            </p:cNvPr>
            <p:cNvSpPr txBox="1"/>
            <p:nvPr/>
          </p:nvSpPr>
          <p:spPr>
            <a:xfrm>
              <a:off x="4203297" y="4252606"/>
              <a:ext cx="3563652" cy="369332"/>
            </a:xfrm>
            <a:prstGeom prst="rect">
              <a:avLst/>
            </a:prstGeom>
            <a:noFill/>
            <a:ln w="38100">
              <a:solidFill>
                <a:schemeClr val="accent1"/>
              </a:solidFill>
            </a:ln>
          </p:spPr>
          <p:txBody>
            <a:bodyPr wrap="square" rtlCol="0">
              <a:spAutoFit/>
            </a:bodyPr>
            <a:lstStyle/>
            <a:p>
              <a:pPr algn="ctr"/>
              <a:r>
                <a:rPr lang="en-US" dirty="0"/>
                <a:t>Smolt to Adult Return </a:t>
              </a:r>
            </a:p>
          </p:txBody>
        </p:sp>
        <p:sp>
          <p:nvSpPr>
            <p:cNvPr id="41" name="TextBox 40">
              <a:extLst>
                <a:ext uri="{FF2B5EF4-FFF2-40B4-BE49-F238E27FC236}">
                  <a16:creationId xmlns:a16="http://schemas.microsoft.com/office/drawing/2014/main" id="{B1CFD5FA-83BF-636F-0B15-DF3DB96B685A}"/>
                </a:ext>
              </a:extLst>
            </p:cNvPr>
            <p:cNvSpPr txBox="1"/>
            <p:nvPr/>
          </p:nvSpPr>
          <p:spPr>
            <a:xfrm>
              <a:off x="1930209" y="5025327"/>
              <a:ext cx="1346941" cy="369332"/>
            </a:xfrm>
            <a:prstGeom prst="rect">
              <a:avLst/>
            </a:prstGeom>
            <a:noFill/>
          </p:spPr>
          <p:txBody>
            <a:bodyPr wrap="square" rtlCol="0">
              <a:spAutoFit/>
            </a:bodyPr>
            <a:lstStyle/>
            <a:p>
              <a:r>
                <a:rPr lang="en-US" dirty="0" err="1">
                  <a:highlight>
                    <a:srgbClr val="A5D197"/>
                  </a:highlight>
                </a:rPr>
                <a:t>PreyAK</a:t>
              </a:r>
              <a:endParaRPr lang="en-US" dirty="0">
                <a:highlight>
                  <a:srgbClr val="A5D197"/>
                </a:highlight>
              </a:endParaRPr>
            </a:p>
          </p:txBody>
        </p:sp>
        <p:sp>
          <p:nvSpPr>
            <p:cNvPr id="42" name="TextBox 41">
              <a:extLst>
                <a:ext uri="{FF2B5EF4-FFF2-40B4-BE49-F238E27FC236}">
                  <a16:creationId xmlns:a16="http://schemas.microsoft.com/office/drawing/2014/main" id="{0E725B39-78F2-DF2A-DE46-885B15192DF9}"/>
                </a:ext>
              </a:extLst>
            </p:cNvPr>
            <p:cNvSpPr txBox="1"/>
            <p:nvPr/>
          </p:nvSpPr>
          <p:spPr>
            <a:xfrm>
              <a:off x="2105247" y="5745592"/>
              <a:ext cx="1341906" cy="369332"/>
            </a:xfrm>
            <a:prstGeom prst="rect">
              <a:avLst/>
            </a:prstGeom>
            <a:noFill/>
          </p:spPr>
          <p:txBody>
            <a:bodyPr wrap="none" rtlCol="0">
              <a:spAutoFit/>
            </a:bodyPr>
            <a:lstStyle/>
            <a:p>
              <a:r>
                <a:rPr lang="en-US" dirty="0" err="1">
                  <a:highlight>
                    <a:srgbClr val="A4561C"/>
                  </a:highlight>
                </a:rPr>
                <a:t>PredatorsAK</a:t>
              </a:r>
              <a:endParaRPr lang="en-US" dirty="0">
                <a:highlight>
                  <a:srgbClr val="A4561C"/>
                </a:highlight>
              </a:endParaRPr>
            </a:p>
          </p:txBody>
        </p:sp>
        <p:cxnSp>
          <p:nvCxnSpPr>
            <p:cNvPr id="46" name="Straight Arrow Connector 45">
              <a:extLst>
                <a:ext uri="{FF2B5EF4-FFF2-40B4-BE49-F238E27FC236}">
                  <a16:creationId xmlns:a16="http://schemas.microsoft.com/office/drawing/2014/main" id="{EC78AFBE-D552-3E34-FCAB-FD1533F2F47D}"/>
                </a:ext>
              </a:extLst>
            </p:cNvPr>
            <p:cNvCxnSpPr>
              <a:cxnSpLocks/>
              <a:stCxn id="41" idx="0"/>
              <a:endCxn id="40" idx="1"/>
            </p:cNvCxnSpPr>
            <p:nvPr/>
          </p:nvCxnSpPr>
          <p:spPr>
            <a:xfrm flipV="1">
              <a:off x="2603680" y="4437272"/>
              <a:ext cx="1599617" cy="588055"/>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FEE0AA0C-AC11-35EE-3DAB-AD8DDBFB86AC}"/>
                </a:ext>
              </a:extLst>
            </p:cNvPr>
            <p:cNvCxnSpPr>
              <a:cxnSpLocks/>
              <a:stCxn id="42" idx="0"/>
              <a:endCxn id="40" idx="1"/>
            </p:cNvCxnSpPr>
            <p:nvPr/>
          </p:nvCxnSpPr>
          <p:spPr>
            <a:xfrm flipV="1">
              <a:off x="2776200" y="4437272"/>
              <a:ext cx="1427097" cy="130832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grpSp>
      <p:grpSp>
        <p:nvGrpSpPr>
          <p:cNvPr id="53" name="Group 52">
            <a:extLst>
              <a:ext uri="{FF2B5EF4-FFF2-40B4-BE49-F238E27FC236}">
                <a16:creationId xmlns:a16="http://schemas.microsoft.com/office/drawing/2014/main" id="{914A20DD-CAC3-6E48-9987-07B40701A2F6}"/>
              </a:ext>
            </a:extLst>
          </p:cNvPr>
          <p:cNvGrpSpPr/>
          <p:nvPr/>
        </p:nvGrpSpPr>
        <p:grpSpPr>
          <a:xfrm>
            <a:off x="5092926" y="2208255"/>
            <a:ext cx="4766691" cy="2096396"/>
            <a:chOff x="5092926" y="2208255"/>
            <a:chExt cx="4766691" cy="2096396"/>
          </a:xfrm>
        </p:grpSpPr>
        <p:sp>
          <p:nvSpPr>
            <p:cNvPr id="14" name="TextBox 13">
              <a:extLst>
                <a:ext uri="{FF2B5EF4-FFF2-40B4-BE49-F238E27FC236}">
                  <a16:creationId xmlns:a16="http://schemas.microsoft.com/office/drawing/2014/main" id="{172EB05E-2B41-A542-5BD3-0FC337739916}"/>
                </a:ext>
              </a:extLst>
            </p:cNvPr>
            <p:cNvSpPr txBox="1"/>
            <p:nvPr/>
          </p:nvSpPr>
          <p:spPr>
            <a:xfrm>
              <a:off x="5092926" y="2208255"/>
              <a:ext cx="2276062" cy="369332"/>
            </a:xfrm>
            <a:prstGeom prst="rect">
              <a:avLst/>
            </a:prstGeom>
            <a:noFill/>
          </p:spPr>
          <p:txBody>
            <a:bodyPr wrap="square" rtlCol="0">
              <a:spAutoFit/>
            </a:bodyPr>
            <a:lstStyle/>
            <a:p>
              <a:r>
                <a:rPr lang="en-US" b="1" dirty="0"/>
                <a:t> NO -- 0% significant</a:t>
              </a:r>
            </a:p>
          </p:txBody>
        </p:sp>
        <p:sp>
          <p:nvSpPr>
            <p:cNvPr id="24" name="TextBox 23">
              <a:extLst>
                <a:ext uri="{FF2B5EF4-FFF2-40B4-BE49-F238E27FC236}">
                  <a16:creationId xmlns:a16="http://schemas.microsoft.com/office/drawing/2014/main" id="{051D65D5-4F8A-8419-A514-C89FE36FE62F}"/>
                </a:ext>
              </a:extLst>
            </p:cNvPr>
            <p:cNvSpPr txBox="1"/>
            <p:nvPr/>
          </p:nvSpPr>
          <p:spPr>
            <a:xfrm>
              <a:off x="8620538" y="3104322"/>
              <a:ext cx="1239079" cy="1200329"/>
            </a:xfrm>
            <a:prstGeom prst="rect">
              <a:avLst/>
            </a:prstGeom>
            <a:noFill/>
          </p:spPr>
          <p:txBody>
            <a:bodyPr wrap="square" rtlCol="0">
              <a:spAutoFit/>
            </a:bodyPr>
            <a:lstStyle/>
            <a:p>
              <a:r>
                <a:rPr lang="en-US" b="1" dirty="0"/>
                <a:t> YES – </a:t>
              </a:r>
            </a:p>
            <a:p>
              <a:r>
                <a:rPr lang="en-US" b="1" dirty="0"/>
                <a:t>59% significant, </a:t>
              </a:r>
            </a:p>
            <a:p>
              <a:r>
                <a:rPr lang="en-US" b="1" dirty="0"/>
                <a:t>70% pos</a:t>
              </a:r>
            </a:p>
          </p:txBody>
        </p:sp>
      </p:grpSp>
      <p:grpSp>
        <p:nvGrpSpPr>
          <p:cNvPr id="58" name="Group 57">
            <a:extLst>
              <a:ext uri="{FF2B5EF4-FFF2-40B4-BE49-F238E27FC236}">
                <a16:creationId xmlns:a16="http://schemas.microsoft.com/office/drawing/2014/main" id="{587A4200-89D8-1F5D-0F97-37BC3402EFDF}"/>
              </a:ext>
            </a:extLst>
          </p:cNvPr>
          <p:cNvGrpSpPr/>
          <p:nvPr/>
        </p:nvGrpSpPr>
        <p:grpSpPr>
          <a:xfrm>
            <a:off x="2898911" y="771991"/>
            <a:ext cx="9210262" cy="3337190"/>
            <a:chOff x="2898911" y="771991"/>
            <a:chExt cx="9210262" cy="3337190"/>
          </a:xfrm>
        </p:grpSpPr>
        <p:sp>
          <p:nvSpPr>
            <p:cNvPr id="34" name="TextBox 33">
              <a:extLst>
                <a:ext uri="{FF2B5EF4-FFF2-40B4-BE49-F238E27FC236}">
                  <a16:creationId xmlns:a16="http://schemas.microsoft.com/office/drawing/2014/main" id="{F49F032B-E816-A573-1B96-C51BE3B199ED}"/>
                </a:ext>
              </a:extLst>
            </p:cNvPr>
            <p:cNvSpPr txBox="1"/>
            <p:nvPr/>
          </p:nvSpPr>
          <p:spPr>
            <a:xfrm>
              <a:off x="2898911" y="2908852"/>
              <a:ext cx="1514062" cy="1200329"/>
            </a:xfrm>
            <a:prstGeom prst="rect">
              <a:avLst/>
            </a:prstGeom>
            <a:noFill/>
          </p:spPr>
          <p:txBody>
            <a:bodyPr wrap="square" rtlCol="0">
              <a:spAutoFit/>
            </a:bodyPr>
            <a:lstStyle/>
            <a:p>
              <a:r>
                <a:rPr lang="en-US" b="1" dirty="0"/>
                <a:t> YES – </a:t>
              </a:r>
            </a:p>
            <a:p>
              <a:r>
                <a:rPr lang="en-US" b="1" dirty="0"/>
                <a:t>100% significant, </a:t>
              </a:r>
            </a:p>
            <a:p>
              <a:r>
                <a:rPr lang="en-US" b="1" dirty="0"/>
                <a:t>100% neg</a:t>
              </a:r>
            </a:p>
          </p:txBody>
        </p:sp>
        <p:sp>
          <p:nvSpPr>
            <p:cNvPr id="37" name="TextBox 36">
              <a:extLst>
                <a:ext uri="{FF2B5EF4-FFF2-40B4-BE49-F238E27FC236}">
                  <a16:creationId xmlns:a16="http://schemas.microsoft.com/office/drawing/2014/main" id="{94B6156A-77FB-11E7-1AB7-DF98F65B7591}"/>
                </a:ext>
              </a:extLst>
            </p:cNvPr>
            <p:cNvSpPr txBox="1"/>
            <p:nvPr/>
          </p:nvSpPr>
          <p:spPr>
            <a:xfrm>
              <a:off x="10595111" y="771991"/>
              <a:ext cx="1514062" cy="923330"/>
            </a:xfrm>
            <a:prstGeom prst="rect">
              <a:avLst/>
            </a:prstGeom>
            <a:noFill/>
          </p:spPr>
          <p:txBody>
            <a:bodyPr wrap="square" rtlCol="0">
              <a:spAutoFit/>
            </a:bodyPr>
            <a:lstStyle/>
            <a:p>
              <a:r>
                <a:rPr lang="en-US" b="1" dirty="0"/>
                <a:t>YES – 100% significant, </a:t>
              </a:r>
            </a:p>
            <a:p>
              <a:r>
                <a:rPr lang="en-US" b="1" dirty="0"/>
                <a:t>100% neg</a:t>
              </a:r>
            </a:p>
          </p:txBody>
        </p:sp>
      </p:grpSp>
      <p:sp>
        <p:nvSpPr>
          <p:cNvPr id="50" name="TextBox 49">
            <a:extLst>
              <a:ext uri="{FF2B5EF4-FFF2-40B4-BE49-F238E27FC236}">
                <a16:creationId xmlns:a16="http://schemas.microsoft.com/office/drawing/2014/main" id="{B09EC9FE-43C5-CA60-A231-E8BE2C47D6A4}"/>
              </a:ext>
            </a:extLst>
          </p:cNvPr>
          <p:cNvSpPr txBox="1"/>
          <p:nvPr/>
        </p:nvSpPr>
        <p:spPr>
          <a:xfrm>
            <a:off x="4301148" y="5539497"/>
            <a:ext cx="3578091" cy="646331"/>
          </a:xfrm>
          <a:prstGeom prst="rect">
            <a:avLst/>
          </a:prstGeom>
          <a:noFill/>
        </p:spPr>
        <p:txBody>
          <a:bodyPr wrap="square" rtlCol="0">
            <a:spAutoFit/>
          </a:bodyPr>
          <a:lstStyle/>
          <a:p>
            <a:r>
              <a:rPr lang="en-US" b="1" dirty="0"/>
              <a:t> SOMETIMES – </a:t>
            </a:r>
          </a:p>
          <a:p>
            <a:r>
              <a:rPr lang="en-US" b="1" dirty="0"/>
              <a:t>64% significant, 55% neg</a:t>
            </a:r>
          </a:p>
        </p:txBody>
      </p:sp>
      <p:sp>
        <p:nvSpPr>
          <p:cNvPr id="15" name="TextBox 14">
            <a:extLst>
              <a:ext uri="{FF2B5EF4-FFF2-40B4-BE49-F238E27FC236}">
                <a16:creationId xmlns:a16="http://schemas.microsoft.com/office/drawing/2014/main" id="{C6B8EB42-91FA-A60E-C195-B754399E7DCC}"/>
              </a:ext>
            </a:extLst>
          </p:cNvPr>
          <p:cNvSpPr txBox="1"/>
          <p:nvPr/>
        </p:nvSpPr>
        <p:spPr>
          <a:xfrm>
            <a:off x="3244952" y="774518"/>
            <a:ext cx="4877489" cy="369332"/>
          </a:xfrm>
          <a:prstGeom prst="rect">
            <a:avLst/>
          </a:prstGeom>
          <a:noFill/>
        </p:spPr>
        <p:txBody>
          <a:bodyPr wrap="none" rtlCol="0">
            <a:spAutoFit/>
          </a:bodyPr>
          <a:lstStyle/>
          <a:p>
            <a:r>
              <a:rPr lang="en-US" dirty="0"/>
              <a:t>Summary of coefficients in all models with </a:t>
            </a:r>
            <a:r>
              <a:rPr lang="en-US" dirty="0" err="1"/>
              <a:t>dAIC</a:t>
            </a:r>
            <a:r>
              <a:rPr lang="en-US" dirty="0"/>
              <a:t>&lt;3</a:t>
            </a:r>
          </a:p>
        </p:txBody>
      </p:sp>
    </p:spTree>
    <p:custDataLst>
      <p:tags r:id="rId1"/>
    </p:custDataLst>
    <p:extLst>
      <p:ext uri="{BB962C8B-B14F-4D97-AF65-F5344CB8AC3E}">
        <p14:creationId xmlns:p14="http://schemas.microsoft.com/office/powerpoint/2010/main" val="4000256098"/>
      </p:ext>
    </p:extLst>
  </p:cSld>
  <p:clrMapOvr>
    <a:masterClrMapping/>
  </p:clrMapOvr>
  <mc:AlternateContent xmlns:mc="http://schemas.openxmlformats.org/markup-compatibility/2006">
    <mc:Choice xmlns:p14="http://schemas.microsoft.com/office/powerpoint/2010/main" Requires="p14">
      <p:transition spd="slow" p14:dur="2000" advTm="64770"/>
    </mc:Choice>
    <mc:Fallback>
      <p:transition spd="slow" advTm="6477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B25876C-4AF9-68F4-B0FE-518ADFA84E63}"/>
            </a:ext>
          </a:extLst>
        </p:cNvPr>
        <p:cNvGrpSpPr/>
        <p:nvPr/>
      </p:nvGrpSpPr>
      <p:grpSpPr>
        <a:xfrm>
          <a:off x="0" y="0"/>
          <a:ext cx="0" cy="0"/>
          <a:chOff x="0" y="0"/>
          <a:chExt cx="0" cy="0"/>
        </a:xfrm>
      </p:grpSpPr>
      <p:sp>
        <p:nvSpPr>
          <p:cNvPr id="19" name="Rectangle 18">
            <a:extLst>
              <a:ext uri="{FF2B5EF4-FFF2-40B4-BE49-F238E27FC236}">
                <a16:creationId xmlns:a16="http://schemas.microsoft.com/office/drawing/2014/main" id="{60F81C0E-120A-AF9F-83A8-AD7C4C53C54A}"/>
              </a:ext>
            </a:extLst>
          </p:cNvPr>
          <p:cNvSpPr/>
          <p:nvPr/>
        </p:nvSpPr>
        <p:spPr>
          <a:xfrm>
            <a:off x="2627194" y="0"/>
            <a:ext cx="784385" cy="6858000"/>
          </a:xfrm>
          <a:prstGeom prst="rect">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5F54226A-15A5-4F46-926F-81F3EC4664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55" name="Rectangle 54">
            <a:extLst>
              <a:ext uri="{FF2B5EF4-FFF2-40B4-BE49-F238E27FC236}">
                <a16:creationId xmlns:a16="http://schemas.microsoft.com/office/drawing/2014/main" id="{CFCF670F-3E94-4C8F-95AE-035FB459B9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57" name="Straight Connector 56">
            <a:extLst>
              <a:ext uri="{FF2B5EF4-FFF2-40B4-BE49-F238E27FC236}">
                <a16:creationId xmlns:a16="http://schemas.microsoft.com/office/drawing/2014/main" id="{90479AEA-6C87-4786-A668-54BF815A73D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59" name="Rectangle 58">
            <a:extLst>
              <a:ext uri="{FF2B5EF4-FFF2-40B4-BE49-F238E27FC236}">
                <a16:creationId xmlns:a16="http://schemas.microsoft.com/office/drawing/2014/main" id="{66A0275D-AB90-4F18-B96F-29347C6FD2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1">
            <a:schemeClr val="lt1"/>
          </a:fillRef>
          <a:effectRef idx="0">
            <a:schemeClr val="accent1"/>
          </a:effectRef>
          <a:fontRef idx="minor">
            <a:schemeClr val="lt1"/>
          </a:fontRef>
        </p:style>
        <p:txBody>
          <a:bodyPr rtlCol="0" anchor="ctr"/>
          <a:lstStyle/>
          <a:p>
            <a:pPr algn="ctr"/>
            <a:endParaRPr lang="en-US"/>
          </a:p>
        </p:txBody>
      </p:sp>
      <p:sp>
        <p:nvSpPr>
          <p:cNvPr id="61" name="Rectangle 60">
            <a:extLst>
              <a:ext uri="{FF2B5EF4-FFF2-40B4-BE49-F238E27FC236}">
                <a16:creationId xmlns:a16="http://schemas.microsoft.com/office/drawing/2014/main" id="{DA49FE80-9847-4394-8088-3E078F5F7D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6096000" y="0"/>
            <a:ext cx="610222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63" name="Rectangle 62">
            <a:extLst>
              <a:ext uri="{FF2B5EF4-FFF2-40B4-BE49-F238E27FC236}">
                <a16:creationId xmlns:a16="http://schemas.microsoft.com/office/drawing/2014/main" id="{90179FFC-1388-497A-85C0-1DCACA2938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986239"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65" name="Rectangle 64">
            <a:extLst>
              <a:ext uri="{FF2B5EF4-FFF2-40B4-BE49-F238E27FC236}">
                <a16:creationId xmlns:a16="http://schemas.microsoft.com/office/drawing/2014/main" id="{F5225942-BA85-41D8-AC24-FEDEC06E83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42706"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67" name="Rectangle 66">
            <a:extLst>
              <a:ext uri="{FF2B5EF4-FFF2-40B4-BE49-F238E27FC236}">
                <a16:creationId xmlns:a16="http://schemas.microsoft.com/office/drawing/2014/main" id="{EE7724E7-BC27-477D-AEA0-3CD708929D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014472" y="379476"/>
            <a:ext cx="64008" cy="609904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69" name="Straight Connector 68">
            <a:extLst>
              <a:ext uri="{FF2B5EF4-FFF2-40B4-BE49-F238E27FC236}">
                <a16:creationId xmlns:a16="http://schemas.microsoft.com/office/drawing/2014/main" id="{99BB19A0-FB54-4D95-90F2-1C2FC71B5A5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909610" y="4597403"/>
            <a:ext cx="4389120" cy="0"/>
          </a:xfrm>
          <a:prstGeom prst="line">
            <a:avLst/>
          </a:prstGeom>
          <a:ln w="6350">
            <a:solidFill>
              <a:schemeClr val="bg1">
                <a:alpha val="90000"/>
              </a:schemeClr>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E7935D44-57C0-2738-4258-18ACA869768A}"/>
              </a:ext>
            </a:extLst>
          </p:cNvPr>
          <p:cNvSpPr txBox="1"/>
          <p:nvPr/>
        </p:nvSpPr>
        <p:spPr>
          <a:xfrm>
            <a:off x="6675461" y="1395289"/>
            <a:ext cx="4809130" cy="2554545"/>
          </a:xfrm>
          <a:prstGeom prst="rect">
            <a:avLst/>
          </a:prstGeom>
          <a:noFill/>
        </p:spPr>
        <p:txBody>
          <a:bodyPr wrap="square">
            <a:spAutoFit/>
          </a:bodyPr>
          <a:lstStyle/>
          <a:p>
            <a:r>
              <a:rPr lang="en-US" sz="7200" dirty="0">
                <a:solidFill>
                  <a:srgbClr val="FFFFFF"/>
                </a:solidFill>
              </a:rPr>
              <a:t>Goal 3 </a:t>
            </a:r>
            <a:br>
              <a:rPr lang="en-US" sz="4400" dirty="0">
                <a:solidFill>
                  <a:srgbClr val="FFFFFF"/>
                </a:solidFill>
              </a:rPr>
            </a:br>
            <a:r>
              <a:rPr lang="en-US" sz="4400" dirty="0">
                <a:solidFill>
                  <a:srgbClr val="FFFFFF"/>
                </a:solidFill>
              </a:rPr>
              <a:t>Explore modulated predator impacts</a:t>
            </a:r>
            <a:endParaRPr lang="en-US" sz="4000" dirty="0"/>
          </a:p>
        </p:txBody>
      </p:sp>
      <p:grpSp>
        <p:nvGrpSpPr>
          <p:cNvPr id="17" name="Group 16">
            <a:extLst>
              <a:ext uri="{FF2B5EF4-FFF2-40B4-BE49-F238E27FC236}">
                <a16:creationId xmlns:a16="http://schemas.microsoft.com/office/drawing/2014/main" id="{854BC883-6A2A-A248-FFF5-83715A62AEBD}"/>
              </a:ext>
            </a:extLst>
          </p:cNvPr>
          <p:cNvGrpSpPr/>
          <p:nvPr/>
        </p:nvGrpSpPr>
        <p:grpSpPr>
          <a:xfrm>
            <a:off x="143261" y="360641"/>
            <a:ext cx="5727862" cy="2690884"/>
            <a:chOff x="143261" y="360641"/>
            <a:chExt cx="5727862" cy="2690884"/>
          </a:xfrm>
        </p:grpSpPr>
        <p:grpSp>
          <p:nvGrpSpPr>
            <p:cNvPr id="7" name="Group 6">
              <a:extLst>
                <a:ext uri="{FF2B5EF4-FFF2-40B4-BE49-F238E27FC236}">
                  <a16:creationId xmlns:a16="http://schemas.microsoft.com/office/drawing/2014/main" id="{F6C0B508-C910-1546-701A-20E21D175864}"/>
                </a:ext>
              </a:extLst>
            </p:cNvPr>
            <p:cNvGrpSpPr/>
            <p:nvPr/>
          </p:nvGrpSpPr>
          <p:grpSpPr>
            <a:xfrm>
              <a:off x="143261" y="360641"/>
              <a:ext cx="5727862" cy="1991844"/>
              <a:chOff x="143261" y="360641"/>
              <a:chExt cx="5727862" cy="1991844"/>
            </a:xfrm>
          </p:grpSpPr>
          <p:pic>
            <p:nvPicPr>
              <p:cNvPr id="4" name="Picture 3">
                <a:extLst>
                  <a:ext uri="{FF2B5EF4-FFF2-40B4-BE49-F238E27FC236}">
                    <a16:creationId xmlns:a16="http://schemas.microsoft.com/office/drawing/2014/main" id="{11FDB5DD-57F1-DAF3-2CAB-974C78C37AF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3261" y="360641"/>
                <a:ext cx="2655791" cy="1991844"/>
              </a:xfrm>
              <a:prstGeom prst="rect">
                <a:avLst/>
              </a:prstGeom>
            </p:spPr>
          </p:pic>
          <p:pic>
            <p:nvPicPr>
              <p:cNvPr id="6" name="Picture 5">
                <a:extLst>
                  <a:ext uri="{FF2B5EF4-FFF2-40B4-BE49-F238E27FC236}">
                    <a16:creationId xmlns:a16="http://schemas.microsoft.com/office/drawing/2014/main" id="{1614C78E-B1C4-AC89-0D4B-ED27785117E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279022" y="408407"/>
                <a:ext cx="2592101" cy="1944077"/>
              </a:xfrm>
              <a:prstGeom prst="rect">
                <a:avLst/>
              </a:prstGeom>
            </p:spPr>
          </p:pic>
        </p:grpSp>
        <p:sp>
          <p:nvSpPr>
            <p:cNvPr id="14" name="TextBox 13">
              <a:extLst>
                <a:ext uri="{FF2B5EF4-FFF2-40B4-BE49-F238E27FC236}">
                  <a16:creationId xmlns:a16="http://schemas.microsoft.com/office/drawing/2014/main" id="{B6CF06B1-3A4A-81D0-9D6E-29C68447B61B}"/>
                </a:ext>
              </a:extLst>
            </p:cNvPr>
            <p:cNvSpPr txBox="1"/>
            <p:nvPr/>
          </p:nvSpPr>
          <p:spPr>
            <a:xfrm>
              <a:off x="863222" y="2605249"/>
              <a:ext cx="4525369" cy="446276"/>
            </a:xfrm>
            <a:prstGeom prst="rect">
              <a:avLst/>
            </a:prstGeom>
            <a:noFill/>
          </p:spPr>
          <p:txBody>
            <a:bodyPr wrap="square">
              <a:spAutoFit/>
            </a:bodyPr>
            <a:lstStyle/>
            <a:p>
              <a:r>
                <a:rPr lang="en-US" sz="2300" dirty="0">
                  <a:solidFill>
                    <a:srgbClr val="FFFFFF"/>
                  </a:solidFill>
                </a:rPr>
                <a:t>H1: temperature-&gt;spatial overlap</a:t>
              </a:r>
              <a:endParaRPr lang="en-US" dirty="0"/>
            </a:p>
          </p:txBody>
        </p:sp>
      </p:grpSp>
      <p:grpSp>
        <p:nvGrpSpPr>
          <p:cNvPr id="18" name="Group 17">
            <a:extLst>
              <a:ext uri="{FF2B5EF4-FFF2-40B4-BE49-F238E27FC236}">
                <a16:creationId xmlns:a16="http://schemas.microsoft.com/office/drawing/2014/main" id="{4BE91005-D370-3967-F7C4-C98993FD7611}"/>
              </a:ext>
            </a:extLst>
          </p:cNvPr>
          <p:cNvGrpSpPr/>
          <p:nvPr/>
        </p:nvGrpSpPr>
        <p:grpSpPr>
          <a:xfrm>
            <a:off x="143261" y="4010110"/>
            <a:ext cx="7221412" cy="2507690"/>
            <a:chOff x="143261" y="4010110"/>
            <a:chExt cx="7221412" cy="2507690"/>
          </a:xfrm>
        </p:grpSpPr>
        <p:grpSp>
          <p:nvGrpSpPr>
            <p:cNvPr id="3" name="Group 2">
              <a:extLst>
                <a:ext uri="{FF2B5EF4-FFF2-40B4-BE49-F238E27FC236}">
                  <a16:creationId xmlns:a16="http://schemas.microsoft.com/office/drawing/2014/main" id="{B7A821C6-68F8-0FC3-9173-049A3AA0A720}"/>
                </a:ext>
              </a:extLst>
            </p:cNvPr>
            <p:cNvGrpSpPr/>
            <p:nvPr/>
          </p:nvGrpSpPr>
          <p:grpSpPr>
            <a:xfrm>
              <a:off x="143261" y="4010110"/>
              <a:ext cx="5727862" cy="1968718"/>
              <a:chOff x="143261" y="4010110"/>
              <a:chExt cx="5727862" cy="1968718"/>
            </a:xfrm>
          </p:grpSpPr>
          <p:pic>
            <p:nvPicPr>
              <p:cNvPr id="5" name="Picture 4">
                <a:extLst>
                  <a:ext uri="{FF2B5EF4-FFF2-40B4-BE49-F238E27FC236}">
                    <a16:creationId xmlns:a16="http://schemas.microsoft.com/office/drawing/2014/main" id="{EBB8316F-0E19-00E1-AB47-2D252B89529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43261" y="4018174"/>
                <a:ext cx="2614203" cy="1960654"/>
              </a:xfrm>
              <a:prstGeom prst="rect">
                <a:avLst/>
              </a:prstGeom>
            </p:spPr>
          </p:pic>
          <p:pic>
            <p:nvPicPr>
              <p:cNvPr id="8" name="Picture 7">
                <a:extLst>
                  <a:ext uri="{FF2B5EF4-FFF2-40B4-BE49-F238E27FC236}">
                    <a16:creationId xmlns:a16="http://schemas.microsoft.com/office/drawing/2014/main" id="{4EBF648F-C369-A398-C693-4F62BB3EFA3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343030" y="4010110"/>
                <a:ext cx="2528093" cy="1896071"/>
              </a:xfrm>
              <a:prstGeom prst="rect">
                <a:avLst/>
              </a:prstGeom>
            </p:spPr>
          </p:pic>
        </p:grpSp>
        <p:sp>
          <p:nvSpPr>
            <p:cNvPr id="16" name="TextBox 15">
              <a:extLst>
                <a:ext uri="{FF2B5EF4-FFF2-40B4-BE49-F238E27FC236}">
                  <a16:creationId xmlns:a16="http://schemas.microsoft.com/office/drawing/2014/main" id="{7E814152-21E8-B973-E4C3-4B62DAD0F4D4}"/>
                </a:ext>
              </a:extLst>
            </p:cNvPr>
            <p:cNvSpPr txBox="1"/>
            <p:nvPr/>
          </p:nvSpPr>
          <p:spPr>
            <a:xfrm>
              <a:off x="919519" y="6071524"/>
              <a:ext cx="6445154" cy="446276"/>
            </a:xfrm>
            <a:prstGeom prst="rect">
              <a:avLst/>
            </a:prstGeom>
            <a:noFill/>
          </p:spPr>
          <p:txBody>
            <a:bodyPr wrap="square">
              <a:spAutoFit/>
            </a:bodyPr>
            <a:lstStyle/>
            <a:p>
              <a:r>
                <a:rPr lang="en-US" sz="2300" dirty="0">
                  <a:solidFill>
                    <a:srgbClr val="FFFFFF"/>
                  </a:solidFill>
                </a:rPr>
                <a:t>H2: alternate prey-&gt;prey switching</a:t>
              </a:r>
              <a:endParaRPr lang="en-US" dirty="0"/>
            </a:p>
          </p:txBody>
        </p:sp>
      </p:grpSp>
    </p:spTree>
    <p:custDataLst>
      <p:tags r:id="rId1"/>
    </p:custDataLst>
    <p:extLst>
      <p:ext uri="{BB962C8B-B14F-4D97-AF65-F5344CB8AC3E}">
        <p14:creationId xmlns:p14="http://schemas.microsoft.com/office/powerpoint/2010/main" val="3216386172"/>
      </p:ext>
    </p:extLst>
  </p:cSld>
  <p:clrMapOvr>
    <a:masterClrMapping/>
  </p:clrMapOvr>
  <mc:AlternateContent xmlns:mc="http://schemas.openxmlformats.org/markup-compatibility/2006">
    <mc:Choice xmlns:p14="http://schemas.microsoft.com/office/powerpoint/2010/main" Requires="p14">
      <p:transition spd="slow" p14:dur="2000" advTm="57853"/>
    </mc:Choice>
    <mc:Fallback>
      <p:transition spd="slow" advTm="57853"/>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31B81CB-5133-B151-C8C9-5BB74285A190}"/>
            </a:ext>
          </a:extLst>
        </p:cNvPr>
        <p:cNvGrpSpPr/>
        <p:nvPr/>
      </p:nvGrpSpPr>
      <p:grpSpPr>
        <a:xfrm>
          <a:off x="0" y="0"/>
          <a:ext cx="0" cy="0"/>
          <a:chOff x="0" y="0"/>
          <a:chExt cx="0" cy="0"/>
        </a:xfrm>
      </p:grpSpPr>
      <p:sp>
        <p:nvSpPr>
          <p:cNvPr id="30" name="Rectangle 29">
            <a:extLst>
              <a:ext uri="{FF2B5EF4-FFF2-40B4-BE49-F238E27FC236}">
                <a16:creationId xmlns:a16="http://schemas.microsoft.com/office/drawing/2014/main" id="{600B5AE2-C5CC-499C-8F2D-249888BE22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1" name="Rectangle 30">
            <a:extLst>
              <a:ext uri="{FF2B5EF4-FFF2-40B4-BE49-F238E27FC236}">
                <a16:creationId xmlns:a16="http://schemas.microsoft.com/office/drawing/2014/main" id="{BA7A3698-B350-40E5-8475-9BCC41A089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32" name="Straight Connector 31">
            <a:extLst>
              <a:ext uri="{FF2B5EF4-FFF2-40B4-BE49-F238E27FC236}">
                <a16:creationId xmlns:a16="http://schemas.microsoft.com/office/drawing/2014/main" id="{0AC655C7-EC94-4BE6-84C8-2F9EFBBB278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33" name="Rectangle 32">
            <a:extLst>
              <a:ext uri="{FF2B5EF4-FFF2-40B4-BE49-F238E27FC236}">
                <a16:creationId xmlns:a16="http://schemas.microsoft.com/office/drawing/2014/main" id="{10162E77-11AD-44A7-84EC-40C59EEFBD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8CF6936-9173-ABCB-B3A0-B0D0494BA67D}"/>
              </a:ext>
            </a:extLst>
          </p:cNvPr>
          <p:cNvSpPr>
            <a:spLocks noGrp="1"/>
          </p:cNvSpPr>
          <p:nvPr>
            <p:ph type="title"/>
          </p:nvPr>
        </p:nvSpPr>
        <p:spPr>
          <a:xfrm>
            <a:off x="660926" y="90216"/>
            <a:ext cx="8059993" cy="747374"/>
          </a:xfrm>
        </p:spPr>
        <p:txBody>
          <a:bodyPr vert="horz" lIns="91440" tIns="45720" rIns="91440" bIns="45720" rtlCol="0" anchor="b">
            <a:normAutofit/>
          </a:bodyPr>
          <a:lstStyle/>
          <a:p>
            <a:r>
              <a:rPr lang="en-US" sz="3000" kern="1200" spc="-50" baseline="0" dirty="0">
                <a:solidFill>
                  <a:schemeClr val="tx1">
                    <a:lumMod val="75000"/>
                    <a:lumOff val="25000"/>
                  </a:schemeClr>
                </a:solidFill>
                <a:latin typeface="+mj-lt"/>
                <a:ea typeface="+mj-ea"/>
                <a:cs typeface="+mj-cs"/>
              </a:rPr>
              <a:t>Results – multiple candidate models</a:t>
            </a:r>
          </a:p>
        </p:txBody>
      </p:sp>
      <p:cxnSp>
        <p:nvCxnSpPr>
          <p:cNvPr id="34" name="Straight Connector 33">
            <a:extLst>
              <a:ext uri="{FF2B5EF4-FFF2-40B4-BE49-F238E27FC236}">
                <a16:creationId xmlns:a16="http://schemas.microsoft.com/office/drawing/2014/main" id="{5AB158E9-1B40-4CD6-95F0-95CA11DF7B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892143" y="2085703"/>
            <a:ext cx="3566160" cy="0"/>
          </a:xfrm>
          <a:prstGeom prst="line">
            <a:avLst/>
          </a:prstGeom>
          <a:ln w="6350">
            <a:solidFill>
              <a:schemeClr val="tx1">
                <a:lumMod val="50000"/>
                <a:lumOff val="50000"/>
                <a:alpha val="90000"/>
              </a:schemeClr>
            </a:solidFill>
          </a:ln>
        </p:spPr>
        <p:style>
          <a:lnRef idx="1">
            <a:schemeClr val="accent1"/>
          </a:lnRef>
          <a:fillRef idx="0">
            <a:schemeClr val="accent1"/>
          </a:fillRef>
          <a:effectRef idx="0">
            <a:schemeClr val="accent1"/>
          </a:effectRef>
          <a:fontRef idx="minor">
            <a:schemeClr val="tx1"/>
          </a:fontRef>
        </p:style>
      </p:cxnSp>
      <p:sp>
        <p:nvSpPr>
          <p:cNvPr id="35" name="Rectangle 34">
            <a:extLst>
              <a:ext uri="{FF2B5EF4-FFF2-40B4-BE49-F238E27FC236}">
                <a16:creationId xmlns:a16="http://schemas.microsoft.com/office/drawing/2014/main" id="{6329CBCE-21AE-419D-AC1F-8ACF510A66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6" name="Rectangle 35">
            <a:extLst>
              <a:ext uri="{FF2B5EF4-FFF2-40B4-BE49-F238E27FC236}">
                <a16:creationId xmlns:a16="http://schemas.microsoft.com/office/drawing/2014/main" id="{FF2DA012-1414-493D-888F-5D99D0BDA3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11" name="Picture 10">
            <a:extLst>
              <a:ext uri="{FF2B5EF4-FFF2-40B4-BE49-F238E27FC236}">
                <a16:creationId xmlns:a16="http://schemas.microsoft.com/office/drawing/2014/main" id="{898972B2-9B3F-DD41-EBA6-5FAA6FDE994F}"/>
              </a:ext>
            </a:extLst>
          </p:cNvPr>
          <p:cNvPicPr>
            <a:picLocks noChangeAspect="1"/>
          </p:cNvPicPr>
          <p:nvPr/>
        </p:nvPicPr>
        <p:blipFill>
          <a:blip r:embed="rId4">
            <a:extLst>
              <a:ext uri="{28A0092B-C50C-407E-A947-70E740481C1C}">
                <a14:useLocalDpi xmlns:a14="http://schemas.microsoft.com/office/drawing/2010/main" val="0"/>
              </a:ext>
            </a:extLst>
          </a:blip>
          <a:srcRect l="13484" t="3726" r="4389" b="2"/>
          <a:stretch>
            <a:fillRect/>
          </a:stretch>
        </p:blipFill>
        <p:spPr>
          <a:xfrm>
            <a:off x="633999" y="838075"/>
            <a:ext cx="7759374" cy="5116411"/>
          </a:xfrm>
          <a:prstGeom prst="rect">
            <a:avLst/>
          </a:prstGeom>
        </p:spPr>
      </p:pic>
      <p:sp>
        <p:nvSpPr>
          <p:cNvPr id="12" name="Oval 11">
            <a:extLst>
              <a:ext uri="{FF2B5EF4-FFF2-40B4-BE49-F238E27FC236}">
                <a16:creationId xmlns:a16="http://schemas.microsoft.com/office/drawing/2014/main" id="{E2ADFD84-7D57-DD2B-92CD-C2AE3A83CBDF}"/>
              </a:ext>
            </a:extLst>
          </p:cNvPr>
          <p:cNvSpPr/>
          <p:nvPr/>
        </p:nvSpPr>
        <p:spPr>
          <a:xfrm rot="18716495">
            <a:off x="3653902" y="1103658"/>
            <a:ext cx="1304452" cy="2015297"/>
          </a:xfrm>
          <a:prstGeom prst="ellipse">
            <a:avLst/>
          </a:prstGeom>
          <a:noFill/>
          <a:ln w="793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Oval 16">
            <a:extLst>
              <a:ext uri="{FF2B5EF4-FFF2-40B4-BE49-F238E27FC236}">
                <a16:creationId xmlns:a16="http://schemas.microsoft.com/office/drawing/2014/main" id="{D72F4175-207A-CC95-FE13-D19E4AB0D74D}"/>
              </a:ext>
            </a:extLst>
          </p:cNvPr>
          <p:cNvSpPr/>
          <p:nvPr/>
        </p:nvSpPr>
        <p:spPr>
          <a:xfrm rot="18716495">
            <a:off x="2370032" y="1715940"/>
            <a:ext cx="1426191" cy="2146614"/>
          </a:xfrm>
          <a:prstGeom prst="ellipse">
            <a:avLst/>
          </a:prstGeom>
          <a:noFill/>
          <a:ln w="793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Oval 20">
            <a:extLst>
              <a:ext uri="{FF2B5EF4-FFF2-40B4-BE49-F238E27FC236}">
                <a16:creationId xmlns:a16="http://schemas.microsoft.com/office/drawing/2014/main" id="{9A94DD94-BBC2-16A9-AED4-A380E8DEF880}"/>
              </a:ext>
            </a:extLst>
          </p:cNvPr>
          <p:cNvSpPr/>
          <p:nvPr/>
        </p:nvSpPr>
        <p:spPr>
          <a:xfrm rot="1986661">
            <a:off x="4958765" y="1308096"/>
            <a:ext cx="1304452" cy="1127034"/>
          </a:xfrm>
          <a:prstGeom prst="ellipse">
            <a:avLst/>
          </a:prstGeom>
          <a:noFill/>
          <a:ln w="793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9" name="Picture 28">
            <a:extLst>
              <a:ext uri="{FF2B5EF4-FFF2-40B4-BE49-F238E27FC236}">
                <a16:creationId xmlns:a16="http://schemas.microsoft.com/office/drawing/2014/main" id="{2126232C-35D3-ECBA-037C-E9E8CDDF008A}"/>
              </a:ext>
            </a:extLst>
          </p:cNvPr>
          <p:cNvPicPr>
            <a:picLocks noChangeAspect="1"/>
          </p:cNvPicPr>
          <p:nvPr/>
        </p:nvPicPr>
        <p:blipFill>
          <a:blip r:embed="rId5"/>
          <a:srcRect r="50000" b="50000"/>
          <a:stretch>
            <a:fillRect/>
          </a:stretch>
        </p:blipFill>
        <p:spPr>
          <a:xfrm>
            <a:off x="8631327" y="558899"/>
            <a:ext cx="2762715" cy="2266047"/>
          </a:xfrm>
          <a:prstGeom prst="rect">
            <a:avLst/>
          </a:prstGeom>
        </p:spPr>
      </p:pic>
      <p:sp>
        <p:nvSpPr>
          <p:cNvPr id="38" name="TextBox 37">
            <a:extLst>
              <a:ext uri="{FF2B5EF4-FFF2-40B4-BE49-F238E27FC236}">
                <a16:creationId xmlns:a16="http://schemas.microsoft.com/office/drawing/2014/main" id="{B66796EC-2BF6-5544-AF38-798EA596411E}"/>
              </a:ext>
            </a:extLst>
          </p:cNvPr>
          <p:cNvSpPr txBox="1"/>
          <p:nvPr/>
        </p:nvSpPr>
        <p:spPr>
          <a:xfrm>
            <a:off x="142804" y="6386730"/>
            <a:ext cx="11525335" cy="369332"/>
          </a:xfrm>
          <a:prstGeom prst="rect">
            <a:avLst/>
          </a:prstGeom>
          <a:noFill/>
        </p:spPr>
        <p:txBody>
          <a:bodyPr wrap="none" rtlCol="0">
            <a:spAutoFit/>
          </a:bodyPr>
          <a:lstStyle/>
          <a:p>
            <a:r>
              <a:rPr lang="en-US" b="1" dirty="0"/>
              <a:t>Next steps</a:t>
            </a:r>
            <a:r>
              <a:rPr lang="en-US" dirty="0"/>
              <a:t>: refine models (plausibility, spatial specificity), extend to individual SEM (freshwater effects, Eve Pugsley, UW) </a:t>
            </a:r>
          </a:p>
        </p:txBody>
      </p:sp>
      <p:pic>
        <p:nvPicPr>
          <p:cNvPr id="40" name="Picture 39">
            <a:extLst>
              <a:ext uri="{FF2B5EF4-FFF2-40B4-BE49-F238E27FC236}">
                <a16:creationId xmlns:a16="http://schemas.microsoft.com/office/drawing/2014/main" id="{2E56888C-BD0A-940F-5A86-0FE40A14C3EC}"/>
              </a:ext>
            </a:extLst>
          </p:cNvPr>
          <p:cNvPicPr>
            <a:picLocks noChangeAspect="1"/>
          </p:cNvPicPr>
          <p:nvPr/>
        </p:nvPicPr>
        <p:blipFill>
          <a:blip r:embed="rId6">
            <a:extLst>
              <a:ext uri="{28A0092B-C50C-407E-A947-70E740481C1C}">
                <a14:useLocalDpi xmlns:a14="http://schemas.microsoft.com/office/drawing/2010/main" val="0"/>
              </a:ext>
            </a:extLst>
          </a:blip>
          <a:srcRect l="18906" t="13917" r="20460" b="12285"/>
          <a:stretch>
            <a:fillRect/>
          </a:stretch>
        </p:blipFill>
        <p:spPr>
          <a:xfrm>
            <a:off x="8600127" y="3191606"/>
            <a:ext cx="2793916" cy="2762880"/>
          </a:xfrm>
          <a:prstGeom prst="rect">
            <a:avLst/>
          </a:prstGeom>
        </p:spPr>
      </p:pic>
    </p:spTree>
    <p:custDataLst>
      <p:tags r:id="rId1"/>
    </p:custDataLst>
    <p:extLst>
      <p:ext uri="{BB962C8B-B14F-4D97-AF65-F5344CB8AC3E}">
        <p14:creationId xmlns:p14="http://schemas.microsoft.com/office/powerpoint/2010/main" val="3174683994"/>
      </p:ext>
    </p:extLst>
  </p:cSld>
  <p:clrMapOvr>
    <a:masterClrMapping/>
  </p:clrMapOvr>
  <mc:AlternateContent xmlns:mc="http://schemas.openxmlformats.org/markup-compatibility/2006">
    <mc:Choice xmlns:p14="http://schemas.microsoft.com/office/powerpoint/2010/main" Requires="p14">
      <p:transition spd="slow" p14:dur="2000" advTm="156028"/>
    </mc:Choice>
    <mc:Fallback>
      <p:transition spd="slow" advTm="156028"/>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77CB668-7F5D-98C6-8245-2E6983FC011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25FAD13-6DF2-F98C-7416-6B8210926949}"/>
              </a:ext>
            </a:extLst>
          </p:cNvPr>
          <p:cNvSpPr>
            <a:spLocks noGrp="1"/>
          </p:cNvSpPr>
          <p:nvPr>
            <p:ph type="title"/>
          </p:nvPr>
        </p:nvSpPr>
        <p:spPr>
          <a:xfrm>
            <a:off x="1097280" y="286603"/>
            <a:ext cx="10058400" cy="1450757"/>
          </a:xfrm>
        </p:spPr>
        <p:txBody>
          <a:bodyPr>
            <a:normAutofit/>
          </a:bodyPr>
          <a:lstStyle/>
          <a:p>
            <a:r>
              <a:rPr lang="en-US" dirty="0"/>
              <a:t>CONCLUSIONS</a:t>
            </a:r>
          </a:p>
        </p:txBody>
      </p:sp>
      <p:graphicFrame>
        <p:nvGraphicFramePr>
          <p:cNvPr id="7" name="Content Placeholder 4">
            <a:extLst>
              <a:ext uri="{FF2B5EF4-FFF2-40B4-BE49-F238E27FC236}">
                <a16:creationId xmlns:a16="http://schemas.microsoft.com/office/drawing/2014/main" id="{DEF336C1-E3B9-D2D6-683D-B5623C8CE953}"/>
              </a:ext>
            </a:extLst>
          </p:cNvPr>
          <p:cNvGraphicFramePr>
            <a:graphicFrameLocks noGrp="1"/>
          </p:cNvGraphicFramePr>
          <p:nvPr>
            <p:ph idx="1"/>
            <p:extLst>
              <p:ext uri="{D42A27DB-BD31-4B8C-83A1-F6EECF244321}">
                <p14:modId xmlns:p14="http://schemas.microsoft.com/office/powerpoint/2010/main" val="2433227159"/>
              </p:ext>
            </p:extLst>
          </p:nvPr>
        </p:nvGraphicFramePr>
        <p:xfrm>
          <a:off x="1096963" y="2098515"/>
          <a:ext cx="10058400" cy="37860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20164478"/>
      </p:ext>
    </p:extLst>
  </p:cSld>
  <p:clrMapOvr>
    <a:masterClrMapping/>
  </p:clrMapOvr>
  <mc:AlternateContent xmlns:mc="http://schemas.openxmlformats.org/markup-compatibility/2006">
    <mc:Choice xmlns:p14="http://schemas.microsoft.com/office/powerpoint/2010/main" Requires="p14">
      <p:transition spd="slow" p14:dur="2000" advTm="41630"/>
    </mc:Choice>
    <mc:Fallback>
      <p:transition spd="slow" advTm="41630"/>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A0E0AEE8-85F4-F654-FEA5-993118DF1487}"/>
            </a:ext>
          </a:extLst>
        </p:cNvPr>
        <p:cNvGrpSpPr/>
        <p:nvPr/>
      </p:nvGrpSpPr>
      <p:grpSpPr>
        <a:xfrm>
          <a:off x="0" y="0"/>
          <a:ext cx="0" cy="0"/>
          <a:chOff x="0" y="0"/>
          <a:chExt cx="0" cy="0"/>
        </a:xfrm>
      </p:grpSpPr>
      <p:sp>
        <p:nvSpPr>
          <p:cNvPr id="144" name="Google Shape;144;p27">
            <a:extLst>
              <a:ext uri="{FF2B5EF4-FFF2-40B4-BE49-F238E27FC236}">
                <a16:creationId xmlns:a16="http://schemas.microsoft.com/office/drawing/2014/main" id="{BCC37F1E-EDAE-5D15-CC76-B9C516BE4D07}"/>
              </a:ext>
            </a:extLst>
          </p:cNvPr>
          <p:cNvSpPr txBox="1">
            <a:spLocks noGrp="1"/>
          </p:cNvSpPr>
          <p:nvPr>
            <p:ph type="ctrTitle"/>
          </p:nvPr>
        </p:nvSpPr>
        <p:spPr>
          <a:xfrm>
            <a:off x="212400" y="-415236"/>
            <a:ext cx="11979600" cy="1488661"/>
          </a:xfrm>
          <a:prstGeom prst="rect">
            <a:avLst/>
          </a:prstGeom>
          <a:noFill/>
          <a:ln>
            <a:noFill/>
          </a:ln>
        </p:spPr>
        <p:txBody>
          <a:bodyPr spcFirstLastPara="1" vert="horz" wrap="square" lIns="121900" tIns="121900" rIns="121900" bIns="121900" rtlCol="0" anchor="b" anchorCtr="0">
            <a:noAutofit/>
          </a:bodyPr>
          <a:lstStyle/>
          <a:p>
            <a:pPr>
              <a:lnSpc>
                <a:spcPct val="90000"/>
              </a:lnSpc>
              <a:spcBef>
                <a:spcPts val="0"/>
              </a:spcBef>
              <a:buClr>
                <a:schemeClr val="dk2"/>
              </a:buClr>
              <a:buSzPts val="700"/>
            </a:pPr>
            <a:r>
              <a:rPr lang="en" sz="3467" dirty="0">
                <a:solidFill>
                  <a:schemeClr val="dk2"/>
                </a:solidFill>
                <a:latin typeface="Roboto"/>
                <a:ea typeface="Roboto"/>
                <a:cs typeface="Roboto"/>
                <a:sym typeface="Roboto"/>
              </a:rPr>
              <a:t>Thank you – DFO/NMFS Climate and Fisheries Collaboration</a:t>
            </a:r>
            <a:br>
              <a:rPr lang="en" sz="3467" dirty="0">
                <a:solidFill>
                  <a:schemeClr val="dk2"/>
                </a:solidFill>
                <a:latin typeface="Roboto"/>
                <a:ea typeface="Roboto"/>
                <a:cs typeface="Roboto"/>
                <a:sym typeface="Roboto"/>
              </a:rPr>
            </a:br>
            <a:r>
              <a:rPr lang="en" sz="3467" dirty="0">
                <a:solidFill>
                  <a:schemeClr val="dk2"/>
                </a:solidFill>
                <a:latin typeface="Roboto"/>
                <a:ea typeface="Roboto"/>
                <a:cs typeface="Roboto"/>
                <a:sym typeface="Roboto"/>
              </a:rPr>
              <a:t>Pacific working group membership! </a:t>
            </a:r>
            <a:endParaRPr sz="3467" dirty="0">
              <a:solidFill>
                <a:schemeClr val="dk2"/>
              </a:solidFill>
              <a:latin typeface="Roboto"/>
              <a:ea typeface="Roboto"/>
              <a:cs typeface="Roboto"/>
              <a:sym typeface="Roboto"/>
            </a:endParaRPr>
          </a:p>
        </p:txBody>
      </p:sp>
      <p:sp>
        <p:nvSpPr>
          <p:cNvPr id="145" name="Google Shape;145;p27">
            <a:extLst>
              <a:ext uri="{FF2B5EF4-FFF2-40B4-BE49-F238E27FC236}">
                <a16:creationId xmlns:a16="http://schemas.microsoft.com/office/drawing/2014/main" id="{7BDF4F7C-808A-6625-C138-110AA3D20FD4}"/>
              </a:ext>
            </a:extLst>
          </p:cNvPr>
          <p:cNvSpPr txBox="1">
            <a:spLocks noGrp="1"/>
          </p:cNvSpPr>
          <p:nvPr>
            <p:ph type="sldNum" idx="12"/>
          </p:nvPr>
        </p:nvSpPr>
        <p:spPr>
          <a:xfrm>
            <a:off x="11455637" y="5621275"/>
            <a:ext cx="731600" cy="524800"/>
          </a:xfrm>
          <a:prstGeom prst="rect">
            <a:avLst/>
          </a:prstGeom>
          <a:noFill/>
          <a:ln>
            <a:noFill/>
          </a:ln>
        </p:spPr>
        <p:txBody>
          <a:bodyPr spcFirstLastPara="1" vert="horz" wrap="square" lIns="121900" tIns="121900" rIns="121900" bIns="121900" rtlCol="0" anchor="ctr" anchorCtr="0">
            <a:normAutofit/>
          </a:bodyPr>
          <a:lstStyle/>
          <a:p>
            <a:fld id="{00000000-1234-1234-1234-123412341234}" type="slidenum">
              <a:rPr lang="en"/>
              <a:pPr/>
              <a:t>14</a:t>
            </a:fld>
            <a:endParaRPr/>
          </a:p>
        </p:txBody>
      </p:sp>
      <p:pic>
        <p:nvPicPr>
          <p:cNvPr id="146" name="Google Shape;146;p27">
            <a:extLst>
              <a:ext uri="{FF2B5EF4-FFF2-40B4-BE49-F238E27FC236}">
                <a16:creationId xmlns:a16="http://schemas.microsoft.com/office/drawing/2014/main" id="{3E6E6CBF-C096-D951-CF5A-C28B2AE3D041}"/>
              </a:ext>
            </a:extLst>
          </p:cNvPr>
          <p:cNvPicPr preferRelativeResize="0"/>
          <p:nvPr/>
        </p:nvPicPr>
        <p:blipFill rotWithShape="1">
          <a:blip r:embed="rId3">
            <a:alphaModFix/>
          </a:blip>
          <a:srcRect/>
          <a:stretch/>
        </p:blipFill>
        <p:spPr>
          <a:xfrm>
            <a:off x="2153194" y="4471341"/>
            <a:ext cx="1341200" cy="1455312"/>
          </a:xfrm>
          <a:prstGeom prst="rect">
            <a:avLst/>
          </a:prstGeom>
          <a:noFill/>
          <a:ln>
            <a:noFill/>
          </a:ln>
        </p:spPr>
      </p:pic>
      <p:pic>
        <p:nvPicPr>
          <p:cNvPr id="147" name="Google Shape;147;p27">
            <a:extLst>
              <a:ext uri="{FF2B5EF4-FFF2-40B4-BE49-F238E27FC236}">
                <a16:creationId xmlns:a16="http://schemas.microsoft.com/office/drawing/2014/main" id="{0080A4EC-0B3E-8BF5-B8F3-0708114C392A}"/>
              </a:ext>
            </a:extLst>
          </p:cNvPr>
          <p:cNvPicPr preferRelativeResize="0"/>
          <p:nvPr/>
        </p:nvPicPr>
        <p:blipFill rotWithShape="1">
          <a:blip r:embed="rId4">
            <a:alphaModFix/>
          </a:blip>
          <a:srcRect l="30949" t="27817" r="10888" b="24666"/>
          <a:stretch/>
        </p:blipFill>
        <p:spPr>
          <a:xfrm>
            <a:off x="341759" y="999820"/>
            <a:ext cx="1265067" cy="1369128"/>
          </a:xfrm>
          <a:prstGeom prst="rect">
            <a:avLst/>
          </a:prstGeom>
          <a:noFill/>
          <a:ln>
            <a:noFill/>
          </a:ln>
        </p:spPr>
      </p:pic>
      <p:pic>
        <p:nvPicPr>
          <p:cNvPr id="148" name="Google Shape;148;p27">
            <a:extLst>
              <a:ext uri="{FF2B5EF4-FFF2-40B4-BE49-F238E27FC236}">
                <a16:creationId xmlns:a16="http://schemas.microsoft.com/office/drawing/2014/main" id="{88CA62F1-8CF2-4CB6-D0BB-85566A1AF4AB}"/>
              </a:ext>
            </a:extLst>
          </p:cNvPr>
          <p:cNvPicPr preferRelativeResize="0"/>
          <p:nvPr/>
        </p:nvPicPr>
        <p:blipFill rotWithShape="1">
          <a:blip r:embed="rId5">
            <a:alphaModFix/>
          </a:blip>
          <a:srcRect b="26562"/>
          <a:stretch/>
        </p:blipFill>
        <p:spPr>
          <a:xfrm rot="-5400000">
            <a:off x="1735344" y="1014103"/>
            <a:ext cx="1369701" cy="1341133"/>
          </a:xfrm>
          <a:prstGeom prst="rect">
            <a:avLst/>
          </a:prstGeom>
          <a:noFill/>
          <a:ln>
            <a:noFill/>
          </a:ln>
        </p:spPr>
      </p:pic>
      <p:pic>
        <p:nvPicPr>
          <p:cNvPr id="149" name="Google Shape;149;p27">
            <a:extLst>
              <a:ext uri="{FF2B5EF4-FFF2-40B4-BE49-F238E27FC236}">
                <a16:creationId xmlns:a16="http://schemas.microsoft.com/office/drawing/2014/main" id="{28A8F14C-51BB-19DA-9A98-6314E545EAF2}"/>
              </a:ext>
            </a:extLst>
          </p:cNvPr>
          <p:cNvPicPr preferRelativeResize="0"/>
          <p:nvPr/>
        </p:nvPicPr>
        <p:blipFill rotWithShape="1">
          <a:blip r:embed="rId6">
            <a:alphaModFix/>
          </a:blip>
          <a:srcRect/>
          <a:stretch/>
        </p:blipFill>
        <p:spPr>
          <a:xfrm>
            <a:off x="4801726" y="999821"/>
            <a:ext cx="1265069" cy="1348463"/>
          </a:xfrm>
          <a:prstGeom prst="rect">
            <a:avLst/>
          </a:prstGeom>
          <a:noFill/>
          <a:ln>
            <a:noFill/>
          </a:ln>
        </p:spPr>
      </p:pic>
      <p:pic>
        <p:nvPicPr>
          <p:cNvPr id="150" name="Google Shape;150;p27">
            <a:extLst>
              <a:ext uri="{FF2B5EF4-FFF2-40B4-BE49-F238E27FC236}">
                <a16:creationId xmlns:a16="http://schemas.microsoft.com/office/drawing/2014/main" id="{4C1130A4-C600-9310-677D-ACEAA6230F5F}"/>
              </a:ext>
            </a:extLst>
          </p:cNvPr>
          <p:cNvPicPr preferRelativeResize="0"/>
          <p:nvPr/>
        </p:nvPicPr>
        <p:blipFill rotWithShape="1">
          <a:blip r:embed="rId7">
            <a:alphaModFix/>
          </a:blip>
          <a:srcRect t="10545" b="9627"/>
          <a:stretch/>
        </p:blipFill>
        <p:spPr>
          <a:xfrm>
            <a:off x="6209593" y="999819"/>
            <a:ext cx="1265067" cy="1350231"/>
          </a:xfrm>
          <a:prstGeom prst="rect">
            <a:avLst/>
          </a:prstGeom>
          <a:noFill/>
          <a:ln>
            <a:noFill/>
          </a:ln>
        </p:spPr>
      </p:pic>
      <p:pic>
        <p:nvPicPr>
          <p:cNvPr id="151" name="Google Shape;151;p27">
            <a:extLst>
              <a:ext uri="{FF2B5EF4-FFF2-40B4-BE49-F238E27FC236}">
                <a16:creationId xmlns:a16="http://schemas.microsoft.com/office/drawing/2014/main" id="{23816684-CD58-2CF6-B1ED-CBC79C5D33A7}"/>
              </a:ext>
            </a:extLst>
          </p:cNvPr>
          <p:cNvPicPr preferRelativeResize="0"/>
          <p:nvPr/>
        </p:nvPicPr>
        <p:blipFill rotWithShape="1">
          <a:blip r:embed="rId8">
            <a:alphaModFix/>
          </a:blip>
          <a:srcRect t="4068"/>
          <a:stretch/>
        </p:blipFill>
        <p:spPr>
          <a:xfrm>
            <a:off x="8504544" y="4517219"/>
            <a:ext cx="1462701" cy="1499887"/>
          </a:xfrm>
          <a:prstGeom prst="rect">
            <a:avLst/>
          </a:prstGeom>
          <a:noFill/>
          <a:ln>
            <a:noFill/>
          </a:ln>
        </p:spPr>
      </p:pic>
      <p:pic>
        <p:nvPicPr>
          <p:cNvPr id="152" name="Google Shape;152;p27">
            <a:extLst>
              <a:ext uri="{FF2B5EF4-FFF2-40B4-BE49-F238E27FC236}">
                <a16:creationId xmlns:a16="http://schemas.microsoft.com/office/drawing/2014/main" id="{1A97E681-97D0-1139-7E1A-D02A482C5091}"/>
              </a:ext>
            </a:extLst>
          </p:cNvPr>
          <p:cNvPicPr preferRelativeResize="0"/>
          <p:nvPr/>
        </p:nvPicPr>
        <p:blipFill rotWithShape="1">
          <a:blip r:embed="rId9">
            <a:alphaModFix/>
          </a:blip>
          <a:srcRect/>
          <a:stretch/>
        </p:blipFill>
        <p:spPr>
          <a:xfrm>
            <a:off x="10176904" y="4532070"/>
            <a:ext cx="1226455" cy="1489801"/>
          </a:xfrm>
          <a:prstGeom prst="rect">
            <a:avLst/>
          </a:prstGeom>
          <a:noFill/>
          <a:ln>
            <a:noFill/>
          </a:ln>
        </p:spPr>
      </p:pic>
      <p:pic>
        <p:nvPicPr>
          <p:cNvPr id="153" name="Google Shape;153;p27">
            <a:extLst>
              <a:ext uri="{FF2B5EF4-FFF2-40B4-BE49-F238E27FC236}">
                <a16:creationId xmlns:a16="http://schemas.microsoft.com/office/drawing/2014/main" id="{2E5DEFAE-D17E-5C4C-312D-D3F75628A371}"/>
              </a:ext>
            </a:extLst>
          </p:cNvPr>
          <p:cNvPicPr preferRelativeResize="0"/>
          <p:nvPr/>
        </p:nvPicPr>
        <p:blipFill rotWithShape="1">
          <a:blip r:embed="rId10">
            <a:alphaModFix/>
          </a:blip>
          <a:srcRect/>
          <a:stretch/>
        </p:blipFill>
        <p:spPr>
          <a:xfrm>
            <a:off x="8455859" y="1001972"/>
            <a:ext cx="1318400" cy="1339833"/>
          </a:xfrm>
          <a:prstGeom prst="rect">
            <a:avLst/>
          </a:prstGeom>
          <a:noFill/>
          <a:ln>
            <a:noFill/>
          </a:ln>
        </p:spPr>
      </p:pic>
      <p:pic>
        <p:nvPicPr>
          <p:cNvPr id="154" name="Google Shape;154;p27">
            <a:extLst>
              <a:ext uri="{FF2B5EF4-FFF2-40B4-BE49-F238E27FC236}">
                <a16:creationId xmlns:a16="http://schemas.microsoft.com/office/drawing/2014/main" id="{120C106A-619A-AF16-50B7-636415108B8D}"/>
              </a:ext>
            </a:extLst>
          </p:cNvPr>
          <p:cNvPicPr preferRelativeResize="0"/>
          <p:nvPr/>
        </p:nvPicPr>
        <p:blipFill rotWithShape="1">
          <a:blip r:embed="rId11">
            <a:alphaModFix/>
          </a:blip>
          <a:srcRect/>
          <a:stretch/>
        </p:blipFill>
        <p:spPr>
          <a:xfrm>
            <a:off x="10000593" y="1005319"/>
            <a:ext cx="1341132" cy="1341136"/>
          </a:xfrm>
          <a:prstGeom prst="rect">
            <a:avLst/>
          </a:prstGeom>
          <a:noFill/>
          <a:ln>
            <a:noFill/>
          </a:ln>
        </p:spPr>
      </p:pic>
      <p:pic>
        <p:nvPicPr>
          <p:cNvPr id="155" name="Google Shape;155;p27">
            <a:extLst>
              <a:ext uri="{FF2B5EF4-FFF2-40B4-BE49-F238E27FC236}">
                <a16:creationId xmlns:a16="http://schemas.microsoft.com/office/drawing/2014/main" id="{C6C46A82-E2D0-D76B-6AFA-E3663D725104}"/>
              </a:ext>
            </a:extLst>
          </p:cNvPr>
          <p:cNvPicPr preferRelativeResize="0"/>
          <p:nvPr/>
        </p:nvPicPr>
        <p:blipFill rotWithShape="1">
          <a:blip r:embed="rId12">
            <a:alphaModFix/>
          </a:blip>
          <a:srcRect l="28451" t="9832" r="18920" b="18298"/>
          <a:stretch/>
        </p:blipFill>
        <p:spPr>
          <a:xfrm>
            <a:off x="8483328" y="2633819"/>
            <a:ext cx="1462703" cy="1489803"/>
          </a:xfrm>
          <a:prstGeom prst="rect">
            <a:avLst/>
          </a:prstGeom>
          <a:noFill/>
          <a:ln>
            <a:noFill/>
          </a:ln>
        </p:spPr>
      </p:pic>
      <p:pic>
        <p:nvPicPr>
          <p:cNvPr id="156" name="Google Shape;156;p27">
            <a:extLst>
              <a:ext uri="{FF2B5EF4-FFF2-40B4-BE49-F238E27FC236}">
                <a16:creationId xmlns:a16="http://schemas.microsoft.com/office/drawing/2014/main" id="{7B0A1A0F-2D24-4EA2-506E-8D01F1568EEA}"/>
              </a:ext>
            </a:extLst>
          </p:cNvPr>
          <p:cNvPicPr preferRelativeResize="0"/>
          <p:nvPr/>
        </p:nvPicPr>
        <p:blipFill rotWithShape="1">
          <a:blip r:embed="rId13">
            <a:alphaModFix/>
          </a:blip>
          <a:srcRect l="5170" r="19250"/>
          <a:stretch/>
        </p:blipFill>
        <p:spPr>
          <a:xfrm>
            <a:off x="3164110" y="1167131"/>
            <a:ext cx="1462669" cy="1151687"/>
          </a:xfrm>
          <a:prstGeom prst="rect">
            <a:avLst/>
          </a:prstGeom>
          <a:noFill/>
          <a:ln>
            <a:noFill/>
          </a:ln>
        </p:spPr>
      </p:pic>
      <p:pic>
        <p:nvPicPr>
          <p:cNvPr id="157" name="Google Shape;157;p27">
            <a:extLst>
              <a:ext uri="{FF2B5EF4-FFF2-40B4-BE49-F238E27FC236}">
                <a16:creationId xmlns:a16="http://schemas.microsoft.com/office/drawing/2014/main" id="{BCE03660-3E8D-F0F3-99E2-6EB05512F7F8}"/>
              </a:ext>
            </a:extLst>
          </p:cNvPr>
          <p:cNvPicPr preferRelativeResize="0"/>
          <p:nvPr/>
        </p:nvPicPr>
        <p:blipFill rotWithShape="1">
          <a:blip r:embed="rId14">
            <a:alphaModFix/>
          </a:blip>
          <a:srcRect/>
          <a:stretch/>
        </p:blipFill>
        <p:spPr>
          <a:xfrm>
            <a:off x="341759" y="4467319"/>
            <a:ext cx="1318400" cy="1489792"/>
          </a:xfrm>
          <a:prstGeom prst="rect">
            <a:avLst/>
          </a:prstGeom>
          <a:noFill/>
          <a:ln>
            <a:noFill/>
          </a:ln>
        </p:spPr>
      </p:pic>
      <p:pic>
        <p:nvPicPr>
          <p:cNvPr id="158" name="Google Shape;158;p27">
            <a:extLst>
              <a:ext uri="{FF2B5EF4-FFF2-40B4-BE49-F238E27FC236}">
                <a16:creationId xmlns:a16="http://schemas.microsoft.com/office/drawing/2014/main" id="{DE1C7740-3F7C-D133-D014-9F85C7995C33}"/>
              </a:ext>
            </a:extLst>
          </p:cNvPr>
          <p:cNvPicPr preferRelativeResize="0"/>
          <p:nvPr/>
        </p:nvPicPr>
        <p:blipFill rotWithShape="1">
          <a:blip r:embed="rId15">
            <a:alphaModFix/>
          </a:blip>
          <a:srcRect/>
          <a:stretch/>
        </p:blipFill>
        <p:spPr>
          <a:xfrm>
            <a:off x="3841726" y="2667786"/>
            <a:ext cx="1903200" cy="1502516"/>
          </a:xfrm>
          <a:prstGeom prst="rect">
            <a:avLst/>
          </a:prstGeom>
          <a:noFill/>
          <a:ln>
            <a:noFill/>
          </a:ln>
        </p:spPr>
      </p:pic>
      <p:pic>
        <p:nvPicPr>
          <p:cNvPr id="159" name="Google Shape;159;p27">
            <a:extLst>
              <a:ext uri="{FF2B5EF4-FFF2-40B4-BE49-F238E27FC236}">
                <a16:creationId xmlns:a16="http://schemas.microsoft.com/office/drawing/2014/main" id="{A0EDDBF3-ECE3-2B2D-84B8-C3FEB9190C14}"/>
              </a:ext>
            </a:extLst>
          </p:cNvPr>
          <p:cNvPicPr preferRelativeResize="0"/>
          <p:nvPr/>
        </p:nvPicPr>
        <p:blipFill rotWithShape="1">
          <a:blip r:embed="rId16">
            <a:alphaModFix/>
          </a:blip>
          <a:srcRect/>
          <a:stretch/>
        </p:blipFill>
        <p:spPr>
          <a:xfrm>
            <a:off x="3911293" y="4453820"/>
            <a:ext cx="1318400" cy="1516169"/>
          </a:xfrm>
          <a:prstGeom prst="rect">
            <a:avLst/>
          </a:prstGeom>
          <a:noFill/>
          <a:ln>
            <a:noFill/>
          </a:ln>
        </p:spPr>
      </p:pic>
      <p:pic>
        <p:nvPicPr>
          <p:cNvPr id="160" name="Google Shape;160;p27">
            <a:extLst>
              <a:ext uri="{FF2B5EF4-FFF2-40B4-BE49-F238E27FC236}">
                <a16:creationId xmlns:a16="http://schemas.microsoft.com/office/drawing/2014/main" id="{002C0424-8CE5-C493-0536-EC498754EA7D}"/>
              </a:ext>
            </a:extLst>
          </p:cNvPr>
          <p:cNvPicPr preferRelativeResize="0"/>
          <p:nvPr/>
        </p:nvPicPr>
        <p:blipFill rotWithShape="1">
          <a:blip r:embed="rId17">
            <a:alphaModFix/>
          </a:blip>
          <a:srcRect l="13160" r="13153"/>
          <a:stretch/>
        </p:blipFill>
        <p:spPr>
          <a:xfrm>
            <a:off x="2234693" y="2680586"/>
            <a:ext cx="1462701" cy="1489799"/>
          </a:xfrm>
          <a:prstGeom prst="rect">
            <a:avLst/>
          </a:prstGeom>
          <a:noFill/>
          <a:ln>
            <a:noFill/>
          </a:ln>
        </p:spPr>
      </p:pic>
      <p:pic>
        <p:nvPicPr>
          <p:cNvPr id="161" name="Google Shape;161;p27">
            <a:extLst>
              <a:ext uri="{FF2B5EF4-FFF2-40B4-BE49-F238E27FC236}">
                <a16:creationId xmlns:a16="http://schemas.microsoft.com/office/drawing/2014/main" id="{57E6E9C8-B583-3D1D-738B-766C0F0E6627}"/>
              </a:ext>
            </a:extLst>
          </p:cNvPr>
          <p:cNvPicPr preferRelativeResize="0"/>
          <p:nvPr/>
        </p:nvPicPr>
        <p:blipFill rotWithShape="1">
          <a:blip r:embed="rId18">
            <a:alphaModFix/>
          </a:blip>
          <a:srcRect/>
          <a:stretch/>
        </p:blipFill>
        <p:spPr>
          <a:xfrm>
            <a:off x="374926" y="2851419"/>
            <a:ext cx="1752600" cy="1320800"/>
          </a:xfrm>
          <a:prstGeom prst="rect">
            <a:avLst/>
          </a:prstGeom>
          <a:noFill/>
          <a:ln>
            <a:noFill/>
          </a:ln>
        </p:spPr>
      </p:pic>
      <p:sp>
        <p:nvSpPr>
          <p:cNvPr id="162" name="Google Shape;162;p27">
            <a:extLst>
              <a:ext uri="{FF2B5EF4-FFF2-40B4-BE49-F238E27FC236}">
                <a16:creationId xmlns:a16="http://schemas.microsoft.com/office/drawing/2014/main" id="{4754CC7F-097C-7520-0B12-792C83511F4C}"/>
              </a:ext>
            </a:extLst>
          </p:cNvPr>
          <p:cNvSpPr txBox="1"/>
          <p:nvPr/>
        </p:nvSpPr>
        <p:spPr>
          <a:xfrm>
            <a:off x="413026" y="2272319"/>
            <a:ext cx="1498800" cy="369291"/>
          </a:xfrm>
          <a:prstGeom prst="rect">
            <a:avLst/>
          </a:prstGeom>
          <a:noFill/>
          <a:ln>
            <a:noFill/>
          </a:ln>
        </p:spPr>
        <p:txBody>
          <a:bodyPr spcFirstLastPara="1" wrap="square" lIns="121900" tIns="121900" rIns="121900" bIns="121900" anchor="t" anchorCtr="0">
            <a:spAutoFit/>
          </a:bodyPr>
          <a:lstStyle/>
          <a:p>
            <a:r>
              <a:rPr lang="en" sz="800">
                <a:solidFill>
                  <a:schemeClr val="dk1"/>
                </a:solidFill>
                <a:latin typeface="Roboto"/>
                <a:ea typeface="Roboto"/>
                <a:cs typeface="Roboto"/>
                <a:sym typeface="Roboto"/>
              </a:rPr>
              <a:t>Lisa Crozier (NWFSC)</a:t>
            </a:r>
            <a:endParaRPr sz="800">
              <a:solidFill>
                <a:schemeClr val="dk1"/>
              </a:solidFill>
              <a:latin typeface="Roboto"/>
              <a:ea typeface="Roboto"/>
              <a:cs typeface="Roboto"/>
              <a:sym typeface="Roboto"/>
            </a:endParaRPr>
          </a:p>
        </p:txBody>
      </p:sp>
      <p:sp>
        <p:nvSpPr>
          <p:cNvPr id="163" name="Google Shape;163;p27">
            <a:extLst>
              <a:ext uri="{FF2B5EF4-FFF2-40B4-BE49-F238E27FC236}">
                <a16:creationId xmlns:a16="http://schemas.microsoft.com/office/drawing/2014/main" id="{0F050BA0-0B6B-9B8C-4EAF-73371CCA3B6F}"/>
              </a:ext>
            </a:extLst>
          </p:cNvPr>
          <p:cNvSpPr txBox="1"/>
          <p:nvPr/>
        </p:nvSpPr>
        <p:spPr>
          <a:xfrm>
            <a:off x="1848026" y="2272319"/>
            <a:ext cx="1498800" cy="369291"/>
          </a:xfrm>
          <a:prstGeom prst="rect">
            <a:avLst/>
          </a:prstGeom>
          <a:noFill/>
          <a:ln>
            <a:noFill/>
          </a:ln>
        </p:spPr>
        <p:txBody>
          <a:bodyPr spcFirstLastPara="1" wrap="square" lIns="121900" tIns="121900" rIns="121900" bIns="121900" anchor="t" anchorCtr="0">
            <a:spAutoFit/>
          </a:bodyPr>
          <a:lstStyle/>
          <a:p>
            <a:r>
              <a:rPr lang="en" sz="800">
                <a:solidFill>
                  <a:schemeClr val="dk1"/>
                </a:solidFill>
                <a:latin typeface="Roboto"/>
                <a:ea typeface="Roboto"/>
                <a:cs typeface="Roboto"/>
                <a:sym typeface="Roboto"/>
              </a:rPr>
              <a:t>Bridget Ferris (AFSC)</a:t>
            </a:r>
            <a:endParaRPr sz="800">
              <a:solidFill>
                <a:schemeClr val="dk1"/>
              </a:solidFill>
              <a:latin typeface="Roboto"/>
              <a:ea typeface="Roboto"/>
              <a:cs typeface="Roboto"/>
              <a:sym typeface="Roboto"/>
            </a:endParaRPr>
          </a:p>
        </p:txBody>
      </p:sp>
      <p:sp>
        <p:nvSpPr>
          <p:cNvPr id="164" name="Google Shape;164;p27">
            <a:extLst>
              <a:ext uri="{FF2B5EF4-FFF2-40B4-BE49-F238E27FC236}">
                <a16:creationId xmlns:a16="http://schemas.microsoft.com/office/drawing/2014/main" id="{0434FA3B-4D56-9A5D-C64C-E793764C4A4A}"/>
              </a:ext>
            </a:extLst>
          </p:cNvPr>
          <p:cNvSpPr txBox="1"/>
          <p:nvPr/>
        </p:nvSpPr>
        <p:spPr>
          <a:xfrm>
            <a:off x="2095125" y="5929919"/>
            <a:ext cx="1440000" cy="369291"/>
          </a:xfrm>
          <a:prstGeom prst="rect">
            <a:avLst/>
          </a:prstGeom>
          <a:noFill/>
          <a:ln>
            <a:noFill/>
          </a:ln>
        </p:spPr>
        <p:txBody>
          <a:bodyPr spcFirstLastPara="1" wrap="square" lIns="121900" tIns="121900" rIns="121900" bIns="121900" anchor="t" anchorCtr="0">
            <a:spAutoFit/>
          </a:bodyPr>
          <a:lstStyle/>
          <a:p>
            <a:r>
              <a:rPr lang="en" sz="800">
                <a:solidFill>
                  <a:schemeClr val="dk1"/>
                </a:solidFill>
                <a:latin typeface="Roboto"/>
                <a:ea typeface="Roboto"/>
                <a:cs typeface="Roboto"/>
                <a:sym typeface="Roboto"/>
              </a:rPr>
              <a:t>Brendan Connors (DFO)</a:t>
            </a:r>
            <a:endParaRPr sz="800">
              <a:solidFill>
                <a:schemeClr val="dk1"/>
              </a:solidFill>
              <a:latin typeface="Roboto"/>
              <a:ea typeface="Roboto"/>
              <a:cs typeface="Roboto"/>
              <a:sym typeface="Roboto"/>
            </a:endParaRPr>
          </a:p>
        </p:txBody>
      </p:sp>
      <p:sp>
        <p:nvSpPr>
          <p:cNvPr id="165" name="Google Shape;165;p27">
            <a:extLst>
              <a:ext uri="{FF2B5EF4-FFF2-40B4-BE49-F238E27FC236}">
                <a16:creationId xmlns:a16="http://schemas.microsoft.com/office/drawing/2014/main" id="{CDAAAE28-5615-AC0B-31B9-19503D32A99C}"/>
              </a:ext>
            </a:extLst>
          </p:cNvPr>
          <p:cNvSpPr txBox="1"/>
          <p:nvPr/>
        </p:nvSpPr>
        <p:spPr>
          <a:xfrm>
            <a:off x="4930493" y="2263185"/>
            <a:ext cx="1498800" cy="369291"/>
          </a:xfrm>
          <a:prstGeom prst="rect">
            <a:avLst/>
          </a:prstGeom>
          <a:noFill/>
          <a:ln>
            <a:noFill/>
          </a:ln>
        </p:spPr>
        <p:txBody>
          <a:bodyPr spcFirstLastPara="1" wrap="square" lIns="121900" tIns="121900" rIns="121900" bIns="121900" anchor="t" anchorCtr="0">
            <a:spAutoFit/>
          </a:bodyPr>
          <a:lstStyle/>
          <a:p>
            <a:r>
              <a:rPr lang="en" sz="800">
                <a:solidFill>
                  <a:schemeClr val="dk1"/>
                </a:solidFill>
                <a:latin typeface="Roboto"/>
                <a:ea typeface="Roboto"/>
                <a:cs typeface="Roboto"/>
                <a:sym typeface="Roboto"/>
              </a:rPr>
              <a:t>Jackie King (DFO)</a:t>
            </a:r>
            <a:endParaRPr sz="800">
              <a:solidFill>
                <a:schemeClr val="dk1"/>
              </a:solidFill>
              <a:latin typeface="Roboto"/>
              <a:ea typeface="Roboto"/>
              <a:cs typeface="Roboto"/>
              <a:sym typeface="Roboto"/>
            </a:endParaRPr>
          </a:p>
        </p:txBody>
      </p:sp>
      <p:sp>
        <p:nvSpPr>
          <p:cNvPr id="166" name="Google Shape;166;p27">
            <a:extLst>
              <a:ext uri="{FF2B5EF4-FFF2-40B4-BE49-F238E27FC236}">
                <a16:creationId xmlns:a16="http://schemas.microsoft.com/office/drawing/2014/main" id="{462A185E-AD9E-3C3F-C014-319BAF019902}"/>
              </a:ext>
            </a:extLst>
          </p:cNvPr>
          <p:cNvSpPr txBox="1"/>
          <p:nvPr/>
        </p:nvSpPr>
        <p:spPr>
          <a:xfrm>
            <a:off x="6308726" y="2263187"/>
            <a:ext cx="1498800" cy="369291"/>
          </a:xfrm>
          <a:prstGeom prst="rect">
            <a:avLst/>
          </a:prstGeom>
          <a:noFill/>
          <a:ln>
            <a:noFill/>
          </a:ln>
        </p:spPr>
        <p:txBody>
          <a:bodyPr spcFirstLastPara="1" wrap="square" lIns="121900" tIns="121900" rIns="121900" bIns="121900" anchor="t" anchorCtr="0">
            <a:spAutoFit/>
          </a:bodyPr>
          <a:lstStyle/>
          <a:p>
            <a:r>
              <a:rPr lang="en" sz="800">
                <a:solidFill>
                  <a:schemeClr val="dk1"/>
                </a:solidFill>
                <a:latin typeface="Roboto"/>
                <a:ea typeface="Roboto"/>
                <a:cs typeface="Roboto"/>
                <a:sym typeface="Roboto"/>
              </a:rPr>
              <a:t>Paul Spencer (AFSC)</a:t>
            </a:r>
            <a:endParaRPr sz="800">
              <a:solidFill>
                <a:schemeClr val="dk1"/>
              </a:solidFill>
              <a:latin typeface="Roboto"/>
              <a:ea typeface="Roboto"/>
              <a:cs typeface="Roboto"/>
              <a:sym typeface="Roboto"/>
            </a:endParaRPr>
          </a:p>
        </p:txBody>
      </p:sp>
      <p:sp>
        <p:nvSpPr>
          <p:cNvPr id="173" name="Google Shape;173;p27">
            <a:extLst>
              <a:ext uri="{FF2B5EF4-FFF2-40B4-BE49-F238E27FC236}">
                <a16:creationId xmlns:a16="http://schemas.microsoft.com/office/drawing/2014/main" id="{3552F01D-5E70-0A88-4432-075B519FBC1C}"/>
              </a:ext>
            </a:extLst>
          </p:cNvPr>
          <p:cNvSpPr txBox="1"/>
          <p:nvPr/>
        </p:nvSpPr>
        <p:spPr>
          <a:xfrm>
            <a:off x="8486493" y="2263187"/>
            <a:ext cx="1498800" cy="369291"/>
          </a:xfrm>
          <a:prstGeom prst="rect">
            <a:avLst/>
          </a:prstGeom>
          <a:noFill/>
          <a:ln>
            <a:noFill/>
          </a:ln>
        </p:spPr>
        <p:txBody>
          <a:bodyPr spcFirstLastPara="1" wrap="square" lIns="121900" tIns="121900" rIns="121900" bIns="121900" anchor="t" anchorCtr="0">
            <a:spAutoFit/>
          </a:bodyPr>
          <a:lstStyle/>
          <a:p>
            <a:r>
              <a:rPr lang="en" sz="800">
                <a:solidFill>
                  <a:schemeClr val="dk1"/>
                </a:solidFill>
                <a:latin typeface="Roboto"/>
                <a:ea typeface="Roboto"/>
                <a:cs typeface="Roboto"/>
                <a:sym typeface="Roboto"/>
              </a:rPr>
              <a:t>Mary Hunsicker (NWFSC)</a:t>
            </a:r>
            <a:endParaRPr sz="800">
              <a:solidFill>
                <a:schemeClr val="dk1"/>
              </a:solidFill>
              <a:latin typeface="Roboto"/>
              <a:ea typeface="Roboto"/>
              <a:cs typeface="Roboto"/>
              <a:sym typeface="Roboto"/>
            </a:endParaRPr>
          </a:p>
        </p:txBody>
      </p:sp>
      <p:sp>
        <p:nvSpPr>
          <p:cNvPr id="174" name="Google Shape;174;p27">
            <a:extLst>
              <a:ext uri="{FF2B5EF4-FFF2-40B4-BE49-F238E27FC236}">
                <a16:creationId xmlns:a16="http://schemas.microsoft.com/office/drawing/2014/main" id="{6F401327-05FC-6B45-D400-FEAA701A17D8}"/>
              </a:ext>
            </a:extLst>
          </p:cNvPr>
          <p:cNvSpPr txBox="1"/>
          <p:nvPr/>
        </p:nvSpPr>
        <p:spPr>
          <a:xfrm>
            <a:off x="10067926" y="2263185"/>
            <a:ext cx="1498800" cy="369291"/>
          </a:xfrm>
          <a:prstGeom prst="rect">
            <a:avLst/>
          </a:prstGeom>
          <a:noFill/>
          <a:ln>
            <a:noFill/>
          </a:ln>
        </p:spPr>
        <p:txBody>
          <a:bodyPr spcFirstLastPara="1" wrap="square" lIns="121900" tIns="121900" rIns="121900" bIns="121900" anchor="t" anchorCtr="0">
            <a:spAutoFit/>
          </a:bodyPr>
          <a:lstStyle/>
          <a:p>
            <a:r>
              <a:rPr lang="en" sz="800">
                <a:solidFill>
                  <a:schemeClr val="dk1"/>
                </a:solidFill>
                <a:latin typeface="Roboto"/>
                <a:ea typeface="Roboto"/>
                <a:cs typeface="Roboto"/>
                <a:sym typeface="Roboto"/>
              </a:rPr>
              <a:t>Eric Ward (NWFSC)</a:t>
            </a:r>
            <a:endParaRPr sz="800">
              <a:solidFill>
                <a:schemeClr val="dk1"/>
              </a:solidFill>
              <a:latin typeface="Roboto"/>
              <a:ea typeface="Roboto"/>
              <a:cs typeface="Roboto"/>
              <a:sym typeface="Roboto"/>
            </a:endParaRPr>
          </a:p>
        </p:txBody>
      </p:sp>
      <p:sp>
        <p:nvSpPr>
          <p:cNvPr id="175" name="Google Shape;175;p27">
            <a:extLst>
              <a:ext uri="{FF2B5EF4-FFF2-40B4-BE49-F238E27FC236}">
                <a16:creationId xmlns:a16="http://schemas.microsoft.com/office/drawing/2014/main" id="{6DB261E4-479E-32D7-AFB4-81B39B41C631}"/>
              </a:ext>
            </a:extLst>
          </p:cNvPr>
          <p:cNvSpPr txBox="1"/>
          <p:nvPr/>
        </p:nvSpPr>
        <p:spPr>
          <a:xfrm>
            <a:off x="616226" y="4101119"/>
            <a:ext cx="1498800" cy="369291"/>
          </a:xfrm>
          <a:prstGeom prst="rect">
            <a:avLst/>
          </a:prstGeom>
          <a:noFill/>
          <a:ln>
            <a:noFill/>
          </a:ln>
        </p:spPr>
        <p:txBody>
          <a:bodyPr spcFirstLastPara="1" wrap="square" lIns="121900" tIns="121900" rIns="121900" bIns="121900" anchor="t" anchorCtr="0">
            <a:spAutoFit/>
          </a:bodyPr>
          <a:lstStyle/>
          <a:p>
            <a:r>
              <a:rPr lang="en" sz="800">
                <a:solidFill>
                  <a:schemeClr val="dk1"/>
                </a:solidFill>
                <a:latin typeface="Roboto"/>
                <a:ea typeface="Roboto"/>
                <a:cs typeface="Roboto"/>
                <a:sym typeface="Roboto"/>
              </a:rPr>
              <a:t>Chris Rooper (DFO)</a:t>
            </a:r>
            <a:endParaRPr sz="800">
              <a:solidFill>
                <a:schemeClr val="dk1"/>
              </a:solidFill>
              <a:latin typeface="Roboto"/>
              <a:ea typeface="Roboto"/>
              <a:cs typeface="Roboto"/>
              <a:sym typeface="Roboto"/>
            </a:endParaRPr>
          </a:p>
        </p:txBody>
      </p:sp>
      <p:sp>
        <p:nvSpPr>
          <p:cNvPr id="176" name="Google Shape;176;p27">
            <a:extLst>
              <a:ext uri="{FF2B5EF4-FFF2-40B4-BE49-F238E27FC236}">
                <a16:creationId xmlns:a16="http://schemas.microsoft.com/office/drawing/2014/main" id="{57FE08DD-2FFB-83EF-FCF7-D0AAB0195A15}"/>
              </a:ext>
            </a:extLst>
          </p:cNvPr>
          <p:cNvSpPr txBox="1"/>
          <p:nvPr/>
        </p:nvSpPr>
        <p:spPr>
          <a:xfrm>
            <a:off x="2457626" y="4101119"/>
            <a:ext cx="1498800" cy="369291"/>
          </a:xfrm>
          <a:prstGeom prst="rect">
            <a:avLst/>
          </a:prstGeom>
          <a:noFill/>
          <a:ln>
            <a:noFill/>
          </a:ln>
        </p:spPr>
        <p:txBody>
          <a:bodyPr spcFirstLastPara="1" wrap="square" lIns="121900" tIns="121900" rIns="121900" bIns="121900" anchor="t" anchorCtr="0">
            <a:spAutoFit/>
          </a:bodyPr>
          <a:lstStyle/>
          <a:p>
            <a:r>
              <a:rPr lang="en" sz="800">
                <a:solidFill>
                  <a:schemeClr val="dk1"/>
                </a:solidFill>
                <a:latin typeface="Roboto"/>
                <a:ea typeface="Roboto"/>
                <a:cs typeface="Roboto"/>
                <a:sym typeface="Roboto"/>
              </a:rPr>
              <a:t>Tetjana Ross (DFO)</a:t>
            </a:r>
            <a:endParaRPr sz="800">
              <a:solidFill>
                <a:schemeClr val="dk1"/>
              </a:solidFill>
              <a:latin typeface="Roboto"/>
              <a:ea typeface="Roboto"/>
              <a:cs typeface="Roboto"/>
              <a:sym typeface="Roboto"/>
            </a:endParaRPr>
          </a:p>
        </p:txBody>
      </p:sp>
      <p:sp>
        <p:nvSpPr>
          <p:cNvPr id="177" name="Google Shape;177;p27">
            <a:extLst>
              <a:ext uri="{FF2B5EF4-FFF2-40B4-BE49-F238E27FC236}">
                <a16:creationId xmlns:a16="http://schemas.microsoft.com/office/drawing/2014/main" id="{0E17D3DC-77F5-7CBB-3E0B-8F8A2C1A2526}"/>
              </a:ext>
            </a:extLst>
          </p:cNvPr>
          <p:cNvSpPr txBox="1"/>
          <p:nvPr/>
        </p:nvSpPr>
        <p:spPr>
          <a:xfrm>
            <a:off x="4155843" y="4101119"/>
            <a:ext cx="1498800" cy="369291"/>
          </a:xfrm>
          <a:prstGeom prst="rect">
            <a:avLst/>
          </a:prstGeom>
          <a:noFill/>
          <a:ln>
            <a:noFill/>
          </a:ln>
        </p:spPr>
        <p:txBody>
          <a:bodyPr spcFirstLastPara="1" wrap="square" lIns="121900" tIns="121900" rIns="121900" bIns="121900" anchor="t" anchorCtr="0">
            <a:spAutoFit/>
          </a:bodyPr>
          <a:lstStyle/>
          <a:p>
            <a:r>
              <a:rPr lang="en" sz="800" dirty="0">
                <a:solidFill>
                  <a:schemeClr val="dk1"/>
                </a:solidFill>
                <a:latin typeface="Roboto"/>
                <a:ea typeface="Roboto"/>
                <a:cs typeface="Roboto"/>
                <a:sym typeface="Roboto"/>
              </a:rPr>
              <a:t>Andy Edwards (DFO)</a:t>
            </a:r>
            <a:endParaRPr sz="800" dirty="0">
              <a:solidFill>
                <a:schemeClr val="dk1"/>
              </a:solidFill>
              <a:latin typeface="Roboto"/>
              <a:ea typeface="Roboto"/>
              <a:cs typeface="Roboto"/>
              <a:sym typeface="Roboto"/>
            </a:endParaRPr>
          </a:p>
        </p:txBody>
      </p:sp>
      <p:sp>
        <p:nvSpPr>
          <p:cNvPr id="178" name="Google Shape;178;p27">
            <a:extLst>
              <a:ext uri="{FF2B5EF4-FFF2-40B4-BE49-F238E27FC236}">
                <a16:creationId xmlns:a16="http://schemas.microsoft.com/office/drawing/2014/main" id="{5923D7B3-A11A-655C-BE32-1B21FBF774B5}"/>
              </a:ext>
            </a:extLst>
          </p:cNvPr>
          <p:cNvSpPr txBox="1"/>
          <p:nvPr/>
        </p:nvSpPr>
        <p:spPr>
          <a:xfrm>
            <a:off x="8625826" y="5894187"/>
            <a:ext cx="1498800" cy="369291"/>
          </a:xfrm>
          <a:prstGeom prst="rect">
            <a:avLst/>
          </a:prstGeom>
          <a:noFill/>
          <a:ln>
            <a:noFill/>
          </a:ln>
        </p:spPr>
        <p:txBody>
          <a:bodyPr spcFirstLastPara="1" wrap="square" lIns="121900" tIns="121900" rIns="121900" bIns="121900" anchor="t" anchorCtr="0">
            <a:spAutoFit/>
          </a:bodyPr>
          <a:lstStyle/>
          <a:p>
            <a:r>
              <a:rPr lang="en" sz="800">
                <a:solidFill>
                  <a:schemeClr val="dk1"/>
                </a:solidFill>
                <a:latin typeface="Roboto"/>
                <a:ea typeface="Roboto"/>
                <a:cs typeface="Roboto"/>
                <a:sym typeface="Roboto"/>
              </a:rPr>
              <a:t>Lauren Rogers (AFSC)</a:t>
            </a:r>
            <a:endParaRPr sz="800">
              <a:solidFill>
                <a:schemeClr val="dk1"/>
              </a:solidFill>
              <a:latin typeface="Roboto"/>
              <a:ea typeface="Roboto"/>
              <a:cs typeface="Roboto"/>
              <a:sym typeface="Roboto"/>
            </a:endParaRPr>
          </a:p>
        </p:txBody>
      </p:sp>
      <p:sp>
        <p:nvSpPr>
          <p:cNvPr id="179" name="Google Shape;179;p27">
            <a:extLst>
              <a:ext uri="{FF2B5EF4-FFF2-40B4-BE49-F238E27FC236}">
                <a16:creationId xmlns:a16="http://schemas.microsoft.com/office/drawing/2014/main" id="{7A6E148C-3717-1118-B2E3-7BC1C3443909}"/>
              </a:ext>
            </a:extLst>
          </p:cNvPr>
          <p:cNvSpPr txBox="1"/>
          <p:nvPr/>
        </p:nvSpPr>
        <p:spPr>
          <a:xfrm>
            <a:off x="10174559" y="5919571"/>
            <a:ext cx="1498800" cy="369291"/>
          </a:xfrm>
          <a:prstGeom prst="rect">
            <a:avLst/>
          </a:prstGeom>
          <a:noFill/>
          <a:ln>
            <a:noFill/>
          </a:ln>
        </p:spPr>
        <p:txBody>
          <a:bodyPr spcFirstLastPara="1" wrap="square" lIns="121900" tIns="121900" rIns="121900" bIns="121900" anchor="t" anchorCtr="0">
            <a:spAutoFit/>
          </a:bodyPr>
          <a:lstStyle/>
          <a:p>
            <a:r>
              <a:rPr lang="en" sz="800">
                <a:solidFill>
                  <a:schemeClr val="dk1"/>
                </a:solidFill>
                <a:latin typeface="Roboto"/>
                <a:ea typeface="Roboto"/>
                <a:cs typeface="Roboto"/>
                <a:sym typeface="Roboto"/>
              </a:rPr>
              <a:t>Wei Cheng (AFSC/PMEL)</a:t>
            </a:r>
            <a:endParaRPr sz="800">
              <a:solidFill>
                <a:schemeClr val="dk1"/>
              </a:solidFill>
              <a:latin typeface="Roboto"/>
              <a:ea typeface="Roboto"/>
              <a:cs typeface="Roboto"/>
              <a:sym typeface="Roboto"/>
            </a:endParaRPr>
          </a:p>
        </p:txBody>
      </p:sp>
      <p:sp>
        <p:nvSpPr>
          <p:cNvPr id="180" name="Google Shape;180;p27">
            <a:extLst>
              <a:ext uri="{FF2B5EF4-FFF2-40B4-BE49-F238E27FC236}">
                <a16:creationId xmlns:a16="http://schemas.microsoft.com/office/drawing/2014/main" id="{3EE64E87-2C41-575F-E582-57E6AC1FF0EC}"/>
              </a:ext>
            </a:extLst>
          </p:cNvPr>
          <p:cNvSpPr txBox="1"/>
          <p:nvPr/>
        </p:nvSpPr>
        <p:spPr>
          <a:xfrm>
            <a:off x="413026" y="5929919"/>
            <a:ext cx="1498800" cy="369291"/>
          </a:xfrm>
          <a:prstGeom prst="rect">
            <a:avLst/>
          </a:prstGeom>
          <a:noFill/>
          <a:ln>
            <a:noFill/>
          </a:ln>
        </p:spPr>
        <p:txBody>
          <a:bodyPr spcFirstLastPara="1" wrap="square" lIns="121900" tIns="121900" rIns="121900" bIns="121900" anchor="t" anchorCtr="0">
            <a:spAutoFit/>
          </a:bodyPr>
          <a:lstStyle/>
          <a:p>
            <a:r>
              <a:rPr lang="en" sz="800">
                <a:solidFill>
                  <a:schemeClr val="dk1"/>
                </a:solidFill>
                <a:latin typeface="Roboto"/>
                <a:ea typeface="Roboto"/>
                <a:cs typeface="Roboto"/>
                <a:sym typeface="Roboto"/>
              </a:rPr>
              <a:t>Jennifer Boldt (DFO)</a:t>
            </a:r>
            <a:endParaRPr sz="800">
              <a:solidFill>
                <a:schemeClr val="dk1"/>
              </a:solidFill>
              <a:latin typeface="Roboto"/>
              <a:ea typeface="Roboto"/>
              <a:cs typeface="Roboto"/>
              <a:sym typeface="Roboto"/>
            </a:endParaRPr>
          </a:p>
        </p:txBody>
      </p:sp>
      <p:sp>
        <p:nvSpPr>
          <p:cNvPr id="181" name="Google Shape;181;p27">
            <a:extLst>
              <a:ext uri="{FF2B5EF4-FFF2-40B4-BE49-F238E27FC236}">
                <a16:creationId xmlns:a16="http://schemas.microsoft.com/office/drawing/2014/main" id="{B52B8306-61BD-E97F-0759-D04667773A3C}"/>
              </a:ext>
            </a:extLst>
          </p:cNvPr>
          <p:cNvSpPr txBox="1"/>
          <p:nvPr/>
        </p:nvSpPr>
        <p:spPr>
          <a:xfrm>
            <a:off x="3146043" y="2257903"/>
            <a:ext cx="1498800" cy="369291"/>
          </a:xfrm>
          <a:prstGeom prst="rect">
            <a:avLst/>
          </a:prstGeom>
          <a:noFill/>
          <a:ln>
            <a:noFill/>
          </a:ln>
        </p:spPr>
        <p:txBody>
          <a:bodyPr spcFirstLastPara="1" wrap="square" lIns="121900" tIns="121900" rIns="121900" bIns="121900" anchor="t" anchorCtr="0">
            <a:spAutoFit/>
          </a:bodyPr>
          <a:lstStyle/>
          <a:p>
            <a:pPr algn="ctr"/>
            <a:r>
              <a:rPr lang="en" sz="800">
                <a:solidFill>
                  <a:schemeClr val="dk1"/>
                </a:solidFill>
                <a:latin typeface="Roboto"/>
                <a:ea typeface="Roboto"/>
                <a:cs typeface="Roboto"/>
                <a:sym typeface="Roboto"/>
              </a:rPr>
              <a:t>Sean Anderson (DFO)</a:t>
            </a:r>
            <a:endParaRPr sz="800">
              <a:solidFill>
                <a:schemeClr val="dk1"/>
              </a:solidFill>
              <a:latin typeface="Roboto"/>
              <a:ea typeface="Roboto"/>
              <a:cs typeface="Roboto"/>
              <a:sym typeface="Roboto"/>
            </a:endParaRPr>
          </a:p>
        </p:txBody>
      </p:sp>
      <p:sp>
        <p:nvSpPr>
          <p:cNvPr id="182" name="Google Shape;182;p27">
            <a:extLst>
              <a:ext uri="{FF2B5EF4-FFF2-40B4-BE49-F238E27FC236}">
                <a16:creationId xmlns:a16="http://schemas.microsoft.com/office/drawing/2014/main" id="{1C86E65C-9F30-0B5C-5B41-3054696F4A74}"/>
              </a:ext>
            </a:extLst>
          </p:cNvPr>
          <p:cNvSpPr txBox="1"/>
          <p:nvPr/>
        </p:nvSpPr>
        <p:spPr>
          <a:xfrm>
            <a:off x="3952643" y="5929919"/>
            <a:ext cx="1498800" cy="369291"/>
          </a:xfrm>
          <a:prstGeom prst="rect">
            <a:avLst/>
          </a:prstGeom>
          <a:noFill/>
          <a:ln>
            <a:noFill/>
          </a:ln>
        </p:spPr>
        <p:txBody>
          <a:bodyPr spcFirstLastPara="1" wrap="square" lIns="121900" tIns="121900" rIns="121900" bIns="121900" anchor="t" anchorCtr="0">
            <a:spAutoFit/>
          </a:bodyPr>
          <a:lstStyle/>
          <a:p>
            <a:r>
              <a:rPr lang="en" sz="800">
                <a:solidFill>
                  <a:schemeClr val="dk1"/>
                </a:solidFill>
                <a:latin typeface="Roboto"/>
                <a:ea typeface="Roboto"/>
                <a:cs typeface="Roboto"/>
                <a:sym typeface="Roboto"/>
              </a:rPr>
              <a:t>Angelica Pena (DFO)</a:t>
            </a:r>
            <a:endParaRPr sz="800">
              <a:solidFill>
                <a:schemeClr val="dk1"/>
              </a:solidFill>
              <a:latin typeface="Roboto"/>
              <a:ea typeface="Roboto"/>
              <a:cs typeface="Roboto"/>
              <a:sym typeface="Roboto"/>
            </a:endParaRPr>
          </a:p>
        </p:txBody>
      </p:sp>
      <p:pic>
        <p:nvPicPr>
          <p:cNvPr id="183" name="Google Shape;183;p27">
            <a:extLst>
              <a:ext uri="{FF2B5EF4-FFF2-40B4-BE49-F238E27FC236}">
                <a16:creationId xmlns:a16="http://schemas.microsoft.com/office/drawing/2014/main" id="{7A85151A-2CA4-B5E7-3555-6A12D5795D04}"/>
              </a:ext>
            </a:extLst>
          </p:cNvPr>
          <p:cNvPicPr preferRelativeResize="0"/>
          <p:nvPr/>
        </p:nvPicPr>
        <p:blipFill rotWithShape="1">
          <a:blip r:embed="rId19">
            <a:alphaModFix/>
          </a:blip>
          <a:srcRect/>
          <a:stretch/>
        </p:blipFill>
        <p:spPr>
          <a:xfrm>
            <a:off x="7041244" y="4500693"/>
            <a:ext cx="1214653" cy="1479233"/>
          </a:xfrm>
          <a:prstGeom prst="rect">
            <a:avLst/>
          </a:prstGeom>
          <a:noFill/>
          <a:ln>
            <a:noFill/>
          </a:ln>
        </p:spPr>
      </p:pic>
      <p:sp>
        <p:nvSpPr>
          <p:cNvPr id="184" name="Google Shape;184;p27">
            <a:extLst>
              <a:ext uri="{FF2B5EF4-FFF2-40B4-BE49-F238E27FC236}">
                <a16:creationId xmlns:a16="http://schemas.microsoft.com/office/drawing/2014/main" id="{5A253508-84CF-C1A1-8BC3-DCA061EBFE8F}"/>
              </a:ext>
            </a:extLst>
          </p:cNvPr>
          <p:cNvSpPr txBox="1"/>
          <p:nvPr/>
        </p:nvSpPr>
        <p:spPr>
          <a:xfrm>
            <a:off x="6816226" y="5920787"/>
            <a:ext cx="1440000" cy="369291"/>
          </a:xfrm>
          <a:prstGeom prst="rect">
            <a:avLst/>
          </a:prstGeom>
          <a:noFill/>
          <a:ln>
            <a:noFill/>
          </a:ln>
        </p:spPr>
        <p:txBody>
          <a:bodyPr spcFirstLastPara="1" wrap="square" lIns="121900" tIns="121900" rIns="121900" bIns="121900" anchor="t" anchorCtr="0">
            <a:spAutoFit/>
          </a:bodyPr>
          <a:lstStyle/>
          <a:p>
            <a:r>
              <a:rPr lang="en" sz="800">
                <a:solidFill>
                  <a:schemeClr val="dk1"/>
                </a:solidFill>
                <a:latin typeface="Roboto"/>
                <a:ea typeface="Roboto"/>
                <a:cs typeface="Roboto"/>
                <a:sym typeface="Roboto"/>
              </a:rPr>
              <a:t>Wess Strasburger (AFSC)</a:t>
            </a:r>
            <a:endParaRPr sz="800">
              <a:solidFill>
                <a:schemeClr val="dk1"/>
              </a:solidFill>
              <a:latin typeface="Roboto"/>
              <a:ea typeface="Roboto"/>
              <a:cs typeface="Roboto"/>
              <a:sym typeface="Roboto"/>
            </a:endParaRPr>
          </a:p>
        </p:txBody>
      </p:sp>
      <p:pic>
        <p:nvPicPr>
          <p:cNvPr id="185" name="Google Shape;185;p27">
            <a:extLst>
              <a:ext uri="{FF2B5EF4-FFF2-40B4-BE49-F238E27FC236}">
                <a16:creationId xmlns:a16="http://schemas.microsoft.com/office/drawing/2014/main" id="{4FBDADE5-5A96-919B-03D1-673882518650}"/>
              </a:ext>
            </a:extLst>
          </p:cNvPr>
          <p:cNvPicPr preferRelativeResize="0"/>
          <p:nvPr/>
        </p:nvPicPr>
        <p:blipFill rotWithShape="1">
          <a:blip r:embed="rId20">
            <a:alphaModFix/>
          </a:blip>
          <a:srcRect/>
          <a:stretch/>
        </p:blipFill>
        <p:spPr>
          <a:xfrm>
            <a:off x="10219894" y="2633787"/>
            <a:ext cx="1016000" cy="1559784"/>
          </a:xfrm>
          <a:prstGeom prst="rect">
            <a:avLst/>
          </a:prstGeom>
          <a:noFill/>
          <a:ln>
            <a:noFill/>
          </a:ln>
        </p:spPr>
      </p:pic>
      <p:sp>
        <p:nvSpPr>
          <p:cNvPr id="186" name="Google Shape;186;p27">
            <a:extLst>
              <a:ext uri="{FF2B5EF4-FFF2-40B4-BE49-F238E27FC236}">
                <a16:creationId xmlns:a16="http://schemas.microsoft.com/office/drawing/2014/main" id="{318A6EB7-0BAC-A4B4-351B-EA7968816F7C}"/>
              </a:ext>
            </a:extLst>
          </p:cNvPr>
          <p:cNvSpPr txBox="1"/>
          <p:nvPr/>
        </p:nvSpPr>
        <p:spPr>
          <a:xfrm>
            <a:off x="10067923" y="4104071"/>
            <a:ext cx="1498800" cy="369291"/>
          </a:xfrm>
          <a:prstGeom prst="rect">
            <a:avLst/>
          </a:prstGeom>
          <a:noFill/>
          <a:ln>
            <a:noFill/>
          </a:ln>
        </p:spPr>
        <p:txBody>
          <a:bodyPr spcFirstLastPara="1" wrap="square" lIns="121900" tIns="121900" rIns="121900" bIns="121900" anchor="t" anchorCtr="0">
            <a:spAutoFit/>
          </a:bodyPr>
          <a:lstStyle/>
          <a:p>
            <a:r>
              <a:rPr lang="en" sz="800">
                <a:solidFill>
                  <a:schemeClr val="dk1"/>
                </a:solidFill>
                <a:latin typeface="Roboto"/>
                <a:ea typeface="Roboto"/>
                <a:cs typeface="Roboto"/>
                <a:sym typeface="Roboto"/>
              </a:rPr>
              <a:t>Mike Jacox  (SWFS/OAR)</a:t>
            </a:r>
            <a:endParaRPr sz="800">
              <a:solidFill>
                <a:schemeClr val="dk1"/>
              </a:solidFill>
              <a:latin typeface="Roboto"/>
              <a:ea typeface="Roboto"/>
              <a:cs typeface="Roboto"/>
              <a:sym typeface="Roboto"/>
            </a:endParaRPr>
          </a:p>
        </p:txBody>
      </p:sp>
      <p:sp>
        <p:nvSpPr>
          <p:cNvPr id="188" name="Google Shape;188;p27">
            <a:extLst>
              <a:ext uri="{FF2B5EF4-FFF2-40B4-BE49-F238E27FC236}">
                <a16:creationId xmlns:a16="http://schemas.microsoft.com/office/drawing/2014/main" id="{44EAC60C-5E5F-C696-0402-6F2743519091}"/>
              </a:ext>
            </a:extLst>
          </p:cNvPr>
          <p:cNvSpPr txBox="1"/>
          <p:nvPr/>
        </p:nvSpPr>
        <p:spPr>
          <a:xfrm>
            <a:off x="8656710" y="4125053"/>
            <a:ext cx="1341200" cy="369291"/>
          </a:xfrm>
          <a:prstGeom prst="rect">
            <a:avLst/>
          </a:prstGeom>
          <a:noFill/>
          <a:ln>
            <a:noFill/>
          </a:ln>
        </p:spPr>
        <p:txBody>
          <a:bodyPr spcFirstLastPara="1" wrap="square" lIns="121900" tIns="121900" rIns="121900" bIns="121900" anchor="t" anchorCtr="0">
            <a:spAutoFit/>
          </a:bodyPr>
          <a:lstStyle/>
          <a:p>
            <a:r>
              <a:rPr lang="en" sz="800">
                <a:solidFill>
                  <a:schemeClr val="dk1"/>
                </a:solidFill>
                <a:latin typeface="Roboto"/>
                <a:ea typeface="Roboto"/>
                <a:cs typeface="Roboto"/>
                <a:sym typeface="Roboto"/>
              </a:rPr>
              <a:t>David Huff (NWFSC)</a:t>
            </a:r>
            <a:endParaRPr sz="800">
              <a:solidFill>
                <a:schemeClr val="dk1"/>
              </a:solidFill>
              <a:latin typeface="Roboto"/>
              <a:ea typeface="Roboto"/>
              <a:cs typeface="Roboto"/>
              <a:sym typeface="Roboto"/>
            </a:endParaRPr>
          </a:p>
        </p:txBody>
      </p:sp>
      <p:sp>
        <p:nvSpPr>
          <p:cNvPr id="189" name="Google Shape;189;p27">
            <a:extLst>
              <a:ext uri="{FF2B5EF4-FFF2-40B4-BE49-F238E27FC236}">
                <a16:creationId xmlns:a16="http://schemas.microsoft.com/office/drawing/2014/main" id="{1B78A800-0022-6DAE-94EC-4C11527EBD0D}"/>
              </a:ext>
            </a:extLst>
          </p:cNvPr>
          <p:cNvSpPr txBox="1"/>
          <p:nvPr/>
        </p:nvSpPr>
        <p:spPr>
          <a:xfrm>
            <a:off x="6880045" y="4116752"/>
            <a:ext cx="1498800" cy="369291"/>
          </a:xfrm>
          <a:prstGeom prst="rect">
            <a:avLst/>
          </a:prstGeom>
          <a:noFill/>
          <a:ln>
            <a:noFill/>
          </a:ln>
        </p:spPr>
        <p:txBody>
          <a:bodyPr spcFirstLastPara="1" wrap="square" lIns="121900" tIns="121900" rIns="121900" bIns="121900" anchor="t" anchorCtr="0">
            <a:spAutoFit/>
          </a:bodyPr>
          <a:lstStyle/>
          <a:p>
            <a:r>
              <a:rPr lang="en" sz="800">
                <a:solidFill>
                  <a:schemeClr val="dk1"/>
                </a:solidFill>
                <a:latin typeface="Roboto"/>
                <a:ea typeface="Roboto"/>
                <a:cs typeface="Roboto"/>
                <a:sym typeface="Roboto"/>
              </a:rPr>
              <a:t>Kiva Oken (NWFSC)</a:t>
            </a:r>
            <a:endParaRPr sz="800">
              <a:solidFill>
                <a:schemeClr val="dk1"/>
              </a:solidFill>
              <a:latin typeface="Roboto"/>
              <a:ea typeface="Roboto"/>
              <a:cs typeface="Roboto"/>
              <a:sym typeface="Roboto"/>
            </a:endParaRPr>
          </a:p>
        </p:txBody>
      </p:sp>
      <p:pic>
        <p:nvPicPr>
          <p:cNvPr id="190" name="Google Shape;190;p27">
            <a:extLst>
              <a:ext uri="{FF2B5EF4-FFF2-40B4-BE49-F238E27FC236}">
                <a16:creationId xmlns:a16="http://schemas.microsoft.com/office/drawing/2014/main" id="{3D4662A8-0105-C645-53C8-9AB14B3B8B62}"/>
              </a:ext>
            </a:extLst>
          </p:cNvPr>
          <p:cNvPicPr preferRelativeResize="0"/>
          <p:nvPr/>
        </p:nvPicPr>
        <p:blipFill rotWithShape="1">
          <a:blip r:embed="rId21">
            <a:alphaModFix/>
          </a:blip>
          <a:srcRect/>
          <a:stretch/>
        </p:blipFill>
        <p:spPr>
          <a:xfrm>
            <a:off x="6733998" y="2649224"/>
            <a:ext cx="1498800" cy="1498800"/>
          </a:xfrm>
          <a:prstGeom prst="rect">
            <a:avLst/>
          </a:prstGeom>
          <a:noFill/>
          <a:ln>
            <a:noFill/>
          </a:ln>
        </p:spPr>
      </p:pic>
      <p:pic>
        <p:nvPicPr>
          <p:cNvPr id="191" name="Google Shape;191;p27">
            <a:extLst>
              <a:ext uri="{FF2B5EF4-FFF2-40B4-BE49-F238E27FC236}">
                <a16:creationId xmlns:a16="http://schemas.microsoft.com/office/drawing/2014/main" id="{BEBF4FBE-7C23-859C-3B18-6FDB44CB0881}"/>
              </a:ext>
            </a:extLst>
          </p:cNvPr>
          <p:cNvPicPr preferRelativeResize="0"/>
          <p:nvPr/>
        </p:nvPicPr>
        <p:blipFill rotWithShape="1">
          <a:blip r:embed="rId22">
            <a:alphaModFix/>
          </a:blip>
          <a:srcRect/>
          <a:stretch/>
        </p:blipFill>
        <p:spPr>
          <a:xfrm>
            <a:off x="5379086" y="4486043"/>
            <a:ext cx="1463040" cy="1463040"/>
          </a:xfrm>
          <a:prstGeom prst="rect">
            <a:avLst/>
          </a:prstGeom>
          <a:noFill/>
          <a:ln>
            <a:noFill/>
          </a:ln>
        </p:spPr>
      </p:pic>
      <p:sp>
        <p:nvSpPr>
          <p:cNvPr id="192" name="Google Shape;192;p27">
            <a:extLst>
              <a:ext uri="{FF2B5EF4-FFF2-40B4-BE49-F238E27FC236}">
                <a16:creationId xmlns:a16="http://schemas.microsoft.com/office/drawing/2014/main" id="{3334961E-FE6F-998B-6B6B-68B4B5E39CCA}"/>
              </a:ext>
            </a:extLst>
          </p:cNvPr>
          <p:cNvSpPr txBox="1"/>
          <p:nvPr/>
        </p:nvSpPr>
        <p:spPr>
          <a:xfrm>
            <a:off x="5481803" y="5890504"/>
            <a:ext cx="1498800" cy="369291"/>
          </a:xfrm>
          <a:prstGeom prst="rect">
            <a:avLst/>
          </a:prstGeom>
          <a:noFill/>
          <a:ln>
            <a:noFill/>
          </a:ln>
        </p:spPr>
        <p:txBody>
          <a:bodyPr spcFirstLastPara="1" wrap="square" lIns="121900" tIns="121900" rIns="121900" bIns="121900" anchor="t" anchorCtr="0">
            <a:spAutoFit/>
          </a:bodyPr>
          <a:lstStyle/>
          <a:p>
            <a:r>
              <a:rPr lang="en" sz="800">
                <a:solidFill>
                  <a:schemeClr val="dk1"/>
                </a:solidFill>
                <a:latin typeface="Roboto"/>
                <a:ea typeface="Roboto"/>
                <a:cs typeface="Roboto"/>
                <a:sym typeface="Roboto"/>
              </a:rPr>
              <a:t>Cam Freshwater (DFO)</a:t>
            </a:r>
            <a:endParaRPr sz="800">
              <a:solidFill>
                <a:schemeClr val="dk1"/>
              </a:solidFill>
              <a:latin typeface="Roboto"/>
              <a:ea typeface="Roboto"/>
              <a:cs typeface="Roboto"/>
              <a:sym typeface="Roboto"/>
            </a:endParaRPr>
          </a:p>
        </p:txBody>
      </p:sp>
      <p:sp>
        <p:nvSpPr>
          <p:cNvPr id="193" name="Google Shape;193;p27">
            <a:extLst>
              <a:ext uri="{FF2B5EF4-FFF2-40B4-BE49-F238E27FC236}">
                <a16:creationId xmlns:a16="http://schemas.microsoft.com/office/drawing/2014/main" id="{9902048A-EB88-0BAD-1796-7B3830B66538}"/>
              </a:ext>
            </a:extLst>
          </p:cNvPr>
          <p:cNvSpPr/>
          <p:nvPr/>
        </p:nvSpPr>
        <p:spPr>
          <a:xfrm>
            <a:off x="1749627" y="999819"/>
            <a:ext cx="1378400" cy="1342000"/>
          </a:xfrm>
          <a:prstGeom prst="rect">
            <a:avLst/>
          </a:prstGeom>
          <a:noFill/>
          <a:ln>
            <a:noFill/>
          </a:ln>
        </p:spPr>
        <p:txBody>
          <a:bodyPr spcFirstLastPara="1" wrap="square" lIns="91433" tIns="45700" rIns="91433" bIns="45700" anchor="ctr" anchorCtr="0">
            <a:noAutofit/>
          </a:bodyPr>
          <a:lstStyle/>
          <a:p>
            <a:pPr algn="ctr"/>
            <a:endParaRPr sz="1867">
              <a:solidFill>
                <a:schemeClr val="lt1"/>
              </a:solidFill>
              <a:latin typeface="Arial"/>
              <a:ea typeface="Arial"/>
              <a:cs typeface="Arial"/>
              <a:sym typeface="Arial"/>
            </a:endParaRPr>
          </a:p>
        </p:txBody>
      </p:sp>
      <p:sp>
        <p:nvSpPr>
          <p:cNvPr id="194" name="Google Shape;194;p27">
            <a:extLst>
              <a:ext uri="{FF2B5EF4-FFF2-40B4-BE49-F238E27FC236}">
                <a16:creationId xmlns:a16="http://schemas.microsoft.com/office/drawing/2014/main" id="{758204E2-F50C-E483-AB0F-4AD40FDD2E0B}"/>
              </a:ext>
            </a:extLst>
          </p:cNvPr>
          <p:cNvSpPr/>
          <p:nvPr/>
        </p:nvSpPr>
        <p:spPr>
          <a:xfrm>
            <a:off x="7010963" y="4467319"/>
            <a:ext cx="1286000" cy="1542800"/>
          </a:xfrm>
          <a:prstGeom prst="rect">
            <a:avLst/>
          </a:prstGeom>
          <a:noFill/>
          <a:ln>
            <a:noFill/>
          </a:ln>
        </p:spPr>
        <p:txBody>
          <a:bodyPr spcFirstLastPara="1" wrap="square" lIns="91433" tIns="45700" rIns="91433" bIns="45700" anchor="ctr" anchorCtr="0">
            <a:noAutofit/>
          </a:bodyPr>
          <a:lstStyle/>
          <a:p>
            <a:pPr algn="ctr"/>
            <a:endParaRPr sz="1867">
              <a:solidFill>
                <a:schemeClr val="lt1"/>
              </a:solidFill>
              <a:latin typeface="Arial"/>
              <a:ea typeface="Arial"/>
              <a:cs typeface="Arial"/>
              <a:sym typeface="Arial"/>
            </a:endParaRPr>
          </a:p>
        </p:txBody>
      </p:sp>
      <p:sp>
        <p:nvSpPr>
          <p:cNvPr id="195" name="Google Shape;195;p27">
            <a:extLst>
              <a:ext uri="{FF2B5EF4-FFF2-40B4-BE49-F238E27FC236}">
                <a16:creationId xmlns:a16="http://schemas.microsoft.com/office/drawing/2014/main" id="{DD4AAA2B-0F09-723D-B912-480FA80BE10E}"/>
              </a:ext>
            </a:extLst>
          </p:cNvPr>
          <p:cNvSpPr/>
          <p:nvPr/>
        </p:nvSpPr>
        <p:spPr>
          <a:xfrm>
            <a:off x="8516042" y="4486043"/>
            <a:ext cx="1482000" cy="1500800"/>
          </a:xfrm>
          <a:prstGeom prst="rect">
            <a:avLst/>
          </a:prstGeom>
          <a:noFill/>
          <a:ln>
            <a:noFill/>
          </a:ln>
        </p:spPr>
        <p:txBody>
          <a:bodyPr spcFirstLastPara="1" wrap="square" lIns="91433" tIns="45700" rIns="91433" bIns="45700" anchor="ctr" anchorCtr="0">
            <a:noAutofit/>
          </a:bodyPr>
          <a:lstStyle/>
          <a:p>
            <a:pPr algn="ctr"/>
            <a:endParaRPr sz="1867">
              <a:solidFill>
                <a:schemeClr val="lt1"/>
              </a:solidFill>
              <a:latin typeface="Arial"/>
              <a:ea typeface="Arial"/>
              <a:cs typeface="Arial"/>
              <a:sym typeface="Arial"/>
            </a:endParaRPr>
          </a:p>
        </p:txBody>
      </p:sp>
      <p:sp>
        <p:nvSpPr>
          <p:cNvPr id="196" name="Google Shape;196;p27">
            <a:extLst>
              <a:ext uri="{FF2B5EF4-FFF2-40B4-BE49-F238E27FC236}">
                <a16:creationId xmlns:a16="http://schemas.microsoft.com/office/drawing/2014/main" id="{D6683247-A0F6-877B-F2F3-D79FFA2C68FD}"/>
              </a:ext>
            </a:extLst>
          </p:cNvPr>
          <p:cNvSpPr/>
          <p:nvPr/>
        </p:nvSpPr>
        <p:spPr>
          <a:xfrm>
            <a:off x="10131189" y="4509327"/>
            <a:ext cx="1272400" cy="1500800"/>
          </a:xfrm>
          <a:prstGeom prst="rect">
            <a:avLst/>
          </a:prstGeom>
          <a:noFill/>
          <a:ln>
            <a:noFill/>
          </a:ln>
        </p:spPr>
        <p:txBody>
          <a:bodyPr spcFirstLastPara="1" wrap="square" lIns="91433" tIns="45700" rIns="91433" bIns="45700" anchor="ctr" anchorCtr="0">
            <a:noAutofit/>
          </a:bodyPr>
          <a:lstStyle/>
          <a:p>
            <a:pPr algn="ctr"/>
            <a:endParaRPr sz="1867">
              <a:solidFill>
                <a:schemeClr val="lt1"/>
              </a:solidFill>
              <a:latin typeface="Arial"/>
              <a:ea typeface="Arial"/>
              <a:cs typeface="Arial"/>
              <a:sym typeface="Arial"/>
            </a:endParaRPr>
          </a:p>
        </p:txBody>
      </p:sp>
      <p:sp>
        <p:nvSpPr>
          <p:cNvPr id="5" name="Speech Bubble: Oval 4">
            <a:extLst>
              <a:ext uri="{FF2B5EF4-FFF2-40B4-BE49-F238E27FC236}">
                <a16:creationId xmlns:a16="http://schemas.microsoft.com/office/drawing/2014/main" id="{4D367404-49DB-8A36-DA90-1972BA01ECE8}"/>
              </a:ext>
            </a:extLst>
          </p:cNvPr>
          <p:cNvSpPr/>
          <p:nvPr/>
        </p:nvSpPr>
        <p:spPr>
          <a:xfrm rot="2223247">
            <a:off x="5405614" y="3517746"/>
            <a:ext cx="1113183" cy="696157"/>
          </a:xfrm>
          <a:prstGeom prst="wedgeEllipseCallout">
            <a:avLst>
              <a:gd name="adj1" fmla="val -76823"/>
              <a:gd name="adj2" fmla="val -12311"/>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t>Pacea</a:t>
            </a:r>
            <a:r>
              <a:rPr lang="en-US" dirty="0"/>
              <a:t> R Pkg</a:t>
            </a:r>
          </a:p>
        </p:txBody>
      </p:sp>
      <p:sp>
        <p:nvSpPr>
          <p:cNvPr id="7" name="Speech Bubble: Oval 6">
            <a:extLst>
              <a:ext uri="{FF2B5EF4-FFF2-40B4-BE49-F238E27FC236}">
                <a16:creationId xmlns:a16="http://schemas.microsoft.com/office/drawing/2014/main" id="{258990E9-C4B9-F54C-15AD-687167898DA8}"/>
              </a:ext>
            </a:extLst>
          </p:cNvPr>
          <p:cNvSpPr/>
          <p:nvPr/>
        </p:nvSpPr>
        <p:spPr>
          <a:xfrm rot="1818943">
            <a:off x="5769566" y="2098682"/>
            <a:ext cx="1175257" cy="629482"/>
          </a:xfrm>
          <a:prstGeom prst="wedgeEllipseCallout">
            <a:avLst>
              <a:gd name="adj1" fmla="val -66297"/>
              <a:gd name="adj2" fmla="val -5794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DFO </a:t>
            </a:r>
            <a:r>
              <a:rPr lang="en-US" sz="1100" dirty="0" err="1"/>
              <a:t>Juv</a:t>
            </a:r>
            <a:r>
              <a:rPr lang="en-US" sz="1100" dirty="0"/>
              <a:t> salmon survey</a:t>
            </a:r>
          </a:p>
        </p:txBody>
      </p:sp>
      <p:sp>
        <p:nvSpPr>
          <p:cNvPr id="9" name="Speech Bubble: Oval 8">
            <a:extLst>
              <a:ext uri="{FF2B5EF4-FFF2-40B4-BE49-F238E27FC236}">
                <a16:creationId xmlns:a16="http://schemas.microsoft.com/office/drawing/2014/main" id="{6F91EEA5-2AA3-B92A-F851-C4D8E58D9A4E}"/>
              </a:ext>
            </a:extLst>
          </p:cNvPr>
          <p:cNvSpPr/>
          <p:nvPr/>
        </p:nvSpPr>
        <p:spPr>
          <a:xfrm rot="2014045">
            <a:off x="1153765" y="5621420"/>
            <a:ext cx="1576247" cy="1000502"/>
          </a:xfrm>
          <a:prstGeom prst="wedgeEllipseCallout">
            <a:avLst>
              <a:gd name="adj1" fmla="val -56175"/>
              <a:gd name="adj2" fmla="val -5357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Int Pelagic survey Herring data</a:t>
            </a:r>
          </a:p>
        </p:txBody>
      </p:sp>
      <p:sp>
        <p:nvSpPr>
          <p:cNvPr id="11" name="Speech Bubble: Oval 10">
            <a:extLst>
              <a:ext uri="{FF2B5EF4-FFF2-40B4-BE49-F238E27FC236}">
                <a16:creationId xmlns:a16="http://schemas.microsoft.com/office/drawing/2014/main" id="{20EAD5AD-7BB6-68A5-7943-5D778AC87E45}"/>
              </a:ext>
            </a:extLst>
          </p:cNvPr>
          <p:cNvSpPr/>
          <p:nvPr/>
        </p:nvSpPr>
        <p:spPr>
          <a:xfrm rot="2014045">
            <a:off x="4900018" y="5946346"/>
            <a:ext cx="1609194" cy="772861"/>
          </a:xfrm>
          <a:prstGeom prst="wedgeEllipseCallout">
            <a:avLst>
              <a:gd name="adj1" fmla="val -65775"/>
              <a:gd name="adj2" fmla="val -6773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BCCM ocean model incl CR</a:t>
            </a:r>
          </a:p>
        </p:txBody>
      </p:sp>
      <p:sp>
        <p:nvSpPr>
          <p:cNvPr id="13" name="Speech Bubble: Oval 12">
            <a:extLst>
              <a:ext uri="{FF2B5EF4-FFF2-40B4-BE49-F238E27FC236}">
                <a16:creationId xmlns:a16="http://schemas.microsoft.com/office/drawing/2014/main" id="{42228588-9BBB-281D-3BCE-83206CDA5D11}"/>
              </a:ext>
            </a:extLst>
          </p:cNvPr>
          <p:cNvSpPr/>
          <p:nvPr/>
        </p:nvSpPr>
        <p:spPr>
          <a:xfrm rot="2014045">
            <a:off x="6405822" y="5902923"/>
            <a:ext cx="1473305" cy="723869"/>
          </a:xfrm>
          <a:prstGeom prst="wedgeEllipseCallout">
            <a:avLst>
              <a:gd name="adj1" fmla="val -65775"/>
              <a:gd name="adj2" fmla="val -6773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Co-author, data wrangler</a:t>
            </a:r>
          </a:p>
        </p:txBody>
      </p:sp>
      <p:sp>
        <p:nvSpPr>
          <p:cNvPr id="15" name="Speech Bubble: Oval 14">
            <a:extLst>
              <a:ext uri="{FF2B5EF4-FFF2-40B4-BE49-F238E27FC236}">
                <a16:creationId xmlns:a16="http://schemas.microsoft.com/office/drawing/2014/main" id="{712E7DA4-89B4-0505-E200-5FD76D267CBD}"/>
              </a:ext>
            </a:extLst>
          </p:cNvPr>
          <p:cNvSpPr/>
          <p:nvPr/>
        </p:nvSpPr>
        <p:spPr>
          <a:xfrm rot="2014045">
            <a:off x="9585894" y="5572285"/>
            <a:ext cx="1458420" cy="825453"/>
          </a:xfrm>
          <a:prstGeom prst="wedgeEllipseCallout">
            <a:avLst>
              <a:gd name="adj1" fmla="val -65775"/>
              <a:gd name="adj2" fmla="val -6773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AK larval fish</a:t>
            </a:r>
          </a:p>
        </p:txBody>
      </p:sp>
      <p:sp>
        <p:nvSpPr>
          <p:cNvPr id="17" name="Speech Bubble: Oval 16">
            <a:extLst>
              <a:ext uri="{FF2B5EF4-FFF2-40B4-BE49-F238E27FC236}">
                <a16:creationId xmlns:a16="http://schemas.microsoft.com/office/drawing/2014/main" id="{2EFBE9A6-58D2-F288-39E6-4CA4ED854DA6}"/>
              </a:ext>
            </a:extLst>
          </p:cNvPr>
          <p:cNvSpPr/>
          <p:nvPr/>
        </p:nvSpPr>
        <p:spPr>
          <a:xfrm rot="2014045">
            <a:off x="2768583" y="2291248"/>
            <a:ext cx="1231271" cy="483146"/>
          </a:xfrm>
          <a:prstGeom prst="wedgeEllipseCallout">
            <a:avLst>
              <a:gd name="adj1" fmla="val -65775"/>
              <a:gd name="adj2" fmla="val -6773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AK ESR</a:t>
            </a:r>
          </a:p>
        </p:txBody>
      </p:sp>
      <p:sp>
        <p:nvSpPr>
          <p:cNvPr id="19" name="Speech Bubble: Oval 18">
            <a:extLst>
              <a:ext uri="{FF2B5EF4-FFF2-40B4-BE49-F238E27FC236}">
                <a16:creationId xmlns:a16="http://schemas.microsoft.com/office/drawing/2014/main" id="{F3EEC27E-7ECD-9ECE-279F-3C19255200E0}"/>
              </a:ext>
            </a:extLst>
          </p:cNvPr>
          <p:cNvSpPr/>
          <p:nvPr/>
        </p:nvSpPr>
        <p:spPr>
          <a:xfrm rot="2014045">
            <a:off x="9485657" y="3783914"/>
            <a:ext cx="1254703" cy="698213"/>
          </a:xfrm>
          <a:prstGeom prst="wedgeEllipseCallout">
            <a:avLst>
              <a:gd name="adj1" fmla="val -65775"/>
              <a:gd name="adj2" fmla="val -6773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Co-author, bird/mammal data wrangler</a:t>
            </a:r>
          </a:p>
        </p:txBody>
      </p:sp>
      <p:sp>
        <p:nvSpPr>
          <p:cNvPr id="21" name="Speech Bubble: Oval 20">
            <a:extLst>
              <a:ext uri="{FF2B5EF4-FFF2-40B4-BE49-F238E27FC236}">
                <a16:creationId xmlns:a16="http://schemas.microsoft.com/office/drawing/2014/main" id="{53BFFB02-B97D-6EBA-1E1D-93623B975DE6}"/>
              </a:ext>
            </a:extLst>
          </p:cNvPr>
          <p:cNvSpPr/>
          <p:nvPr/>
        </p:nvSpPr>
        <p:spPr>
          <a:xfrm rot="2014045">
            <a:off x="4338966" y="2218361"/>
            <a:ext cx="1231271" cy="483146"/>
          </a:xfrm>
          <a:prstGeom prst="wedgeEllipseCallout">
            <a:avLst>
              <a:gd name="adj1" fmla="val -65775"/>
              <a:gd name="adj2" fmla="val -6773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Groundfish/dogfish</a:t>
            </a:r>
          </a:p>
        </p:txBody>
      </p:sp>
      <p:sp>
        <p:nvSpPr>
          <p:cNvPr id="23" name="Speech Bubble: Oval 22">
            <a:extLst>
              <a:ext uri="{FF2B5EF4-FFF2-40B4-BE49-F238E27FC236}">
                <a16:creationId xmlns:a16="http://schemas.microsoft.com/office/drawing/2014/main" id="{3E0EFA14-5F93-0082-BD4B-B7456AA076E3}"/>
              </a:ext>
            </a:extLst>
          </p:cNvPr>
          <p:cNvSpPr/>
          <p:nvPr/>
        </p:nvSpPr>
        <p:spPr>
          <a:xfrm rot="2014045">
            <a:off x="11013957" y="1944602"/>
            <a:ext cx="1439419" cy="483146"/>
          </a:xfrm>
          <a:prstGeom prst="wedgeEllipseCallout">
            <a:avLst>
              <a:gd name="adj1" fmla="val -65775"/>
              <a:gd name="adj2" fmla="val -6773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Mammal models</a:t>
            </a:r>
          </a:p>
        </p:txBody>
      </p:sp>
      <p:sp>
        <p:nvSpPr>
          <p:cNvPr id="25" name="Speech Bubble: Oval 24">
            <a:extLst>
              <a:ext uri="{FF2B5EF4-FFF2-40B4-BE49-F238E27FC236}">
                <a16:creationId xmlns:a16="http://schemas.microsoft.com/office/drawing/2014/main" id="{F8030DAF-B037-C6BA-5CFE-1A7BDA309A25}"/>
              </a:ext>
            </a:extLst>
          </p:cNvPr>
          <p:cNvSpPr/>
          <p:nvPr/>
        </p:nvSpPr>
        <p:spPr>
          <a:xfrm rot="2014045">
            <a:off x="9533818" y="2059334"/>
            <a:ext cx="1231271" cy="483146"/>
          </a:xfrm>
          <a:prstGeom prst="wedgeEllipseCallout">
            <a:avLst>
              <a:gd name="adj1" fmla="val -65775"/>
              <a:gd name="adj2" fmla="val -6773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AK ESR DFAs</a:t>
            </a:r>
          </a:p>
        </p:txBody>
      </p:sp>
      <p:sp>
        <p:nvSpPr>
          <p:cNvPr id="27" name="Speech Bubble: Oval 26">
            <a:extLst>
              <a:ext uri="{FF2B5EF4-FFF2-40B4-BE49-F238E27FC236}">
                <a16:creationId xmlns:a16="http://schemas.microsoft.com/office/drawing/2014/main" id="{60223A24-CA56-8EB7-EF9B-F92C7B7BF991}"/>
              </a:ext>
            </a:extLst>
          </p:cNvPr>
          <p:cNvSpPr/>
          <p:nvPr/>
        </p:nvSpPr>
        <p:spPr>
          <a:xfrm rot="1818943">
            <a:off x="7194175" y="2105308"/>
            <a:ext cx="1175257" cy="629482"/>
          </a:xfrm>
          <a:prstGeom prst="wedgeEllipseCallout">
            <a:avLst>
              <a:gd name="adj1" fmla="val -66297"/>
              <a:gd name="adj2" fmla="val -5794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Climate Vuln Ass</a:t>
            </a:r>
          </a:p>
        </p:txBody>
      </p:sp>
      <p:sp>
        <p:nvSpPr>
          <p:cNvPr id="31" name="Speech Bubble: Oval 30">
            <a:extLst>
              <a:ext uri="{FF2B5EF4-FFF2-40B4-BE49-F238E27FC236}">
                <a16:creationId xmlns:a16="http://schemas.microsoft.com/office/drawing/2014/main" id="{DA981357-D046-65D6-679B-EAF2265D3148}"/>
              </a:ext>
            </a:extLst>
          </p:cNvPr>
          <p:cNvSpPr/>
          <p:nvPr/>
        </p:nvSpPr>
        <p:spPr>
          <a:xfrm rot="2014045">
            <a:off x="3565145" y="5677553"/>
            <a:ext cx="1253875" cy="1000502"/>
          </a:xfrm>
          <a:prstGeom prst="wedgeEllipseCallout">
            <a:avLst>
              <a:gd name="adj1" fmla="val -84238"/>
              <a:gd name="adj2" fmla="val -31073"/>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Salmon and sablefish</a:t>
            </a:r>
          </a:p>
        </p:txBody>
      </p:sp>
      <p:sp>
        <p:nvSpPr>
          <p:cNvPr id="33" name="Speech Bubble: Oval 32">
            <a:extLst>
              <a:ext uri="{FF2B5EF4-FFF2-40B4-BE49-F238E27FC236}">
                <a16:creationId xmlns:a16="http://schemas.microsoft.com/office/drawing/2014/main" id="{CF610C94-C3C2-FADD-A069-1854B160F184}"/>
              </a:ext>
            </a:extLst>
          </p:cNvPr>
          <p:cNvSpPr/>
          <p:nvPr/>
        </p:nvSpPr>
        <p:spPr>
          <a:xfrm rot="2014045">
            <a:off x="11000220" y="3725373"/>
            <a:ext cx="1214095" cy="617483"/>
          </a:xfrm>
          <a:prstGeom prst="wedgeEllipseCallout">
            <a:avLst>
              <a:gd name="adj1" fmla="val -65775"/>
              <a:gd name="adj2" fmla="val -6773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MOM ocean projections</a:t>
            </a:r>
          </a:p>
        </p:txBody>
      </p:sp>
      <p:sp>
        <p:nvSpPr>
          <p:cNvPr id="35" name="Speech Bubble: Oval 34">
            <a:extLst>
              <a:ext uri="{FF2B5EF4-FFF2-40B4-BE49-F238E27FC236}">
                <a16:creationId xmlns:a16="http://schemas.microsoft.com/office/drawing/2014/main" id="{70199048-624E-9CBC-9CC6-042AE2CA376D}"/>
              </a:ext>
            </a:extLst>
          </p:cNvPr>
          <p:cNvSpPr/>
          <p:nvPr/>
        </p:nvSpPr>
        <p:spPr>
          <a:xfrm rot="2014045">
            <a:off x="3141380" y="3761472"/>
            <a:ext cx="1283831" cy="735598"/>
          </a:xfrm>
          <a:prstGeom prst="wedgeEllipseCallout">
            <a:avLst>
              <a:gd name="adj1" fmla="val -65775"/>
              <a:gd name="adj2" fmla="val -6773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ocean data wrangler</a:t>
            </a:r>
          </a:p>
        </p:txBody>
      </p:sp>
      <p:sp>
        <p:nvSpPr>
          <p:cNvPr id="37" name="Speech Bubble: Oval 36">
            <a:extLst>
              <a:ext uri="{FF2B5EF4-FFF2-40B4-BE49-F238E27FC236}">
                <a16:creationId xmlns:a16="http://schemas.microsoft.com/office/drawing/2014/main" id="{3896B9E8-FF6B-1AEA-0ADE-E5EEE2632F16}"/>
              </a:ext>
            </a:extLst>
          </p:cNvPr>
          <p:cNvSpPr/>
          <p:nvPr/>
        </p:nvSpPr>
        <p:spPr>
          <a:xfrm rot="2014045">
            <a:off x="7839919" y="5794259"/>
            <a:ext cx="1458420" cy="825453"/>
          </a:xfrm>
          <a:prstGeom prst="wedgeEllipseCallout">
            <a:avLst>
              <a:gd name="adj1" fmla="val -65775"/>
              <a:gd name="adj2" fmla="val -6773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AK salmon surveys</a:t>
            </a:r>
          </a:p>
        </p:txBody>
      </p:sp>
      <p:sp>
        <p:nvSpPr>
          <p:cNvPr id="38" name="TextBox 37">
            <a:extLst>
              <a:ext uri="{FF2B5EF4-FFF2-40B4-BE49-F238E27FC236}">
                <a16:creationId xmlns:a16="http://schemas.microsoft.com/office/drawing/2014/main" id="{545F3609-E5FC-6989-86FE-7B9334DE5D49}"/>
              </a:ext>
            </a:extLst>
          </p:cNvPr>
          <p:cNvSpPr txBox="1"/>
          <p:nvPr/>
        </p:nvSpPr>
        <p:spPr>
          <a:xfrm>
            <a:off x="159026" y="6488668"/>
            <a:ext cx="11759053" cy="369332"/>
          </a:xfrm>
          <a:prstGeom prst="rect">
            <a:avLst/>
          </a:prstGeom>
          <a:noFill/>
        </p:spPr>
        <p:txBody>
          <a:bodyPr wrap="none" rtlCol="0">
            <a:spAutoFit/>
          </a:bodyPr>
          <a:lstStyle/>
          <a:p>
            <a:r>
              <a:rPr lang="en-US" dirty="0"/>
              <a:t>Researchers on JSOES, NHL, Hake, Coastal Pelagic </a:t>
            </a:r>
            <a:r>
              <a:rPr lang="en-US" dirty="0" err="1"/>
              <a:t>Surveys,WCGFS</a:t>
            </a:r>
            <a:r>
              <a:rPr lang="en-US" dirty="0"/>
              <a:t>, mammals (ODFW, WDFW, ACOE) and birds (</a:t>
            </a:r>
            <a:r>
              <a:rPr lang="en-US" dirty="0" err="1"/>
              <a:t>Yaq</a:t>
            </a:r>
            <a:r>
              <a:rPr lang="en-US" dirty="0"/>
              <a:t>., WA, AK) </a:t>
            </a:r>
          </a:p>
        </p:txBody>
      </p:sp>
    </p:spTree>
    <p:extLst>
      <p:ext uri="{BB962C8B-B14F-4D97-AF65-F5344CB8AC3E}">
        <p14:creationId xmlns:p14="http://schemas.microsoft.com/office/powerpoint/2010/main" val="4107459744"/>
      </p:ext>
    </p:extLst>
  </p:cSld>
  <p:clrMapOvr>
    <a:masterClrMapping/>
  </p:clrMapOvr>
  <mc:AlternateContent xmlns:mc="http://schemas.openxmlformats.org/markup-compatibility/2006">
    <mc:Choice xmlns:p14="http://schemas.microsoft.com/office/powerpoint/2010/main" Requires="p14">
      <p:transition spd="slow" p14:dur="2000" advTm="18226"/>
    </mc:Choice>
    <mc:Fallback>
      <p:transition spd="slow" advTm="18226"/>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IMING" val="|51|11"/>
</p:tagLst>
</file>

<file path=ppt/tags/tag2.xml><?xml version="1.0" encoding="utf-8"?>
<p:tagLst xmlns:a="http://schemas.openxmlformats.org/drawingml/2006/main" xmlns:r="http://schemas.openxmlformats.org/officeDocument/2006/relationships" xmlns:p="http://schemas.openxmlformats.org/presentationml/2006/main">
  <p:tag name="TIMING" val="|46.7"/>
</p:tagLst>
</file>

<file path=ppt/tags/tag3.xml><?xml version="1.0" encoding="utf-8"?>
<p:tagLst xmlns:a="http://schemas.openxmlformats.org/drawingml/2006/main" xmlns:r="http://schemas.openxmlformats.org/officeDocument/2006/relationships" xmlns:p="http://schemas.openxmlformats.org/presentationml/2006/main">
  <p:tag name="TIMING" val="|59.8|6.8"/>
</p:tagLst>
</file>

<file path=ppt/tags/tag4.xml><?xml version="1.0" encoding="utf-8"?>
<p:tagLst xmlns:a="http://schemas.openxmlformats.org/drawingml/2006/main" xmlns:r="http://schemas.openxmlformats.org/officeDocument/2006/relationships" xmlns:p="http://schemas.openxmlformats.org/presentationml/2006/main">
  <p:tag name="TIMING" val="|3.6|43|8"/>
</p:tagLst>
</file>

<file path=ppt/tags/tag5.xml><?xml version="1.0" encoding="utf-8"?>
<p:tagLst xmlns:a="http://schemas.openxmlformats.org/drawingml/2006/main" xmlns:r="http://schemas.openxmlformats.org/officeDocument/2006/relationships" xmlns:p="http://schemas.openxmlformats.org/presentationml/2006/main">
  <p:tag name="TIMING" val="|4.7|30.9"/>
</p:tagLst>
</file>

<file path=ppt/tags/tag6.xml><?xml version="1.0" encoding="utf-8"?>
<p:tagLst xmlns:a="http://schemas.openxmlformats.org/drawingml/2006/main" xmlns:r="http://schemas.openxmlformats.org/officeDocument/2006/relationships" xmlns:p="http://schemas.openxmlformats.org/presentationml/2006/main">
  <p:tag name="TIMING" val="|44.4|0.4|68.7"/>
</p:tagLst>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23808</TotalTime>
  <Words>2041</Words>
  <Application>Microsoft Office PowerPoint</Application>
  <PresentationFormat>Widescreen</PresentationFormat>
  <Paragraphs>226</Paragraphs>
  <Slides>14</Slides>
  <Notes>10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14</vt:i4>
      </vt:variant>
    </vt:vector>
  </HeadingPairs>
  <TitlesOfParts>
    <vt:vector size="22" baseType="lpstr">
      <vt:lpstr>Abadi</vt:lpstr>
      <vt:lpstr>Arial</vt:lpstr>
      <vt:lpstr>Calibri</vt:lpstr>
      <vt:lpstr>Calibri Light</vt:lpstr>
      <vt:lpstr>Roboto</vt:lpstr>
      <vt:lpstr>Segoe UI</vt:lpstr>
      <vt:lpstr>Times New Roman</vt:lpstr>
      <vt:lpstr>Retrospect</vt:lpstr>
      <vt:lpstr>Integrating US and Canadian marine data to identify region-specific limiting factors across a transboundary salmon migration </vt:lpstr>
      <vt:lpstr>Many species were already endangered, and climate change compounds threat – particularly the marine stage of spring Chinook salmon</vt:lpstr>
      <vt:lpstr>Snake River/ Upper Columbia Spring Chinook 1-3yr in ocean</vt:lpstr>
      <vt:lpstr>PowerPoint Presentation</vt:lpstr>
      <vt:lpstr>PowerPoint Presentation</vt:lpstr>
      <vt:lpstr>Structural Equation Model Approach</vt:lpstr>
      <vt:lpstr>Structural Equation Model Approach</vt:lpstr>
      <vt:lpstr>Goals</vt:lpstr>
      <vt:lpstr>Goal 1 – YES!!! A few predictors dominated results</vt:lpstr>
      <vt:lpstr>Goal 2 regulation hypo -- sometimes</vt:lpstr>
      <vt:lpstr>PowerPoint Presentation</vt:lpstr>
      <vt:lpstr>Results – multiple candidate models</vt:lpstr>
      <vt:lpstr>CONCLUSIONS</vt:lpstr>
      <vt:lpstr>Thank you – DFO/NMFS Climate and Fisheries Collaboration Pacific working group membership!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Lisa.Crozier</dc:creator>
  <cp:lastModifiedBy>Lisa Crozier</cp:lastModifiedBy>
  <cp:revision>233</cp:revision>
  <dcterms:created xsi:type="dcterms:W3CDTF">2026-04-22T02:22:41Z</dcterms:created>
  <dcterms:modified xsi:type="dcterms:W3CDTF">2026-10-29T05:05:54Z</dcterms:modified>
</cp:coreProperties>
</file>