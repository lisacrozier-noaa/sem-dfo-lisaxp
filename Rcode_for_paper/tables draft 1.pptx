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72" r:id="rId3"/>
    <p:sldId id="262" r:id="rId4"/>
    <p:sldId id="263" r:id="rId5"/>
    <p:sldId id="256" r:id="rId6"/>
    <p:sldId id="264" r:id="rId7"/>
    <p:sldId id="273" r:id="rId8"/>
    <p:sldId id="318" r:id="rId9"/>
    <p:sldId id="274" r:id="rId10"/>
    <p:sldId id="309" r:id="rId11"/>
    <p:sldId id="319" r:id="rId12"/>
    <p:sldId id="310" r:id="rId13"/>
    <p:sldId id="311" r:id="rId14"/>
    <p:sldId id="312" r:id="rId15"/>
    <p:sldId id="275" r:id="rId16"/>
    <p:sldId id="305" r:id="rId17"/>
    <p:sldId id="306" r:id="rId18"/>
    <p:sldId id="308" r:id="rId19"/>
    <p:sldId id="307" r:id="rId20"/>
    <p:sldId id="313" r:id="rId21"/>
    <p:sldId id="314" r:id="rId22"/>
    <p:sldId id="315" r:id="rId23"/>
    <p:sldId id="317" r:id="rId24"/>
    <p:sldId id="320" r:id="rId25"/>
    <p:sldId id="316" r:id="rId26"/>
    <p:sldId id="304" r:id="rId27"/>
    <p:sldId id="260" r:id="rId28"/>
    <p:sldId id="271" r:id="rId29"/>
    <p:sldId id="269" r:id="rId30"/>
    <p:sldId id="270" r:id="rId31"/>
    <p:sldId id="266" r:id="rId32"/>
    <p:sldId id="267" r:id="rId33"/>
    <p:sldId id="265" r:id="rId34"/>
    <p:sldId id="26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77" d="100"/>
          <a:sy n="77" d="100"/>
        </p:scale>
        <p:origin x="79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B6DE0-C1AB-B5C6-E4E5-0DFC4F1A2C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603671-6A91-8B17-09CE-224881E25D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73E3699-E0A8-16EC-C86C-91A3BB7E9D8C}"/>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5" name="Footer Placeholder 4">
            <a:extLst>
              <a:ext uri="{FF2B5EF4-FFF2-40B4-BE49-F238E27FC236}">
                <a16:creationId xmlns:a16="http://schemas.microsoft.com/office/drawing/2014/main" id="{6F61990B-EB59-9D70-5F99-9C46854A8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F8A87D-167C-1BCE-7DAE-9141376BA23D}"/>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462156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EF991-C67B-5B4B-3CEE-865D05205D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78DADF-F991-D512-6D81-59D18B7A89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254704-A296-AE46-EE45-4E33C63C53DA}"/>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5" name="Footer Placeholder 4">
            <a:extLst>
              <a:ext uri="{FF2B5EF4-FFF2-40B4-BE49-F238E27FC236}">
                <a16:creationId xmlns:a16="http://schemas.microsoft.com/office/drawing/2014/main" id="{4BEB4E97-4D7B-165E-55D7-CBE30E4F8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72D39B-29D8-9478-7D46-3C01606D1240}"/>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1082237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8D27B-4D38-6A42-FDA7-018D70F72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9435A00-2893-2BCC-CBB0-2DB735223F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06F1C8-7F62-A40D-BF04-76B67AA33EA5}"/>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5" name="Footer Placeholder 4">
            <a:extLst>
              <a:ext uri="{FF2B5EF4-FFF2-40B4-BE49-F238E27FC236}">
                <a16:creationId xmlns:a16="http://schemas.microsoft.com/office/drawing/2014/main" id="{35EE535C-EB65-EA0B-F516-105633B52F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D13567-D6D0-8B18-E136-D625CF9E9D08}"/>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1338802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CA272-835E-0DF2-18A1-1B91FA4F41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2F95DA-F83C-C363-A8E7-E263F5C19A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2C9F1C-0870-6EB8-1BED-E58B1DD587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311C5F-EF73-1645-1031-7EDE8B02DC06}"/>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6" name="Footer Placeholder 5">
            <a:extLst>
              <a:ext uri="{FF2B5EF4-FFF2-40B4-BE49-F238E27FC236}">
                <a16:creationId xmlns:a16="http://schemas.microsoft.com/office/drawing/2014/main" id="{C51D1D4A-FF7B-0FA0-6E66-1246AA8995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B32391-DE6D-BF0A-6DD2-854122A753D5}"/>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1076608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5EB8B-246E-3E54-E3C8-11468FA7585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3AC5F8-B6B3-76AB-A262-BE2991F59E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054AF2-915B-9565-B166-B41405394C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01FE87A-86A8-1B68-0CDD-D553F8C8D3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F4B3BA-E44A-995C-5978-59CEE9B1F7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3E8A3C1-1385-B245-5466-81E10C2F9B6B}"/>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8" name="Footer Placeholder 7">
            <a:extLst>
              <a:ext uri="{FF2B5EF4-FFF2-40B4-BE49-F238E27FC236}">
                <a16:creationId xmlns:a16="http://schemas.microsoft.com/office/drawing/2014/main" id="{BECCD2C7-8754-7E03-BFF3-8E6A9249346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6E0897-A093-6E59-B1DB-949600255ED5}"/>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3027561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0ADEB-1809-74F2-DF62-0A47B1F700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8C9D2EC-F725-F0B2-4A84-85B667A0E0F4}"/>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4" name="Footer Placeholder 3">
            <a:extLst>
              <a:ext uri="{FF2B5EF4-FFF2-40B4-BE49-F238E27FC236}">
                <a16:creationId xmlns:a16="http://schemas.microsoft.com/office/drawing/2014/main" id="{40753BC9-6356-8552-276B-1F988C8CB1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102B8B-492E-35AC-C67C-BA8E462369D1}"/>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10283706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A98105-102D-C97C-CB17-7E7944853364}"/>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3" name="Footer Placeholder 2">
            <a:extLst>
              <a:ext uri="{FF2B5EF4-FFF2-40B4-BE49-F238E27FC236}">
                <a16:creationId xmlns:a16="http://schemas.microsoft.com/office/drawing/2014/main" id="{7706E37F-F0C5-A94B-C020-8AF07FD33F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1EF0A21-4A3E-AF7F-40F6-668CFCBA2BDF}"/>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833019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5943D-339C-0C91-CA3F-F113EAA86A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9EAFAE1-A726-7A30-984C-B65B83D7D3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2646D7-37EB-A347-0B35-5791562283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B28E80-CC28-83ED-E5BE-D952B9C42317}"/>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6" name="Footer Placeholder 5">
            <a:extLst>
              <a:ext uri="{FF2B5EF4-FFF2-40B4-BE49-F238E27FC236}">
                <a16:creationId xmlns:a16="http://schemas.microsoft.com/office/drawing/2014/main" id="{82603944-BD2E-39E5-44E4-B166DC35B1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35B5D5-8CB8-BA7B-2081-DEBB462AEAF9}"/>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1406055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3DE69-B27A-133B-CDD9-D99DE57DB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1E9B92-53F4-FB54-10AF-FD59FC8308C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F91EFA-C05E-68B8-42A8-064E06E134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BD4F49-216B-C800-F9BD-0AEB452F5544}"/>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6" name="Footer Placeholder 5">
            <a:extLst>
              <a:ext uri="{FF2B5EF4-FFF2-40B4-BE49-F238E27FC236}">
                <a16:creationId xmlns:a16="http://schemas.microsoft.com/office/drawing/2014/main" id="{811442F9-8013-689C-EFF6-BBC9D8CA81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AFEDB6-AAAF-CCCA-ED45-9C69C87FFDD0}"/>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2506567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1CEF-4E41-B6FF-6237-EF3018CE511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2C68CE-0C4F-A557-2179-FD48F7411D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91CFBC-8491-A642-5DB3-7C156CF59B13}"/>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5" name="Footer Placeholder 4">
            <a:extLst>
              <a:ext uri="{FF2B5EF4-FFF2-40B4-BE49-F238E27FC236}">
                <a16:creationId xmlns:a16="http://schemas.microsoft.com/office/drawing/2014/main" id="{C71961F9-237C-384F-9EEB-10D084EAA1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EE567E-B72D-BA35-FA2C-8278876B12E9}"/>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2670309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F49A32-EB7D-4446-358C-9E6047DE02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732E1AD-0DD9-5D0D-7367-9D27432D24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1188BB-52A6-B52B-23DB-A79E0A5CDEE2}"/>
              </a:ext>
            </a:extLst>
          </p:cNvPr>
          <p:cNvSpPr>
            <a:spLocks noGrp="1"/>
          </p:cNvSpPr>
          <p:nvPr>
            <p:ph type="dt" sz="half" idx="10"/>
          </p:nvPr>
        </p:nvSpPr>
        <p:spPr/>
        <p:txBody>
          <a:bodyPr/>
          <a:lstStyle/>
          <a:p>
            <a:fld id="{83F55336-C41E-4230-B675-54A32B2176D1}" type="datetimeFigureOut">
              <a:rPr lang="en-US" smtClean="0"/>
              <a:t>10/8/2026</a:t>
            </a:fld>
            <a:endParaRPr lang="en-US"/>
          </a:p>
        </p:txBody>
      </p:sp>
      <p:sp>
        <p:nvSpPr>
          <p:cNvPr id="5" name="Footer Placeholder 4">
            <a:extLst>
              <a:ext uri="{FF2B5EF4-FFF2-40B4-BE49-F238E27FC236}">
                <a16:creationId xmlns:a16="http://schemas.microsoft.com/office/drawing/2014/main" id="{F3416531-4DE3-E36F-9038-B2F8481CA1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508366-CB35-2A63-75B6-4090191501BE}"/>
              </a:ext>
            </a:extLst>
          </p:cNvPr>
          <p:cNvSpPr>
            <a:spLocks noGrp="1"/>
          </p:cNvSpPr>
          <p:nvPr>
            <p:ph type="sldNum" sz="quarter" idx="12"/>
          </p:nvPr>
        </p:nvSpPr>
        <p:spPr/>
        <p:txBody>
          <a:bodyPr/>
          <a:lstStyle/>
          <a:p>
            <a:fld id="{8000E9F7-89AF-4B65-862E-B8ED7DADD7EA}" type="slidenum">
              <a:rPr lang="en-US" smtClean="0"/>
              <a:t>‹#›</a:t>
            </a:fld>
            <a:endParaRPr lang="en-US"/>
          </a:p>
        </p:txBody>
      </p:sp>
    </p:spTree>
    <p:extLst>
      <p:ext uri="{BB962C8B-B14F-4D97-AF65-F5344CB8AC3E}">
        <p14:creationId xmlns:p14="http://schemas.microsoft.com/office/powerpoint/2010/main" val="3055123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B9973E-7A5E-2519-81A0-2B49081A71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DF2694-52FB-86FE-55F9-33B2DF32EB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9C1473-0CB2-8CF0-A7B7-A4909C76C9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3F55336-C41E-4230-B675-54A32B2176D1}" type="datetimeFigureOut">
              <a:rPr lang="en-US" smtClean="0"/>
              <a:t>10/8/2026</a:t>
            </a:fld>
            <a:endParaRPr lang="en-US"/>
          </a:p>
        </p:txBody>
      </p:sp>
      <p:sp>
        <p:nvSpPr>
          <p:cNvPr id="5" name="Footer Placeholder 4">
            <a:extLst>
              <a:ext uri="{FF2B5EF4-FFF2-40B4-BE49-F238E27FC236}">
                <a16:creationId xmlns:a16="http://schemas.microsoft.com/office/drawing/2014/main" id="{73172C68-B7B0-90CF-539A-11608BF6EB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F19D661-4E4A-886B-E945-56561212FD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00E9F7-89AF-4B65-862E-B8ED7DADD7EA}" type="slidenum">
              <a:rPr lang="en-US" smtClean="0"/>
              <a:t>‹#›</a:t>
            </a:fld>
            <a:endParaRPr lang="en-US"/>
          </a:p>
        </p:txBody>
      </p:sp>
    </p:spTree>
    <p:extLst>
      <p:ext uri="{BB962C8B-B14F-4D97-AF65-F5344CB8AC3E}">
        <p14:creationId xmlns:p14="http://schemas.microsoft.com/office/powerpoint/2010/main" val="2539346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5" Type="http://schemas.openxmlformats.org/officeDocument/2006/relationships/image" Target="../media/image27.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45B5F-0F66-8F8D-4F45-73984F1BE7B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9A6FC2F-E37F-417B-D8E9-ACCE1A1A1747}"/>
              </a:ext>
            </a:extLst>
          </p:cNvPr>
          <p:cNvSpPr>
            <a:spLocks noGrp="1"/>
          </p:cNvSpPr>
          <p:nvPr>
            <p:ph idx="1"/>
          </p:nvPr>
        </p:nvSpPr>
        <p:spPr>
          <a:xfrm>
            <a:off x="206969" y="2073398"/>
            <a:ext cx="11353800" cy="4351338"/>
          </a:xfrm>
        </p:spPr>
        <p:txBody>
          <a:bodyPr>
            <a:normAutofit/>
          </a:bodyPr>
          <a:lstStyle/>
          <a:p>
            <a:r>
              <a:rPr lang="en-US" dirty="0"/>
              <a:t>#Goal 1: variable importance plot and </a:t>
            </a:r>
            <a:r>
              <a:rPr lang="en-US" dirty="0" err="1"/>
              <a:t>aic</a:t>
            </a:r>
            <a:r>
              <a:rPr lang="en-US" dirty="0"/>
              <a:t> table of all models</a:t>
            </a:r>
          </a:p>
          <a:p>
            <a:r>
              <a:rPr lang="en-US" dirty="0"/>
              <a:t>#Goal 2: Hypothesis testing</a:t>
            </a:r>
          </a:p>
          <a:p>
            <a:pPr lvl="2"/>
            <a:r>
              <a:rPr lang="en-US" dirty="0"/>
              <a:t>H1: </a:t>
            </a:r>
            <a:r>
              <a:rPr lang="en-US" dirty="0" err="1"/>
              <a:t>bottomup</a:t>
            </a:r>
            <a:r>
              <a:rPr lang="en-US" dirty="0"/>
              <a:t> regulation: prey-&gt;growth (</a:t>
            </a:r>
            <a:r>
              <a:rPr lang="en-US" dirty="0" err="1"/>
              <a:t>ncc</a:t>
            </a:r>
            <a:r>
              <a:rPr lang="en-US" dirty="0"/>
              <a:t>), growth-&gt;</a:t>
            </a:r>
            <a:r>
              <a:rPr lang="en-US" dirty="0" err="1"/>
              <a:t>abund</a:t>
            </a:r>
            <a:r>
              <a:rPr lang="en-US" dirty="0"/>
              <a:t> (</a:t>
            </a:r>
            <a:r>
              <a:rPr lang="en-US" dirty="0" err="1"/>
              <a:t>cpue</a:t>
            </a:r>
            <a:r>
              <a:rPr lang="en-US" dirty="0"/>
              <a:t>, </a:t>
            </a:r>
            <a:r>
              <a:rPr lang="en-US" dirty="0" err="1"/>
              <a:t>sar</a:t>
            </a:r>
            <a:r>
              <a:rPr lang="en-US" dirty="0"/>
              <a:t>), </a:t>
            </a:r>
            <a:r>
              <a:rPr lang="en-US" dirty="0" err="1"/>
              <a:t>akprey</a:t>
            </a:r>
            <a:r>
              <a:rPr lang="en-US" dirty="0"/>
              <a:t>-&gt;</a:t>
            </a:r>
            <a:r>
              <a:rPr lang="en-US" dirty="0" err="1"/>
              <a:t>sar</a:t>
            </a:r>
            <a:r>
              <a:rPr lang="en-US" dirty="0"/>
              <a:t> (</a:t>
            </a:r>
            <a:r>
              <a:rPr lang="en-US" dirty="0" err="1"/>
              <a:t>ak</a:t>
            </a:r>
            <a:r>
              <a:rPr lang="en-US" dirty="0"/>
              <a:t>)</a:t>
            </a:r>
          </a:p>
          <a:p>
            <a:pPr lvl="2"/>
            <a:r>
              <a:rPr lang="en-US" dirty="0"/>
              <a:t>H2: </a:t>
            </a:r>
            <a:r>
              <a:rPr lang="en-US" dirty="0" err="1"/>
              <a:t>topdown</a:t>
            </a:r>
            <a:r>
              <a:rPr lang="en-US" dirty="0"/>
              <a:t> regulation: pred-&gt;</a:t>
            </a:r>
            <a:r>
              <a:rPr lang="en-US" dirty="0" err="1"/>
              <a:t>cpue</a:t>
            </a:r>
            <a:r>
              <a:rPr lang="en-US" dirty="0"/>
              <a:t> (</a:t>
            </a:r>
            <a:r>
              <a:rPr lang="en-US" dirty="0" err="1"/>
              <a:t>ncc</a:t>
            </a:r>
            <a:r>
              <a:rPr lang="en-US" dirty="0"/>
              <a:t>), pred -&gt;</a:t>
            </a:r>
            <a:r>
              <a:rPr lang="en-US" dirty="0" err="1"/>
              <a:t>sar</a:t>
            </a:r>
            <a:r>
              <a:rPr lang="en-US" dirty="0"/>
              <a:t> (</a:t>
            </a:r>
            <a:r>
              <a:rPr lang="en-US" dirty="0" err="1"/>
              <a:t>ak</a:t>
            </a:r>
            <a:r>
              <a:rPr lang="en-US" dirty="0"/>
              <a:t>), </a:t>
            </a:r>
            <a:r>
              <a:rPr lang="en-US" dirty="0" err="1"/>
              <a:t>akprey</a:t>
            </a:r>
            <a:r>
              <a:rPr lang="en-US" dirty="0"/>
              <a:t>-&gt;</a:t>
            </a:r>
            <a:r>
              <a:rPr lang="en-US" dirty="0" err="1"/>
              <a:t>sar</a:t>
            </a:r>
            <a:r>
              <a:rPr lang="en-US" dirty="0"/>
              <a:t> (</a:t>
            </a:r>
            <a:r>
              <a:rPr lang="en-US" dirty="0" err="1"/>
              <a:t>ak</a:t>
            </a:r>
            <a:r>
              <a:rPr lang="en-US" dirty="0"/>
              <a:t>)</a:t>
            </a:r>
          </a:p>
          <a:p>
            <a:pPr lvl="2"/>
            <a:r>
              <a:rPr lang="en-US" dirty="0"/>
              <a:t>H3: indirect effects (alt prey and habitat compression index): </a:t>
            </a:r>
            <a:br>
              <a:rPr lang="en-US" dirty="0"/>
            </a:br>
            <a:r>
              <a:rPr lang="en-US" dirty="0"/>
              <a:t>	pred*(1-prey (</a:t>
            </a:r>
            <a:r>
              <a:rPr lang="en-US" dirty="0" err="1"/>
              <a:t>ncc</a:t>
            </a:r>
            <a:r>
              <a:rPr lang="en-US" dirty="0"/>
              <a:t>, </a:t>
            </a:r>
            <a:r>
              <a:rPr lang="en-US" dirty="0" err="1"/>
              <a:t>ak</a:t>
            </a:r>
            <a:r>
              <a:rPr lang="en-US" dirty="0"/>
              <a:t>)) * (1- pred*spatial overlap (HCI, SST))</a:t>
            </a:r>
          </a:p>
          <a:p>
            <a:r>
              <a:rPr lang="en-US" dirty="0"/>
              <a:t>#Goal 3: alternate explanations (temp and prey*pred scenarios)</a:t>
            </a:r>
          </a:p>
        </p:txBody>
      </p:sp>
    </p:spTree>
    <p:extLst>
      <p:ext uri="{BB962C8B-B14F-4D97-AF65-F5344CB8AC3E}">
        <p14:creationId xmlns:p14="http://schemas.microsoft.com/office/powerpoint/2010/main" val="1399461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EA12475-F0ED-418E-AE41-A1232B2FC59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3504"/>
          <a:stretch/>
        </p:blipFill>
        <p:spPr>
          <a:xfrm>
            <a:off x="4012164" y="119626"/>
            <a:ext cx="4851917" cy="6554678"/>
          </a:xfrm>
        </p:spPr>
      </p:pic>
    </p:spTree>
    <p:extLst>
      <p:ext uri="{BB962C8B-B14F-4D97-AF65-F5344CB8AC3E}">
        <p14:creationId xmlns:p14="http://schemas.microsoft.com/office/powerpoint/2010/main" val="2546309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FC18B9-061D-E657-4715-2CCCD6995E1D}"/>
              </a:ext>
            </a:extLst>
          </p:cNvPr>
          <p:cNvSpPr>
            <a:spLocks noGrp="1"/>
          </p:cNvSpPr>
          <p:nvPr>
            <p:ph type="title"/>
          </p:nvPr>
        </p:nvSpPr>
        <p:spPr>
          <a:xfrm>
            <a:off x="631722" y="1"/>
            <a:ext cx="10515600" cy="755780"/>
          </a:xfrm>
        </p:spPr>
        <p:txBody>
          <a:bodyPr/>
          <a:lstStyle/>
          <a:p>
            <a:r>
              <a:rPr lang="en-US" dirty="0"/>
              <a:t>Goal1: Variable reduction</a:t>
            </a:r>
          </a:p>
        </p:txBody>
      </p:sp>
      <p:sp>
        <p:nvSpPr>
          <p:cNvPr id="6" name="TextBox 5">
            <a:extLst>
              <a:ext uri="{FF2B5EF4-FFF2-40B4-BE49-F238E27FC236}">
                <a16:creationId xmlns:a16="http://schemas.microsoft.com/office/drawing/2014/main" id="{418D9575-2AF0-BF94-ED77-1FF650456131}"/>
              </a:ext>
            </a:extLst>
          </p:cNvPr>
          <p:cNvSpPr txBox="1"/>
          <p:nvPr/>
        </p:nvSpPr>
        <p:spPr>
          <a:xfrm>
            <a:off x="1056617" y="6162120"/>
            <a:ext cx="7822911" cy="769441"/>
          </a:xfrm>
          <a:prstGeom prst="rect">
            <a:avLst/>
          </a:prstGeom>
          <a:noFill/>
        </p:spPr>
        <p:txBody>
          <a:bodyPr wrap="square">
            <a:spAutoFit/>
          </a:bodyPr>
          <a:lstStyle/>
          <a:p>
            <a:r>
              <a:rPr lang="en-US" sz="4400" dirty="0"/>
              <a:t>Variable importance plot</a:t>
            </a:r>
            <a:endParaRPr lang="en-US" dirty="0"/>
          </a:p>
        </p:txBody>
      </p:sp>
      <p:pic>
        <p:nvPicPr>
          <p:cNvPr id="5" name="Picture 4">
            <a:extLst>
              <a:ext uri="{FF2B5EF4-FFF2-40B4-BE49-F238E27FC236}">
                <a16:creationId xmlns:a16="http://schemas.microsoft.com/office/drawing/2014/main" id="{710E5761-404E-4F96-95AC-B8E3B62F9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727" y="587828"/>
            <a:ext cx="6997959" cy="5598367"/>
          </a:xfrm>
          <a:prstGeom prst="rect">
            <a:avLst/>
          </a:prstGeom>
        </p:spPr>
      </p:pic>
      <p:sp>
        <p:nvSpPr>
          <p:cNvPr id="7" name="TextBox 6">
            <a:extLst>
              <a:ext uri="{FF2B5EF4-FFF2-40B4-BE49-F238E27FC236}">
                <a16:creationId xmlns:a16="http://schemas.microsoft.com/office/drawing/2014/main" id="{04DBA67C-424A-49E3-AE7A-8D28F6FBB501}"/>
              </a:ext>
            </a:extLst>
          </p:cNvPr>
          <p:cNvSpPr txBox="1"/>
          <p:nvPr/>
        </p:nvSpPr>
        <p:spPr>
          <a:xfrm>
            <a:off x="8490857" y="1026367"/>
            <a:ext cx="3689793" cy="2308324"/>
          </a:xfrm>
          <a:prstGeom prst="rect">
            <a:avLst/>
          </a:prstGeom>
          <a:noFill/>
        </p:spPr>
        <p:txBody>
          <a:bodyPr wrap="none" rtlCol="0">
            <a:spAutoFit/>
          </a:bodyPr>
          <a:lstStyle/>
          <a:p>
            <a:r>
              <a:rPr lang="en-US" dirty="0"/>
              <a:t>Takeaways:</a:t>
            </a:r>
          </a:p>
          <a:p>
            <a:r>
              <a:rPr lang="en-US" dirty="0"/>
              <a:t>A few terms did best (strong support)</a:t>
            </a:r>
          </a:p>
          <a:p>
            <a:endParaRPr lang="en-US" dirty="0"/>
          </a:p>
          <a:p>
            <a:r>
              <a:rPr lang="en-US" dirty="0"/>
              <a:t>Sardine/herring -&gt; IGF</a:t>
            </a:r>
          </a:p>
          <a:p>
            <a:r>
              <a:rPr lang="en-US" dirty="0"/>
              <a:t>Hake or murre -&gt; </a:t>
            </a:r>
            <a:r>
              <a:rPr lang="en-US" dirty="0" err="1"/>
              <a:t>cpue</a:t>
            </a:r>
            <a:endParaRPr lang="en-US" dirty="0"/>
          </a:p>
          <a:p>
            <a:r>
              <a:rPr lang="en-US" dirty="0"/>
              <a:t>Krill +</a:t>
            </a:r>
          </a:p>
          <a:p>
            <a:r>
              <a:rPr lang="en-US" dirty="0"/>
              <a:t>Sleeper sharks or </a:t>
            </a:r>
            <a:r>
              <a:rPr lang="en-US" dirty="0" err="1"/>
              <a:t>Pcod</a:t>
            </a:r>
            <a:r>
              <a:rPr lang="en-US" dirty="0"/>
              <a:t> -&gt; SAR</a:t>
            </a:r>
          </a:p>
          <a:p>
            <a:endParaRPr lang="en-US" dirty="0"/>
          </a:p>
        </p:txBody>
      </p:sp>
    </p:spTree>
    <p:extLst>
      <p:ext uri="{BB962C8B-B14F-4D97-AF65-F5344CB8AC3E}">
        <p14:creationId xmlns:p14="http://schemas.microsoft.com/office/powerpoint/2010/main" val="2768479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712CD-134A-7495-0C83-9E517AEFFC76}"/>
              </a:ext>
            </a:extLst>
          </p:cNvPr>
          <p:cNvSpPr>
            <a:spLocks noGrp="1"/>
          </p:cNvSpPr>
          <p:nvPr>
            <p:ph type="title"/>
          </p:nvPr>
        </p:nvSpPr>
        <p:spPr/>
        <p:txBody>
          <a:bodyPr/>
          <a:lstStyle/>
          <a:p>
            <a:r>
              <a:rPr lang="en-US" dirty="0"/>
              <a:t>Goal 2: Hypothesis testing</a:t>
            </a:r>
          </a:p>
        </p:txBody>
      </p:sp>
      <p:sp>
        <p:nvSpPr>
          <p:cNvPr id="3" name="Content Placeholder 2">
            <a:extLst>
              <a:ext uri="{FF2B5EF4-FFF2-40B4-BE49-F238E27FC236}">
                <a16:creationId xmlns:a16="http://schemas.microsoft.com/office/drawing/2014/main" id="{D5DD6FEB-721E-8709-D46F-3CFDDF31FC04}"/>
              </a:ext>
            </a:extLst>
          </p:cNvPr>
          <p:cNvSpPr>
            <a:spLocks noGrp="1"/>
          </p:cNvSpPr>
          <p:nvPr>
            <p:ph idx="1"/>
          </p:nvPr>
        </p:nvSpPr>
        <p:spPr/>
        <p:txBody>
          <a:bodyPr/>
          <a:lstStyle/>
          <a:p>
            <a:r>
              <a:rPr lang="en-US" dirty="0"/>
              <a:t>Top 100 models by </a:t>
            </a:r>
            <a:r>
              <a:rPr lang="en-US" dirty="0" err="1"/>
              <a:t>aic</a:t>
            </a:r>
            <a:endParaRPr lang="en-US" dirty="0"/>
          </a:p>
        </p:txBody>
      </p:sp>
    </p:spTree>
    <p:extLst>
      <p:ext uri="{BB962C8B-B14F-4D97-AF65-F5344CB8AC3E}">
        <p14:creationId xmlns:p14="http://schemas.microsoft.com/office/powerpoint/2010/main" val="714170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3F9A60-D426-463A-9144-1D3BD65ADE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766" y="0"/>
            <a:ext cx="7363146" cy="6858000"/>
          </a:xfrm>
          <a:prstGeom prst="rect">
            <a:avLst/>
          </a:prstGeom>
        </p:spPr>
      </p:pic>
      <p:pic>
        <p:nvPicPr>
          <p:cNvPr id="5" name="Content Placeholder 4">
            <a:extLst>
              <a:ext uri="{FF2B5EF4-FFF2-40B4-BE49-F238E27FC236}">
                <a16:creationId xmlns:a16="http://schemas.microsoft.com/office/drawing/2014/main" id="{164996FB-513A-440F-B0AE-4B4FEBC266DC}"/>
              </a:ext>
            </a:extLst>
          </p:cNvPr>
          <p:cNvPicPr>
            <a:picLocks noChangeAspect="1"/>
          </p:cNvPicPr>
          <p:nvPr/>
        </p:nvPicPr>
        <p:blipFill rotWithShape="1">
          <a:blip r:embed="rId3">
            <a:extLst>
              <a:ext uri="{28A0092B-C50C-407E-A947-70E740481C1C}">
                <a14:useLocalDpi xmlns:a14="http://schemas.microsoft.com/office/drawing/2010/main" val="0"/>
              </a:ext>
            </a:extLst>
          </a:blip>
          <a:srcRect t="3504"/>
          <a:stretch/>
        </p:blipFill>
        <p:spPr>
          <a:xfrm>
            <a:off x="7340083" y="303322"/>
            <a:ext cx="4851917" cy="6554678"/>
          </a:xfrm>
          <a:prstGeom prst="rect">
            <a:avLst/>
          </a:prstGeom>
        </p:spPr>
      </p:pic>
    </p:spTree>
    <p:extLst>
      <p:ext uri="{BB962C8B-B14F-4D97-AF65-F5344CB8AC3E}">
        <p14:creationId xmlns:p14="http://schemas.microsoft.com/office/powerpoint/2010/main" val="1122291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FBE09A-D1D6-FC66-D972-AB01BA3704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958" y="840262"/>
            <a:ext cx="9754524" cy="3853036"/>
          </a:xfrm>
          <a:prstGeom prst="rect">
            <a:avLst/>
          </a:prstGeom>
        </p:spPr>
      </p:pic>
      <p:sp>
        <p:nvSpPr>
          <p:cNvPr id="5" name="TextBox 4">
            <a:extLst>
              <a:ext uri="{FF2B5EF4-FFF2-40B4-BE49-F238E27FC236}">
                <a16:creationId xmlns:a16="http://schemas.microsoft.com/office/drawing/2014/main" id="{2F59B940-B120-09D7-AC8E-C1442A3EDD1C}"/>
              </a:ext>
            </a:extLst>
          </p:cNvPr>
          <p:cNvSpPr txBox="1"/>
          <p:nvPr/>
        </p:nvSpPr>
        <p:spPr>
          <a:xfrm>
            <a:off x="1675416" y="36742"/>
            <a:ext cx="8460458" cy="369332"/>
          </a:xfrm>
          <a:prstGeom prst="rect">
            <a:avLst/>
          </a:prstGeom>
          <a:noFill/>
        </p:spPr>
        <p:txBody>
          <a:bodyPr wrap="none" rtlCol="0">
            <a:spAutoFit/>
          </a:bodyPr>
          <a:lstStyle/>
          <a:p>
            <a:r>
              <a:rPr lang="en-US" dirty="0"/>
              <a:t>The requirement is for &gt;50% to be significant, and support is the majority sign (&gt;50%)</a:t>
            </a:r>
          </a:p>
        </p:txBody>
      </p:sp>
      <p:sp>
        <p:nvSpPr>
          <p:cNvPr id="7" name="TextBox 6">
            <a:extLst>
              <a:ext uri="{FF2B5EF4-FFF2-40B4-BE49-F238E27FC236}">
                <a16:creationId xmlns:a16="http://schemas.microsoft.com/office/drawing/2014/main" id="{41C94F67-E50F-28B3-0F0E-A703C194B28A}"/>
              </a:ext>
            </a:extLst>
          </p:cNvPr>
          <p:cNvSpPr txBox="1"/>
          <p:nvPr/>
        </p:nvSpPr>
        <p:spPr>
          <a:xfrm>
            <a:off x="212377" y="4896464"/>
            <a:ext cx="11651226" cy="2031325"/>
          </a:xfrm>
          <a:prstGeom prst="rect">
            <a:avLst/>
          </a:prstGeom>
          <a:noFill/>
        </p:spPr>
        <p:txBody>
          <a:bodyPr wrap="square" rtlCol="0">
            <a:spAutoFit/>
          </a:bodyPr>
          <a:lstStyle/>
          <a:p>
            <a:r>
              <a:rPr lang="en-US" dirty="0"/>
              <a:t>Supported: </a:t>
            </a:r>
          </a:p>
          <a:p>
            <a:r>
              <a:rPr lang="en-US" dirty="0"/>
              <a:t>	NCC prey-growth-</a:t>
            </a:r>
            <a:r>
              <a:rPr lang="en-US" dirty="0" err="1"/>
              <a:t>sar</a:t>
            </a:r>
            <a:r>
              <a:rPr lang="en-US" dirty="0"/>
              <a:t> and </a:t>
            </a:r>
            <a:r>
              <a:rPr lang="en-US" dirty="0" err="1"/>
              <a:t>cpue-sar</a:t>
            </a:r>
            <a:r>
              <a:rPr lang="en-US" dirty="0"/>
              <a:t> right direction, generally supported </a:t>
            </a:r>
            <a:r>
              <a:rPr lang="en-US" sz="1100" dirty="0"/>
              <a:t>(note, sign matches herring instead of sardine)</a:t>
            </a:r>
            <a:endParaRPr lang="en-US" dirty="0"/>
          </a:p>
          <a:p>
            <a:r>
              <a:rPr lang="en-US" dirty="0"/>
              <a:t>	NCC pred-</a:t>
            </a:r>
            <a:r>
              <a:rPr lang="en-US" dirty="0" err="1"/>
              <a:t>cpue</a:t>
            </a:r>
            <a:r>
              <a:rPr lang="en-US" dirty="0"/>
              <a:t> depends on predator (murre vs seals)</a:t>
            </a:r>
          </a:p>
          <a:p>
            <a:r>
              <a:rPr lang="en-US" dirty="0"/>
              <a:t>Not supported:</a:t>
            </a:r>
          </a:p>
          <a:p>
            <a:r>
              <a:rPr lang="en-US" dirty="0"/>
              <a:t>	Growth-</a:t>
            </a:r>
            <a:r>
              <a:rPr lang="en-US" dirty="0" err="1"/>
              <a:t>cpue</a:t>
            </a:r>
            <a:r>
              <a:rPr lang="en-US" dirty="0"/>
              <a:t> NS, growth-</a:t>
            </a:r>
            <a:r>
              <a:rPr lang="en-US" dirty="0" err="1"/>
              <a:t>sar</a:t>
            </a:r>
            <a:r>
              <a:rPr lang="en-US" dirty="0"/>
              <a:t> inconsistent</a:t>
            </a:r>
          </a:p>
          <a:p>
            <a:r>
              <a:rPr lang="en-US" dirty="0"/>
              <a:t>	AK prey-SAR always flipped sign</a:t>
            </a:r>
          </a:p>
          <a:p>
            <a:r>
              <a:rPr lang="en-US" dirty="0"/>
              <a:t>	</a:t>
            </a:r>
            <a:r>
              <a:rPr lang="en-US" dirty="0" err="1"/>
              <a:t>PredAK</a:t>
            </a:r>
            <a:r>
              <a:rPr lang="en-US" dirty="0"/>
              <a:t>-SAR always flipped sign or NS</a:t>
            </a:r>
          </a:p>
        </p:txBody>
      </p:sp>
      <p:sp>
        <p:nvSpPr>
          <p:cNvPr id="2" name="TextBox 1">
            <a:extLst>
              <a:ext uri="{FF2B5EF4-FFF2-40B4-BE49-F238E27FC236}">
                <a16:creationId xmlns:a16="http://schemas.microsoft.com/office/drawing/2014/main" id="{2E579085-93D6-43BB-9F5B-40757C42EBF5}"/>
              </a:ext>
            </a:extLst>
          </p:cNvPr>
          <p:cNvSpPr txBox="1"/>
          <p:nvPr/>
        </p:nvSpPr>
        <p:spPr>
          <a:xfrm>
            <a:off x="10412963" y="1679511"/>
            <a:ext cx="940642" cy="646331"/>
          </a:xfrm>
          <a:prstGeom prst="rect">
            <a:avLst/>
          </a:prstGeom>
          <a:noFill/>
        </p:spPr>
        <p:txBody>
          <a:bodyPr wrap="none" rtlCol="0">
            <a:spAutoFit/>
          </a:bodyPr>
          <a:lstStyle/>
          <a:p>
            <a:r>
              <a:rPr lang="en-US" sz="1200" dirty="0">
                <a:solidFill>
                  <a:srgbClr val="FF0000"/>
                </a:solidFill>
              </a:rPr>
              <a:t>Plankton (+)</a:t>
            </a:r>
          </a:p>
          <a:p>
            <a:r>
              <a:rPr lang="en-US" sz="1200" dirty="0">
                <a:solidFill>
                  <a:srgbClr val="FF0000"/>
                </a:solidFill>
              </a:rPr>
              <a:t>Herring(+)</a:t>
            </a:r>
          </a:p>
          <a:p>
            <a:r>
              <a:rPr lang="en-US" sz="1200" dirty="0">
                <a:solidFill>
                  <a:srgbClr val="FF0000"/>
                </a:solidFill>
              </a:rPr>
              <a:t>Sardine (-)</a:t>
            </a:r>
          </a:p>
        </p:txBody>
      </p:sp>
      <p:sp>
        <p:nvSpPr>
          <p:cNvPr id="6" name="TextBox 5">
            <a:extLst>
              <a:ext uri="{FF2B5EF4-FFF2-40B4-BE49-F238E27FC236}">
                <a16:creationId xmlns:a16="http://schemas.microsoft.com/office/drawing/2014/main" id="{826E9965-3BF0-4C9C-874C-B552E2E6B9FB}"/>
              </a:ext>
            </a:extLst>
          </p:cNvPr>
          <p:cNvSpPr txBox="1"/>
          <p:nvPr/>
        </p:nvSpPr>
        <p:spPr>
          <a:xfrm>
            <a:off x="10332097" y="2876939"/>
            <a:ext cx="965264" cy="646331"/>
          </a:xfrm>
          <a:prstGeom prst="rect">
            <a:avLst/>
          </a:prstGeom>
          <a:noFill/>
        </p:spPr>
        <p:txBody>
          <a:bodyPr wrap="none" rtlCol="0">
            <a:spAutoFit/>
          </a:bodyPr>
          <a:lstStyle/>
          <a:p>
            <a:r>
              <a:rPr lang="en-US" sz="1200" dirty="0">
                <a:solidFill>
                  <a:srgbClr val="FF0000"/>
                </a:solidFill>
              </a:rPr>
              <a:t>WCVI krill (-)</a:t>
            </a:r>
          </a:p>
          <a:p>
            <a:r>
              <a:rPr lang="en-US" sz="1200" dirty="0">
                <a:solidFill>
                  <a:srgbClr val="FF0000"/>
                </a:solidFill>
              </a:rPr>
              <a:t>Herring(+)</a:t>
            </a:r>
          </a:p>
          <a:p>
            <a:r>
              <a:rPr lang="en-US" sz="1200" dirty="0">
                <a:solidFill>
                  <a:srgbClr val="FF0000"/>
                </a:solidFill>
              </a:rPr>
              <a:t>Sardine (-)</a:t>
            </a:r>
          </a:p>
        </p:txBody>
      </p:sp>
    </p:spTree>
    <p:extLst>
      <p:ext uri="{BB962C8B-B14F-4D97-AF65-F5344CB8AC3E}">
        <p14:creationId xmlns:p14="http://schemas.microsoft.com/office/powerpoint/2010/main" val="35987155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2120B2F3-D3CF-4CA2-8D43-BCA15AB999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0855"/>
            <a:ext cx="9183752" cy="4953660"/>
          </a:xfrm>
          <a:prstGeom prst="rect">
            <a:avLst/>
          </a:prstGeom>
        </p:spPr>
      </p:pic>
      <p:sp>
        <p:nvSpPr>
          <p:cNvPr id="12" name="TextBox 11">
            <a:extLst>
              <a:ext uri="{FF2B5EF4-FFF2-40B4-BE49-F238E27FC236}">
                <a16:creationId xmlns:a16="http://schemas.microsoft.com/office/drawing/2014/main" id="{A29E3F33-DD88-4F68-9F3F-5E7EC06F99F1}"/>
              </a:ext>
            </a:extLst>
          </p:cNvPr>
          <p:cNvSpPr txBox="1"/>
          <p:nvPr/>
        </p:nvSpPr>
        <p:spPr>
          <a:xfrm>
            <a:off x="9815804" y="1315617"/>
            <a:ext cx="940642" cy="646331"/>
          </a:xfrm>
          <a:prstGeom prst="rect">
            <a:avLst/>
          </a:prstGeom>
          <a:noFill/>
        </p:spPr>
        <p:txBody>
          <a:bodyPr wrap="none" rtlCol="0">
            <a:spAutoFit/>
          </a:bodyPr>
          <a:lstStyle/>
          <a:p>
            <a:r>
              <a:rPr lang="en-US" sz="1200" dirty="0">
                <a:solidFill>
                  <a:srgbClr val="FF0000"/>
                </a:solidFill>
              </a:rPr>
              <a:t>Plankton (+)</a:t>
            </a:r>
          </a:p>
          <a:p>
            <a:r>
              <a:rPr lang="en-US" sz="1200" dirty="0">
                <a:solidFill>
                  <a:srgbClr val="FF0000"/>
                </a:solidFill>
              </a:rPr>
              <a:t>Herring(+)</a:t>
            </a:r>
          </a:p>
          <a:p>
            <a:r>
              <a:rPr lang="en-US" sz="1200" dirty="0">
                <a:solidFill>
                  <a:srgbClr val="FF0000"/>
                </a:solidFill>
              </a:rPr>
              <a:t>Sardine (-)</a:t>
            </a:r>
          </a:p>
        </p:txBody>
      </p:sp>
      <p:sp>
        <p:nvSpPr>
          <p:cNvPr id="13" name="TextBox 12">
            <a:extLst>
              <a:ext uri="{FF2B5EF4-FFF2-40B4-BE49-F238E27FC236}">
                <a16:creationId xmlns:a16="http://schemas.microsoft.com/office/drawing/2014/main" id="{43E9C536-CACD-4F81-B683-1D4FE6132DAD}"/>
              </a:ext>
            </a:extLst>
          </p:cNvPr>
          <p:cNvSpPr txBox="1"/>
          <p:nvPr/>
        </p:nvSpPr>
        <p:spPr>
          <a:xfrm>
            <a:off x="9762929" y="3054220"/>
            <a:ext cx="965264" cy="276999"/>
          </a:xfrm>
          <a:prstGeom prst="rect">
            <a:avLst/>
          </a:prstGeom>
          <a:noFill/>
        </p:spPr>
        <p:txBody>
          <a:bodyPr wrap="none" rtlCol="0">
            <a:spAutoFit/>
          </a:bodyPr>
          <a:lstStyle/>
          <a:p>
            <a:r>
              <a:rPr lang="en-US" sz="1200" dirty="0">
                <a:solidFill>
                  <a:srgbClr val="FF0000"/>
                </a:solidFill>
              </a:rPr>
              <a:t>WCVI krill (-)</a:t>
            </a:r>
          </a:p>
        </p:txBody>
      </p:sp>
      <p:sp>
        <p:nvSpPr>
          <p:cNvPr id="14" name="TextBox 13">
            <a:extLst>
              <a:ext uri="{FF2B5EF4-FFF2-40B4-BE49-F238E27FC236}">
                <a16:creationId xmlns:a16="http://schemas.microsoft.com/office/drawing/2014/main" id="{A9A01190-5B20-49CB-B6DC-063C36848B90}"/>
              </a:ext>
            </a:extLst>
          </p:cNvPr>
          <p:cNvSpPr txBox="1"/>
          <p:nvPr/>
        </p:nvSpPr>
        <p:spPr>
          <a:xfrm>
            <a:off x="9710055" y="3505200"/>
            <a:ext cx="782137" cy="461665"/>
          </a:xfrm>
          <a:prstGeom prst="rect">
            <a:avLst/>
          </a:prstGeom>
          <a:noFill/>
        </p:spPr>
        <p:txBody>
          <a:bodyPr wrap="none" rtlCol="0">
            <a:spAutoFit/>
          </a:bodyPr>
          <a:lstStyle/>
          <a:p>
            <a:r>
              <a:rPr lang="en-US" sz="1200" dirty="0">
                <a:solidFill>
                  <a:srgbClr val="FF0000"/>
                </a:solidFill>
              </a:rPr>
              <a:t>Hake (-)</a:t>
            </a:r>
          </a:p>
          <a:p>
            <a:r>
              <a:rPr lang="en-US" sz="1200" dirty="0">
                <a:solidFill>
                  <a:srgbClr val="FF0000"/>
                </a:solidFill>
              </a:rPr>
              <a:t>Murre (+)</a:t>
            </a:r>
          </a:p>
        </p:txBody>
      </p:sp>
    </p:spTree>
    <p:extLst>
      <p:ext uri="{BB962C8B-B14F-4D97-AF65-F5344CB8AC3E}">
        <p14:creationId xmlns:p14="http://schemas.microsoft.com/office/powerpoint/2010/main" val="1991929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37648-A7EB-4794-9296-BC5BE743BCE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19A4518-CBBC-4107-BF58-A480898C6A03}"/>
              </a:ext>
            </a:extLst>
          </p:cNvPr>
          <p:cNvSpPr>
            <a:spLocks noGrp="1"/>
          </p:cNvSpPr>
          <p:nvPr>
            <p:ph sz="half" idx="1"/>
          </p:nvPr>
        </p:nvSpPr>
        <p:spPr/>
        <p:txBody>
          <a:bodyPr>
            <a:normAutofit fontScale="40000" lnSpcReduction="20000"/>
          </a:bodyPr>
          <a:lstStyle/>
          <a:p>
            <a:r>
              <a:rPr lang="en-US" dirty="0"/>
              <a:t>Study System</a:t>
            </a:r>
          </a:p>
          <a:p>
            <a:r>
              <a:rPr lang="en-US" dirty="0"/>
              <a:t>Our model focuses on interactions that affect Interior Columbia spring Chinook salmon in either their early-ocean stage within the Northern California Current (NCC), followed by the 1-3 years they spend in the Gulf of Alaska or even the Bering Sea through their return as adults to the Columbia River. Our life history model is based on individual tracking studies, ocean surveys that target juvenile salmon off the coast of </a:t>
            </a:r>
            <a:r>
              <a:rPr lang="en-US" dirty="0" err="1"/>
              <a:t>Washingon</a:t>
            </a:r>
            <a:r>
              <a:rPr lang="en-US" dirty="0"/>
              <a:t>, British Columbia and Alaska, recoveries of tagged fish in ocean fisheries, and genetic stock identification of ocean-caught spring Chinook salmon. We focus specifically on Snake River Spring/Summer-run Chinook salmon and Upper Columbia Spring Chinook salmon Evolutionarily Significant Units, which are listed as threatened and endangered, respectively, under the U.S. Endangered Species Act [ref]. </a:t>
            </a:r>
          </a:p>
          <a:p>
            <a:endParaRPr lang="en-US" dirty="0"/>
          </a:p>
          <a:p>
            <a:r>
              <a:rPr lang="en-US" dirty="0"/>
              <a:t> is a highly productive coastal ecosystem in the northeastern Pacific Ocean (Hickey &amp; Banas, 2008). </a:t>
            </a:r>
          </a:p>
          <a:p>
            <a:r>
              <a:rPr lang="en-US" dirty="0"/>
              <a:t>We focus on the region from northern Oregon, U.S.A., to southern British Columbia, Canada, which is particularly important for Pacific salmon and steelhead (Oncorhynchus spp.) from the Pacific Northwest. </a:t>
            </a:r>
          </a:p>
          <a:p>
            <a:r>
              <a:rPr lang="en-US" dirty="0"/>
              <a:t>Our conceptual models reflect what is known about the early marine stage of spring-run Chinook salmon that spawn across a wide range of habitats from coastal Washington to the mountains of Idaho. Chinook salmon enter the ocean in their first (“</a:t>
            </a:r>
            <a:r>
              <a:rPr lang="en-US" dirty="0" err="1"/>
              <a:t>subyearling</a:t>
            </a:r>
            <a:r>
              <a:rPr lang="en-US" dirty="0"/>
              <a:t>”) or second (“yearling”) year and spend 1 to 3+ years at sea before returning to natal streams to spawn. Spring-run smolts migrate quickly through the NCC to Alaskan waters using an offshore route, while fall-run smolts stay nearer to shore and travel more slowly along the coast (Anderson et al., 2019; Fisher et al., 2014). Many of these populations are listed as threatened under the U.S. Endangered Species Act (NMFS, 2022b).</a:t>
            </a:r>
          </a:p>
          <a:p>
            <a:endParaRPr lang="en-US" dirty="0"/>
          </a:p>
        </p:txBody>
      </p:sp>
      <p:sp>
        <p:nvSpPr>
          <p:cNvPr id="4" name="Content Placeholder 3">
            <a:extLst>
              <a:ext uri="{FF2B5EF4-FFF2-40B4-BE49-F238E27FC236}">
                <a16:creationId xmlns:a16="http://schemas.microsoft.com/office/drawing/2014/main" id="{A25872F8-4877-4FCB-8051-C33E6390D23B}"/>
              </a:ext>
            </a:extLst>
          </p:cNvPr>
          <p:cNvSpPr>
            <a:spLocks noGrp="1"/>
          </p:cNvSpPr>
          <p:nvPr>
            <p:ph sz="half" idx="2"/>
          </p:nvPr>
        </p:nvSpPr>
        <p:spPr/>
        <p:txBody>
          <a:bodyPr>
            <a:normAutofit fontScale="40000" lnSpcReduction="20000"/>
          </a:bodyPr>
          <a:lstStyle/>
          <a:p>
            <a:endParaRPr lang="en-US"/>
          </a:p>
        </p:txBody>
      </p:sp>
    </p:spTree>
    <p:extLst>
      <p:ext uri="{BB962C8B-B14F-4D97-AF65-F5344CB8AC3E}">
        <p14:creationId xmlns:p14="http://schemas.microsoft.com/office/powerpoint/2010/main" val="735380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444368-B22E-4861-8341-E003052E12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6054" y="0"/>
            <a:ext cx="6571093" cy="6858000"/>
          </a:xfrm>
          <a:prstGeom prst="rect">
            <a:avLst/>
          </a:prstGeom>
        </p:spPr>
      </p:pic>
      <p:sp>
        <p:nvSpPr>
          <p:cNvPr id="4" name="TextBox 3">
            <a:extLst>
              <a:ext uri="{FF2B5EF4-FFF2-40B4-BE49-F238E27FC236}">
                <a16:creationId xmlns:a16="http://schemas.microsoft.com/office/drawing/2014/main" id="{E98C9252-F5B1-46D1-AA68-8447C6103E86}"/>
              </a:ext>
            </a:extLst>
          </p:cNvPr>
          <p:cNvSpPr txBox="1"/>
          <p:nvPr/>
        </p:nvSpPr>
        <p:spPr>
          <a:xfrm>
            <a:off x="8826759" y="2006082"/>
            <a:ext cx="1229824" cy="646331"/>
          </a:xfrm>
          <a:prstGeom prst="rect">
            <a:avLst/>
          </a:prstGeom>
          <a:noFill/>
        </p:spPr>
        <p:txBody>
          <a:bodyPr wrap="none" rtlCol="0">
            <a:spAutoFit/>
          </a:bodyPr>
          <a:lstStyle/>
          <a:p>
            <a:r>
              <a:rPr lang="en-US" sz="1200" dirty="0">
                <a:solidFill>
                  <a:srgbClr val="FF0000"/>
                </a:solidFill>
              </a:rPr>
              <a:t>Lisa – check this:</a:t>
            </a:r>
          </a:p>
          <a:p>
            <a:r>
              <a:rPr lang="en-US" sz="1200" dirty="0">
                <a:solidFill>
                  <a:srgbClr val="FF0000"/>
                </a:solidFill>
              </a:rPr>
              <a:t>DAG1b short (+)</a:t>
            </a:r>
          </a:p>
          <a:p>
            <a:r>
              <a:rPr lang="en-US" sz="1200" dirty="0">
                <a:solidFill>
                  <a:srgbClr val="FF0000"/>
                </a:solidFill>
              </a:rPr>
              <a:t>DAG1b long (-)</a:t>
            </a:r>
          </a:p>
        </p:txBody>
      </p:sp>
      <p:sp>
        <p:nvSpPr>
          <p:cNvPr id="5" name="TextBox 4">
            <a:extLst>
              <a:ext uri="{FF2B5EF4-FFF2-40B4-BE49-F238E27FC236}">
                <a16:creationId xmlns:a16="http://schemas.microsoft.com/office/drawing/2014/main" id="{51FC8221-F0BC-44DE-B89F-C85C59303014}"/>
              </a:ext>
            </a:extLst>
          </p:cNvPr>
          <p:cNvSpPr txBox="1"/>
          <p:nvPr/>
        </p:nvSpPr>
        <p:spPr>
          <a:xfrm>
            <a:off x="273700" y="2531706"/>
            <a:ext cx="1564432" cy="1569660"/>
          </a:xfrm>
          <a:prstGeom prst="rect">
            <a:avLst/>
          </a:prstGeom>
          <a:noFill/>
        </p:spPr>
        <p:txBody>
          <a:bodyPr wrap="square" rtlCol="0">
            <a:spAutoFit/>
          </a:bodyPr>
          <a:lstStyle/>
          <a:p>
            <a:r>
              <a:rPr lang="en-US" sz="1200" dirty="0">
                <a:solidFill>
                  <a:srgbClr val="FF0000"/>
                </a:solidFill>
              </a:rPr>
              <a:t>Suggestion: drop all of the straggler plankton X12 and X13 and just use Ferris DFA</a:t>
            </a:r>
          </a:p>
          <a:p>
            <a:r>
              <a:rPr lang="en-US" sz="1200" dirty="0">
                <a:solidFill>
                  <a:srgbClr val="FF0000"/>
                </a:solidFill>
              </a:rPr>
              <a:t> Separate mid-trophic and lower-trophic so we still have the mixed signal</a:t>
            </a:r>
          </a:p>
        </p:txBody>
      </p:sp>
      <p:sp>
        <p:nvSpPr>
          <p:cNvPr id="6" name="TextBox 5">
            <a:extLst>
              <a:ext uri="{FF2B5EF4-FFF2-40B4-BE49-F238E27FC236}">
                <a16:creationId xmlns:a16="http://schemas.microsoft.com/office/drawing/2014/main" id="{DE8BC0EE-A4E5-4990-B540-C3162242B8A3}"/>
              </a:ext>
            </a:extLst>
          </p:cNvPr>
          <p:cNvSpPr txBox="1"/>
          <p:nvPr/>
        </p:nvSpPr>
        <p:spPr>
          <a:xfrm>
            <a:off x="8829869" y="4388498"/>
            <a:ext cx="700320" cy="461665"/>
          </a:xfrm>
          <a:prstGeom prst="rect">
            <a:avLst/>
          </a:prstGeom>
          <a:noFill/>
        </p:spPr>
        <p:txBody>
          <a:bodyPr wrap="none" rtlCol="0">
            <a:spAutoFit/>
          </a:bodyPr>
          <a:lstStyle/>
          <a:p>
            <a:r>
              <a:rPr lang="en-US" sz="1200" dirty="0">
                <a:solidFill>
                  <a:srgbClr val="FF0000"/>
                </a:solidFill>
              </a:rPr>
              <a:t>Birds (+)</a:t>
            </a:r>
          </a:p>
          <a:p>
            <a:r>
              <a:rPr lang="en-US" sz="1200" dirty="0">
                <a:solidFill>
                  <a:srgbClr val="FF0000"/>
                </a:solidFill>
              </a:rPr>
              <a:t>Fish (-)</a:t>
            </a:r>
          </a:p>
        </p:txBody>
      </p:sp>
      <p:sp>
        <p:nvSpPr>
          <p:cNvPr id="7" name="TextBox 6">
            <a:extLst>
              <a:ext uri="{FF2B5EF4-FFF2-40B4-BE49-F238E27FC236}">
                <a16:creationId xmlns:a16="http://schemas.microsoft.com/office/drawing/2014/main" id="{8A12581B-EF2D-4909-8340-9CA9E976369F}"/>
              </a:ext>
            </a:extLst>
          </p:cNvPr>
          <p:cNvSpPr txBox="1"/>
          <p:nvPr/>
        </p:nvSpPr>
        <p:spPr>
          <a:xfrm>
            <a:off x="8683691" y="5651241"/>
            <a:ext cx="2195804" cy="461665"/>
          </a:xfrm>
          <a:prstGeom prst="rect">
            <a:avLst/>
          </a:prstGeom>
          <a:noFill/>
        </p:spPr>
        <p:txBody>
          <a:bodyPr wrap="square" rtlCol="0">
            <a:spAutoFit/>
          </a:bodyPr>
          <a:lstStyle/>
          <a:p>
            <a:r>
              <a:rPr lang="en-US" sz="1200" dirty="0">
                <a:solidFill>
                  <a:srgbClr val="FF0000"/>
                </a:solidFill>
              </a:rPr>
              <a:t>Lag in peak drives diff in sablefish recruitment v biomass</a:t>
            </a:r>
          </a:p>
        </p:txBody>
      </p:sp>
      <p:sp>
        <p:nvSpPr>
          <p:cNvPr id="8" name="TextBox 7">
            <a:extLst>
              <a:ext uri="{FF2B5EF4-FFF2-40B4-BE49-F238E27FC236}">
                <a16:creationId xmlns:a16="http://schemas.microsoft.com/office/drawing/2014/main" id="{19F7DF19-87AE-43E2-A9B1-4BEA941862D3}"/>
              </a:ext>
            </a:extLst>
          </p:cNvPr>
          <p:cNvSpPr txBox="1"/>
          <p:nvPr/>
        </p:nvSpPr>
        <p:spPr>
          <a:xfrm>
            <a:off x="8612154" y="2612572"/>
            <a:ext cx="3461658" cy="1815882"/>
          </a:xfrm>
          <a:prstGeom prst="rect">
            <a:avLst/>
          </a:prstGeom>
          <a:noFill/>
        </p:spPr>
        <p:txBody>
          <a:bodyPr wrap="square" rtlCol="0">
            <a:spAutoFit/>
          </a:bodyPr>
          <a:lstStyle/>
          <a:p>
            <a:r>
              <a:rPr lang="en-US" sz="1400" dirty="0"/>
              <a:t>Takeaways:</a:t>
            </a:r>
          </a:p>
          <a:p>
            <a:r>
              <a:rPr lang="en-US" sz="1400" dirty="0"/>
              <a:t>Mixed signal on </a:t>
            </a:r>
            <a:r>
              <a:rPr lang="en-US" sz="1400" dirty="0" err="1"/>
              <a:t>PreyAK</a:t>
            </a:r>
            <a:r>
              <a:rPr lang="en-US" sz="1400" dirty="0"/>
              <a:t> and Pred (NCC &amp; AK) means it is not a general productivity message. Rather specific predators respond to specific prey (maybe also SST) which then is either a proxy or a modulating factor in impacting salmon</a:t>
            </a:r>
          </a:p>
          <a:p>
            <a:endParaRPr lang="en-US" sz="1400" dirty="0"/>
          </a:p>
        </p:txBody>
      </p:sp>
    </p:spTree>
    <p:extLst>
      <p:ext uri="{BB962C8B-B14F-4D97-AF65-F5344CB8AC3E}">
        <p14:creationId xmlns:p14="http://schemas.microsoft.com/office/powerpoint/2010/main" val="36501867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E7557A4-1628-4E47-B67A-747A7FDA6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990" y="685794"/>
            <a:ext cx="9144019" cy="5486411"/>
          </a:xfrm>
          <a:prstGeom prst="rect">
            <a:avLst/>
          </a:prstGeom>
        </p:spPr>
      </p:pic>
    </p:spTree>
    <p:extLst>
      <p:ext uri="{BB962C8B-B14F-4D97-AF65-F5344CB8AC3E}">
        <p14:creationId xmlns:p14="http://schemas.microsoft.com/office/powerpoint/2010/main" val="20608645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C37525-37B0-4A7A-8967-6740E56D1D76}"/>
              </a:ext>
            </a:extLst>
          </p:cNvPr>
          <p:cNvPicPr>
            <a:picLocks noChangeAspect="1"/>
          </p:cNvPicPr>
          <p:nvPr/>
        </p:nvPicPr>
        <p:blipFill rotWithShape="1">
          <a:blip r:embed="rId2"/>
          <a:srcRect r="51996" b="51139"/>
          <a:stretch/>
        </p:blipFill>
        <p:spPr>
          <a:xfrm>
            <a:off x="751267" y="975575"/>
            <a:ext cx="5131373" cy="2397546"/>
          </a:xfrm>
          <a:prstGeom prst="rect">
            <a:avLst/>
          </a:prstGeom>
        </p:spPr>
      </p:pic>
      <p:sp>
        <p:nvSpPr>
          <p:cNvPr id="5" name="TextBox 4">
            <a:extLst>
              <a:ext uri="{FF2B5EF4-FFF2-40B4-BE49-F238E27FC236}">
                <a16:creationId xmlns:a16="http://schemas.microsoft.com/office/drawing/2014/main" id="{444C8D2F-9A63-498D-A51B-09D72A2861E4}"/>
              </a:ext>
            </a:extLst>
          </p:cNvPr>
          <p:cNvSpPr txBox="1"/>
          <p:nvPr/>
        </p:nvSpPr>
        <p:spPr>
          <a:xfrm>
            <a:off x="4795520" y="6055310"/>
            <a:ext cx="6096000" cy="2631490"/>
          </a:xfrm>
          <a:prstGeom prst="rect">
            <a:avLst/>
          </a:prstGeom>
          <a:noFill/>
        </p:spPr>
        <p:txBody>
          <a:bodyPr wrap="square">
            <a:spAutoFit/>
          </a:bodyPr>
          <a:lstStyle/>
          <a:p>
            <a:pPr algn="l"/>
            <a:r>
              <a:rPr lang="en-US" sz="1100" b="0" i="0" u="none" strike="noStrike" baseline="0" dirty="0">
                <a:latin typeface="AdvOTcb88df00"/>
              </a:rPr>
              <a:t>Fig. 1 Upwelling habitat compression index, 1980</a:t>
            </a:r>
            <a:r>
              <a:rPr lang="en-US" sz="1100" b="0" i="0" u="none" strike="noStrike" baseline="0" dirty="0">
                <a:latin typeface="AdvOTcb88df00+20"/>
              </a:rPr>
              <a:t>–</a:t>
            </a:r>
            <a:r>
              <a:rPr lang="en-US" sz="1100" b="0" i="0" u="none" strike="noStrike" baseline="0" dirty="0">
                <a:latin typeface="AdvOTcb88df00"/>
              </a:rPr>
              <a:t>2016 (2m surface temperature, derived from data-assimilative oceanographic model). a </a:t>
            </a:r>
            <a:r>
              <a:rPr lang="en-US" sz="1100" b="0" i="0" u="none" strike="noStrike" baseline="0" dirty="0">
                <a:latin typeface="AdvOTea1a7398"/>
              </a:rPr>
              <a:t>difference</a:t>
            </a:r>
          </a:p>
          <a:p>
            <a:pPr algn="l"/>
            <a:r>
              <a:rPr lang="en-US" sz="1100" b="0" i="0" u="none" strike="noStrike" baseline="0" dirty="0">
                <a:latin typeface="AdvOTea1a7398"/>
              </a:rPr>
              <a:t>in onshore (0</a:t>
            </a:r>
            <a:r>
              <a:rPr lang="en-US" sz="1100" b="0" i="0" u="none" strike="noStrike" baseline="0" dirty="0">
                <a:latin typeface="AdvOTea1a7398+20"/>
              </a:rPr>
              <a:t>–</a:t>
            </a:r>
            <a:r>
              <a:rPr lang="en-US" sz="1100" b="0" i="0" u="none" strike="noStrike" baseline="0" dirty="0">
                <a:latin typeface="AdvOTea1a7398"/>
              </a:rPr>
              <a:t>50 km) and offshore (51</a:t>
            </a:r>
            <a:r>
              <a:rPr lang="en-US" sz="1100" b="0" i="0" u="none" strike="noStrike" baseline="0" dirty="0">
                <a:latin typeface="AdvOTea1a7398+20"/>
              </a:rPr>
              <a:t>–</a:t>
            </a:r>
            <a:r>
              <a:rPr lang="en-US" sz="1100" b="0" i="0" u="none" strike="noStrike" baseline="0" dirty="0">
                <a:latin typeface="AdvOTea1a7398"/>
              </a:rPr>
              <a:t>150 km) temperature gradients (average of March</a:t>
            </a:r>
            <a:r>
              <a:rPr lang="en-US" sz="1100" b="0" i="0" u="none" strike="noStrike" baseline="0" dirty="0">
                <a:latin typeface="AdvOTea1a7398+20"/>
              </a:rPr>
              <a:t>–</a:t>
            </a:r>
            <a:r>
              <a:rPr lang="en-US" sz="1100" b="0" i="0" u="none" strike="noStrike" baseline="0" dirty="0">
                <a:latin typeface="AdvOTea1a7398"/>
              </a:rPr>
              <a:t>May) as a function of latitude off California (</a:t>
            </a:r>
            <a:r>
              <a:rPr lang="en-US" sz="1100" b="0" i="0" u="none" strike="noStrike" baseline="0" dirty="0">
                <a:latin typeface="AdvOTcb88df00"/>
              </a:rPr>
              <a:t>b</a:t>
            </a:r>
            <a:r>
              <a:rPr lang="en-US" sz="1100" b="0" i="0" u="none" strike="noStrike" baseline="0" dirty="0">
                <a:latin typeface="AdvOTea1a7398"/>
              </a:rPr>
              <a:t>) time series</a:t>
            </a:r>
          </a:p>
          <a:p>
            <a:pPr algn="l"/>
            <a:r>
              <a:rPr lang="en-US" sz="1100" b="0" i="0" u="none" strike="noStrike" baseline="0" dirty="0">
                <a:latin typeface="AdvOTea1a7398"/>
              </a:rPr>
              <a:t>describing change in area of cool 12 °C water during early March and May; the long-term mean and standard deviation provides basis for assessing the</a:t>
            </a:r>
          </a:p>
          <a:p>
            <a:pPr algn="l"/>
            <a:r>
              <a:rPr lang="en-US" sz="1100" b="0" i="0" u="none" strike="noStrike" baseline="0" dirty="0">
                <a:latin typeface="AdvOTea1a7398"/>
              </a:rPr>
              <a:t>relative amount of cool surface water habitat and likelihood of cool water expansion vs. habitat compression, where values above</a:t>
            </a:r>
            <a:r>
              <a:rPr lang="en-US" sz="1100" b="0" i="0" u="none" strike="noStrike" baseline="0" dirty="0">
                <a:latin typeface="AdvTTab7e17fd"/>
              </a:rPr>
              <a:t>+ </a:t>
            </a:r>
            <a:r>
              <a:rPr lang="en-US" sz="1100" b="0" i="0" u="none" strike="noStrike" baseline="0" dirty="0">
                <a:latin typeface="AdvOTea1a7398"/>
              </a:rPr>
              <a:t>1 SD indicate enhanced</a:t>
            </a:r>
          </a:p>
          <a:p>
            <a:pPr algn="l"/>
            <a:r>
              <a:rPr lang="en-US" sz="1100" b="0" i="0" u="none" strike="noStrike" baseline="0" dirty="0">
                <a:latin typeface="AdvOTea1a7398"/>
              </a:rPr>
              <a:t>cool ocean conditions (i.e., La Niña or strong upwelling) and below </a:t>
            </a:r>
            <a:r>
              <a:rPr lang="en-US" sz="1100" b="0" i="0" u="none" strike="noStrike" baseline="0" dirty="0">
                <a:latin typeface="AdvTTab7e17fd+22"/>
              </a:rPr>
              <a:t>−</a:t>
            </a:r>
            <a:r>
              <a:rPr lang="en-US" sz="1100" b="0" i="0" u="none" strike="noStrike" baseline="0" dirty="0">
                <a:latin typeface="AdvOTea1a7398"/>
              </a:rPr>
              <a:t>1 SD indicate no available cool habitat (e.g., El Niño or delayed upwelling); </a:t>
            </a:r>
            <a:r>
              <a:rPr lang="en-US" sz="1100" b="0" i="0" u="none" strike="noStrike" baseline="0" dirty="0">
                <a:latin typeface="AdvOTcb88df00"/>
              </a:rPr>
              <a:t>c</a:t>
            </a:r>
            <a:r>
              <a:rPr lang="en-US" sz="1100" b="0" i="0" u="none" strike="noStrike" baseline="0" dirty="0">
                <a:latin typeface="AdvOTea1a7398"/>
              </a:rPr>
              <a:t>, </a:t>
            </a:r>
            <a:r>
              <a:rPr lang="en-US" sz="1100" b="0" i="0" u="none" strike="noStrike" baseline="0" dirty="0">
                <a:latin typeface="AdvOTcb88df00"/>
              </a:rPr>
              <a:t>d </a:t>
            </a:r>
            <a:r>
              <a:rPr lang="en-US" sz="1100" b="0" i="0" u="none" strike="noStrike" baseline="0" dirty="0">
                <a:latin typeface="AdvOTea1a7398"/>
              </a:rPr>
              <a:t>spatial</a:t>
            </a:r>
          </a:p>
          <a:p>
            <a:pPr algn="l"/>
            <a:r>
              <a:rPr lang="en-US" sz="1100" b="0" i="0" u="none" strike="noStrike" baseline="0" dirty="0">
                <a:latin typeface="AdvOTea1a7398"/>
              </a:rPr>
              <a:t>depiction of the change of cool water habitat during March and May during preceding (2013) and during (2014</a:t>
            </a:r>
            <a:r>
              <a:rPr lang="en-US" sz="1100" b="0" i="0" u="none" strike="noStrike" baseline="0" dirty="0">
                <a:latin typeface="AdvOTea1a7398+20"/>
              </a:rPr>
              <a:t>–</a:t>
            </a:r>
            <a:r>
              <a:rPr lang="en-US" sz="1100" b="0" i="0" u="none" strike="noStrike" baseline="0" dirty="0">
                <a:latin typeface="AdvOTea1a7398"/>
              </a:rPr>
              <a:t>2016) the marine heatwave and El Niño;</a:t>
            </a:r>
          </a:p>
          <a:p>
            <a:pPr algn="l"/>
            <a:r>
              <a:rPr lang="en-US" sz="1100" b="0" i="0" u="none" strike="noStrike" baseline="0" dirty="0">
                <a:latin typeface="AdvOTea1a7398"/>
              </a:rPr>
              <a:t>the thin black line represents the 12 °C contour and area represents the number of pixels with values </a:t>
            </a:r>
            <a:r>
              <a:rPr lang="en-US" sz="1100" b="0" i="0" u="none" strike="noStrike" baseline="0" dirty="0">
                <a:latin typeface="AdvOT8608a8d1+22"/>
              </a:rPr>
              <a:t>≤</a:t>
            </a:r>
            <a:r>
              <a:rPr lang="en-US" sz="1100" b="0" i="0" u="none" strike="noStrike" baseline="0" dirty="0">
                <a:latin typeface="AdvOTea1a7398"/>
              </a:rPr>
              <a:t>12 °C. Source data are provided within the Source</a:t>
            </a:r>
          </a:p>
          <a:p>
            <a:pPr algn="l"/>
            <a:r>
              <a:rPr lang="en-US" sz="1100" b="0" i="0" u="none" strike="noStrike" baseline="0" dirty="0">
                <a:latin typeface="AdvOTea1a7398"/>
              </a:rPr>
              <a:t>Data </a:t>
            </a:r>
            <a:r>
              <a:rPr lang="en-US" sz="1100" b="0" i="0" u="none" strike="noStrike" baseline="0" dirty="0">
                <a:latin typeface="AdvOTea1a7398+fb"/>
              </a:rPr>
              <a:t>fi</a:t>
            </a:r>
            <a:r>
              <a:rPr lang="en-US" sz="1100" b="0" i="0" u="none" strike="noStrike" baseline="0" dirty="0">
                <a:latin typeface="AdvOTea1a7398"/>
              </a:rPr>
              <a:t>le.</a:t>
            </a:r>
            <a:endParaRPr lang="en-US" sz="1100" dirty="0"/>
          </a:p>
        </p:txBody>
      </p:sp>
      <p:sp>
        <p:nvSpPr>
          <p:cNvPr id="6" name="TextBox 5">
            <a:extLst>
              <a:ext uri="{FF2B5EF4-FFF2-40B4-BE49-F238E27FC236}">
                <a16:creationId xmlns:a16="http://schemas.microsoft.com/office/drawing/2014/main" id="{509AEECE-AD61-4484-B896-23BEB3E3D23F}"/>
              </a:ext>
            </a:extLst>
          </p:cNvPr>
          <p:cNvSpPr txBox="1"/>
          <p:nvPr/>
        </p:nvSpPr>
        <p:spPr>
          <a:xfrm>
            <a:off x="325120" y="436880"/>
            <a:ext cx="2818400" cy="369332"/>
          </a:xfrm>
          <a:prstGeom prst="rect">
            <a:avLst/>
          </a:prstGeom>
          <a:noFill/>
        </p:spPr>
        <p:txBody>
          <a:bodyPr wrap="none" rtlCol="0">
            <a:spAutoFit/>
          </a:bodyPr>
          <a:lstStyle/>
          <a:p>
            <a:r>
              <a:rPr lang="en-US" dirty="0"/>
              <a:t>Abundant cool water (&lt;12C)</a:t>
            </a:r>
          </a:p>
        </p:txBody>
      </p:sp>
      <p:sp>
        <p:nvSpPr>
          <p:cNvPr id="7" name="TextBox 6">
            <a:extLst>
              <a:ext uri="{FF2B5EF4-FFF2-40B4-BE49-F238E27FC236}">
                <a16:creationId xmlns:a16="http://schemas.microsoft.com/office/drawing/2014/main" id="{310E6CCC-A535-4F03-8070-78B5A65FF14A}"/>
              </a:ext>
            </a:extLst>
          </p:cNvPr>
          <p:cNvSpPr txBox="1"/>
          <p:nvPr/>
        </p:nvSpPr>
        <p:spPr>
          <a:xfrm>
            <a:off x="3200400" y="416560"/>
            <a:ext cx="2233817" cy="369332"/>
          </a:xfrm>
          <a:prstGeom prst="rect">
            <a:avLst/>
          </a:prstGeom>
          <a:noFill/>
        </p:spPr>
        <p:txBody>
          <a:bodyPr wrap="none" rtlCol="0">
            <a:spAutoFit/>
          </a:bodyPr>
          <a:lstStyle/>
          <a:p>
            <a:r>
              <a:rPr lang="en-US" dirty="0"/>
              <a:t>Much less cool water</a:t>
            </a:r>
          </a:p>
        </p:txBody>
      </p:sp>
      <p:sp>
        <p:nvSpPr>
          <p:cNvPr id="8" name="TextBox 7">
            <a:extLst>
              <a:ext uri="{FF2B5EF4-FFF2-40B4-BE49-F238E27FC236}">
                <a16:creationId xmlns:a16="http://schemas.microsoft.com/office/drawing/2014/main" id="{D42D9665-86FB-4931-952E-11509127655F}"/>
              </a:ext>
            </a:extLst>
          </p:cNvPr>
          <p:cNvSpPr txBox="1"/>
          <p:nvPr/>
        </p:nvSpPr>
        <p:spPr>
          <a:xfrm>
            <a:off x="2082800" y="1402080"/>
            <a:ext cx="652743" cy="369332"/>
          </a:xfrm>
          <a:prstGeom prst="rect">
            <a:avLst/>
          </a:prstGeom>
          <a:noFill/>
        </p:spPr>
        <p:txBody>
          <a:bodyPr wrap="none" rtlCol="0">
            <a:spAutoFit/>
          </a:bodyPr>
          <a:lstStyle/>
          <a:p>
            <a:r>
              <a:rPr lang="en-US" dirty="0"/>
              <a:t>2013</a:t>
            </a:r>
          </a:p>
        </p:txBody>
      </p:sp>
      <p:sp>
        <p:nvSpPr>
          <p:cNvPr id="9" name="TextBox 8">
            <a:extLst>
              <a:ext uri="{FF2B5EF4-FFF2-40B4-BE49-F238E27FC236}">
                <a16:creationId xmlns:a16="http://schemas.microsoft.com/office/drawing/2014/main" id="{BA0B3B4E-6881-47CF-8B74-0B656A4AD4F6}"/>
              </a:ext>
            </a:extLst>
          </p:cNvPr>
          <p:cNvSpPr txBox="1"/>
          <p:nvPr/>
        </p:nvSpPr>
        <p:spPr>
          <a:xfrm>
            <a:off x="4927600" y="1361440"/>
            <a:ext cx="652743" cy="369332"/>
          </a:xfrm>
          <a:prstGeom prst="rect">
            <a:avLst/>
          </a:prstGeom>
          <a:noFill/>
        </p:spPr>
        <p:txBody>
          <a:bodyPr wrap="none" rtlCol="0">
            <a:spAutoFit/>
          </a:bodyPr>
          <a:lstStyle/>
          <a:p>
            <a:r>
              <a:rPr lang="en-US" dirty="0"/>
              <a:t>2014</a:t>
            </a:r>
          </a:p>
        </p:txBody>
      </p:sp>
    </p:spTree>
    <p:extLst>
      <p:ext uri="{BB962C8B-B14F-4D97-AF65-F5344CB8AC3E}">
        <p14:creationId xmlns:p14="http://schemas.microsoft.com/office/powerpoint/2010/main" val="729186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F6D051-894F-4A94-BA90-7248E79F60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0" y="228593"/>
            <a:ext cx="10058420" cy="6400813"/>
          </a:xfrm>
          <a:prstGeom prst="rect">
            <a:avLst/>
          </a:prstGeom>
        </p:spPr>
      </p:pic>
    </p:spTree>
    <p:extLst>
      <p:ext uri="{BB962C8B-B14F-4D97-AF65-F5344CB8AC3E}">
        <p14:creationId xmlns:p14="http://schemas.microsoft.com/office/powerpoint/2010/main" val="884975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7C846C9-5656-438C-BE06-5736223564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0"/>
            <a:ext cx="10058399" cy="6858000"/>
          </a:xfrm>
          <a:prstGeom prst="rect">
            <a:avLst/>
          </a:prstGeom>
        </p:spPr>
      </p:pic>
    </p:spTree>
    <p:extLst>
      <p:ext uri="{BB962C8B-B14F-4D97-AF65-F5344CB8AC3E}">
        <p14:creationId xmlns:p14="http://schemas.microsoft.com/office/powerpoint/2010/main" val="909616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9D9B78-8275-4B38-B07C-1777B6840C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790" y="137153"/>
            <a:ext cx="10058420" cy="6583693"/>
          </a:xfrm>
          <a:prstGeom prst="rect">
            <a:avLst/>
          </a:prstGeom>
        </p:spPr>
      </p:pic>
    </p:spTree>
    <p:extLst>
      <p:ext uri="{BB962C8B-B14F-4D97-AF65-F5344CB8AC3E}">
        <p14:creationId xmlns:p14="http://schemas.microsoft.com/office/powerpoint/2010/main" val="3634524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CEA5DF8-60C1-42D3-98B0-6AE508172F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356" y="1365818"/>
            <a:ext cx="9081052" cy="4855442"/>
          </a:xfrm>
          <a:prstGeom prst="rect">
            <a:avLst/>
          </a:prstGeom>
        </p:spPr>
      </p:pic>
      <p:sp>
        <p:nvSpPr>
          <p:cNvPr id="8" name="Title 7">
            <a:extLst>
              <a:ext uri="{FF2B5EF4-FFF2-40B4-BE49-F238E27FC236}">
                <a16:creationId xmlns:a16="http://schemas.microsoft.com/office/drawing/2014/main" id="{58D0A326-4823-49BF-9F40-831D3308C01D}"/>
              </a:ext>
            </a:extLst>
          </p:cNvPr>
          <p:cNvSpPr>
            <a:spLocks noGrp="1"/>
          </p:cNvSpPr>
          <p:nvPr>
            <p:ph type="title"/>
          </p:nvPr>
        </p:nvSpPr>
        <p:spPr>
          <a:xfrm>
            <a:off x="838200" y="0"/>
            <a:ext cx="10515600" cy="1325563"/>
          </a:xfrm>
        </p:spPr>
        <p:txBody>
          <a:bodyPr>
            <a:normAutofit fontScale="90000"/>
          </a:bodyPr>
          <a:lstStyle/>
          <a:p>
            <a:r>
              <a:rPr lang="en-US" dirty="0"/>
              <a:t>24yr model: almost all models with </a:t>
            </a:r>
            <a:r>
              <a:rPr lang="en-US" dirty="0" err="1"/>
              <a:t>altprey</a:t>
            </a:r>
            <a:r>
              <a:rPr lang="en-US" dirty="0"/>
              <a:t> had negative predator </a:t>
            </a:r>
            <a:r>
              <a:rPr lang="en-US" dirty="0" err="1"/>
              <a:t>coef</a:t>
            </a:r>
            <a:r>
              <a:rPr lang="en-US" dirty="0"/>
              <a:t> (despite pos previously)</a:t>
            </a:r>
          </a:p>
        </p:txBody>
      </p:sp>
    </p:spTree>
    <p:extLst>
      <p:ext uri="{BB962C8B-B14F-4D97-AF65-F5344CB8AC3E}">
        <p14:creationId xmlns:p14="http://schemas.microsoft.com/office/powerpoint/2010/main" val="3672956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B9EFC-F62B-4BAF-9270-E3378B293C6B}"/>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AB69291B-6584-4FD6-906E-4B0F38661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1843" y="1178124"/>
            <a:ext cx="8829526" cy="5381701"/>
          </a:xfrm>
          <a:prstGeom prst="rect">
            <a:avLst/>
          </a:prstGeom>
        </p:spPr>
      </p:pic>
    </p:spTree>
    <p:extLst>
      <p:ext uri="{BB962C8B-B14F-4D97-AF65-F5344CB8AC3E}">
        <p14:creationId xmlns:p14="http://schemas.microsoft.com/office/powerpoint/2010/main" val="865585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C389415-E049-4A84-85DE-99972C3D05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12367" y="3848874"/>
            <a:ext cx="6018253" cy="3009126"/>
          </a:xfrm>
          <a:prstGeom prst="rect">
            <a:avLst/>
          </a:prstGeom>
        </p:spPr>
      </p:pic>
      <p:pic>
        <p:nvPicPr>
          <p:cNvPr id="8" name="Picture 7">
            <a:extLst>
              <a:ext uri="{FF2B5EF4-FFF2-40B4-BE49-F238E27FC236}">
                <a16:creationId xmlns:a16="http://schemas.microsoft.com/office/drawing/2014/main" id="{C342C4C3-16B4-42CF-B66F-606501FFC5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3747" y="783771"/>
            <a:ext cx="6018253" cy="3009126"/>
          </a:xfrm>
          <a:prstGeom prst="rect">
            <a:avLst/>
          </a:prstGeom>
        </p:spPr>
      </p:pic>
      <p:pic>
        <p:nvPicPr>
          <p:cNvPr id="25" name="Picture 24">
            <a:extLst>
              <a:ext uri="{FF2B5EF4-FFF2-40B4-BE49-F238E27FC236}">
                <a16:creationId xmlns:a16="http://schemas.microsoft.com/office/drawing/2014/main" id="{9814A17B-CFC6-45AC-A42E-D80D207C6B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7715" y="895739"/>
            <a:ext cx="6018253" cy="3009126"/>
          </a:xfrm>
          <a:prstGeom prst="rect">
            <a:avLst/>
          </a:prstGeom>
        </p:spPr>
      </p:pic>
      <p:sp>
        <p:nvSpPr>
          <p:cNvPr id="26" name="Title 25">
            <a:extLst>
              <a:ext uri="{FF2B5EF4-FFF2-40B4-BE49-F238E27FC236}">
                <a16:creationId xmlns:a16="http://schemas.microsoft.com/office/drawing/2014/main" id="{00EAD4A4-7A0C-46A3-861C-56CDCD6DA6AF}"/>
              </a:ext>
            </a:extLst>
          </p:cNvPr>
          <p:cNvSpPr>
            <a:spLocks noGrp="1"/>
          </p:cNvSpPr>
          <p:nvPr>
            <p:ph type="title"/>
          </p:nvPr>
        </p:nvSpPr>
        <p:spPr>
          <a:xfrm>
            <a:off x="847530" y="1"/>
            <a:ext cx="10515600" cy="942392"/>
          </a:xfrm>
        </p:spPr>
        <p:txBody>
          <a:bodyPr>
            <a:normAutofit fontScale="90000"/>
          </a:bodyPr>
          <a:lstStyle/>
          <a:p>
            <a:r>
              <a:rPr lang="en-US" dirty="0"/>
              <a:t>Fish predators on smolts – no temperature effects</a:t>
            </a:r>
          </a:p>
        </p:txBody>
      </p:sp>
    </p:spTree>
    <p:extLst>
      <p:ext uri="{BB962C8B-B14F-4D97-AF65-F5344CB8AC3E}">
        <p14:creationId xmlns:p14="http://schemas.microsoft.com/office/powerpoint/2010/main" val="12842116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66DB47F0-4BE4-4C42-A557-8EDDF8B69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0424"/>
            <a:ext cx="6018253" cy="3009126"/>
          </a:xfrm>
          <a:prstGeom prst="rect">
            <a:avLst/>
          </a:prstGeom>
        </p:spPr>
      </p:pic>
      <p:pic>
        <p:nvPicPr>
          <p:cNvPr id="14" name="Picture 13">
            <a:extLst>
              <a:ext uri="{FF2B5EF4-FFF2-40B4-BE49-F238E27FC236}">
                <a16:creationId xmlns:a16="http://schemas.microsoft.com/office/drawing/2014/main" id="{EC6F70E6-FD93-4EC6-A762-81E2C0C4D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8050" y="821094"/>
            <a:ext cx="6018253" cy="3009126"/>
          </a:xfrm>
          <a:prstGeom prst="rect">
            <a:avLst/>
          </a:prstGeom>
        </p:spPr>
      </p:pic>
      <p:pic>
        <p:nvPicPr>
          <p:cNvPr id="16" name="Picture 15">
            <a:extLst>
              <a:ext uri="{FF2B5EF4-FFF2-40B4-BE49-F238E27FC236}">
                <a16:creationId xmlns:a16="http://schemas.microsoft.com/office/drawing/2014/main" id="{F502F77E-3278-4698-849A-3ADB20F30B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62596" y="3694922"/>
            <a:ext cx="6018253" cy="3009126"/>
          </a:xfrm>
          <a:prstGeom prst="rect">
            <a:avLst/>
          </a:prstGeom>
        </p:spPr>
      </p:pic>
      <p:sp>
        <p:nvSpPr>
          <p:cNvPr id="2" name="Title 1">
            <a:extLst>
              <a:ext uri="{FF2B5EF4-FFF2-40B4-BE49-F238E27FC236}">
                <a16:creationId xmlns:a16="http://schemas.microsoft.com/office/drawing/2014/main" id="{C8A36218-EA39-4A7B-84DD-B7A56D10748C}"/>
              </a:ext>
            </a:extLst>
          </p:cNvPr>
          <p:cNvSpPr>
            <a:spLocks noGrp="1"/>
          </p:cNvSpPr>
          <p:nvPr>
            <p:ph type="title"/>
          </p:nvPr>
        </p:nvSpPr>
        <p:spPr>
          <a:xfrm>
            <a:off x="800877" y="0"/>
            <a:ext cx="10515600" cy="774441"/>
          </a:xfrm>
        </p:spPr>
        <p:txBody>
          <a:bodyPr/>
          <a:lstStyle/>
          <a:p>
            <a:r>
              <a:rPr lang="en-US" dirty="0"/>
              <a:t>Smolt predators with temperature &amp; </a:t>
            </a:r>
            <a:r>
              <a:rPr lang="en-US" dirty="0" err="1"/>
              <a:t>altprey</a:t>
            </a:r>
            <a:endParaRPr lang="en-US" dirty="0"/>
          </a:p>
        </p:txBody>
      </p:sp>
    </p:spTree>
    <p:extLst>
      <p:ext uri="{BB962C8B-B14F-4D97-AF65-F5344CB8AC3E}">
        <p14:creationId xmlns:p14="http://schemas.microsoft.com/office/powerpoint/2010/main" val="4001513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1D0F8BBD-AD37-4EEC-ACB6-4CB5BFE64D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715" y="811763"/>
            <a:ext cx="6018253" cy="3009126"/>
          </a:xfrm>
          <a:prstGeom prst="rect">
            <a:avLst/>
          </a:prstGeom>
        </p:spPr>
      </p:pic>
      <p:pic>
        <p:nvPicPr>
          <p:cNvPr id="20" name="Picture 19">
            <a:extLst>
              <a:ext uri="{FF2B5EF4-FFF2-40B4-BE49-F238E27FC236}">
                <a16:creationId xmlns:a16="http://schemas.microsoft.com/office/drawing/2014/main" id="{C405B246-5E71-41F2-8E0C-497839243F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3747" y="3820883"/>
            <a:ext cx="6018253" cy="3009126"/>
          </a:xfrm>
          <a:prstGeom prst="rect">
            <a:avLst/>
          </a:prstGeom>
        </p:spPr>
      </p:pic>
      <p:pic>
        <p:nvPicPr>
          <p:cNvPr id="22" name="Picture 21">
            <a:extLst>
              <a:ext uri="{FF2B5EF4-FFF2-40B4-BE49-F238E27FC236}">
                <a16:creationId xmlns:a16="http://schemas.microsoft.com/office/drawing/2014/main" id="{DA89BBCD-9A9A-47D9-8BE4-33AC8B86CD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131" y="3848874"/>
            <a:ext cx="6018253" cy="3009126"/>
          </a:xfrm>
          <a:prstGeom prst="rect">
            <a:avLst/>
          </a:prstGeom>
        </p:spPr>
      </p:pic>
      <p:pic>
        <p:nvPicPr>
          <p:cNvPr id="24" name="Picture 23">
            <a:extLst>
              <a:ext uri="{FF2B5EF4-FFF2-40B4-BE49-F238E27FC236}">
                <a16:creationId xmlns:a16="http://schemas.microsoft.com/office/drawing/2014/main" id="{1BE33257-1F86-40E1-8639-7B5C75600A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57722" y="793102"/>
            <a:ext cx="6018253" cy="3009126"/>
          </a:xfrm>
          <a:prstGeom prst="rect">
            <a:avLst/>
          </a:prstGeom>
        </p:spPr>
      </p:pic>
      <p:sp>
        <p:nvSpPr>
          <p:cNvPr id="2" name="Title 1">
            <a:extLst>
              <a:ext uri="{FF2B5EF4-FFF2-40B4-BE49-F238E27FC236}">
                <a16:creationId xmlns:a16="http://schemas.microsoft.com/office/drawing/2014/main" id="{8725E1E3-B8EE-4795-B5C2-8FED7AA1EF4B}"/>
              </a:ext>
            </a:extLst>
          </p:cNvPr>
          <p:cNvSpPr>
            <a:spLocks noGrp="1"/>
          </p:cNvSpPr>
          <p:nvPr>
            <p:ph type="title"/>
          </p:nvPr>
        </p:nvSpPr>
        <p:spPr>
          <a:xfrm>
            <a:off x="810208" y="0"/>
            <a:ext cx="10515600" cy="709127"/>
          </a:xfrm>
        </p:spPr>
        <p:txBody>
          <a:bodyPr/>
          <a:lstStyle/>
          <a:p>
            <a:r>
              <a:rPr lang="en-US" dirty="0"/>
              <a:t>Mammal predators on adult Chinook</a:t>
            </a:r>
          </a:p>
        </p:txBody>
      </p:sp>
    </p:spTree>
    <p:extLst>
      <p:ext uri="{BB962C8B-B14F-4D97-AF65-F5344CB8AC3E}">
        <p14:creationId xmlns:p14="http://schemas.microsoft.com/office/powerpoint/2010/main" val="3477690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id="{23293DDC-9C2C-4BAF-B0CD-A725744342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2890" y="3800669"/>
            <a:ext cx="5470858" cy="2735429"/>
          </a:xfrm>
          <a:prstGeom prst="rect">
            <a:avLst/>
          </a:prstGeom>
        </p:spPr>
      </p:pic>
      <p:pic>
        <p:nvPicPr>
          <p:cNvPr id="34" name="Picture 33">
            <a:extLst>
              <a:ext uri="{FF2B5EF4-FFF2-40B4-BE49-F238E27FC236}">
                <a16:creationId xmlns:a16="http://schemas.microsoft.com/office/drawing/2014/main" id="{4E68AA2E-836B-4C8B-A7C9-0CE6400C7C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6946" y="1073021"/>
            <a:ext cx="5470858" cy="2735429"/>
          </a:xfrm>
          <a:prstGeom prst="rect">
            <a:avLst/>
          </a:prstGeom>
        </p:spPr>
      </p:pic>
      <p:pic>
        <p:nvPicPr>
          <p:cNvPr id="48" name="Picture 47">
            <a:extLst>
              <a:ext uri="{FF2B5EF4-FFF2-40B4-BE49-F238E27FC236}">
                <a16:creationId xmlns:a16="http://schemas.microsoft.com/office/drawing/2014/main" id="{F04567CF-4A91-440B-90A5-C680A7A397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943" y="3763347"/>
            <a:ext cx="5470858" cy="2735429"/>
          </a:xfrm>
          <a:prstGeom prst="rect">
            <a:avLst/>
          </a:prstGeom>
        </p:spPr>
      </p:pic>
      <p:pic>
        <p:nvPicPr>
          <p:cNvPr id="50" name="Picture 49">
            <a:extLst>
              <a:ext uri="{FF2B5EF4-FFF2-40B4-BE49-F238E27FC236}">
                <a16:creationId xmlns:a16="http://schemas.microsoft.com/office/drawing/2014/main" id="{7AFD2E2E-346A-434B-8609-07A9D6D517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7241" y="1057469"/>
            <a:ext cx="5470858" cy="2735429"/>
          </a:xfrm>
          <a:prstGeom prst="rect">
            <a:avLst/>
          </a:prstGeom>
        </p:spPr>
      </p:pic>
      <p:sp>
        <p:nvSpPr>
          <p:cNvPr id="51" name="Title 50">
            <a:extLst>
              <a:ext uri="{FF2B5EF4-FFF2-40B4-BE49-F238E27FC236}">
                <a16:creationId xmlns:a16="http://schemas.microsoft.com/office/drawing/2014/main" id="{B908475F-C581-4D96-BFAE-220005C2C10B}"/>
              </a:ext>
            </a:extLst>
          </p:cNvPr>
          <p:cNvSpPr>
            <a:spLocks noGrp="1"/>
          </p:cNvSpPr>
          <p:nvPr>
            <p:ph type="title"/>
          </p:nvPr>
        </p:nvSpPr>
        <p:spPr>
          <a:xfrm>
            <a:off x="828870" y="0"/>
            <a:ext cx="10515600" cy="895739"/>
          </a:xfrm>
        </p:spPr>
        <p:txBody>
          <a:bodyPr/>
          <a:lstStyle/>
          <a:p>
            <a:r>
              <a:rPr lang="en-US" dirty="0"/>
              <a:t>19 </a:t>
            </a:r>
            <a:r>
              <a:rPr lang="en-US" dirty="0" err="1"/>
              <a:t>yr</a:t>
            </a:r>
            <a:r>
              <a:rPr lang="en-US" dirty="0"/>
              <a:t> selected models (</a:t>
            </a:r>
            <a:r>
              <a:rPr lang="en-US" dirty="0" err="1"/>
              <a:t>daic</a:t>
            </a:r>
            <a:r>
              <a:rPr lang="en-US" dirty="0"/>
              <a:t>&gt;6, 12 models)</a:t>
            </a:r>
          </a:p>
        </p:txBody>
      </p:sp>
      <p:sp>
        <p:nvSpPr>
          <p:cNvPr id="52" name="TextBox 51">
            <a:extLst>
              <a:ext uri="{FF2B5EF4-FFF2-40B4-BE49-F238E27FC236}">
                <a16:creationId xmlns:a16="http://schemas.microsoft.com/office/drawing/2014/main" id="{CBC21CA5-2B29-4D82-947A-CD7F6635E620}"/>
              </a:ext>
            </a:extLst>
          </p:cNvPr>
          <p:cNvSpPr txBox="1"/>
          <p:nvPr/>
        </p:nvSpPr>
        <p:spPr>
          <a:xfrm>
            <a:off x="4544008" y="662474"/>
            <a:ext cx="2028184" cy="369332"/>
          </a:xfrm>
          <a:prstGeom prst="rect">
            <a:avLst/>
          </a:prstGeom>
          <a:noFill/>
        </p:spPr>
        <p:txBody>
          <a:bodyPr wrap="none" rtlCol="0">
            <a:spAutoFit/>
          </a:bodyPr>
          <a:lstStyle/>
          <a:p>
            <a:r>
              <a:rPr lang="en-US" dirty="0">
                <a:solidFill>
                  <a:srgbClr val="FF0000"/>
                </a:solidFill>
              </a:rPr>
              <a:t>Birds and mammals</a:t>
            </a:r>
          </a:p>
        </p:txBody>
      </p:sp>
    </p:spTree>
    <p:extLst>
      <p:ext uri="{BB962C8B-B14F-4D97-AF65-F5344CB8AC3E}">
        <p14:creationId xmlns:p14="http://schemas.microsoft.com/office/powerpoint/2010/main" val="2424519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9422AECD-16F4-4E73-992F-BDB4D40A8B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0212" y="3865983"/>
            <a:ext cx="5470858" cy="2735429"/>
          </a:xfrm>
          <a:prstGeom prst="rect">
            <a:avLst/>
          </a:prstGeom>
        </p:spPr>
      </p:pic>
      <p:pic>
        <p:nvPicPr>
          <p:cNvPr id="40" name="Picture 39">
            <a:extLst>
              <a:ext uri="{FF2B5EF4-FFF2-40B4-BE49-F238E27FC236}">
                <a16:creationId xmlns:a16="http://schemas.microsoft.com/office/drawing/2014/main" id="{ABA5E31D-3DC1-4C45-BCB6-0383BC29BA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9837" y="3763347"/>
            <a:ext cx="5470858" cy="2735429"/>
          </a:xfrm>
          <a:prstGeom prst="rect">
            <a:avLst/>
          </a:prstGeom>
        </p:spPr>
      </p:pic>
      <p:pic>
        <p:nvPicPr>
          <p:cNvPr id="42" name="Picture 41">
            <a:extLst>
              <a:ext uri="{FF2B5EF4-FFF2-40B4-BE49-F238E27FC236}">
                <a16:creationId xmlns:a16="http://schemas.microsoft.com/office/drawing/2014/main" id="{8827280D-450A-4116-BE67-C01690C4BD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07493" y="898848"/>
            <a:ext cx="5470858" cy="2735429"/>
          </a:xfrm>
          <a:prstGeom prst="rect">
            <a:avLst/>
          </a:prstGeom>
        </p:spPr>
      </p:pic>
      <p:pic>
        <p:nvPicPr>
          <p:cNvPr id="46" name="Picture 45">
            <a:extLst>
              <a:ext uri="{FF2B5EF4-FFF2-40B4-BE49-F238E27FC236}">
                <a16:creationId xmlns:a16="http://schemas.microsoft.com/office/drawing/2014/main" id="{D8659BA8-D36B-4DE8-9622-20297F2A5F1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8457" y="898849"/>
            <a:ext cx="5470858" cy="2735429"/>
          </a:xfrm>
          <a:prstGeom prst="rect">
            <a:avLst/>
          </a:prstGeom>
        </p:spPr>
      </p:pic>
      <p:sp>
        <p:nvSpPr>
          <p:cNvPr id="51" name="Title 50">
            <a:extLst>
              <a:ext uri="{FF2B5EF4-FFF2-40B4-BE49-F238E27FC236}">
                <a16:creationId xmlns:a16="http://schemas.microsoft.com/office/drawing/2014/main" id="{B908475F-C581-4D96-BFAE-220005C2C10B}"/>
              </a:ext>
            </a:extLst>
          </p:cNvPr>
          <p:cNvSpPr>
            <a:spLocks noGrp="1"/>
          </p:cNvSpPr>
          <p:nvPr>
            <p:ph type="title"/>
          </p:nvPr>
        </p:nvSpPr>
        <p:spPr>
          <a:xfrm>
            <a:off x="828870" y="0"/>
            <a:ext cx="10515600" cy="895739"/>
          </a:xfrm>
        </p:spPr>
        <p:txBody>
          <a:bodyPr/>
          <a:lstStyle/>
          <a:p>
            <a:r>
              <a:rPr lang="en-US" dirty="0"/>
              <a:t>19 </a:t>
            </a:r>
            <a:r>
              <a:rPr lang="en-US" dirty="0" err="1"/>
              <a:t>yr</a:t>
            </a:r>
            <a:r>
              <a:rPr lang="en-US" dirty="0"/>
              <a:t> selected models (</a:t>
            </a:r>
            <a:r>
              <a:rPr lang="en-US" dirty="0" err="1"/>
              <a:t>daic</a:t>
            </a:r>
            <a:r>
              <a:rPr lang="en-US" dirty="0"/>
              <a:t>&gt;6, 12 models)</a:t>
            </a:r>
          </a:p>
        </p:txBody>
      </p:sp>
      <p:sp>
        <p:nvSpPr>
          <p:cNvPr id="15" name="TextBox 14">
            <a:extLst>
              <a:ext uri="{FF2B5EF4-FFF2-40B4-BE49-F238E27FC236}">
                <a16:creationId xmlns:a16="http://schemas.microsoft.com/office/drawing/2014/main" id="{497844CE-8065-477A-AE5A-722F4631F551}"/>
              </a:ext>
            </a:extLst>
          </p:cNvPr>
          <p:cNvSpPr txBox="1"/>
          <p:nvPr/>
        </p:nvSpPr>
        <p:spPr>
          <a:xfrm>
            <a:off x="4544008" y="662474"/>
            <a:ext cx="1821717" cy="369332"/>
          </a:xfrm>
          <a:prstGeom prst="rect">
            <a:avLst/>
          </a:prstGeom>
          <a:noFill/>
        </p:spPr>
        <p:txBody>
          <a:bodyPr wrap="none" rtlCol="0">
            <a:spAutoFit/>
          </a:bodyPr>
          <a:lstStyle/>
          <a:p>
            <a:r>
              <a:rPr lang="en-US" dirty="0">
                <a:solidFill>
                  <a:srgbClr val="FF0000"/>
                </a:solidFill>
              </a:rPr>
              <a:t>Fish in smolt year</a:t>
            </a:r>
          </a:p>
        </p:txBody>
      </p:sp>
    </p:spTree>
    <p:extLst>
      <p:ext uri="{BB962C8B-B14F-4D97-AF65-F5344CB8AC3E}">
        <p14:creationId xmlns:p14="http://schemas.microsoft.com/office/powerpoint/2010/main" val="3564680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F28046ED-2D84-4D9B-B2A9-9F3F54B6F9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48873" y="3837992"/>
            <a:ext cx="5470858" cy="2735429"/>
          </a:xfrm>
          <a:prstGeom prst="rect">
            <a:avLst/>
          </a:prstGeom>
        </p:spPr>
      </p:pic>
      <p:pic>
        <p:nvPicPr>
          <p:cNvPr id="36" name="Picture 35">
            <a:extLst>
              <a:ext uri="{FF2B5EF4-FFF2-40B4-BE49-F238E27FC236}">
                <a16:creationId xmlns:a16="http://schemas.microsoft.com/office/drawing/2014/main" id="{150EF638-0E03-4CAF-9DEB-FBB9746457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5232" y="1020147"/>
            <a:ext cx="5470858" cy="2735429"/>
          </a:xfrm>
          <a:prstGeom prst="rect">
            <a:avLst/>
          </a:prstGeom>
        </p:spPr>
      </p:pic>
      <p:pic>
        <p:nvPicPr>
          <p:cNvPr id="38" name="Picture 37">
            <a:extLst>
              <a:ext uri="{FF2B5EF4-FFF2-40B4-BE49-F238E27FC236}">
                <a16:creationId xmlns:a16="http://schemas.microsoft.com/office/drawing/2014/main" id="{0380D9D0-6D0F-48FE-AF3D-89A9945442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67534" y="842865"/>
            <a:ext cx="5470858" cy="2735429"/>
          </a:xfrm>
          <a:prstGeom prst="rect">
            <a:avLst/>
          </a:prstGeom>
        </p:spPr>
      </p:pic>
      <p:pic>
        <p:nvPicPr>
          <p:cNvPr id="44" name="Picture 43">
            <a:extLst>
              <a:ext uri="{FF2B5EF4-FFF2-40B4-BE49-F238E27FC236}">
                <a16:creationId xmlns:a16="http://schemas.microsoft.com/office/drawing/2014/main" id="{0997203A-C202-42B8-B774-AC22EDCF9E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4563" y="3875313"/>
            <a:ext cx="5470858" cy="2735429"/>
          </a:xfrm>
          <a:prstGeom prst="rect">
            <a:avLst/>
          </a:prstGeom>
        </p:spPr>
      </p:pic>
      <p:sp>
        <p:nvSpPr>
          <p:cNvPr id="51" name="Title 50">
            <a:extLst>
              <a:ext uri="{FF2B5EF4-FFF2-40B4-BE49-F238E27FC236}">
                <a16:creationId xmlns:a16="http://schemas.microsoft.com/office/drawing/2014/main" id="{B908475F-C581-4D96-BFAE-220005C2C10B}"/>
              </a:ext>
            </a:extLst>
          </p:cNvPr>
          <p:cNvSpPr>
            <a:spLocks noGrp="1"/>
          </p:cNvSpPr>
          <p:nvPr>
            <p:ph type="title"/>
          </p:nvPr>
        </p:nvSpPr>
        <p:spPr>
          <a:xfrm>
            <a:off x="828870" y="0"/>
            <a:ext cx="10515600" cy="895739"/>
          </a:xfrm>
        </p:spPr>
        <p:txBody>
          <a:bodyPr/>
          <a:lstStyle/>
          <a:p>
            <a:r>
              <a:rPr lang="en-US" dirty="0"/>
              <a:t>19 </a:t>
            </a:r>
            <a:r>
              <a:rPr lang="en-US" dirty="0" err="1"/>
              <a:t>yr</a:t>
            </a:r>
            <a:r>
              <a:rPr lang="en-US" dirty="0"/>
              <a:t> selected models (</a:t>
            </a:r>
            <a:r>
              <a:rPr lang="en-US" dirty="0" err="1"/>
              <a:t>daic</a:t>
            </a:r>
            <a:r>
              <a:rPr lang="en-US" dirty="0"/>
              <a:t>&gt;6, 12 models)</a:t>
            </a:r>
          </a:p>
        </p:txBody>
      </p:sp>
      <p:sp>
        <p:nvSpPr>
          <p:cNvPr id="13" name="TextBox 12">
            <a:extLst>
              <a:ext uri="{FF2B5EF4-FFF2-40B4-BE49-F238E27FC236}">
                <a16:creationId xmlns:a16="http://schemas.microsoft.com/office/drawing/2014/main" id="{734D3F76-8F1E-43A5-9A7A-74D50F79EA6E}"/>
              </a:ext>
            </a:extLst>
          </p:cNvPr>
          <p:cNvSpPr txBox="1"/>
          <p:nvPr/>
        </p:nvSpPr>
        <p:spPr>
          <a:xfrm>
            <a:off x="4544008" y="662474"/>
            <a:ext cx="1780039" cy="369332"/>
          </a:xfrm>
          <a:prstGeom prst="rect">
            <a:avLst/>
          </a:prstGeom>
          <a:noFill/>
        </p:spPr>
        <p:txBody>
          <a:bodyPr wrap="none" rtlCol="0">
            <a:spAutoFit/>
          </a:bodyPr>
          <a:lstStyle/>
          <a:p>
            <a:r>
              <a:rPr lang="en-US" dirty="0">
                <a:solidFill>
                  <a:srgbClr val="FF0000"/>
                </a:solidFill>
              </a:rPr>
              <a:t>Fish in adult year</a:t>
            </a:r>
          </a:p>
        </p:txBody>
      </p:sp>
    </p:spTree>
    <p:extLst>
      <p:ext uri="{BB962C8B-B14F-4D97-AF65-F5344CB8AC3E}">
        <p14:creationId xmlns:p14="http://schemas.microsoft.com/office/powerpoint/2010/main" val="17505500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5AC26-2696-4F1F-A0D3-185204107C8F}"/>
              </a:ext>
            </a:extLst>
          </p:cNvPr>
          <p:cNvSpPr>
            <a:spLocks noGrp="1"/>
          </p:cNvSpPr>
          <p:nvPr>
            <p:ph type="title"/>
          </p:nvPr>
        </p:nvSpPr>
        <p:spPr/>
        <p:txBody>
          <a:bodyPr/>
          <a:lstStyle/>
          <a:p>
            <a:r>
              <a:rPr lang="en-US" dirty="0"/>
              <a:t>Top models (</a:t>
            </a:r>
            <a:r>
              <a:rPr lang="en-US" dirty="0" err="1"/>
              <a:t>ak</a:t>
            </a:r>
            <a:r>
              <a:rPr lang="en-US" dirty="0"/>
              <a:t> only)</a:t>
            </a:r>
          </a:p>
        </p:txBody>
      </p:sp>
      <p:graphicFrame>
        <p:nvGraphicFramePr>
          <p:cNvPr id="5" name="Table 4">
            <a:extLst>
              <a:ext uri="{FF2B5EF4-FFF2-40B4-BE49-F238E27FC236}">
                <a16:creationId xmlns:a16="http://schemas.microsoft.com/office/drawing/2014/main" id="{1B0D71C8-9D4B-411A-AD07-11E28F9DCEE6}"/>
              </a:ext>
            </a:extLst>
          </p:cNvPr>
          <p:cNvGraphicFramePr>
            <a:graphicFrameLocks noGrp="1"/>
          </p:cNvGraphicFramePr>
          <p:nvPr>
            <p:extLst>
              <p:ext uri="{D42A27DB-BD31-4B8C-83A1-F6EECF244321}">
                <p14:modId xmlns:p14="http://schemas.microsoft.com/office/powerpoint/2010/main" val="2226515826"/>
              </p:ext>
            </p:extLst>
          </p:nvPr>
        </p:nvGraphicFramePr>
        <p:xfrm>
          <a:off x="464974" y="2541637"/>
          <a:ext cx="10515602" cy="2881992"/>
        </p:xfrm>
        <a:graphic>
          <a:graphicData uri="http://schemas.openxmlformats.org/drawingml/2006/table">
            <a:tbl>
              <a:tblPr/>
              <a:tblGrid>
                <a:gridCol w="2251556">
                  <a:extLst>
                    <a:ext uri="{9D8B030D-6E8A-4147-A177-3AD203B41FA5}">
                      <a16:colId xmlns:a16="http://schemas.microsoft.com/office/drawing/2014/main" val="3500528275"/>
                    </a:ext>
                  </a:extLst>
                </a:gridCol>
                <a:gridCol w="2776919">
                  <a:extLst>
                    <a:ext uri="{9D8B030D-6E8A-4147-A177-3AD203B41FA5}">
                      <a16:colId xmlns:a16="http://schemas.microsoft.com/office/drawing/2014/main" val="542242160"/>
                    </a:ext>
                  </a:extLst>
                </a:gridCol>
                <a:gridCol w="617093">
                  <a:extLst>
                    <a:ext uri="{9D8B030D-6E8A-4147-A177-3AD203B41FA5}">
                      <a16:colId xmlns:a16="http://schemas.microsoft.com/office/drawing/2014/main" val="2078226208"/>
                    </a:ext>
                  </a:extLst>
                </a:gridCol>
                <a:gridCol w="441972">
                  <a:extLst>
                    <a:ext uri="{9D8B030D-6E8A-4147-A177-3AD203B41FA5}">
                      <a16:colId xmlns:a16="http://schemas.microsoft.com/office/drawing/2014/main" val="2690867037"/>
                    </a:ext>
                  </a:extLst>
                </a:gridCol>
                <a:gridCol w="425294">
                  <a:extLst>
                    <a:ext uri="{9D8B030D-6E8A-4147-A177-3AD203B41FA5}">
                      <a16:colId xmlns:a16="http://schemas.microsoft.com/office/drawing/2014/main" val="3802744962"/>
                    </a:ext>
                  </a:extLst>
                </a:gridCol>
                <a:gridCol w="308547">
                  <a:extLst>
                    <a:ext uri="{9D8B030D-6E8A-4147-A177-3AD203B41FA5}">
                      <a16:colId xmlns:a16="http://schemas.microsoft.com/office/drawing/2014/main" val="3686845922"/>
                    </a:ext>
                  </a:extLst>
                </a:gridCol>
                <a:gridCol w="758858">
                  <a:extLst>
                    <a:ext uri="{9D8B030D-6E8A-4147-A177-3AD203B41FA5}">
                      <a16:colId xmlns:a16="http://schemas.microsoft.com/office/drawing/2014/main" val="2494374743"/>
                    </a:ext>
                  </a:extLst>
                </a:gridCol>
                <a:gridCol w="667128">
                  <a:extLst>
                    <a:ext uri="{9D8B030D-6E8A-4147-A177-3AD203B41FA5}">
                      <a16:colId xmlns:a16="http://schemas.microsoft.com/office/drawing/2014/main" val="678848200"/>
                    </a:ext>
                  </a:extLst>
                </a:gridCol>
                <a:gridCol w="233495">
                  <a:extLst>
                    <a:ext uri="{9D8B030D-6E8A-4147-A177-3AD203B41FA5}">
                      <a16:colId xmlns:a16="http://schemas.microsoft.com/office/drawing/2014/main" val="1879212843"/>
                    </a:ext>
                  </a:extLst>
                </a:gridCol>
                <a:gridCol w="375259">
                  <a:extLst>
                    <a:ext uri="{9D8B030D-6E8A-4147-A177-3AD203B41FA5}">
                      <a16:colId xmlns:a16="http://schemas.microsoft.com/office/drawing/2014/main" val="2868125446"/>
                    </a:ext>
                  </a:extLst>
                </a:gridCol>
                <a:gridCol w="391938">
                  <a:extLst>
                    <a:ext uri="{9D8B030D-6E8A-4147-A177-3AD203B41FA5}">
                      <a16:colId xmlns:a16="http://schemas.microsoft.com/office/drawing/2014/main" val="2158436658"/>
                    </a:ext>
                  </a:extLst>
                </a:gridCol>
                <a:gridCol w="341903">
                  <a:extLst>
                    <a:ext uri="{9D8B030D-6E8A-4147-A177-3AD203B41FA5}">
                      <a16:colId xmlns:a16="http://schemas.microsoft.com/office/drawing/2014/main" val="2424109425"/>
                    </a:ext>
                  </a:extLst>
                </a:gridCol>
                <a:gridCol w="333564">
                  <a:extLst>
                    <a:ext uri="{9D8B030D-6E8A-4147-A177-3AD203B41FA5}">
                      <a16:colId xmlns:a16="http://schemas.microsoft.com/office/drawing/2014/main" val="1650353702"/>
                    </a:ext>
                  </a:extLst>
                </a:gridCol>
                <a:gridCol w="592076">
                  <a:extLst>
                    <a:ext uri="{9D8B030D-6E8A-4147-A177-3AD203B41FA5}">
                      <a16:colId xmlns:a16="http://schemas.microsoft.com/office/drawing/2014/main" val="3816863443"/>
                    </a:ext>
                  </a:extLst>
                </a:gridCol>
              </a:tblGrid>
              <a:tr h="240166">
                <a:tc>
                  <a:txBody>
                    <a:bodyPr/>
                    <a:lstStyle/>
                    <a:p>
                      <a:pPr algn="l" fontAlgn="b"/>
                      <a:r>
                        <a:rPr lang="en-US" sz="700" b="1" i="0" u="none" strike="noStrike">
                          <a:solidFill>
                            <a:srgbClr val="000000"/>
                          </a:solidFill>
                          <a:effectLst/>
                          <a:latin typeface="Calibri" panose="020F0502020204030204" pitchFamily="34" charset="0"/>
                        </a:rPr>
                        <a:t>predator</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selected_prey</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fitted_weights</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base_beta</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beta_peff</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pvalue</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mean_net_impact</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realized_ damping_pct</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aic</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base_aic</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delta_aic</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base_r2</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final_r2</a:t>
                      </a:r>
                    </a:p>
                  </a:txBody>
                  <a:tcPr marL="5003" marR="5003" marT="5003" marB="0" anchor="b">
                    <a:lnL>
                      <a:noFill/>
                    </a:lnL>
                    <a:lnR>
                      <a:noFill/>
                    </a:lnR>
                    <a:lnT>
                      <a:noFill/>
                    </a:lnT>
                    <a:lnB>
                      <a:noFill/>
                    </a:lnB>
                  </a:tcPr>
                </a:tc>
                <a:tc>
                  <a:txBody>
                    <a:bodyPr/>
                    <a:lstStyle/>
                    <a:p>
                      <a:pPr algn="l" fontAlgn="b"/>
                      <a:r>
                        <a:rPr lang="en-US" sz="700" b="1" i="0" u="none" strike="noStrike">
                          <a:solidFill>
                            <a:srgbClr val="000000"/>
                          </a:solidFill>
                          <a:effectLst/>
                          <a:latin typeface="Calibri" panose="020F0502020204030204" pitchFamily="34" charset="0"/>
                        </a:rPr>
                        <a:t>dataset</a:t>
                      </a:r>
                    </a:p>
                  </a:txBody>
                  <a:tcPr marL="5003" marR="5003" marT="5003" marB="0" anchor="b">
                    <a:lnL>
                      <a:noFill/>
                    </a:lnL>
                    <a:lnR>
                      <a:noFill/>
                    </a:lnR>
                    <a:lnT>
                      <a:noFill/>
                    </a:lnT>
                    <a:lnB>
                      <a:noFill/>
                    </a:lnB>
                  </a:tcPr>
                </a:tc>
                <a:extLst>
                  <a:ext uri="{0D108BD9-81ED-4DB2-BD59-A6C34878D82A}">
                    <a16:rowId xmlns:a16="http://schemas.microsoft.com/office/drawing/2014/main" val="3058938552"/>
                  </a:ext>
                </a:extLst>
              </a:tr>
              <a:tr h="120083">
                <a:tc>
                  <a:txBody>
                    <a:bodyPr/>
                    <a:lstStyle/>
                    <a:p>
                      <a:pPr algn="l" fontAlgn="b"/>
                      <a:r>
                        <a:rPr lang="en-US" sz="700" b="0" i="0" u="none" strike="noStrike">
                          <a:solidFill>
                            <a:srgbClr val="000000"/>
                          </a:solidFill>
                          <a:effectLst/>
                          <a:latin typeface="Calibri" panose="020F0502020204030204" pitchFamily="34" charset="0"/>
                        </a:rPr>
                        <a:t>X15_ArrowtoothFlounderBiomass_predAK_adultyr</a:t>
                      </a:r>
                    </a:p>
                  </a:txBody>
                  <a:tcPr marL="5003" marR="5003" marT="5003" marB="0" anchor="b">
                    <a:lnL>
                      <a:noFill/>
                    </a:lnL>
                    <a:lnR>
                      <a:noFill/>
                    </a:lnR>
                    <a:lnT>
                      <a:noFill/>
                    </a:lnT>
                    <a:lnB>
                      <a:noFill/>
                    </a:lnB>
                  </a:tcPr>
                </a:tc>
                <a:tc>
                  <a:txBody>
                    <a:bodyPr/>
                    <a:lstStyle/>
                    <a:p>
                      <a:pPr algn="l" fontAlgn="b"/>
                      <a:r>
                        <a:rPr lang="it-IT" sz="700" b="0" i="0" u="none" strike="noStrike">
                          <a:solidFill>
                            <a:srgbClr val="000000"/>
                          </a:solidFill>
                          <a:effectLst/>
                          <a:latin typeface="Calibri" panose="020F0502020204030204" pitchFamily="34" charset="0"/>
                        </a:rPr>
                        <a:t>X13_mid_il_capelin_adultyr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33.15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8.43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-8.75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0.54</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24-Year Series</a:t>
                      </a:r>
                    </a:p>
                  </a:txBody>
                  <a:tcPr marL="5003" marR="5003" marT="5003" marB="0" anchor="b">
                    <a:lnL>
                      <a:noFill/>
                    </a:lnL>
                    <a:lnR>
                      <a:noFill/>
                    </a:lnR>
                    <a:lnT>
                      <a:noFill/>
                    </a:lnT>
                    <a:lnB>
                      <a:noFill/>
                    </a:lnB>
                  </a:tcPr>
                </a:tc>
                <a:extLst>
                  <a:ext uri="{0D108BD9-81ED-4DB2-BD59-A6C34878D82A}">
                    <a16:rowId xmlns:a16="http://schemas.microsoft.com/office/drawing/2014/main" val="3856375566"/>
                  </a:ext>
                </a:extLst>
              </a:tr>
              <a:tr h="120083">
                <a:tc>
                  <a:txBody>
                    <a:bodyPr/>
                    <a:lstStyle/>
                    <a:p>
                      <a:pPr algn="l" fontAlgn="b"/>
                      <a:r>
                        <a:rPr lang="en-US" sz="700" b="0" i="0" u="none" strike="noStrike">
                          <a:solidFill>
                            <a:srgbClr val="000000"/>
                          </a:solidFill>
                          <a:effectLst/>
                          <a:latin typeface="Calibri" panose="020F0502020204030204" pitchFamily="34" charset="0"/>
                        </a:rPr>
                        <a:t>X15_sablefishBiomass_predAK_smoltyr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X13_pollock_age1plus_smoltyr + X13_sitkaHerring_EGoA_smoltyr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0.8;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-2.53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70.30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2.81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9.43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-6.62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0.48</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24-Year Series</a:t>
                      </a:r>
                    </a:p>
                  </a:txBody>
                  <a:tcPr marL="5003" marR="5003" marT="5003" marB="0" anchor="b">
                    <a:lnL>
                      <a:noFill/>
                    </a:lnL>
                    <a:lnR>
                      <a:noFill/>
                    </a:lnR>
                    <a:lnT>
                      <a:noFill/>
                    </a:lnT>
                    <a:lnB>
                      <a:noFill/>
                    </a:lnB>
                  </a:tcPr>
                </a:tc>
                <a:extLst>
                  <a:ext uri="{0D108BD9-81ED-4DB2-BD59-A6C34878D82A}">
                    <a16:rowId xmlns:a16="http://schemas.microsoft.com/office/drawing/2014/main" val="3504241062"/>
                  </a:ext>
                </a:extLst>
              </a:tr>
              <a:tr h="120083">
                <a:tc>
                  <a:txBody>
                    <a:bodyPr/>
                    <a:lstStyle/>
                    <a:p>
                      <a:pPr algn="l" fontAlgn="b"/>
                      <a:r>
                        <a:rPr lang="en-US" sz="700" b="0" i="0" u="none" strike="noStrike">
                          <a:solidFill>
                            <a:srgbClr val="000000"/>
                          </a:solidFill>
                          <a:effectLst/>
                          <a:latin typeface="Calibri" panose="020F0502020204030204" pitchFamily="34" charset="0"/>
                        </a:rPr>
                        <a:t>X15_ArrowtoothFlounderBiomass_predAK_smoltyr</a:t>
                      </a:r>
                    </a:p>
                  </a:txBody>
                  <a:tcPr marL="5003" marR="5003" marT="5003" marB="0" anchor="b">
                    <a:lnL>
                      <a:noFill/>
                    </a:lnL>
                    <a:lnR>
                      <a:noFill/>
                    </a:lnR>
                    <a:lnT>
                      <a:noFill/>
                    </a:lnT>
                    <a:lnB>
                      <a:noFill/>
                    </a:lnB>
                  </a:tcPr>
                </a:tc>
                <a:tc>
                  <a:txBody>
                    <a:bodyPr/>
                    <a:lstStyle/>
                    <a:p>
                      <a:pPr algn="l" fontAlgn="b"/>
                      <a:r>
                        <a:rPr lang="it-IT" sz="700" b="0" i="0" u="none" strike="noStrike">
                          <a:solidFill>
                            <a:srgbClr val="000000"/>
                          </a:solidFill>
                          <a:effectLst/>
                          <a:latin typeface="Calibri" panose="020F0502020204030204" pitchFamily="34" charset="0"/>
                        </a:rPr>
                        <a:t>X13_mid_il_capelin_smoltyr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23.71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5.37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7.74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-2.37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0.42</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24-Year Series</a:t>
                      </a:r>
                    </a:p>
                  </a:txBody>
                  <a:tcPr marL="5003" marR="5003" marT="5003" marB="0" anchor="b">
                    <a:lnL>
                      <a:noFill/>
                    </a:lnL>
                    <a:lnR>
                      <a:noFill/>
                    </a:lnR>
                    <a:lnT>
                      <a:noFill/>
                    </a:lnT>
                    <a:lnB>
                      <a:noFill/>
                    </a:lnB>
                  </a:tcPr>
                </a:tc>
                <a:extLst>
                  <a:ext uri="{0D108BD9-81ED-4DB2-BD59-A6C34878D82A}">
                    <a16:rowId xmlns:a16="http://schemas.microsoft.com/office/drawing/2014/main" val="1194373853"/>
                  </a:ext>
                </a:extLst>
              </a:tr>
              <a:tr h="120083">
                <a:tc>
                  <a:txBody>
                    <a:bodyPr/>
                    <a:lstStyle/>
                    <a:p>
                      <a:pPr algn="l" fontAlgn="b"/>
                      <a:r>
                        <a:rPr lang="en-US" sz="700" b="0" i="0" u="none" strike="noStrike">
                          <a:solidFill>
                            <a:srgbClr val="000000"/>
                          </a:solidFill>
                          <a:effectLst/>
                          <a:latin typeface="Calibri" panose="020F0502020204030204" pitchFamily="34" charset="0"/>
                        </a:rPr>
                        <a:t>X15_sablefishBiomass_predAK_adultyr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X13_pollock_age1plus_adultyr + X13_mid_il_capelin_adultyr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-1.70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69.56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5.38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8.83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-3.45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0.42</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24-Year Series</a:t>
                      </a:r>
                    </a:p>
                  </a:txBody>
                  <a:tcPr marL="5003" marR="5003" marT="5003" marB="0" anchor="b">
                    <a:lnL>
                      <a:noFill/>
                    </a:lnL>
                    <a:lnR>
                      <a:noFill/>
                    </a:lnR>
                    <a:lnT>
                      <a:noFill/>
                    </a:lnT>
                    <a:lnB>
                      <a:noFill/>
                    </a:lnB>
                  </a:tcPr>
                </a:tc>
                <a:extLst>
                  <a:ext uri="{0D108BD9-81ED-4DB2-BD59-A6C34878D82A}">
                    <a16:rowId xmlns:a16="http://schemas.microsoft.com/office/drawing/2014/main" val="2962447093"/>
                  </a:ext>
                </a:extLst>
              </a:tr>
              <a:tr h="120083">
                <a:tc>
                  <a:txBody>
                    <a:bodyPr/>
                    <a:lstStyle/>
                    <a:p>
                      <a:pPr algn="l" fontAlgn="b"/>
                      <a:r>
                        <a:rPr lang="en-US" sz="700" b="0" i="0" u="none" strike="noStrike">
                          <a:solidFill>
                            <a:srgbClr val="000000"/>
                          </a:solidFill>
                          <a:effectLst/>
                          <a:latin typeface="Calibri" panose="020F0502020204030204" pitchFamily="34" charset="0"/>
                        </a:rPr>
                        <a:t>X11_ssl_seak_pup_pred</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X13_sitkaHerring_EGoA_smoltyr + X13_mid_il_capelin_smoltyr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50.08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5.39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8.44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-3.05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0.42</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24-Year Series</a:t>
                      </a:r>
                    </a:p>
                  </a:txBody>
                  <a:tcPr marL="5003" marR="5003" marT="5003" marB="0" anchor="b">
                    <a:lnL>
                      <a:noFill/>
                    </a:lnL>
                    <a:lnR>
                      <a:noFill/>
                    </a:lnR>
                    <a:lnT>
                      <a:noFill/>
                    </a:lnT>
                    <a:lnB>
                      <a:noFill/>
                    </a:lnB>
                  </a:tcPr>
                </a:tc>
                <a:extLst>
                  <a:ext uri="{0D108BD9-81ED-4DB2-BD59-A6C34878D82A}">
                    <a16:rowId xmlns:a16="http://schemas.microsoft.com/office/drawing/2014/main" val="3092206348"/>
                  </a:ext>
                </a:extLst>
              </a:tr>
              <a:tr h="120083">
                <a:tc>
                  <a:txBody>
                    <a:bodyPr/>
                    <a:lstStyle/>
                    <a:p>
                      <a:pPr algn="l" fontAlgn="b"/>
                      <a:r>
                        <a:rPr lang="en-US" sz="700" b="0" i="0" u="none" strike="noStrike">
                          <a:solidFill>
                            <a:srgbClr val="000000"/>
                          </a:solidFill>
                          <a:effectLst/>
                          <a:latin typeface="Calibri" panose="020F0502020204030204" pitchFamily="34" charset="0"/>
                        </a:rPr>
                        <a:t>X10_DFA_ssl.est.wholerange_2yrLead_smoltyr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X01_habCompInd_smoltyr + X04_marketsquid_GAM_smoltyr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 0.8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-1.61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76.97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6.04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8.33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-2.28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0.41</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24-Year Series</a:t>
                      </a:r>
                    </a:p>
                  </a:txBody>
                  <a:tcPr marL="5003" marR="5003" marT="5003" marB="0" anchor="b">
                    <a:lnL>
                      <a:noFill/>
                    </a:lnL>
                    <a:lnR>
                      <a:noFill/>
                    </a:lnR>
                    <a:lnT>
                      <a:noFill/>
                    </a:lnT>
                    <a:lnB>
                      <a:noFill/>
                    </a:lnB>
                  </a:tcPr>
                </a:tc>
                <a:extLst>
                  <a:ext uri="{0D108BD9-81ED-4DB2-BD59-A6C34878D82A}">
                    <a16:rowId xmlns:a16="http://schemas.microsoft.com/office/drawing/2014/main" val="3464689004"/>
                  </a:ext>
                </a:extLst>
              </a:tr>
              <a:tr h="120083">
                <a:tc>
                  <a:txBody>
                    <a:bodyPr/>
                    <a:lstStyle/>
                    <a:p>
                      <a:pPr algn="l" fontAlgn="b"/>
                      <a:r>
                        <a:rPr lang="en-US" sz="700" b="0" i="0" u="none" strike="noStrike">
                          <a:solidFill>
                            <a:srgbClr val="000000"/>
                          </a:solidFill>
                          <a:effectLst/>
                          <a:latin typeface="Calibri" panose="020F0502020204030204" pitchFamily="34" charset="0"/>
                        </a:rPr>
                        <a:t>X15_salmonSharkGoA_predAK_smoltyr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X13_sitkaHerring_EGoA_smoltyr + X13_mid_il_capelin_smoltyr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-1.09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57.36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6.08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9.90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-3.81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0.40</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24-Year Series</a:t>
                      </a:r>
                    </a:p>
                  </a:txBody>
                  <a:tcPr marL="5003" marR="5003" marT="5003" marB="0" anchor="b">
                    <a:lnL>
                      <a:noFill/>
                    </a:lnL>
                    <a:lnR>
                      <a:noFill/>
                    </a:lnR>
                    <a:lnT>
                      <a:noFill/>
                    </a:lnT>
                    <a:lnB>
                      <a:noFill/>
                    </a:lnB>
                  </a:tcPr>
                </a:tc>
                <a:extLst>
                  <a:ext uri="{0D108BD9-81ED-4DB2-BD59-A6C34878D82A}">
                    <a16:rowId xmlns:a16="http://schemas.microsoft.com/office/drawing/2014/main" val="1273989772"/>
                  </a:ext>
                </a:extLst>
              </a:tr>
              <a:tr h="120083">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tc>
                  <a:txBody>
                    <a:bodyPr/>
                    <a:lstStyle/>
                    <a:p>
                      <a:pPr algn="l" fontAlgn="b"/>
                      <a:endParaRPr lang="en-US" sz="700" b="0" i="0" u="none" strike="noStrike">
                        <a:solidFill>
                          <a:srgbClr val="000000"/>
                        </a:solidFill>
                        <a:effectLst/>
                        <a:latin typeface="Calibri" panose="020F0502020204030204" pitchFamily="34" charset="0"/>
                      </a:endParaRPr>
                    </a:p>
                  </a:txBody>
                  <a:tcPr marL="5003" marR="5003" marT="5003" marB="0" anchor="b">
                    <a:lnL>
                      <a:noFill/>
                    </a:lnL>
                    <a:lnR>
                      <a:noFill/>
                    </a:lnR>
                    <a:lnT>
                      <a:noFill/>
                    </a:lnT>
                    <a:lnB>
                      <a:noFill/>
                    </a:lnB>
                  </a:tcPr>
                </a:tc>
                <a:extLst>
                  <a:ext uri="{0D108BD9-81ED-4DB2-BD59-A6C34878D82A}">
                    <a16:rowId xmlns:a16="http://schemas.microsoft.com/office/drawing/2014/main" val="3942187440"/>
                  </a:ext>
                </a:extLst>
              </a:tr>
              <a:tr h="120083">
                <a:tc>
                  <a:txBody>
                    <a:bodyPr/>
                    <a:lstStyle/>
                    <a:p>
                      <a:pPr algn="l" fontAlgn="b"/>
                      <a:r>
                        <a:rPr lang="en-US" sz="700" b="0" i="0" u="none" strike="noStrike">
                          <a:solidFill>
                            <a:srgbClr val="000000"/>
                          </a:solidFill>
                          <a:effectLst/>
                          <a:latin typeface="Calibri" panose="020F0502020204030204" pitchFamily="34" charset="0"/>
                        </a:rPr>
                        <a:t>X15_sablefishBiomass_predAK_smoltyr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X13_pollock_age1plus_smoltyr + X13_sitkaHerring_EGoA_smoltyr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0.9;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-7.07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82.89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-6.67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10.63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-17.30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0.72</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124992003"/>
                  </a:ext>
                </a:extLst>
              </a:tr>
              <a:tr h="120083">
                <a:tc>
                  <a:txBody>
                    <a:bodyPr/>
                    <a:lstStyle/>
                    <a:p>
                      <a:pPr algn="l" fontAlgn="b"/>
                      <a:r>
                        <a:rPr lang="en-US" sz="700" b="0" i="0" u="none" strike="noStrike">
                          <a:solidFill>
                            <a:srgbClr val="000000"/>
                          </a:solidFill>
                          <a:effectLst/>
                          <a:latin typeface="Calibri" panose="020F0502020204030204" pitchFamily="34" charset="0"/>
                        </a:rPr>
                        <a:t>X15_salmonSharkBSAI_predAK_smoltyr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X13_pollock_age1plus_smoltyr + X13_sitkaHerring_EGoA_smoltyr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0.7; 0.9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-2.47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60.73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-4.92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10.27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-15.19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0.69</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2979875540"/>
                  </a:ext>
                </a:extLst>
              </a:tr>
              <a:tr h="120083">
                <a:tc>
                  <a:txBody>
                    <a:bodyPr/>
                    <a:lstStyle/>
                    <a:p>
                      <a:pPr algn="l" fontAlgn="b"/>
                      <a:r>
                        <a:rPr lang="en-US" sz="700" b="0" i="0" u="none" strike="noStrike">
                          <a:solidFill>
                            <a:srgbClr val="000000"/>
                          </a:solidFill>
                          <a:effectLst/>
                          <a:latin typeface="Calibri" panose="020F0502020204030204" pitchFamily="34" charset="0"/>
                        </a:rPr>
                        <a:t>X15_halibutBiomassAge8plus_2yrLead_predAK_adultyr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X21_sst_egoa_junjulaug_adultyr + X13_capelin_WGoA_adultyr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0.4;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-0.96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54.26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-2.04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7.70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-9.74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0.64</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1555304322"/>
                  </a:ext>
                </a:extLst>
              </a:tr>
              <a:tr h="120083">
                <a:tc>
                  <a:txBody>
                    <a:bodyPr/>
                    <a:lstStyle/>
                    <a:p>
                      <a:pPr algn="l" fontAlgn="b"/>
                      <a:r>
                        <a:rPr lang="en-US" sz="700" b="0" i="0" u="none" strike="noStrike">
                          <a:solidFill>
                            <a:srgbClr val="000000"/>
                          </a:solidFill>
                          <a:effectLst/>
                          <a:latin typeface="Calibri" panose="020F0502020204030204" pitchFamily="34" charset="0"/>
                        </a:rPr>
                        <a:t>X15_ArrowtoothFlounderBiomass_predAK_adultyr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X21_sst_egoa_junjulaug_adultyr + X13_capelin_WGoA_adultyr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0.2;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-0.73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49.77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-1.47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10.01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-11.48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0.63</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671594947"/>
                  </a:ext>
                </a:extLst>
              </a:tr>
              <a:tr h="120083">
                <a:tc>
                  <a:txBody>
                    <a:bodyPr/>
                    <a:lstStyle/>
                    <a:p>
                      <a:pPr algn="l" fontAlgn="b"/>
                      <a:r>
                        <a:rPr lang="en-US" sz="700" b="0" i="0" u="none" strike="noStrike">
                          <a:solidFill>
                            <a:srgbClr val="000000"/>
                          </a:solidFill>
                          <a:effectLst/>
                          <a:latin typeface="Calibri" panose="020F0502020204030204" pitchFamily="34" charset="0"/>
                        </a:rPr>
                        <a:t>X15_DFA_sleeperSharks_adultyr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X14_pinkSalmonNorthAmerica_adultyr + X13_capelin_WGoA_adultyr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0.4;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-0.73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44.38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3.86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-4.85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0.51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0.62</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3729729923"/>
                  </a:ext>
                </a:extLst>
              </a:tr>
              <a:tr h="120083">
                <a:tc>
                  <a:txBody>
                    <a:bodyPr/>
                    <a:lstStyle/>
                    <a:p>
                      <a:pPr algn="l" fontAlgn="b"/>
                      <a:r>
                        <a:rPr lang="en-US" sz="700" b="0" i="0" u="none" strike="noStrike">
                          <a:solidFill>
                            <a:srgbClr val="000000"/>
                          </a:solidFill>
                          <a:effectLst/>
                          <a:latin typeface="Calibri" panose="020F0502020204030204" pitchFamily="34" charset="0"/>
                        </a:rPr>
                        <a:t>X15_salmonSharkGoA_predAK_adultyr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X13_pollock_age1plus_adultyr + X13_capelin_WGoA_adultyr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0.9;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-3.68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76.25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1.52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9.81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-8.30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0.57</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1510658954"/>
                  </a:ext>
                </a:extLst>
              </a:tr>
              <a:tr h="120083">
                <a:tc>
                  <a:txBody>
                    <a:bodyPr/>
                    <a:lstStyle/>
                    <a:p>
                      <a:pPr algn="l" fontAlgn="b"/>
                      <a:r>
                        <a:rPr lang="en-US" sz="700" b="0" i="0" u="none" strike="noStrike">
                          <a:solidFill>
                            <a:srgbClr val="000000"/>
                          </a:solidFill>
                          <a:effectLst/>
                          <a:latin typeface="Calibri" panose="020F0502020204030204" pitchFamily="34" charset="0"/>
                        </a:rPr>
                        <a:t>X15_spinyDogfishBSAI_predAK_smoltyr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X13_capelin_WGoA_smoltyr + X12_egoa_krill_smoltyr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-0.96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60.83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2.38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10.48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-8.10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0.55</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2140834038"/>
                  </a:ext>
                </a:extLst>
              </a:tr>
              <a:tr h="120083">
                <a:tc>
                  <a:txBody>
                    <a:bodyPr/>
                    <a:lstStyle/>
                    <a:p>
                      <a:pPr algn="l" fontAlgn="b"/>
                      <a:r>
                        <a:rPr lang="en-US" sz="700" b="0" i="0" u="none" strike="noStrike">
                          <a:solidFill>
                            <a:srgbClr val="000000"/>
                          </a:solidFill>
                          <a:effectLst/>
                          <a:latin typeface="Calibri" panose="020F0502020204030204" pitchFamily="34" charset="0"/>
                        </a:rPr>
                        <a:t>X15_halibutBiomassAge8plus_2yrLead_predAK_smoltyr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X13_sitkaHerring_EGoA_smoltyr + X13_capelin_WGoA_smoltyr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-0.57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47.58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4.83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9.61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-4.78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0.48</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4180884817"/>
                  </a:ext>
                </a:extLst>
              </a:tr>
              <a:tr h="120083">
                <a:tc>
                  <a:txBody>
                    <a:bodyPr/>
                    <a:lstStyle/>
                    <a:p>
                      <a:pPr algn="l" fontAlgn="b"/>
                      <a:r>
                        <a:rPr lang="en-US" sz="700" b="0" i="0" u="none" strike="noStrike">
                          <a:solidFill>
                            <a:srgbClr val="000000"/>
                          </a:solidFill>
                          <a:effectLst/>
                          <a:latin typeface="Calibri" panose="020F0502020204030204" pitchFamily="34" charset="0"/>
                        </a:rPr>
                        <a:t>X15_ArrowtoothFlounderBiomass_predAK_smoltyr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X13_capelin_WGoA_smoltyr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32.47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5.32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8.97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-3.65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0.47</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3264989278"/>
                  </a:ext>
                </a:extLst>
              </a:tr>
              <a:tr h="120083">
                <a:tc>
                  <a:txBody>
                    <a:bodyPr/>
                    <a:lstStyle/>
                    <a:p>
                      <a:pPr algn="l" fontAlgn="b"/>
                      <a:r>
                        <a:rPr lang="en-US" sz="700" b="0" i="0" u="none" strike="noStrike">
                          <a:solidFill>
                            <a:srgbClr val="000000"/>
                          </a:solidFill>
                          <a:effectLst/>
                          <a:latin typeface="Calibri" panose="020F0502020204030204" pitchFamily="34" charset="0"/>
                        </a:rPr>
                        <a:t>X15_salmonSharkBSAI_predAK_adultyr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X13_pollock_age1plus_adultyr + X13_capelin_WGoA_adultyr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-0.71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-0.07</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66.16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5.44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10.56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-5.12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0.47</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1706872485"/>
                  </a:ext>
                </a:extLst>
              </a:tr>
              <a:tr h="120083">
                <a:tc>
                  <a:txBody>
                    <a:bodyPr/>
                    <a:lstStyle/>
                    <a:p>
                      <a:pPr algn="l" fontAlgn="b"/>
                      <a:r>
                        <a:rPr lang="en-US" sz="700" b="0" i="0" u="none" strike="noStrike">
                          <a:solidFill>
                            <a:srgbClr val="000000"/>
                          </a:solidFill>
                          <a:effectLst/>
                          <a:latin typeface="Calibri" panose="020F0502020204030204" pitchFamily="34" charset="0"/>
                        </a:rPr>
                        <a:t>X15_salmonSharkGoA_predAK_smoltyr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X13_sitkaHerring_EGoA_smoltyr + X13_capelin_WGoA_smoltyr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-1.38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64.99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5.63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11.22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-5.58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0.46</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2839353155"/>
                  </a:ext>
                </a:extLst>
              </a:tr>
              <a:tr h="120083">
                <a:tc>
                  <a:txBody>
                    <a:bodyPr/>
                    <a:lstStyle/>
                    <a:p>
                      <a:pPr algn="l" fontAlgn="b"/>
                      <a:r>
                        <a:rPr lang="en-US" sz="700" b="0" i="0" u="none" strike="noStrike">
                          <a:solidFill>
                            <a:srgbClr val="000000"/>
                          </a:solidFill>
                          <a:effectLst/>
                          <a:latin typeface="Calibri" panose="020F0502020204030204" pitchFamily="34" charset="0"/>
                        </a:rPr>
                        <a:t>X15_sablefishBiomass_predAK_adultyr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X13_pollock_age1plus_adultyr + X13_capelin_WGoA_adultyr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-1.98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77.36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6.56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9.95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-3.39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0.32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0.43</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736185862"/>
                  </a:ext>
                </a:extLst>
              </a:tr>
              <a:tr h="120083">
                <a:tc>
                  <a:txBody>
                    <a:bodyPr/>
                    <a:lstStyle/>
                    <a:p>
                      <a:pPr algn="l" fontAlgn="b"/>
                      <a:r>
                        <a:rPr lang="en-US" sz="700" b="0" i="0" u="none" strike="noStrike">
                          <a:solidFill>
                            <a:srgbClr val="000000"/>
                          </a:solidFill>
                          <a:effectLst/>
                          <a:latin typeface="Calibri" panose="020F0502020204030204" pitchFamily="34" charset="0"/>
                        </a:rPr>
                        <a:t>X15_PacificCodBiomass_predAK_adultyr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X13_pollock_age1plus_adultyr + X13_capelin_WGoA_adultyr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0.7;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-0.62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59.40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6.71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11.23</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-4.52</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0.43</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3251225844"/>
                  </a:ext>
                </a:extLst>
              </a:tr>
              <a:tr h="120083">
                <a:tc>
                  <a:txBody>
                    <a:bodyPr/>
                    <a:lstStyle/>
                    <a:p>
                      <a:pPr algn="l" fontAlgn="b"/>
                      <a:r>
                        <a:rPr lang="en-US" sz="700" b="0" i="0" u="none" strike="noStrike">
                          <a:solidFill>
                            <a:srgbClr val="000000"/>
                          </a:solidFill>
                          <a:effectLst/>
                          <a:latin typeface="Calibri" panose="020F0502020204030204" pitchFamily="34" charset="0"/>
                        </a:rPr>
                        <a:t>X15_spinyDogfishBSAI_predAK_adultyr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X13_pollock_age1plus_adultyr + X13_capelin_WGoA_adultyr</a:t>
                      </a:r>
                    </a:p>
                  </a:txBody>
                  <a:tcPr marL="5003" marR="5003" marT="5003" marB="0" anchor="b">
                    <a:lnL>
                      <a:noFill/>
                    </a:lnL>
                    <a:lnR>
                      <a:noFill/>
                    </a:lnR>
                    <a:lnT>
                      <a:noFill/>
                    </a:lnT>
                    <a:lnB>
                      <a:noFill/>
                    </a:lnB>
                  </a:tcPr>
                </a:tc>
                <a:tc>
                  <a:txBody>
                    <a:bodyPr/>
                    <a:lstStyle/>
                    <a:p>
                      <a:pPr algn="l" fontAlgn="b"/>
                      <a:r>
                        <a:rPr lang="en-US" sz="700" b="0" i="0" u="none" strike="noStrike">
                          <a:solidFill>
                            <a:srgbClr val="000000"/>
                          </a:solidFill>
                          <a:effectLst/>
                          <a:latin typeface="Calibri" panose="020F0502020204030204" pitchFamily="34" charset="0"/>
                        </a:rPr>
                        <a:t>0.7; 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0.09</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-0.71</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0.04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-0.15</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58.60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7.24</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11.10</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-3.86</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0.28</a:t>
                      </a:r>
                    </a:p>
                  </a:txBody>
                  <a:tcPr marL="5003" marR="5003" marT="5003" marB="0" anchor="b">
                    <a:lnL>
                      <a:noFill/>
                    </a:lnL>
                    <a:lnR>
                      <a:noFill/>
                    </a:lnR>
                    <a:lnT>
                      <a:noFill/>
                    </a:lnT>
                    <a:lnB>
                      <a:noFill/>
                    </a:lnB>
                  </a:tcPr>
                </a:tc>
                <a:tc>
                  <a:txBody>
                    <a:bodyPr/>
                    <a:lstStyle/>
                    <a:p>
                      <a:pPr algn="r" fontAlgn="b"/>
                      <a:r>
                        <a:rPr lang="en-US" sz="700" b="0" i="0" u="none" strike="noStrike">
                          <a:solidFill>
                            <a:srgbClr val="000000"/>
                          </a:solidFill>
                          <a:effectLst/>
                          <a:latin typeface="Calibri" panose="020F0502020204030204" pitchFamily="34" charset="0"/>
                        </a:rPr>
                        <a:t>0.41</a:t>
                      </a:r>
                    </a:p>
                  </a:txBody>
                  <a:tcPr marL="5003" marR="5003" marT="5003" marB="0" anchor="b">
                    <a:lnL>
                      <a:noFill/>
                    </a:lnL>
                    <a:lnR>
                      <a:noFill/>
                    </a:lnR>
                    <a:lnT>
                      <a:noFill/>
                    </a:lnT>
                    <a:lnB>
                      <a:noFill/>
                    </a:lnB>
                  </a:tcPr>
                </a:tc>
                <a:tc>
                  <a:txBody>
                    <a:bodyPr/>
                    <a:lstStyle/>
                    <a:p>
                      <a:pPr algn="l" fontAlgn="b"/>
                      <a:r>
                        <a:rPr lang="en-US" sz="700" b="0" i="0" u="none" strike="noStrike" dirty="0">
                          <a:solidFill>
                            <a:srgbClr val="000000"/>
                          </a:solidFill>
                          <a:effectLst/>
                          <a:latin typeface="Calibri" panose="020F0502020204030204" pitchFamily="34" charset="0"/>
                        </a:rPr>
                        <a:t>19-Year Series</a:t>
                      </a:r>
                    </a:p>
                  </a:txBody>
                  <a:tcPr marL="5003" marR="5003" marT="5003" marB="0" anchor="b">
                    <a:lnL>
                      <a:noFill/>
                    </a:lnL>
                    <a:lnR>
                      <a:noFill/>
                    </a:lnR>
                    <a:lnT>
                      <a:noFill/>
                    </a:lnT>
                    <a:lnB>
                      <a:noFill/>
                    </a:lnB>
                  </a:tcPr>
                </a:tc>
                <a:extLst>
                  <a:ext uri="{0D108BD9-81ED-4DB2-BD59-A6C34878D82A}">
                    <a16:rowId xmlns:a16="http://schemas.microsoft.com/office/drawing/2014/main" val="3117433974"/>
                  </a:ext>
                </a:extLst>
              </a:tr>
            </a:tbl>
          </a:graphicData>
        </a:graphic>
      </p:graphicFrame>
    </p:spTree>
    <p:extLst>
      <p:ext uri="{BB962C8B-B14F-4D97-AF65-F5344CB8AC3E}">
        <p14:creationId xmlns:p14="http://schemas.microsoft.com/office/powerpoint/2010/main" val="1958571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57DDC-0743-4077-872B-E2C112A55AFC}"/>
              </a:ext>
            </a:extLst>
          </p:cNvPr>
          <p:cNvSpPr>
            <a:spLocks noGrp="1"/>
          </p:cNvSpPr>
          <p:nvPr>
            <p:ph type="title"/>
          </p:nvPr>
        </p:nvSpPr>
        <p:spPr/>
        <p:txBody>
          <a:bodyPr/>
          <a:lstStyle/>
          <a:p>
            <a:endParaRPr lang="en-US"/>
          </a:p>
        </p:txBody>
      </p:sp>
      <p:pic>
        <p:nvPicPr>
          <p:cNvPr id="4" name="Picture 3">
            <a:extLst>
              <a:ext uri="{FF2B5EF4-FFF2-40B4-BE49-F238E27FC236}">
                <a16:creationId xmlns:a16="http://schemas.microsoft.com/office/drawing/2014/main" id="{EDBF5031-F24F-4732-936D-F983922943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0"/>
            <a:ext cx="9601200" cy="6858000"/>
          </a:xfrm>
          <a:prstGeom prst="rect">
            <a:avLst/>
          </a:prstGeom>
        </p:spPr>
      </p:pic>
    </p:spTree>
    <p:extLst>
      <p:ext uri="{BB962C8B-B14F-4D97-AF65-F5344CB8AC3E}">
        <p14:creationId xmlns:p14="http://schemas.microsoft.com/office/powerpoint/2010/main" val="16107239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3F915D4-F789-44E4-9E0F-6F6DEB69615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9900" y="0"/>
            <a:ext cx="6172200" cy="6858000"/>
          </a:xfrm>
          <a:prstGeom prst="rect">
            <a:avLst/>
          </a:prstGeom>
        </p:spPr>
      </p:pic>
    </p:spTree>
    <p:extLst>
      <p:ext uri="{BB962C8B-B14F-4D97-AF65-F5344CB8AC3E}">
        <p14:creationId xmlns:p14="http://schemas.microsoft.com/office/powerpoint/2010/main" val="637474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C03C-8D6A-451D-B0C0-C63E564B36A8}"/>
              </a:ext>
            </a:extLst>
          </p:cNvPr>
          <p:cNvSpPr>
            <a:spLocks noGrp="1"/>
          </p:cNvSpPr>
          <p:nvPr>
            <p:ph type="title"/>
          </p:nvPr>
        </p:nvSpPr>
        <p:spPr>
          <a:xfrm>
            <a:off x="754117" y="0"/>
            <a:ext cx="10515600" cy="693683"/>
          </a:xfrm>
        </p:spPr>
        <p:txBody>
          <a:bodyPr>
            <a:normAutofit fontScale="90000"/>
          </a:bodyPr>
          <a:lstStyle/>
          <a:p>
            <a:r>
              <a:rPr lang="en-US" dirty="0"/>
              <a:t>Western (left) and eastern (right) GOA results</a:t>
            </a:r>
          </a:p>
        </p:txBody>
      </p:sp>
      <p:grpSp>
        <p:nvGrpSpPr>
          <p:cNvPr id="7" name="Group 6">
            <a:extLst>
              <a:ext uri="{FF2B5EF4-FFF2-40B4-BE49-F238E27FC236}">
                <a16:creationId xmlns:a16="http://schemas.microsoft.com/office/drawing/2014/main" id="{BA03ACAB-C150-4431-BC9D-0205CF0E0982}"/>
              </a:ext>
            </a:extLst>
          </p:cNvPr>
          <p:cNvGrpSpPr/>
          <p:nvPr/>
        </p:nvGrpSpPr>
        <p:grpSpPr>
          <a:xfrm>
            <a:off x="220717" y="767255"/>
            <a:ext cx="5875283" cy="6090745"/>
            <a:chOff x="1201942" y="1663831"/>
            <a:chExt cx="4894058" cy="5194169"/>
          </a:xfrm>
        </p:grpSpPr>
        <p:pic>
          <p:nvPicPr>
            <p:cNvPr id="5" name="Picture 4">
              <a:extLst>
                <a:ext uri="{FF2B5EF4-FFF2-40B4-BE49-F238E27FC236}">
                  <a16:creationId xmlns:a16="http://schemas.microsoft.com/office/drawing/2014/main" id="{25023716-652F-4A15-B3C3-57FE2056200B}"/>
                </a:ext>
              </a:extLst>
            </p:cNvPr>
            <p:cNvPicPr>
              <a:picLocks noChangeAspect="1"/>
            </p:cNvPicPr>
            <p:nvPr/>
          </p:nvPicPr>
          <p:blipFill rotWithShape="1">
            <a:blip r:embed="rId2"/>
            <a:srcRect b="24674"/>
            <a:stretch/>
          </p:blipFill>
          <p:spPr>
            <a:xfrm>
              <a:off x="1201942" y="1692111"/>
              <a:ext cx="4894058" cy="5165889"/>
            </a:xfrm>
            <a:prstGeom prst="rect">
              <a:avLst/>
            </a:prstGeom>
          </p:spPr>
        </p:pic>
        <p:cxnSp>
          <p:nvCxnSpPr>
            <p:cNvPr id="6" name="Straight Connector 5">
              <a:extLst>
                <a:ext uri="{FF2B5EF4-FFF2-40B4-BE49-F238E27FC236}">
                  <a16:creationId xmlns:a16="http://schemas.microsoft.com/office/drawing/2014/main" id="{E6D06D1D-D58B-44A3-86FC-354FD7D00AFC}"/>
                </a:ext>
              </a:extLst>
            </p:cNvPr>
            <p:cNvCxnSpPr/>
            <p:nvPr/>
          </p:nvCxnSpPr>
          <p:spPr>
            <a:xfrm flipV="1">
              <a:off x="2256945" y="1663831"/>
              <a:ext cx="0" cy="4949072"/>
            </a:xfrm>
            <a:prstGeom prst="line">
              <a:avLst/>
            </a:prstGeom>
            <a:ln w="31750"/>
          </p:spPr>
          <p:style>
            <a:lnRef idx="1">
              <a:schemeClr val="accent1"/>
            </a:lnRef>
            <a:fillRef idx="0">
              <a:schemeClr val="accent1"/>
            </a:fillRef>
            <a:effectRef idx="0">
              <a:schemeClr val="accent1"/>
            </a:effectRef>
            <a:fontRef idx="minor">
              <a:schemeClr val="tx1"/>
            </a:fontRef>
          </p:style>
        </p:cxnSp>
      </p:grpSp>
      <p:pic>
        <p:nvPicPr>
          <p:cNvPr id="11" name="Picture 10">
            <a:extLst>
              <a:ext uri="{FF2B5EF4-FFF2-40B4-BE49-F238E27FC236}">
                <a16:creationId xmlns:a16="http://schemas.microsoft.com/office/drawing/2014/main" id="{2117266F-6187-4D71-BF0D-129F78D8620B}"/>
              </a:ext>
            </a:extLst>
          </p:cNvPr>
          <p:cNvPicPr>
            <a:picLocks noChangeAspect="1"/>
          </p:cNvPicPr>
          <p:nvPr/>
        </p:nvPicPr>
        <p:blipFill>
          <a:blip r:embed="rId3"/>
          <a:stretch>
            <a:fillRect/>
          </a:stretch>
        </p:blipFill>
        <p:spPr>
          <a:xfrm>
            <a:off x="6390290" y="767256"/>
            <a:ext cx="5635948" cy="6090744"/>
          </a:xfrm>
          <a:prstGeom prst="rect">
            <a:avLst/>
          </a:prstGeom>
        </p:spPr>
      </p:pic>
      <p:cxnSp>
        <p:nvCxnSpPr>
          <p:cNvPr id="12" name="Straight Connector 11">
            <a:extLst>
              <a:ext uri="{FF2B5EF4-FFF2-40B4-BE49-F238E27FC236}">
                <a16:creationId xmlns:a16="http://schemas.microsoft.com/office/drawing/2014/main" id="{A94890B7-67DB-43FC-9A1F-C526B8E0F2C6}"/>
              </a:ext>
            </a:extLst>
          </p:cNvPr>
          <p:cNvCxnSpPr/>
          <p:nvPr/>
        </p:nvCxnSpPr>
        <p:spPr>
          <a:xfrm flipV="1">
            <a:off x="7512540" y="731119"/>
            <a:ext cx="0" cy="5803341"/>
          </a:xfrm>
          <a:prstGeom prst="line">
            <a:avLst/>
          </a:prstGeom>
          <a:ln w="31750"/>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5674F19-A398-48F9-9972-4E63C4520B5A}"/>
              </a:ext>
            </a:extLst>
          </p:cNvPr>
          <p:cNvSpPr txBox="1"/>
          <p:nvPr/>
        </p:nvSpPr>
        <p:spPr>
          <a:xfrm>
            <a:off x="6252329" y="5224508"/>
            <a:ext cx="6094428" cy="276999"/>
          </a:xfrm>
          <a:prstGeom prst="rect">
            <a:avLst/>
          </a:prstGeom>
          <a:noFill/>
        </p:spPr>
        <p:txBody>
          <a:bodyPr wrap="square">
            <a:spAutoFit/>
          </a:bodyPr>
          <a:lstStyle/>
          <a:p>
            <a:r>
              <a:rPr lang="en-US" sz="1200" b="0" i="0" u="none" strike="noStrike" baseline="0" dirty="0">
                <a:solidFill>
                  <a:srgbClr val="211D1E"/>
                </a:solidFill>
                <a:latin typeface="Arial MT Std"/>
              </a:rPr>
              <a:t>non-intuitive results (e.g., the inverse relationships of herring and juvenile salmon). </a:t>
            </a:r>
            <a:endParaRPr lang="en-US" sz="1200" dirty="0"/>
          </a:p>
        </p:txBody>
      </p:sp>
    </p:spTree>
    <p:extLst>
      <p:ext uri="{BB962C8B-B14F-4D97-AF65-F5344CB8AC3E}">
        <p14:creationId xmlns:p14="http://schemas.microsoft.com/office/powerpoint/2010/main" val="39333749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70308E3-6A65-81C5-92F8-8A37EDBC4B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224" y="500855"/>
            <a:ext cx="10905066" cy="4007610"/>
          </a:xfrm>
          <a:prstGeom prst="rect">
            <a:avLst/>
          </a:prstGeom>
        </p:spPr>
      </p:pic>
      <p:graphicFrame>
        <p:nvGraphicFramePr>
          <p:cNvPr id="2" name="Table 1">
            <a:extLst>
              <a:ext uri="{FF2B5EF4-FFF2-40B4-BE49-F238E27FC236}">
                <a16:creationId xmlns:a16="http://schemas.microsoft.com/office/drawing/2014/main" id="{B91A5FF5-BC57-45F2-8EF2-0CE6BB58A448}"/>
              </a:ext>
            </a:extLst>
          </p:cNvPr>
          <p:cNvGraphicFramePr>
            <a:graphicFrameLocks noGrp="1"/>
          </p:cNvGraphicFramePr>
          <p:nvPr>
            <p:extLst>
              <p:ext uri="{D42A27DB-BD31-4B8C-83A1-F6EECF244321}">
                <p14:modId xmlns:p14="http://schemas.microsoft.com/office/powerpoint/2010/main" val="1158154214"/>
              </p:ext>
            </p:extLst>
          </p:nvPr>
        </p:nvGraphicFramePr>
        <p:xfrm>
          <a:off x="669235" y="4855611"/>
          <a:ext cx="10515601" cy="1542873"/>
        </p:xfrm>
        <a:graphic>
          <a:graphicData uri="http://schemas.openxmlformats.org/drawingml/2006/table">
            <a:tbl>
              <a:tblPr>
                <a:tableStyleId>{5C22544A-7EE6-4342-B048-85BDC9FD1C3A}</a:tableStyleId>
              </a:tblPr>
              <a:tblGrid>
                <a:gridCol w="2658991">
                  <a:extLst>
                    <a:ext uri="{9D8B030D-6E8A-4147-A177-3AD203B41FA5}">
                      <a16:colId xmlns:a16="http://schemas.microsoft.com/office/drawing/2014/main" val="3017393899"/>
                    </a:ext>
                  </a:extLst>
                </a:gridCol>
                <a:gridCol w="3129513">
                  <a:extLst>
                    <a:ext uri="{9D8B030D-6E8A-4147-A177-3AD203B41FA5}">
                      <a16:colId xmlns:a16="http://schemas.microsoft.com/office/drawing/2014/main" val="1814453786"/>
                    </a:ext>
                  </a:extLst>
                </a:gridCol>
                <a:gridCol w="525233">
                  <a:extLst>
                    <a:ext uri="{9D8B030D-6E8A-4147-A177-3AD203B41FA5}">
                      <a16:colId xmlns:a16="http://schemas.microsoft.com/office/drawing/2014/main" val="4006253691"/>
                    </a:ext>
                  </a:extLst>
                </a:gridCol>
                <a:gridCol w="525233">
                  <a:extLst>
                    <a:ext uri="{9D8B030D-6E8A-4147-A177-3AD203B41FA5}">
                      <a16:colId xmlns:a16="http://schemas.microsoft.com/office/drawing/2014/main" val="78572986"/>
                    </a:ext>
                  </a:extLst>
                </a:gridCol>
                <a:gridCol w="525233">
                  <a:extLst>
                    <a:ext uri="{9D8B030D-6E8A-4147-A177-3AD203B41FA5}">
                      <a16:colId xmlns:a16="http://schemas.microsoft.com/office/drawing/2014/main" val="73108253"/>
                    </a:ext>
                  </a:extLst>
                </a:gridCol>
                <a:gridCol w="525233">
                  <a:extLst>
                    <a:ext uri="{9D8B030D-6E8A-4147-A177-3AD203B41FA5}">
                      <a16:colId xmlns:a16="http://schemas.microsoft.com/office/drawing/2014/main" val="3935394217"/>
                    </a:ext>
                  </a:extLst>
                </a:gridCol>
                <a:gridCol w="525233">
                  <a:extLst>
                    <a:ext uri="{9D8B030D-6E8A-4147-A177-3AD203B41FA5}">
                      <a16:colId xmlns:a16="http://schemas.microsoft.com/office/drawing/2014/main" val="1388269684"/>
                    </a:ext>
                  </a:extLst>
                </a:gridCol>
                <a:gridCol w="525233">
                  <a:extLst>
                    <a:ext uri="{9D8B030D-6E8A-4147-A177-3AD203B41FA5}">
                      <a16:colId xmlns:a16="http://schemas.microsoft.com/office/drawing/2014/main" val="420941006"/>
                    </a:ext>
                  </a:extLst>
                </a:gridCol>
                <a:gridCol w="525233">
                  <a:extLst>
                    <a:ext uri="{9D8B030D-6E8A-4147-A177-3AD203B41FA5}">
                      <a16:colId xmlns:a16="http://schemas.microsoft.com/office/drawing/2014/main" val="2610667979"/>
                    </a:ext>
                  </a:extLst>
                </a:gridCol>
                <a:gridCol w="525233">
                  <a:extLst>
                    <a:ext uri="{9D8B030D-6E8A-4147-A177-3AD203B41FA5}">
                      <a16:colId xmlns:a16="http://schemas.microsoft.com/office/drawing/2014/main" val="691600280"/>
                    </a:ext>
                  </a:extLst>
                </a:gridCol>
                <a:gridCol w="525233">
                  <a:extLst>
                    <a:ext uri="{9D8B030D-6E8A-4147-A177-3AD203B41FA5}">
                      <a16:colId xmlns:a16="http://schemas.microsoft.com/office/drawing/2014/main" val="3630889673"/>
                    </a:ext>
                  </a:extLst>
                </a:gridCol>
              </a:tblGrid>
              <a:tr h="439883">
                <a:tc>
                  <a:txBody>
                    <a:bodyPr/>
                    <a:lstStyle/>
                    <a:p>
                      <a:pPr algn="l" fontAlgn="b"/>
                      <a:r>
                        <a:rPr lang="en-US" sz="900" u="none" strike="noStrike">
                          <a:effectLst/>
                        </a:rPr>
                        <a:t>predator</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selected_prey</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fitted_weights</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beta_peff</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pvalue</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std_eff_beta</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mean_net_impact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realized_damping_pct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aic</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base_aic</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delta_aic</a:t>
                      </a:r>
                      <a:endParaRPr lang="en-US" sz="900" b="0" i="0" u="none" strike="noStrike">
                        <a:solidFill>
                          <a:srgbClr val="000000"/>
                        </a:solidFill>
                        <a:effectLst/>
                        <a:latin typeface="Calibri" panose="020F0502020204030204" pitchFamily="34" charset="0"/>
                      </a:endParaRPr>
                    </a:p>
                  </a:txBody>
                  <a:tcPr marL="6565" marR="6565" marT="6565" marB="0" anchor="b"/>
                </a:tc>
                <a:extLst>
                  <a:ext uri="{0D108BD9-81ED-4DB2-BD59-A6C34878D82A}">
                    <a16:rowId xmlns:a16="http://schemas.microsoft.com/office/drawing/2014/main" val="1691292741"/>
                  </a:ext>
                </a:extLst>
              </a:tr>
              <a:tr h="157570">
                <a:tc>
                  <a:txBody>
                    <a:bodyPr/>
                    <a:lstStyle/>
                    <a:p>
                      <a:pPr algn="l" fontAlgn="b"/>
                      <a:r>
                        <a:rPr lang="en-US" sz="900" u="none" strike="noStrike">
                          <a:effectLst/>
                        </a:rPr>
                        <a:t>&lt;chr&gt;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&lt;chr&gt;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&lt;chr&gt;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&lt;dbl&gt;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&lt;dbl&gt;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&lt;dbl&gt;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&lt;dbl&gt;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&lt;dbl&gt;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&lt;dbl&gt;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&lt;dbl&gt;</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&lt;dbl&gt;</a:t>
                      </a:r>
                      <a:endParaRPr lang="en-US" sz="900" b="0" i="0" u="none" strike="noStrike">
                        <a:solidFill>
                          <a:srgbClr val="000000"/>
                        </a:solidFill>
                        <a:effectLst/>
                        <a:latin typeface="Calibri" panose="020F0502020204030204" pitchFamily="34" charset="0"/>
                      </a:endParaRPr>
                    </a:p>
                  </a:txBody>
                  <a:tcPr marL="6565" marR="6565" marT="6565" marB="0" anchor="b"/>
                </a:tc>
                <a:extLst>
                  <a:ext uri="{0D108BD9-81ED-4DB2-BD59-A6C34878D82A}">
                    <a16:rowId xmlns:a16="http://schemas.microsoft.com/office/drawing/2014/main" val="1553581647"/>
                  </a:ext>
                </a:extLst>
              </a:tr>
              <a:tr h="157570">
                <a:tc>
                  <a:txBody>
                    <a:bodyPr/>
                    <a:lstStyle/>
                    <a:p>
                      <a:pPr algn="l" fontAlgn="b"/>
                      <a:r>
                        <a:rPr lang="en-US" sz="900" u="none" strike="noStrike">
                          <a:effectLst/>
                        </a:rPr>
                        <a:t>X15_sablefishBiomass_predAK_smoltyr</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X13_pollock_age1plus_smoltyr + X12_egoa_krill_smoltyr</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1; 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-2.87</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0.00106</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-0.465</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-0.158</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78.7</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1.1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9.43</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-8.33</a:t>
                      </a:r>
                      <a:endParaRPr lang="en-US" sz="900" b="0" i="0" u="none" strike="noStrike">
                        <a:solidFill>
                          <a:srgbClr val="000000"/>
                        </a:solidFill>
                        <a:effectLst/>
                        <a:latin typeface="Calibri" panose="020F0502020204030204" pitchFamily="34" charset="0"/>
                      </a:endParaRPr>
                    </a:p>
                  </a:txBody>
                  <a:tcPr marL="6565" marR="6565" marT="6565" marB="0" anchor="b"/>
                </a:tc>
                <a:extLst>
                  <a:ext uri="{0D108BD9-81ED-4DB2-BD59-A6C34878D82A}">
                    <a16:rowId xmlns:a16="http://schemas.microsoft.com/office/drawing/2014/main" val="36191823"/>
                  </a:ext>
                </a:extLst>
              </a:tr>
              <a:tr h="157570">
                <a:tc>
                  <a:txBody>
                    <a:bodyPr/>
                    <a:lstStyle/>
                    <a:p>
                      <a:pPr algn="l" fontAlgn="b"/>
                      <a:r>
                        <a:rPr lang="en-US" sz="900" u="none" strike="noStrike">
                          <a:effectLst/>
                        </a:rPr>
                        <a:t>X15_sablefishBiomass_predAK_adultyr</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X13_pollock_age1plus_adultyr + X12_egoa_krill_smoltyr</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1; 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-2.52</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0.00116</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-0.463</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-0.14</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74.6</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1.21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8.83</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-7.63</a:t>
                      </a:r>
                      <a:endParaRPr lang="en-US" sz="900" b="0" i="0" u="none" strike="noStrike">
                        <a:solidFill>
                          <a:srgbClr val="000000"/>
                        </a:solidFill>
                        <a:effectLst/>
                        <a:latin typeface="Calibri" panose="020F0502020204030204" pitchFamily="34" charset="0"/>
                      </a:endParaRPr>
                    </a:p>
                  </a:txBody>
                  <a:tcPr marL="6565" marR="6565" marT="6565" marB="0" anchor="b"/>
                </a:tc>
                <a:extLst>
                  <a:ext uri="{0D108BD9-81ED-4DB2-BD59-A6C34878D82A}">
                    <a16:rowId xmlns:a16="http://schemas.microsoft.com/office/drawing/2014/main" val="2868094857"/>
                  </a:ext>
                </a:extLst>
              </a:tr>
              <a:tr h="157570">
                <a:tc>
                  <a:txBody>
                    <a:bodyPr/>
                    <a:lstStyle/>
                    <a:p>
                      <a:pPr algn="l" fontAlgn="b"/>
                      <a:r>
                        <a:rPr lang="en-US" sz="900" u="none" strike="noStrike">
                          <a:effectLst/>
                        </a:rPr>
                        <a:t>X10_Harbour_s_2yrLead_WS_adultyr</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None (Unattenuated)</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None</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-0.546</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0.00685</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-0.41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-0.181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3.57</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3.57</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a:t>
                      </a:r>
                      <a:endParaRPr lang="en-US" sz="900" b="0" i="0" u="none" strike="noStrike">
                        <a:solidFill>
                          <a:srgbClr val="000000"/>
                        </a:solidFill>
                        <a:effectLst/>
                        <a:latin typeface="Calibri" panose="020F0502020204030204" pitchFamily="34" charset="0"/>
                      </a:endParaRPr>
                    </a:p>
                  </a:txBody>
                  <a:tcPr marL="6565" marR="6565" marT="6565" marB="0" anchor="b"/>
                </a:tc>
                <a:extLst>
                  <a:ext uri="{0D108BD9-81ED-4DB2-BD59-A6C34878D82A}">
                    <a16:rowId xmlns:a16="http://schemas.microsoft.com/office/drawing/2014/main" val="2412215900"/>
                  </a:ext>
                </a:extLst>
              </a:tr>
              <a:tr h="157570">
                <a:tc>
                  <a:txBody>
                    <a:bodyPr/>
                    <a:lstStyle/>
                    <a:p>
                      <a:pPr algn="l" fontAlgn="b"/>
                      <a:r>
                        <a:rPr lang="en-US" sz="900" u="none" strike="noStrike">
                          <a:effectLst/>
                        </a:rPr>
                        <a:t>X15_ArrowtoothFlounderBiomass_predAK_adultyr</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it-IT" sz="900" u="none" strike="noStrike">
                          <a:effectLst/>
                        </a:rPr>
                        <a:t>X13_mid_il_capelin_smoltyr</a:t>
                      </a:r>
                      <a:endParaRPr lang="it-IT"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-0.32</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0.0134</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-0.378</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-0.136</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27.7</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4.51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8.43</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-3.92</a:t>
                      </a:r>
                      <a:endParaRPr lang="en-US" sz="900" b="0" i="0" u="none" strike="noStrike">
                        <a:solidFill>
                          <a:srgbClr val="000000"/>
                        </a:solidFill>
                        <a:effectLst/>
                        <a:latin typeface="Calibri" panose="020F0502020204030204" pitchFamily="34" charset="0"/>
                      </a:endParaRPr>
                    </a:p>
                  </a:txBody>
                  <a:tcPr marL="6565" marR="6565" marT="6565" marB="0" anchor="b"/>
                </a:tc>
                <a:extLst>
                  <a:ext uri="{0D108BD9-81ED-4DB2-BD59-A6C34878D82A}">
                    <a16:rowId xmlns:a16="http://schemas.microsoft.com/office/drawing/2014/main" val="2505749778"/>
                  </a:ext>
                </a:extLst>
              </a:tr>
              <a:tr h="157570">
                <a:tc>
                  <a:txBody>
                    <a:bodyPr/>
                    <a:lstStyle/>
                    <a:p>
                      <a:pPr algn="l" fontAlgn="b"/>
                      <a:r>
                        <a:rPr lang="en-US" sz="900" u="none" strike="noStrike">
                          <a:effectLst/>
                        </a:rPr>
                        <a:t>X15_ArrowtoothFlounderBiomass_predAK_smoltyr</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it-IT" sz="900" u="none" strike="noStrike">
                          <a:effectLst/>
                        </a:rPr>
                        <a:t>X13_mid_il_capelin_smoltyr</a:t>
                      </a:r>
                      <a:endParaRPr lang="it-IT"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-0.27</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0.0246</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-0.349</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-0.109</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23.7</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5.37</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7.74</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-2.37</a:t>
                      </a:r>
                      <a:endParaRPr lang="en-US" sz="900" b="0" i="0" u="none" strike="noStrike">
                        <a:solidFill>
                          <a:srgbClr val="000000"/>
                        </a:solidFill>
                        <a:effectLst/>
                        <a:latin typeface="Calibri" panose="020F0502020204030204" pitchFamily="34" charset="0"/>
                      </a:endParaRPr>
                    </a:p>
                  </a:txBody>
                  <a:tcPr marL="6565" marR="6565" marT="6565" marB="0" anchor="b"/>
                </a:tc>
                <a:extLst>
                  <a:ext uri="{0D108BD9-81ED-4DB2-BD59-A6C34878D82A}">
                    <a16:rowId xmlns:a16="http://schemas.microsoft.com/office/drawing/2014/main" val="3928337479"/>
                  </a:ext>
                </a:extLst>
              </a:tr>
              <a:tr h="157570">
                <a:tc>
                  <a:txBody>
                    <a:bodyPr/>
                    <a:lstStyle/>
                    <a:p>
                      <a:pPr algn="l" fontAlgn="b"/>
                      <a:r>
                        <a:rPr lang="en-US" sz="900" u="none" strike="noStrike">
                          <a:effectLst/>
                        </a:rPr>
                        <a:t>X11_ssl_seak_pup_pred</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X13_sitkaHerring_EGoA_smoltyr + X13_mid_il_capelin_smoltyr</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l" fontAlgn="b"/>
                      <a:r>
                        <a:rPr lang="en-US" sz="900" u="none" strike="noStrike">
                          <a:effectLst/>
                        </a:rPr>
                        <a:t>1; 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-0.366</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0.025</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-0.378</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-0.122</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50.1</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5.39</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a:effectLst/>
                        </a:rPr>
                        <a:t>8.44</a:t>
                      </a:r>
                      <a:endParaRPr lang="en-US" sz="900" b="0" i="0" u="none" strike="noStrike">
                        <a:solidFill>
                          <a:srgbClr val="000000"/>
                        </a:solidFill>
                        <a:effectLst/>
                        <a:latin typeface="Calibri" panose="020F0502020204030204" pitchFamily="34" charset="0"/>
                      </a:endParaRPr>
                    </a:p>
                  </a:txBody>
                  <a:tcPr marL="6565" marR="6565" marT="6565" marB="0" anchor="b"/>
                </a:tc>
                <a:tc>
                  <a:txBody>
                    <a:bodyPr/>
                    <a:lstStyle/>
                    <a:p>
                      <a:pPr algn="r" fontAlgn="b"/>
                      <a:r>
                        <a:rPr lang="en-US" sz="900" u="none" strike="noStrike" dirty="0">
                          <a:effectLst/>
                        </a:rPr>
                        <a:t>-3.05</a:t>
                      </a:r>
                      <a:endParaRPr lang="en-US" sz="900" b="0" i="0" u="none" strike="noStrike" dirty="0">
                        <a:solidFill>
                          <a:srgbClr val="000000"/>
                        </a:solidFill>
                        <a:effectLst/>
                        <a:latin typeface="Calibri" panose="020F0502020204030204" pitchFamily="34" charset="0"/>
                      </a:endParaRPr>
                    </a:p>
                  </a:txBody>
                  <a:tcPr marL="6565" marR="6565" marT="6565" marB="0" anchor="b"/>
                </a:tc>
                <a:extLst>
                  <a:ext uri="{0D108BD9-81ED-4DB2-BD59-A6C34878D82A}">
                    <a16:rowId xmlns:a16="http://schemas.microsoft.com/office/drawing/2014/main" val="936625582"/>
                  </a:ext>
                </a:extLst>
              </a:tr>
            </a:tbl>
          </a:graphicData>
        </a:graphic>
      </p:graphicFrame>
    </p:spTree>
    <p:extLst>
      <p:ext uri="{BB962C8B-B14F-4D97-AF65-F5344CB8AC3E}">
        <p14:creationId xmlns:p14="http://schemas.microsoft.com/office/powerpoint/2010/main" val="38409691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62DF-433F-4A35-B42C-0D2CD983CC81}"/>
              </a:ext>
            </a:extLst>
          </p:cNvPr>
          <p:cNvSpPr>
            <a:spLocks noGrp="1"/>
          </p:cNvSpPr>
          <p:nvPr>
            <p:ph type="title"/>
          </p:nvPr>
        </p:nvSpPr>
        <p:spPr/>
        <p:txBody>
          <a:bodyPr/>
          <a:lstStyle/>
          <a:p>
            <a:r>
              <a:rPr lang="en-US" dirty="0"/>
              <a:t>explanations</a:t>
            </a:r>
          </a:p>
        </p:txBody>
      </p:sp>
      <p:sp>
        <p:nvSpPr>
          <p:cNvPr id="3" name="Content Placeholder 2">
            <a:extLst>
              <a:ext uri="{FF2B5EF4-FFF2-40B4-BE49-F238E27FC236}">
                <a16:creationId xmlns:a16="http://schemas.microsoft.com/office/drawing/2014/main" id="{6636E6EB-F104-4442-813A-F57FDDD26A90}"/>
              </a:ext>
            </a:extLst>
          </p:cNvPr>
          <p:cNvSpPr>
            <a:spLocks noGrp="1"/>
          </p:cNvSpPr>
          <p:nvPr>
            <p:ph idx="1"/>
          </p:nvPr>
        </p:nvSpPr>
        <p:spPr/>
        <p:txBody>
          <a:bodyPr/>
          <a:lstStyle/>
          <a:p>
            <a:r>
              <a:rPr lang="en-US" dirty="0"/>
              <a:t>Alt prey</a:t>
            </a:r>
          </a:p>
          <a:p>
            <a:r>
              <a:rPr lang="en-US" dirty="0" err="1"/>
              <a:t>Sst</a:t>
            </a:r>
            <a:endParaRPr lang="en-US" dirty="0"/>
          </a:p>
          <a:p>
            <a:r>
              <a:rPr lang="en-US" dirty="0"/>
              <a:t>Temporal shift (sablefish recruitment vs total pop) – wrong age class</a:t>
            </a:r>
          </a:p>
          <a:p>
            <a:r>
              <a:rPr lang="en-US" dirty="0"/>
              <a:t>Spatial shifts</a:t>
            </a:r>
          </a:p>
        </p:txBody>
      </p:sp>
    </p:spTree>
    <p:extLst>
      <p:ext uri="{BB962C8B-B14F-4D97-AF65-F5344CB8AC3E}">
        <p14:creationId xmlns:p14="http://schemas.microsoft.com/office/powerpoint/2010/main" val="2428812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CD9E15-E480-455E-BB9A-6D0468BC320A}"/>
              </a:ext>
            </a:extLst>
          </p:cNvPr>
          <p:cNvPicPr>
            <a:picLocks noChangeAspect="1"/>
          </p:cNvPicPr>
          <p:nvPr/>
        </p:nvPicPr>
        <p:blipFill>
          <a:blip r:embed="rId2"/>
          <a:stretch>
            <a:fillRect/>
          </a:stretch>
        </p:blipFill>
        <p:spPr>
          <a:xfrm>
            <a:off x="1164218" y="0"/>
            <a:ext cx="9863564" cy="6858000"/>
          </a:xfrm>
          <a:prstGeom prst="rect">
            <a:avLst/>
          </a:prstGeom>
        </p:spPr>
      </p:pic>
    </p:spTree>
    <p:extLst>
      <p:ext uri="{BB962C8B-B14F-4D97-AF65-F5344CB8AC3E}">
        <p14:creationId xmlns:p14="http://schemas.microsoft.com/office/powerpoint/2010/main" val="3976839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A94AE8-DCB1-40F2-BCB2-F471554DBDD8}"/>
              </a:ext>
            </a:extLst>
          </p:cNvPr>
          <p:cNvPicPr>
            <a:picLocks noChangeAspect="1"/>
          </p:cNvPicPr>
          <p:nvPr/>
        </p:nvPicPr>
        <p:blipFill>
          <a:blip r:embed="rId2"/>
          <a:stretch>
            <a:fillRect/>
          </a:stretch>
        </p:blipFill>
        <p:spPr>
          <a:xfrm>
            <a:off x="232462" y="434080"/>
            <a:ext cx="6439458" cy="5989839"/>
          </a:xfrm>
          <a:prstGeom prst="rect">
            <a:avLst/>
          </a:prstGeom>
        </p:spPr>
      </p:pic>
      <p:pic>
        <p:nvPicPr>
          <p:cNvPr id="5" name="Picture 4">
            <a:extLst>
              <a:ext uri="{FF2B5EF4-FFF2-40B4-BE49-F238E27FC236}">
                <a16:creationId xmlns:a16="http://schemas.microsoft.com/office/drawing/2014/main" id="{38DB53BD-C0C3-4AFB-A8E3-F336758C8FA5}"/>
              </a:ext>
            </a:extLst>
          </p:cNvPr>
          <p:cNvPicPr>
            <a:picLocks noChangeAspect="1"/>
          </p:cNvPicPr>
          <p:nvPr/>
        </p:nvPicPr>
        <p:blipFill>
          <a:blip r:embed="rId3"/>
          <a:stretch>
            <a:fillRect/>
          </a:stretch>
        </p:blipFill>
        <p:spPr>
          <a:xfrm>
            <a:off x="6758592" y="3081129"/>
            <a:ext cx="5433408" cy="3531715"/>
          </a:xfrm>
          <a:prstGeom prst="rect">
            <a:avLst/>
          </a:prstGeom>
        </p:spPr>
      </p:pic>
    </p:spTree>
    <p:extLst>
      <p:ext uri="{BB962C8B-B14F-4D97-AF65-F5344CB8AC3E}">
        <p14:creationId xmlns:p14="http://schemas.microsoft.com/office/powerpoint/2010/main" val="1170459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1DFF7C-8DF3-4D82-8D8F-3224BE4C6CB0}"/>
              </a:ext>
            </a:extLst>
          </p:cNvPr>
          <p:cNvPicPr>
            <a:picLocks noChangeAspect="1"/>
          </p:cNvPicPr>
          <p:nvPr/>
        </p:nvPicPr>
        <p:blipFill>
          <a:blip r:embed="rId2"/>
          <a:stretch>
            <a:fillRect/>
          </a:stretch>
        </p:blipFill>
        <p:spPr>
          <a:xfrm>
            <a:off x="892603" y="648285"/>
            <a:ext cx="6053070" cy="3567448"/>
          </a:xfrm>
          <a:prstGeom prst="rect">
            <a:avLst/>
          </a:prstGeom>
        </p:spPr>
      </p:pic>
      <p:sp>
        <p:nvSpPr>
          <p:cNvPr id="5" name="TextBox 4">
            <a:extLst>
              <a:ext uri="{FF2B5EF4-FFF2-40B4-BE49-F238E27FC236}">
                <a16:creationId xmlns:a16="http://schemas.microsoft.com/office/drawing/2014/main" id="{7E2B83A9-3907-42A0-912C-AFD43AD40151}"/>
              </a:ext>
            </a:extLst>
          </p:cNvPr>
          <p:cNvSpPr txBox="1"/>
          <p:nvPr/>
        </p:nvSpPr>
        <p:spPr>
          <a:xfrm>
            <a:off x="5875667" y="3120447"/>
            <a:ext cx="6096982" cy="3139321"/>
          </a:xfrm>
          <a:prstGeom prst="rect">
            <a:avLst/>
          </a:prstGeom>
          <a:noFill/>
        </p:spPr>
        <p:txBody>
          <a:bodyPr wrap="square">
            <a:spAutoFit/>
          </a:bodyPr>
          <a:lstStyle/>
          <a:p>
            <a:r>
              <a:rPr lang="en-US" sz="1800" b="1" i="1" u="none" strike="noStrike" baseline="0" dirty="0">
                <a:solidFill>
                  <a:srgbClr val="000000"/>
                </a:solidFill>
                <a:latin typeface="Times New Roman" panose="02020603050405020304" pitchFamily="18" charset="0"/>
              </a:rPr>
              <a:t>2024 Return </a:t>
            </a:r>
            <a:endParaRPr lang="en-US" sz="1800" b="0" i="0" u="none" strike="noStrike" baseline="0" dirty="0">
              <a:solidFill>
                <a:srgbClr val="000000"/>
              </a:solidFill>
              <a:latin typeface="Times New Roman" panose="02020603050405020304" pitchFamily="18" charset="0"/>
            </a:endParaRPr>
          </a:p>
          <a:p>
            <a:r>
              <a:rPr lang="en-US" sz="1800" b="0" i="0" u="none" strike="noStrike" baseline="0" dirty="0">
                <a:solidFill>
                  <a:srgbClr val="000000"/>
                </a:solidFill>
                <a:latin typeface="Times New Roman" panose="02020603050405020304" pitchFamily="18" charset="0"/>
              </a:rPr>
              <a:t>The 2024 upriver spring Chinook return to the Columbia River totaled 116,332 adults (Tables 1 and 5) and consisted of 101,171 Age-4 fish, 14,942 Age-5 fish, and 215 Age-6 fish. The return included 70,743 (10,514 wild) adult Snake River spring/summer Chinook and 18,224 (1,609 wild) adult upper Columbia spring Chinook. The remainder of the run was destined for tributaries in the mid-Columbia area. The 2024 upriver spring Chinook return was 96% of the preseason forecast of 121,000 fish and 76% the recent 10-year average (2014–2023) of 152,289 adults. The 2024 return ranked 21</a:t>
            </a:r>
            <a:r>
              <a:rPr lang="en-US" sz="1100" b="0" i="0" u="none" strike="noStrike" baseline="0" dirty="0">
                <a:solidFill>
                  <a:srgbClr val="000000"/>
                </a:solidFill>
                <a:latin typeface="Times New Roman" panose="02020603050405020304" pitchFamily="18" charset="0"/>
              </a:rPr>
              <a:t>st </a:t>
            </a:r>
            <a:r>
              <a:rPr lang="en-US" sz="1800" b="0" i="0" u="none" strike="noStrike" baseline="0" dirty="0">
                <a:solidFill>
                  <a:srgbClr val="000000"/>
                </a:solidFill>
                <a:latin typeface="Times New Roman" panose="02020603050405020304" pitchFamily="18" charset="0"/>
              </a:rPr>
              <a:t>out of all returns since 1980. </a:t>
            </a:r>
            <a:endParaRPr lang="en-US" dirty="0"/>
          </a:p>
        </p:txBody>
      </p:sp>
    </p:spTree>
    <p:extLst>
      <p:ext uri="{BB962C8B-B14F-4D97-AF65-F5344CB8AC3E}">
        <p14:creationId xmlns:p14="http://schemas.microsoft.com/office/powerpoint/2010/main" val="1901397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6201F5-32D0-4C73-B0E3-9721B2830C09}"/>
              </a:ext>
            </a:extLst>
          </p:cNvPr>
          <p:cNvPicPr>
            <a:picLocks noChangeAspect="1"/>
          </p:cNvPicPr>
          <p:nvPr/>
        </p:nvPicPr>
        <p:blipFill>
          <a:blip r:embed="rId2"/>
          <a:stretch>
            <a:fillRect/>
          </a:stretch>
        </p:blipFill>
        <p:spPr>
          <a:xfrm>
            <a:off x="1292679" y="1020588"/>
            <a:ext cx="4250028" cy="3200400"/>
          </a:xfrm>
          <a:prstGeom prst="rect">
            <a:avLst/>
          </a:prstGeom>
        </p:spPr>
      </p:pic>
    </p:spTree>
    <p:extLst>
      <p:ext uri="{BB962C8B-B14F-4D97-AF65-F5344CB8AC3E}">
        <p14:creationId xmlns:p14="http://schemas.microsoft.com/office/powerpoint/2010/main" val="6720845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1EDECCD-E380-4F20-BA37-663AEAFEC174}"/>
              </a:ext>
            </a:extLst>
          </p:cNvPr>
          <p:cNvSpPr>
            <a:spLocks noChangeArrowheads="1"/>
          </p:cNvSpPr>
          <p:nvPr/>
        </p:nvSpPr>
        <p:spPr bwMode="auto">
          <a:xfrm>
            <a:off x="209550" y="651897"/>
            <a:ext cx="961072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a:ln>
                  <a:noFill/>
                </a:ln>
                <a:solidFill>
                  <a:schemeClr val="tx1"/>
                </a:solidFill>
                <a:effectLst/>
                <a:latin typeface="Google Sans"/>
              </a:rPr>
              <a:t>How the Logistic Switching Model Works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a:ln>
                  <a:noFill/>
                </a:ln>
                <a:solidFill>
                  <a:schemeClr val="tx1"/>
                </a:solidFill>
                <a:effectLst/>
                <a:latin typeface="Google Sans Text"/>
              </a:rPr>
              <a:t>Rather than multiplying </a:t>
            </a:r>
            <a:r>
              <a:rPr kumimoji="0" lang="en-US" altLang="en-US" sz="1800" b="0" i="0" u="none" strike="noStrike" cap="none" normalizeH="0" baseline="0">
                <a:ln>
                  <a:noFill/>
                </a:ln>
                <a:solidFill>
                  <a:schemeClr val="tx1"/>
                </a:solidFill>
                <a:effectLst/>
                <a:latin typeface="Google Sans Text"/>
              </a:rPr>
              <a:t>$Z$-scores directly, the alternate prey/temperature series $A$ is min-max normalized to $A_{\text{norm}} \in [0, 1]$. The effective predator impact $P_{\text{eff}}$ on $SAR$ is modeled as:</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Google Sans Text"/>
              </a:rPr>
              <a:t>$$P_{\text{eff}} = P \times \left(1 - \frac{w}{1 + e^{-\gamma (A_{\text{norm}} - 0.5)}}\right)$$</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$w \in [0, 1]$ (Attenuation Strength):</a:t>
            </a:r>
            <a:r>
              <a:rPr kumimoji="0" lang="en-US" altLang="en-US" sz="1800" b="0" i="0" u="none" strike="noStrike" cap="none" normalizeH="0" baseline="0">
                <a:ln>
                  <a:noFill/>
                </a:ln>
                <a:solidFill>
                  <a:schemeClr val="tx1"/>
                </a:solidFill>
                <a:effectLst/>
                <a:latin typeface="Google Sans Text"/>
              </a:rPr>
              <a:t> Maximum proportion by which alternate prey/temperature buffers predation when $A$ is abundant (e.g., $w = 0.6 \implies 60\%$ reduction).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$\gamma \in [1, 10]$ (Switching Steepness):</a:t>
            </a:r>
            <a:r>
              <a:rPr kumimoji="0" lang="en-US" altLang="en-US" sz="1800" b="0" i="0" u="none" strike="noStrike" cap="none" normalizeH="0" baseline="0">
                <a:ln>
                  <a:noFill/>
                </a:ln>
                <a:solidFill>
                  <a:schemeClr val="tx1"/>
                </a:solidFill>
                <a:effectLst/>
                <a:latin typeface="Google Sans Text"/>
              </a:rPr>
              <a:t> Controls how sharply predators switch away from salmon as alternate prey increases ($\gamma = 1 \implies$ gradual linear-like transition; $\gamma = 10 \implies$ sharp threshold switch).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8F935DF7-359B-4843-9E34-26635B91B2E5}"/>
              </a:ext>
            </a:extLst>
          </p:cNvPr>
          <p:cNvPicPr>
            <a:picLocks noChangeAspect="1"/>
          </p:cNvPicPr>
          <p:nvPr/>
        </p:nvPicPr>
        <p:blipFill>
          <a:blip r:embed="rId2"/>
          <a:stretch>
            <a:fillRect/>
          </a:stretch>
        </p:blipFill>
        <p:spPr>
          <a:xfrm>
            <a:off x="2118757" y="1237944"/>
            <a:ext cx="7954485" cy="4382112"/>
          </a:xfrm>
          <a:prstGeom prst="rect">
            <a:avLst/>
          </a:prstGeom>
        </p:spPr>
      </p:pic>
    </p:spTree>
    <p:extLst>
      <p:ext uri="{BB962C8B-B14F-4D97-AF65-F5344CB8AC3E}">
        <p14:creationId xmlns:p14="http://schemas.microsoft.com/office/powerpoint/2010/main" val="3777159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02DD30-AC34-44A5-8F0B-558C67B09910}"/>
              </a:ext>
            </a:extLst>
          </p:cNvPr>
          <p:cNvPicPr>
            <a:picLocks noChangeAspect="1"/>
          </p:cNvPicPr>
          <p:nvPr/>
        </p:nvPicPr>
        <p:blipFill>
          <a:blip r:embed="rId2"/>
          <a:stretch>
            <a:fillRect/>
          </a:stretch>
        </p:blipFill>
        <p:spPr>
          <a:xfrm>
            <a:off x="1928231" y="1109339"/>
            <a:ext cx="8335538" cy="4639322"/>
          </a:xfrm>
          <a:prstGeom prst="rect">
            <a:avLst/>
          </a:prstGeom>
        </p:spPr>
      </p:pic>
    </p:spTree>
    <p:extLst>
      <p:ext uri="{BB962C8B-B14F-4D97-AF65-F5344CB8AC3E}">
        <p14:creationId xmlns:p14="http://schemas.microsoft.com/office/powerpoint/2010/main" val="7444634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22231</TotalTime>
  <Words>2514</Words>
  <Application>Microsoft Office PowerPoint</Application>
  <PresentationFormat>Widescreen</PresentationFormat>
  <Paragraphs>486</Paragraphs>
  <Slides>34</Slides>
  <Notes>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34</vt:i4>
      </vt:variant>
    </vt:vector>
  </HeadingPairs>
  <TitlesOfParts>
    <vt:vector size="51" baseType="lpstr">
      <vt:lpstr>AdvOT8608a8d1+22</vt:lpstr>
      <vt:lpstr>AdvOTcb88df00</vt:lpstr>
      <vt:lpstr>AdvOTcb88df00+20</vt:lpstr>
      <vt:lpstr>AdvOTea1a7398</vt:lpstr>
      <vt:lpstr>AdvOTea1a7398+20</vt:lpstr>
      <vt:lpstr>AdvOTea1a7398+fb</vt:lpstr>
      <vt:lpstr>AdvTTab7e17fd</vt:lpstr>
      <vt:lpstr>AdvTTab7e17fd+22</vt:lpstr>
      <vt:lpstr>Aptos</vt:lpstr>
      <vt:lpstr>Aptos Display</vt:lpstr>
      <vt:lpstr>Arial</vt:lpstr>
      <vt:lpstr>Arial MT Std</vt:lpstr>
      <vt:lpstr>Calibri</vt:lpstr>
      <vt:lpstr>Google Sans</vt:lpstr>
      <vt:lpstr>Google Sans Text</vt:lpstr>
      <vt:lpstr>Times New Roman</vt:lpstr>
      <vt:lpstr>Office Theme</vt:lpstr>
      <vt:lpstr>PowerPoint Presentation</vt:lpstr>
      <vt:lpstr>PowerPoint Presentation</vt:lpstr>
      <vt:lpstr>Goal1: Variable reduction</vt:lpstr>
      <vt:lpstr>Goal 2: Hypothesis testing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24yr model: almost all models with altprey had negative predator coef (despite pos previously)</vt:lpstr>
      <vt:lpstr>PowerPoint Presentation</vt:lpstr>
      <vt:lpstr>Fish predators on smolts – no temperature effects</vt:lpstr>
      <vt:lpstr>Smolt predators with temperature &amp; altprey</vt:lpstr>
      <vt:lpstr>Mammal predators on adult Chinook</vt:lpstr>
      <vt:lpstr>19 yr selected models (daic&gt;6, 12 models)</vt:lpstr>
      <vt:lpstr>19 yr selected models (daic&gt;6, 12 models)</vt:lpstr>
      <vt:lpstr>19 yr selected models (daic&gt;6, 12 models)</vt:lpstr>
      <vt:lpstr>Top models (ak only)</vt:lpstr>
      <vt:lpstr>PowerPoint Presentation</vt:lpstr>
      <vt:lpstr>PowerPoint Presentation</vt:lpstr>
      <vt:lpstr>Western (left) and eastern (right) GOA results</vt:lpstr>
      <vt:lpstr>PowerPoint Presentation</vt:lpstr>
      <vt:lpstr>explanations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Lisa Crozier</dc:creator>
  <cp:lastModifiedBy>Lisa.Crozier</cp:lastModifiedBy>
  <cp:revision>49</cp:revision>
  <dcterms:created xsi:type="dcterms:W3CDTF">2026-09-06T20:56:44Z</dcterms:created>
  <dcterms:modified xsi:type="dcterms:W3CDTF">2026-10-12T03:32:41Z</dcterms:modified>
</cp:coreProperties>
</file>