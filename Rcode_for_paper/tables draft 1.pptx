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62" r:id="rId5"/>
    <p:sldId id="263" r:id="rId6"/>
    <p:sldId id="256" r:id="rId7"/>
    <p:sldId id="264" r:id="rId8"/>
    <p:sldId id="260" r:id="rId9"/>
    <p:sldId id="271" r:id="rId10"/>
    <p:sldId id="269" r:id="rId11"/>
    <p:sldId id="270" r:id="rId12"/>
    <p:sldId id="266" r:id="rId13"/>
    <p:sldId id="267" r:id="rId14"/>
    <p:sldId id="265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141" d="100"/>
          <a:sy n="141" d="100"/>
        </p:scale>
        <p:origin x="-1939" y="-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B6DE0-C1AB-B5C6-E4E5-0DFC4F1A2C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603671-6A91-8B17-09CE-224881E25D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E3699-E0A8-16EC-C86C-91A3BB7E9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990B-EB59-9D70-5F99-9C46854A8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8A87D-167C-1BCE-7DAE-9141376BA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15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EF991-C67B-5B4B-3CEE-865D05205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8DADF-F991-D512-6D81-59D18B7A8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54704-A296-AE46-EE45-4E33C63C5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B4E97-4D7B-165E-55D7-CBE30E4F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2D39B-29D8-9478-7D46-3C01606D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237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D27B-4D38-6A42-FDA7-018D70F72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35A00-2893-2BCC-CBB0-2DB735223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F1C8-7F62-A40D-BF04-76B67AA33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E535C-EB65-EA0B-F516-105633B52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13567-D6D0-8B18-E136-D625CF9E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802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CA272-835E-0DF2-18A1-1B91FA4F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95DA-F83C-C363-A8E7-E263F5C19A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C9F1C-0870-6EB8-1BED-E58B1DD58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11C5F-EF73-1645-1031-7EDE8B02D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1D1D4A-FF7B-0FA0-6E66-1246AA899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32391-DE6D-BF0A-6DD2-854122A7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08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EB8B-246E-3E54-E3C8-11468FA7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AC5F8-B6B3-76AB-A262-BE2991F59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54AF2-915B-9565-B166-B41405394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1FE87A-86A8-1B68-0CDD-D553F8C8D3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F4B3BA-E44A-995C-5978-59CEE9B1F7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E8A3C1-1385-B245-5466-81E10C2F9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CCD2C7-8754-7E03-BFF3-8E6A9249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6E0897-A093-6E59-B1DB-949600255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561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ADEB-1809-74F2-DF62-0A47B1F70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C9D2EC-F725-F0B2-4A84-85B667A0E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53BC9-6356-8552-276B-1F988C8CB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02B8B-492E-35AC-C67C-BA8E46236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370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98105-102D-C97C-CB17-7E7944853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06E37F-F0C5-A94B-C020-8AF07FD33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F0A21-4A3E-AF7F-40F6-668CFCBA2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019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5943D-339C-0C91-CA3F-F113EAA86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AFAE1-A726-7A30-984C-B65B83D7D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2646D7-37EB-A347-0B35-5791562283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B28E80-CC28-83ED-E5BE-D952B9C42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603944-BD2E-39E5-44E4-B166DC35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5B5D5-8CB8-BA7B-2081-DEBB462A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55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3DE69-B27A-133B-CDD9-D99DE57D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1E9B92-53F4-FB54-10AF-FD59FC8308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F91EFA-C05E-68B8-42A8-064E06E13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BD4F49-216B-C800-F9BD-0AEB452F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1442F9-8013-689C-EFF6-BBC9D8CA8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AFEDB6-AAAF-CCCA-ED45-9C69C87FF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567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1CEF-4E41-B6FF-6237-EF3018CE5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2C68CE-0C4F-A557-2179-FD48F7411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1CFBC-8491-A642-5DB3-7C156CF5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961F9-237C-384F-9EEB-10D084EAA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EE567E-B72D-BA35-FA2C-8278876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09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49A32-EB7D-4446-358C-9E6047DE02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2E1AD-0DD9-5D0D-7367-9D27432D2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188BB-52A6-B52B-23DB-A79E0A5CD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16531-4DE3-E36F-9038-B2F8481CA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08366-CB35-2A63-75B6-40901915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12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B9973E-7A5E-2519-81A0-2B49081A7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F2694-52FB-86FE-55F9-33B2DF32E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C1473-0CB2-8CF0-A7B7-A4909C76C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F55336-C41E-4230-B675-54A32B2176D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2C68-B7B0-90CF-539A-11608BF6E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D661-4E4A-886B-E945-56561212FD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4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5B5F-0F66-8F8D-4F45-73984F1BE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6FC2F-E37F-417B-D8E9-ACCE1A1A1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969" y="2073398"/>
            <a:ext cx="11353800" cy="4351338"/>
          </a:xfrm>
        </p:spPr>
        <p:txBody>
          <a:bodyPr>
            <a:normAutofit/>
          </a:bodyPr>
          <a:lstStyle/>
          <a:p>
            <a:r>
              <a:rPr lang="en-US" dirty="0"/>
              <a:t>#Goal 1: variable importance plot and </a:t>
            </a:r>
            <a:r>
              <a:rPr lang="en-US" dirty="0" err="1"/>
              <a:t>aic</a:t>
            </a:r>
            <a:r>
              <a:rPr lang="en-US" dirty="0"/>
              <a:t> table of all models</a:t>
            </a:r>
          </a:p>
          <a:p>
            <a:r>
              <a:rPr lang="en-US" dirty="0"/>
              <a:t>#Goal2: Hypothesis testing</a:t>
            </a:r>
          </a:p>
          <a:p>
            <a:pPr lvl="2"/>
            <a:r>
              <a:rPr lang="en-US" dirty="0"/>
              <a:t>H1: </a:t>
            </a:r>
            <a:r>
              <a:rPr lang="en-US" dirty="0" err="1"/>
              <a:t>bottomup</a:t>
            </a:r>
            <a:r>
              <a:rPr lang="en-US" dirty="0"/>
              <a:t> regulation: prey-&gt;growth (</a:t>
            </a:r>
            <a:r>
              <a:rPr lang="en-US" dirty="0" err="1"/>
              <a:t>ncc</a:t>
            </a:r>
            <a:r>
              <a:rPr lang="en-US" dirty="0"/>
              <a:t>), growth-&gt;</a:t>
            </a:r>
            <a:r>
              <a:rPr lang="en-US" dirty="0" err="1"/>
              <a:t>abund</a:t>
            </a:r>
            <a:r>
              <a:rPr lang="en-US" dirty="0"/>
              <a:t> (</a:t>
            </a:r>
            <a:r>
              <a:rPr lang="en-US" dirty="0" err="1"/>
              <a:t>cpue</a:t>
            </a:r>
            <a:r>
              <a:rPr lang="en-US" dirty="0"/>
              <a:t>, </a:t>
            </a:r>
            <a:r>
              <a:rPr lang="en-US" dirty="0" err="1"/>
              <a:t>sar</a:t>
            </a:r>
            <a:r>
              <a:rPr lang="en-US" dirty="0"/>
              <a:t>), </a:t>
            </a:r>
            <a:r>
              <a:rPr lang="en-US" dirty="0" err="1"/>
              <a:t>akprey</a:t>
            </a:r>
            <a:r>
              <a:rPr lang="en-US" dirty="0"/>
              <a:t>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H2: </a:t>
            </a:r>
            <a:r>
              <a:rPr lang="en-US" dirty="0" err="1"/>
              <a:t>topdown</a:t>
            </a:r>
            <a:r>
              <a:rPr lang="en-US" dirty="0"/>
              <a:t> regulation: pred-&gt;</a:t>
            </a:r>
            <a:r>
              <a:rPr lang="en-US" dirty="0" err="1"/>
              <a:t>cpue</a:t>
            </a:r>
            <a:r>
              <a:rPr lang="en-US" dirty="0"/>
              <a:t> (</a:t>
            </a:r>
            <a:r>
              <a:rPr lang="en-US" dirty="0" err="1"/>
              <a:t>ncc</a:t>
            </a:r>
            <a:r>
              <a:rPr lang="en-US" dirty="0"/>
              <a:t>), pred 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), </a:t>
            </a:r>
            <a:r>
              <a:rPr lang="en-US" dirty="0" err="1"/>
              <a:t>akprey</a:t>
            </a:r>
            <a:r>
              <a:rPr lang="en-US" dirty="0"/>
              <a:t>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H3: indirect effects (alt prey and habitat compression index): pred*prey (</a:t>
            </a:r>
            <a:r>
              <a:rPr lang="en-US" dirty="0" err="1"/>
              <a:t>ncc</a:t>
            </a:r>
            <a:r>
              <a:rPr lang="en-US" dirty="0"/>
              <a:t>, </a:t>
            </a:r>
            <a:r>
              <a:rPr lang="en-US" dirty="0" err="1"/>
              <a:t>ak</a:t>
            </a:r>
            <a:r>
              <a:rPr lang="en-US" dirty="0"/>
              <a:t>), pred*SST (=</a:t>
            </a:r>
            <a:r>
              <a:rPr lang="en-US" dirty="0" err="1"/>
              <a:t>hci</a:t>
            </a:r>
            <a:r>
              <a:rPr lang="en-US" dirty="0"/>
              <a:t>?)</a:t>
            </a:r>
          </a:p>
          <a:p>
            <a:r>
              <a:rPr lang="en-US" dirty="0"/>
              <a:t>#Goal 3: alternate explanations (temp and prey*pred scenarios)</a:t>
            </a:r>
          </a:p>
        </p:txBody>
      </p:sp>
    </p:spTree>
    <p:extLst>
      <p:ext uri="{BB962C8B-B14F-4D97-AF65-F5344CB8AC3E}">
        <p14:creationId xmlns:p14="http://schemas.microsoft.com/office/powerpoint/2010/main" val="1399461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827C3C-D52F-46CE-A441-3CD6A1A6A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37" y="0"/>
            <a:ext cx="12192000" cy="6858000"/>
          </a:xfrm>
          <a:prstGeom prst="rect">
            <a:avLst/>
          </a:prstGeom>
          <a:solidFill>
            <a:schemeClr val="bg1">
              <a:lumMod val="8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A8B51-0A89-497B-B882-6658E029A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F433F3-BEFB-1768-7B8C-A8B817066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2468105"/>
            <a:ext cx="2879083" cy="192178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1CEFBF-6F09-4052-862B-E219DA157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6882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445AF-526E-2688-2E60-F51C25B8BE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976" y="2468186"/>
            <a:ext cx="2880360" cy="192264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CB5D417-2A71-445D-B4C7-9E814D633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22847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D3DBC2-DEEB-1ED8-3CC2-5E0E2887A6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41" y="2467679"/>
            <a:ext cx="2880360" cy="192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03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4B018-5C5B-6137-2882-FC2ACCDC5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F23EF37-19EC-4973-A7AF-4BBF68646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234199-9438-6D82-C814-D9A19A889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" b="8155"/>
          <a:stretch>
            <a:fillRect/>
          </a:stretch>
        </p:blipFill>
        <p:spPr>
          <a:xfrm>
            <a:off x="373989" y="3514865"/>
            <a:ext cx="5488815" cy="33651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EDBA87-BEDF-4F22-73EA-6460EDEA8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7" r="4382" b="11292"/>
          <a:stretch>
            <a:fillRect/>
          </a:stretch>
        </p:blipFill>
        <p:spPr>
          <a:xfrm>
            <a:off x="713418" y="27536"/>
            <a:ext cx="4809955" cy="3487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0A595B-797A-3DB8-8273-C272036AF0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9" r="10568" b="2"/>
          <a:stretch>
            <a:fillRect/>
          </a:stretch>
        </p:blipFill>
        <p:spPr>
          <a:xfrm>
            <a:off x="6151156" y="872197"/>
            <a:ext cx="5488816" cy="47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98960-B548-13B7-2C0D-CE978651D9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747" y="852948"/>
            <a:ext cx="6901631" cy="552130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FC18B9-061D-E657-4715-2CCCD6995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722" y="0"/>
            <a:ext cx="10515600" cy="1325563"/>
          </a:xfrm>
        </p:spPr>
        <p:txBody>
          <a:bodyPr/>
          <a:lstStyle/>
          <a:p>
            <a:r>
              <a:rPr lang="en-US" dirty="0"/>
              <a:t>Goal1: Variable reduction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8D9575-2AF0-BF94-ED77-1FF650456131}"/>
              </a:ext>
            </a:extLst>
          </p:cNvPr>
          <p:cNvSpPr txBox="1"/>
          <p:nvPr/>
        </p:nvSpPr>
        <p:spPr>
          <a:xfrm>
            <a:off x="2558845" y="6190112"/>
            <a:ext cx="78229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/>
              <a:t>Variable importance plot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7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712CD-134A-7495-0C83-9E517AE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2: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D6FEB-721E-8709-D46F-3CFDDF31F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 100 models by </a:t>
            </a:r>
            <a:r>
              <a:rPr lang="en-US" dirty="0" err="1"/>
              <a:t>aic</a:t>
            </a:r>
            <a:endParaRPr lang="en-US" dirty="0"/>
          </a:p>
          <a:p>
            <a:r>
              <a:rPr lang="en-US" dirty="0"/>
              <a:t>Remove HCI and CR seals</a:t>
            </a:r>
          </a:p>
        </p:txBody>
      </p:sp>
    </p:spTree>
    <p:extLst>
      <p:ext uri="{BB962C8B-B14F-4D97-AF65-F5344CB8AC3E}">
        <p14:creationId xmlns:p14="http://schemas.microsoft.com/office/powerpoint/2010/main" val="714170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5EBD62-65E5-291B-AD45-74736E2EF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57" y="541606"/>
            <a:ext cx="9799773" cy="567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FBE09A-D1D6-FC66-D972-AB01BA370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83" y="467037"/>
            <a:ext cx="10905066" cy="4307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59B940-B120-09D7-AC8E-C1442A3EDD1C}"/>
              </a:ext>
            </a:extLst>
          </p:cNvPr>
          <p:cNvSpPr txBox="1"/>
          <p:nvPr/>
        </p:nvSpPr>
        <p:spPr>
          <a:xfrm>
            <a:off x="1675416" y="36742"/>
            <a:ext cx="846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requirement is for &gt;50% to be significant, and support is the majority sign (&gt;50%)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C94F67-E50F-28B3-0F0E-A703C194B28A}"/>
              </a:ext>
            </a:extLst>
          </p:cNvPr>
          <p:cNvSpPr txBox="1"/>
          <p:nvPr/>
        </p:nvSpPr>
        <p:spPr>
          <a:xfrm>
            <a:off x="212377" y="4896464"/>
            <a:ext cx="116512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Supported: </a:t>
            </a:r>
          </a:p>
          <a:p>
            <a:r>
              <a:rPr lang="en-US" dirty="0"/>
              <a:t>	NCC prey-growth-</a:t>
            </a:r>
            <a:r>
              <a:rPr lang="en-US" dirty="0" err="1"/>
              <a:t>sar</a:t>
            </a:r>
            <a:r>
              <a:rPr lang="en-US" dirty="0"/>
              <a:t> and </a:t>
            </a:r>
            <a:r>
              <a:rPr lang="en-US" dirty="0" err="1"/>
              <a:t>cpue-sar</a:t>
            </a:r>
            <a:r>
              <a:rPr lang="en-US" dirty="0"/>
              <a:t> right direction, generally supported </a:t>
            </a:r>
            <a:r>
              <a:rPr lang="en-US" sz="1100" dirty="0"/>
              <a:t>(note, sign matches herring instead of sardine)</a:t>
            </a:r>
            <a:endParaRPr lang="en-US" dirty="0"/>
          </a:p>
          <a:p>
            <a:r>
              <a:rPr lang="en-US" dirty="0"/>
              <a:t>	NCC pred-</a:t>
            </a:r>
            <a:r>
              <a:rPr lang="en-US" dirty="0" err="1"/>
              <a:t>cpue</a:t>
            </a:r>
            <a:r>
              <a:rPr lang="en-US" dirty="0"/>
              <a:t> depends on predator (murre vs seals)</a:t>
            </a:r>
          </a:p>
          <a:p>
            <a:r>
              <a:rPr lang="en-US" dirty="0"/>
              <a:t>Not supported:</a:t>
            </a:r>
          </a:p>
          <a:p>
            <a:r>
              <a:rPr lang="en-US" dirty="0"/>
              <a:t>	Growth-</a:t>
            </a:r>
            <a:r>
              <a:rPr lang="en-US" dirty="0" err="1"/>
              <a:t>cpue</a:t>
            </a:r>
            <a:r>
              <a:rPr lang="en-US" dirty="0"/>
              <a:t> NS, growth-</a:t>
            </a:r>
            <a:r>
              <a:rPr lang="en-US" dirty="0" err="1"/>
              <a:t>sar</a:t>
            </a:r>
            <a:r>
              <a:rPr lang="en-US" dirty="0"/>
              <a:t> inconsistent</a:t>
            </a:r>
          </a:p>
          <a:p>
            <a:r>
              <a:rPr lang="en-US" dirty="0"/>
              <a:t>	AK prey-SAR always flipped sign</a:t>
            </a:r>
          </a:p>
          <a:p>
            <a:r>
              <a:rPr lang="en-US" dirty="0"/>
              <a:t>	</a:t>
            </a:r>
            <a:r>
              <a:rPr lang="en-US" dirty="0" err="1"/>
              <a:t>PredAK</a:t>
            </a:r>
            <a:r>
              <a:rPr lang="en-US" dirty="0"/>
              <a:t>-SAR always flipped sign or NS</a:t>
            </a:r>
          </a:p>
        </p:txBody>
      </p:sp>
    </p:spTree>
    <p:extLst>
      <p:ext uri="{BB962C8B-B14F-4D97-AF65-F5344CB8AC3E}">
        <p14:creationId xmlns:p14="http://schemas.microsoft.com/office/powerpoint/2010/main" val="3598715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0308E3-6A65-81C5-92F8-8A37EDBC4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24" y="500855"/>
            <a:ext cx="10905066" cy="4007610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91A5FF5-BC57-45F2-8EF2-0CE6BB58A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154214"/>
              </p:ext>
            </p:extLst>
          </p:nvPr>
        </p:nvGraphicFramePr>
        <p:xfrm>
          <a:off x="669235" y="4855611"/>
          <a:ext cx="10515601" cy="154287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8991">
                  <a:extLst>
                    <a:ext uri="{9D8B030D-6E8A-4147-A177-3AD203B41FA5}">
                      <a16:colId xmlns:a16="http://schemas.microsoft.com/office/drawing/2014/main" val="3017393899"/>
                    </a:ext>
                  </a:extLst>
                </a:gridCol>
                <a:gridCol w="3129513">
                  <a:extLst>
                    <a:ext uri="{9D8B030D-6E8A-4147-A177-3AD203B41FA5}">
                      <a16:colId xmlns:a16="http://schemas.microsoft.com/office/drawing/2014/main" val="1814453786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4006253691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78572986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73108253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3935394217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1388269684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420941006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2610667979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691600280"/>
                    </a:ext>
                  </a:extLst>
                </a:gridCol>
                <a:gridCol w="525233">
                  <a:extLst>
                    <a:ext uri="{9D8B030D-6E8A-4147-A177-3AD203B41FA5}">
                      <a16:colId xmlns:a16="http://schemas.microsoft.com/office/drawing/2014/main" val="3630889673"/>
                    </a:ext>
                  </a:extLst>
                </a:gridCol>
              </a:tblGrid>
              <a:tr h="439883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predator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selected_prey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fitted_weights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beta_peff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pvalue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std_eff_beta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mean_net_impact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realized_damping_pct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base_aic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delta_aic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1691292741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&lt;chr&gt;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&lt;chr&gt;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&lt;chr&gt;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&lt;dbl&gt;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1553581647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X15_sablefishBiomass_predAK_smoltyr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X13_pollock_age1plus_smoltyr + X12_egoa_krill_smoltyr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1; 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-2.87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0.00106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-0.465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-0.158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78.7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1.1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9.43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-8.33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36191823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X15_sablefishBiomass_predAK_adultyr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X13_pollock_age1plus_adultyr + X12_egoa_krill_smoltyr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1; 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-2.52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0.00116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-0.463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-0.14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74.6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1.21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8.83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-7.63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2868094857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X10_Harbour_s_2yrLead_WS_adultyr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None (Unattenuated)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None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-0.546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0.00685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-0.181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3.57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3.57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2412215900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X15_ArrowtoothFlounderBiomass_predAK_adultyr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it-IT" sz="900" u="none" strike="noStrike">
                          <a:effectLst/>
                        </a:rPr>
                        <a:t>X13_mid_il_capelin_smoltyr</a:t>
                      </a:r>
                      <a:endParaRPr lang="it-I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0.0134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-0.136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27.7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4.51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8.43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-3.92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2505749778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X15_ArrowtoothFlounderBiomass_predAK_smoltyr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it-IT" sz="900" u="none" strike="noStrike">
                          <a:effectLst/>
                        </a:rPr>
                        <a:t>X13_mid_il_capelin_smoltyr</a:t>
                      </a:r>
                      <a:endParaRPr lang="it-I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-0.27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0.0246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-0.349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-0.109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23.7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5.37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7.74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-2.37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3928337479"/>
                  </a:ext>
                </a:extLst>
              </a:tr>
              <a:tr h="157570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X11_ssl_seak_pup_pred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X13_sitkaHerring_EGoA_smoltyr + X13_mid_il_capelin_smoltyr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1; 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-0.366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0.025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-0.122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50.1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5.39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>
                          <a:effectLst/>
                        </a:rPr>
                        <a:t>8.44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900" u="none" strike="noStrike" dirty="0">
                          <a:effectLst/>
                        </a:rPr>
                        <a:t>-3.05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65" marR="6565" marT="6565" marB="0" anchor="b"/>
                </a:tc>
                <a:extLst>
                  <a:ext uri="{0D108BD9-81ED-4DB2-BD59-A6C34878D82A}">
                    <a16:rowId xmlns:a16="http://schemas.microsoft.com/office/drawing/2014/main" val="936625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969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C62DF-433F-4A35-B42C-0D2CD983C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6E6EB-F104-4442-813A-F57FDDD26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 prey</a:t>
            </a:r>
          </a:p>
          <a:p>
            <a:r>
              <a:rPr lang="en-US" dirty="0" err="1"/>
              <a:t>Sst</a:t>
            </a:r>
            <a:endParaRPr lang="en-US" dirty="0"/>
          </a:p>
          <a:p>
            <a:r>
              <a:rPr lang="en-US" dirty="0"/>
              <a:t>Temporal shift (sablefish recruitment vs total pop) – wrong age class</a:t>
            </a:r>
          </a:p>
          <a:p>
            <a:r>
              <a:rPr lang="en-US" dirty="0"/>
              <a:t>Spatial shifts</a:t>
            </a:r>
          </a:p>
        </p:txBody>
      </p:sp>
    </p:spTree>
    <p:extLst>
      <p:ext uri="{BB962C8B-B14F-4D97-AF65-F5344CB8AC3E}">
        <p14:creationId xmlns:p14="http://schemas.microsoft.com/office/powerpoint/2010/main" val="2428812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CD9E15-E480-455E-BB9A-6D0468BC3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218" y="0"/>
            <a:ext cx="98635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83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A94AE8-DCB1-40F2-BCB2-F471554D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62" y="434080"/>
            <a:ext cx="6439458" cy="59898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DB53BD-C0C3-4AFB-A8E3-F336758C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592" y="3081129"/>
            <a:ext cx="5433408" cy="353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4590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1DFF7C-8DF3-4D82-8D8F-3224BE4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603" y="648285"/>
            <a:ext cx="6053070" cy="35674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2B83A9-3907-42A0-912C-AFD43AD40151}"/>
              </a:ext>
            </a:extLst>
          </p:cNvPr>
          <p:cNvSpPr txBox="1"/>
          <p:nvPr/>
        </p:nvSpPr>
        <p:spPr>
          <a:xfrm>
            <a:off x="5875667" y="3120447"/>
            <a:ext cx="609698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1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2024 Return </a:t>
            </a: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The 2024 upriver spring Chinook return to the Columbia River totaled 116,332 adults (Tables 1 and 5) and consisted of 101,171 Age-4 fish, 14,942 Age-5 fish, and 215 Age-6 fish. The return included 70,743 (10,514 wild) adult Snake River spring/summer Chinook and 18,224 (1,609 wild) adult upper Columbia spring Chinook. The remainder of the run was destined for tributaries in the mid-Columbia area. The 2024 upriver spring Chinook return was 96% of the preseason forecast of 121,000 fish and 76% the recent 10-year average (2014–2023) of 152,289 adults. The 2024 return ranked 21</a:t>
            </a:r>
            <a:r>
              <a:rPr lang="en-US" sz="11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st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out of all returns since 1980.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397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6201F5-32D0-4C73-B0E3-9721B2830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679" y="1020588"/>
            <a:ext cx="4250028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084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EDECCD-E380-4F20-BA37-663AEAFEC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651897"/>
            <a:ext cx="9610725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How the Logistic Switching Model Works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Rather than multiplying 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$Z$-scores directly, the alternate prey/temperature series $A$ is min-max normalized to $A_{\text{norm}} \in [0, 1]$. The effective predator impact $P_{\text{eff}}$ on $SAR$ is modeled as: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$$P_{\text{eff}} = P \times \left(1 - \frac{w}{1 + e^{-\gamma (A_{\text{norm}} - 0.5)}}\right)$$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$w \in [0, 1]$ (Attenuation Strength):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Maximum proportion by which alternate prey/temperature buffers predation when $A$ is abundant (e.g., $w = 0.6 \implies 60\%$ reduction).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$\gamma \in [1, 10]$ (Switching Steepness):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Controls how sharply predators switch away from salmon as alternate prey increases ($\gamma = 1 \implies$ gradual linear-like transition; $\gamma = 10 \implies$ sharp threshold switch).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935DF7-359B-4843-9E34-26635B91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57" y="1237944"/>
            <a:ext cx="7954485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159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02DD30-AC34-44A5-8F0B-558C67B09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231" y="1109339"/>
            <a:ext cx="8335538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463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9866</TotalTime>
  <Words>798</Words>
  <Application>Microsoft Office PowerPoint</Application>
  <PresentationFormat>Widescreen</PresentationFormat>
  <Paragraphs>119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Google Sans</vt:lpstr>
      <vt:lpstr>Google Sans Text</vt:lpstr>
      <vt:lpstr>Times New Roman</vt:lpstr>
      <vt:lpstr>Office Theme</vt:lpstr>
      <vt:lpstr>PowerPoint Presentation</vt:lpstr>
      <vt:lpstr>PowerPoint Presentation</vt:lpstr>
      <vt:lpstr>PowerPoint Presentation</vt:lpstr>
      <vt:lpstr>Goal1: Variable reduction</vt:lpstr>
      <vt:lpstr>Goal 2: Hypothesis testing</vt:lpstr>
      <vt:lpstr>PowerPoint Presentation</vt:lpstr>
      <vt:lpstr>PowerPoint Presentation</vt:lpstr>
      <vt:lpstr>PowerPoint Presentation</vt:lpstr>
      <vt:lpstr>explanations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Lisa Crozier</dc:creator>
  <cp:lastModifiedBy>Lisa.Crozier</cp:lastModifiedBy>
  <cp:revision>13</cp:revision>
  <dcterms:created xsi:type="dcterms:W3CDTF">2026-09-06T20:56:44Z</dcterms:created>
  <dcterms:modified xsi:type="dcterms:W3CDTF">2026-09-25T19:56:27Z</dcterms:modified>
</cp:coreProperties>
</file>