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7" r:id="rId3"/>
    <p:sldId id="258" r:id="rId4"/>
    <p:sldId id="262" r:id="rId5"/>
    <p:sldId id="263" r:id="rId6"/>
    <p:sldId id="256" r:id="rId7"/>
    <p:sldId id="264" r:id="rId8"/>
    <p:sldId id="260" r:id="rId9"/>
    <p:sldId id="266" r:id="rId10"/>
    <p:sldId id="267" r:id="rId11"/>
    <p:sldId id="26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>
        <p:scale>
          <a:sx n="81" d="100"/>
          <a:sy n="81" d="100"/>
        </p:scale>
        <p:origin x="-330" y="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B6DE0-C1AB-B5C6-E4E5-0DFC4F1A2C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603671-6A91-8B17-09CE-224881E25D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3E3699-E0A8-16EC-C86C-91A3BB7E9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1990B-EB59-9D70-5F99-9C46854A8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F8A87D-167C-1BCE-7DAE-9141376BA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156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EF991-C67B-5B4B-3CEE-865D05205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8DADF-F991-D512-6D81-59D18B7A89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254704-A296-AE46-EE45-4E33C63C5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EB4E97-4D7B-165E-55D7-CBE30E4F8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72D39B-29D8-9478-7D46-3C01606D1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2372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8D27B-4D38-6A42-FDA7-018D70F72C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435A00-2893-2BCC-CBB0-2DB735223F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06F1C8-7F62-A40D-BF04-76B67AA33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EE535C-EB65-EA0B-F516-105633B52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D13567-D6D0-8B18-E136-D625CF9E9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8027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CA272-835E-0DF2-18A1-1B91FA4F4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F95DA-F83C-C363-A8E7-E263F5C19A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2C9F1C-0870-6EB8-1BED-E58B1DD587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311C5F-EF73-1645-1031-7EDE8B02D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1D1D4A-FF7B-0FA0-6E66-1246AA899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B32391-DE6D-BF0A-6DD2-854122A75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6086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5EB8B-246E-3E54-E3C8-11468FA75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AC5F8-B6B3-76AB-A262-BE2991F59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054AF2-915B-9565-B166-B41405394C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1FE87A-86A8-1B68-0CDD-D553F8C8D3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F4B3BA-E44A-995C-5978-59CEE9B1F7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E8A3C1-1385-B245-5466-81E10C2F9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CCD2C7-8754-7E03-BFF3-8E6A92493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F6E0897-A093-6E59-B1DB-949600255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5617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0ADEB-1809-74F2-DF62-0A47B1F70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C9D2EC-F725-F0B2-4A84-85B667A0E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753BC9-6356-8552-276B-1F988C8CB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102B8B-492E-35AC-C67C-BA8E46236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370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A98105-102D-C97C-CB17-7E7944853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06E37F-F0C5-A94B-C020-8AF07FD33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EF0A21-4A3E-AF7F-40F6-668CFCBA2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019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5943D-339C-0C91-CA3F-F113EAA86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AFAE1-A726-7A30-984C-B65B83D7D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2646D7-37EB-A347-0B35-5791562283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B28E80-CC28-83ED-E5BE-D952B9C423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603944-BD2E-39E5-44E4-B166DC35B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35B5D5-8CB8-BA7B-2081-DEBB462A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0556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3DE69-B27A-133B-CDD9-D99DE57DB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1E9B92-53F4-FB54-10AF-FD59FC8308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F91EFA-C05E-68B8-42A8-064E06E134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BD4F49-216B-C800-F9BD-0AEB452F5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1442F9-8013-689C-EFF6-BBC9D8CA8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AFEDB6-AAAF-CCCA-ED45-9C69C87FF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567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B1CEF-4E41-B6FF-6237-EF3018CE5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2C68CE-0C4F-A557-2179-FD48F7411D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91CFBC-8491-A642-5DB3-7C156CF59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961F9-237C-384F-9EEB-10D084EAA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EE567E-B72D-BA35-FA2C-8278876B1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309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F49A32-EB7D-4446-358C-9E6047DE02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32E1AD-0DD9-5D0D-7367-9D27432D24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1188BB-52A6-B52B-23DB-A79E0A5CD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416531-4DE3-E36F-9038-B2F8481CA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508366-CB35-2A63-75B6-409019150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1233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B9973E-7A5E-2519-81A0-2B49081A7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DF2694-52FB-86FE-55F9-33B2DF32E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9C1473-0CB2-8CF0-A7B7-A4909C76C9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F55336-C41E-4230-B675-54A32B2176D1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72C68-B7B0-90CF-539A-11608BF6EB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9D661-4E4A-886B-E945-56561212FD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346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45B5F-0F66-8F8D-4F45-73984F1BE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A6FC2F-E37F-417B-D8E9-ACCE1A1A1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969" y="2073398"/>
            <a:ext cx="11353800" cy="4351338"/>
          </a:xfrm>
        </p:spPr>
        <p:txBody>
          <a:bodyPr>
            <a:normAutofit/>
          </a:bodyPr>
          <a:lstStyle/>
          <a:p>
            <a:r>
              <a:rPr lang="en-US" dirty="0"/>
              <a:t>#Goal 1: variable importance plot and </a:t>
            </a:r>
            <a:r>
              <a:rPr lang="en-US" dirty="0" err="1"/>
              <a:t>aic</a:t>
            </a:r>
            <a:r>
              <a:rPr lang="en-US" dirty="0"/>
              <a:t> table of all models</a:t>
            </a:r>
          </a:p>
          <a:p>
            <a:r>
              <a:rPr lang="en-US" dirty="0"/>
              <a:t>#Goal2: Hypothesis testing</a:t>
            </a:r>
          </a:p>
          <a:p>
            <a:pPr lvl="2"/>
            <a:r>
              <a:rPr lang="en-US" dirty="0"/>
              <a:t>H1: </a:t>
            </a:r>
            <a:r>
              <a:rPr lang="en-US" dirty="0" err="1"/>
              <a:t>bottomup</a:t>
            </a:r>
            <a:r>
              <a:rPr lang="en-US" dirty="0"/>
              <a:t> regulation: prey-&gt;growth (</a:t>
            </a:r>
            <a:r>
              <a:rPr lang="en-US" dirty="0" err="1"/>
              <a:t>ncc</a:t>
            </a:r>
            <a:r>
              <a:rPr lang="en-US" dirty="0"/>
              <a:t>), growth-&gt;</a:t>
            </a:r>
            <a:r>
              <a:rPr lang="en-US" dirty="0" err="1"/>
              <a:t>abund</a:t>
            </a:r>
            <a:r>
              <a:rPr lang="en-US" dirty="0"/>
              <a:t> (</a:t>
            </a:r>
            <a:r>
              <a:rPr lang="en-US" dirty="0" err="1"/>
              <a:t>cpue</a:t>
            </a:r>
            <a:r>
              <a:rPr lang="en-US" dirty="0"/>
              <a:t>, </a:t>
            </a:r>
            <a:r>
              <a:rPr lang="en-US" dirty="0" err="1"/>
              <a:t>sar</a:t>
            </a:r>
            <a:r>
              <a:rPr lang="en-US" dirty="0"/>
              <a:t>), </a:t>
            </a:r>
            <a:r>
              <a:rPr lang="en-US" dirty="0" err="1"/>
              <a:t>akprey</a:t>
            </a:r>
            <a:r>
              <a:rPr lang="en-US" dirty="0"/>
              <a:t>-&gt;</a:t>
            </a:r>
            <a:r>
              <a:rPr lang="en-US" dirty="0" err="1"/>
              <a:t>sar</a:t>
            </a:r>
            <a:r>
              <a:rPr lang="en-US" dirty="0"/>
              <a:t> (</a:t>
            </a:r>
            <a:r>
              <a:rPr lang="en-US" dirty="0" err="1"/>
              <a:t>ak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H2: </a:t>
            </a:r>
            <a:r>
              <a:rPr lang="en-US" dirty="0" err="1"/>
              <a:t>topdown</a:t>
            </a:r>
            <a:r>
              <a:rPr lang="en-US" dirty="0"/>
              <a:t> regulation: pred-&gt;</a:t>
            </a:r>
            <a:r>
              <a:rPr lang="en-US" dirty="0" err="1"/>
              <a:t>cpue</a:t>
            </a:r>
            <a:r>
              <a:rPr lang="en-US" dirty="0"/>
              <a:t> (</a:t>
            </a:r>
            <a:r>
              <a:rPr lang="en-US" dirty="0" err="1"/>
              <a:t>ncc</a:t>
            </a:r>
            <a:r>
              <a:rPr lang="en-US" dirty="0"/>
              <a:t>), pred -&gt;</a:t>
            </a:r>
            <a:r>
              <a:rPr lang="en-US" dirty="0" err="1"/>
              <a:t>sar</a:t>
            </a:r>
            <a:r>
              <a:rPr lang="en-US" dirty="0"/>
              <a:t> (</a:t>
            </a:r>
            <a:r>
              <a:rPr lang="en-US" dirty="0" err="1"/>
              <a:t>ak</a:t>
            </a:r>
            <a:r>
              <a:rPr lang="en-US" dirty="0"/>
              <a:t>), </a:t>
            </a:r>
            <a:r>
              <a:rPr lang="en-US" dirty="0" err="1"/>
              <a:t>akprey</a:t>
            </a:r>
            <a:r>
              <a:rPr lang="en-US" dirty="0"/>
              <a:t>-&gt;</a:t>
            </a:r>
            <a:r>
              <a:rPr lang="en-US" dirty="0" err="1"/>
              <a:t>sar</a:t>
            </a:r>
            <a:r>
              <a:rPr lang="en-US" dirty="0"/>
              <a:t> (</a:t>
            </a:r>
            <a:r>
              <a:rPr lang="en-US" dirty="0" err="1"/>
              <a:t>ak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H3: indirect effects (alt prey and habitat compression index): pred*prey (</a:t>
            </a:r>
            <a:r>
              <a:rPr lang="en-US" dirty="0" err="1"/>
              <a:t>ncc</a:t>
            </a:r>
            <a:r>
              <a:rPr lang="en-US" dirty="0"/>
              <a:t>, </a:t>
            </a:r>
            <a:r>
              <a:rPr lang="en-US" dirty="0" err="1"/>
              <a:t>ak</a:t>
            </a:r>
            <a:r>
              <a:rPr lang="en-US" dirty="0"/>
              <a:t>), pred*SST (=</a:t>
            </a:r>
            <a:r>
              <a:rPr lang="en-US" dirty="0" err="1"/>
              <a:t>hci</a:t>
            </a:r>
            <a:r>
              <a:rPr lang="en-US" dirty="0"/>
              <a:t>?)</a:t>
            </a:r>
          </a:p>
          <a:p>
            <a:r>
              <a:rPr lang="en-US" dirty="0"/>
              <a:t>#Goal 3: alternate explanations (temp and prey*pred scenarios)</a:t>
            </a:r>
          </a:p>
        </p:txBody>
      </p:sp>
    </p:spTree>
    <p:extLst>
      <p:ext uri="{BB962C8B-B14F-4D97-AF65-F5344CB8AC3E}">
        <p14:creationId xmlns:p14="http://schemas.microsoft.com/office/powerpoint/2010/main" val="13994613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6827C3C-D52F-46CE-A441-3CD6A1A6A0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37" y="0"/>
            <a:ext cx="12192000" cy="6858000"/>
          </a:xfrm>
          <a:prstGeom prst="rect">
            <a:avLst/>
          </a:prstGeom>
          <a:solidFill>
            <a:schemeClr val="bg1">
              <a:lumMod val="85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2A8B51-0A89-497B-B882-6658E029A3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7" y="643466"/>
            <a:ext cx="3522548" cy="5571067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F433F3-BEFB-1768-7B8C-A8B817066A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200" y="2468105"/>
            <a:ext cx="2879083" cy="1921789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B1CEFBF-6F09-4052-862B-E219DA1575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26882" y="643466"/>
            <a:ext cx="3522548" cy="5571067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2445AF-526E-2688-2E60-F51C25B8BE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7976" y="2468186"/>
            <a:ext cx="2880360" cy="1922641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CB5D417-2A71-445D-B4C7-9E814D633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22847" y="643466"/>
            <a:ext cx="3522548" cy="5571067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3D3DBC2-DEEB-1ED8-3CC2-5E0E2887A6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3941" y="2467679"/>
            <a:ext cx="2880360" cy="1922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8030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C4B018-5C5B-6137-2882-FC2ACCDC5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7F23EF37-19EC-4973-A7AF-4BBF68646D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234199-9438-6D82-C814-D9A19A8898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" b="8155"/>
          <a:stretch>
            <a:fillRect/>
          </a:stretch>
        </p:blipFill>
        <p:spPr>
          <a:xfrm>
            <a:off x="373989" y="3514865"/>
            <a:ext cx="5488815" cy="336512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CEDBA87-BEDF-4F22-73EA-6460EDEA8B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87" r="4382" b="11292"/>
          <a:stretch>
            <a:fillRect/>
          </a:stretch>
        </p:blipFill>
        <p:spPr>
          <a:xfrm>
            <a:off x="713418" y="27536"/>
            <a:ext cx="4809955" cy="34873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0A595B-797A-3DB8-8273-C272036AF0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49" r="10568" b="2"/>
          <a:stretch>
            <a:fillRect/>
          </a:stretch>
        </p:blipFill>
        <p:spPr>
          <a:xfrm>
            <a:off x="6151156" y="872197"/>
            <a:ext cx="5488816" cy="4704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2379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998960-B548-13B7-2C0D-CE978651D9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0747" y="852948"/>
            <a:ext cx="6901631" cy="5521305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FC18B9-061D-E657-4715-2CCCD6995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722" y="0"/>
            <a:ext cx="10515600" cy="1325563"/>
          </a:xfrm>
        </p:spPr>
        <p:txBody>
          <a:bodyPr/>
          <a:lstStyle/>
          <a:p>
            <a:r>
              <a:rPr lang="en-US" dirty="0"/>
              <a:t>Goal1: Variable reduction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8D9575-2AF0-BF94-ED77-1FF650456131}"/>
              </a:ext>
            </a:extLst>
          </p:cNvPr>
          <p:cNvSpPr txBox="1"/>
          <p:nvPr/>
        </p:nvSpPr>
        <p:spPr>
          <a:xfrm>
            <a:off x="2558845" y="6190112"/>
            <a:ext cx="782291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dirty="0"/>
              <a:t>Variable importance plot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84798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712CD-134A-7495-0C83-9E517AEFF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 2: Hypothesis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DD6FEB-721E-8709-D46F-3CFDDF31F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Top 100 models by </a:t>
            </a:r>
            <a:r>
              <a:rPr lang="en-US" dirty="0" err="1"/>
              <a:t>aic</a:t>
            </a:r>
            <a:endParaRPr lang="en-US" dirty="0"/>
          </a:p>
          <a:p>
            <a:r>
              <a:rPr lang="en-US" dirty="0"/>
              <a:t>Remove HCI and CR seals</a:t>
            </a:r>
          </a:p>
        </p:txBody>
      </p:sp>
    </p:spTree>
    <p:extLst>
      <p:ext uri="{BB962C8B-B14F-4D97-AF65-F5344CB8AC3E}">
        <p14:creationId xmlns:p14="http://schemas.microsoft.com/office/powerpoint/2010/main" val="714170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5EBD62-65E5-291B-AD45-74736E2EF7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157" y="541606"/>
            <a:ext cx="9799773" cy="5676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291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1FBE09A-D1D6-FC66-D972-AB01BA3704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983" y="467037"/>
            <a:ext cx="10905066" cy="4307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F59B940-B120-09D7-AC8E-C1442A3EDD1C}"/>
              </a:ext>
            </a:extLst>
          </p:cNvPr>
          <p:cNvSpPr txBox="1"/>
          <p:nvPr/>
        </p:nvSpPr>
        <p:spPr>
          <a:xfrm>
            <a:off x="1675416" y="36742"/>
            <a:ext cx="846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requirement is for &gt;50% to be significant, and support is the majority sign (&gt;50%)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C94F67-E50F-28B3-0F0E-A703C194B28A}"/>
              </a:ext>
            </a:extLst>
          </p:cNvPr>
          <p:cNvSpPr txBox="1"/>
          <p:nvPr/>
        </p:nvSpPr>
        <p:spPr>
          <a:xfrm>
            <a:off x="212377" y="4896464"/>
            <a:ext cx="1165122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Supported: </a:t>
            </a:r>
          </a:p>
          <a:p>
            <a:r>
              <a:rPr lang="en-US" dirty="0"/>
              <a:t>	NCC prey-growth-</a:t>
            </a:r>
            <a:r>
              <a:rPr lang="en-US" dirty="0" err="1"/>
              <a:t>sar</a:t>
            </a:r>
            <a:r>
              <a:rPr lang="en-US" dirty="0"/>
              <a:t> and </a:t>
            </a:r>
            <a:r>
              <a:rPr lang="en-US" dirty="0" err="1"/>
              <a:t>cpue-sar</a:t>
            </a:r>
            <a:r>
              <a:rPr lang="en-US" dirty="0"/>
              <a:t> right direction, generally supported </a:t>
            </a:r>
            <a:r>
              <a:rPr lang="en-US" sz="1100" dirty="0"/>
              <a:t>(note, sign matches herring instead of sardine)</a:t>
            </a:r>
            <a:endParaRPr lang="en-US" dirty="0"/>
          </a:p>
          <a:p>
            <a:r>
              <a:rPr lang="en-US" dirty="0"/>
              <a:t>	NCC pred-</a:t>
            </a:r>
            <a:r>
              <a:rPr lang="en-US" dirty="0" err="1"/>
              <a:t>cpue</a:t>
            </a:r>
            <a:r>
              <a:rPr lang="en-US" dirty="0"/>
              <a:t> depends on predator (murre vs seals)</a:t>
            </a:r>
          </a:p>
          <a:p>
            <a:r>
              <a:rPr lang="en-US" dirty="0"/>
              <a:t>Not supported:</a:t>
            </a:r>
          </a:p>
          <a:p>
            <a:r>
              <a:rPr lang="en-US" dirty="0"/>
              <a:t>	Growth-</a:t>
            </a:r>
            <a:r>
              <a:rPr lang="en-US" dirty="0" err="1"/>
              <a:t>cpue</a:t>
            </a:r>
            <a:r>
              <a:rPr lang="en-US" dirty="0"/>
              <a:t> NS, growth-</a:t>
            </a:r>
            <a:r>
              <a:rPr lang="en-US" dirty="0" err="1"/>
              <a:t>sar</a:t>
            </a:r>
            <a:r>
              <a:rPr lang="en-US" dirty="0"/>
              <a:t> inconsistent</a:t>
            </a:r>
          </a:p>
          <a:p>
            <a:r>
              <a:rPr lang="en-US" dirty="0"/>
              <a:t>	AK prey-SAR always flipped sign</a:t>
            </a:r>
          </a:p>
          <a:p>
            <a:r>
              <a:rPr lang="en-US" dirty="0"/>
              <a:t>	</a:t>
            </a:r>
            <a:r>
              <a:rPr lang="en-US" dirty="0" err="1"/>
              <a:t>PredAK</a:t>
            </a:r>
            <a:r>
              <a:rPr lang="en-US" dirty="0"/>
              <a:t>-SAR always flipped sign or NS</a:t>
            </a:r>
          </a:p>
        </p:txBody>
      </p:sp>
    </p:spTree>
    <p:extLst>
      <p:ext uri="{BB962C8B-B14F-4D97-AF65-F5344CB8AC3E}">
        <p14:creationId xmlns:p14="http://schemas.microsoft.com/office/powerpoint/2010/main" val="35987155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70308E3-6A65-81C5-92F8-8A37EDBC4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425194"/>
            <a:ext cx="10905066" cy="4007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9691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13977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2084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71592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517</TotalTime>
  <Words>203</Words>
  <Application>Microsoft Office PowerPoint</Application>
  <PresentationFormat>Widescreen</PresentationFormat>
  <Paragraphs>19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Goal1: Variable reduction</vt:lpstr>
      <vt:lpstr>Goal 2: Hypothesis testing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Lisa Crozier</dc:creator>
  <cp:lastModifiedBy>Lisa Crozier</cp:lastModifiedBy>
  <cp:revision>2</cp:revision>
  <dcterms:created xsi:type="dcterms:W3CDTF">2026-09-06T20:56:44Z</dcterms:created>
  <dcterms:modified xsi:type="dcterms:W3CDTF">2026-09-11T23:02:14Z</dcterms:modified>
</cp:coreProperties>
</file>